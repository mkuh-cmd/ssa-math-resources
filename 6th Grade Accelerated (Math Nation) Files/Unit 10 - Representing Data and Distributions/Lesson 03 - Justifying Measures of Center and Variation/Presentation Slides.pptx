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7"/>
  </p:notesMasterIdLst>
  <p:sldIdLst>
    <p:sldId id="256" r:id="rId5"/>
    <p:sldId id="257" r:id="rId6"/>
    <p:sldId id="285" r:id="rId7"/>
    <p:sldId id="286" r:id="rId8"/>
    <p:sldId id="261" r:id="rId9"/>
    <p:sldId id="287" r:id="rId10"/>
    <p:sldId id="288" r:id="rId11"/>
    <p:sldId id="314" r:id="rId12"/>
    <p:sldId id="315" r:id="rId13"/>
    <p:sldId id="316" r:id="rId14"/>
    <p:sldId id="332" r:id="rId15"/>
    <p:sldId id="313" r:id="rId16"/>
    <p:sldId id="333" r:id="rId17"/>
    <p:sldId id="289" r:id="rId18"/>
    <p:sldId id="290" r:id="rId19"/>
    <p:sldId id="308" r:id="rId20"/>
    <p:sldId id="334" r:id="rId21"/>
    <p:sldId id="335" r:id="rId22"/>
    <p:sldId id="336" r:id="rId23"/>
    <p:sldId id="337" r:id="rId24"/>
    <p:sldId id="319" r:id="rId25"/>
    <p:sldId id="338" r:id="rId26"/>
    <p:sldId id="339" r:id="rId27"/>
    <p:sldId id="340" r:id="rId28"/>
    <p:sldId id="341" r:id="rId29"/>
    <p:sldId id="342" r:id="rId30"/>
    <p:sldId id="343" r:id="rId31"/>
    <p:sldId id="344" r:id="rId32"/>
    <p:sldId id="345" r:id="rId33"/>
    <p:sldId id="346" r:id="rId34"/>
    <p:sldId id="306" r:id="rId35"/>
    <p:sldId id="307"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86"/>
    <p:restoredTop sz="94695"/>
  </p:normalViewPr>
  <p:slideViewPr>
    <p:cSldViewPr snapToGrid="0">
      <p:cViewPr varScale="1">
        <p:scale>
          <a:sx n="61" d="100"/>
          <a:sy n="61" d="100"/>
        </p:scale>
        <p:origin x="78" y="3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63"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62"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66"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6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64337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1535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044128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72854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182087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88064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718595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951441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466963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569043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296113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9705589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027200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1799824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3421941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0.png"/></Relationships>
</file>

<file path=ppt/slides/_rels/slide11.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tiff"/><Relationship Id="rId4" Type="http://schemas.openxmlformats.org/officeDocument/2006/relationships/image" Target="../media/image19.tif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tiff"/><Relationship Id="rId4" Type="http://schemas.openxmlformats.org/officeDocument/2006/relationships/image" Target="../media/image231.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tiff"/></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tiff"/><Relationship Id="rId4" Type="http://schemas.openxmlformats.org/officeDocument/2006/relationships/image" Target="../media/image26.tiff"/></Relationships>
</file>

<file path=ppt/slides/_rels/slide25.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27.tiff"/><Relationship Id="rId5" Type="http://schemas.openxmlformats.org/officeDocument/2006/relationships/image" Target="../media/image26.tiff"/><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tif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Justifying Measures of Center and Variation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6925"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40316"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168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740316" y="1600201"/>
            <a:ext cx="8945048" cy="4857475"/>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MA.6.DP.1.6</a:t>
            </a:r>
          </a:p>
          <a:p>
            <a:pPr indent="0">
              <a:buNone/>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Given </a:t>
            </a:r>
            <a:r>
              <a:rPr lang="en-US" sz="2900" dirty="0">
                <a:latin typeface="Verdana" panose="020B0604030504040204" pitchFamily="34" charset="0"/>
                <a:ea typeface="Verdana" panose="020B0604030504040204" pitchFamily="34" charset="0"/>
                <a:cs typeface="Verdana" panose="020B0604030504040204" pitchFamily="34" charset="0"/>
              </a:rPr>
              <a:t>a real-world scenario, determine and describe how changes in data values impact measures of center and variation.</a:t>
            </a:r>
          </a:p>
          <a:p>
            <a:pPr indent="0">
              <a:buNone/>
            </a:pPr>
            <a:endParaRPr lang="en-US" sz="2900" i="1"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MA.7.DP.1.1</a:t>
            </a:r>
          </a:p>
          <a:p>
            <a:pPr indent="0">
              <a:buNone/>
            </a:pPr>
            <a:r>
              <a:rPr lang="en-US" sz="2900" dirty="0">
                <a:latin typeface="Verdana" panose="020B0604030504040204" pitchFamily="34" charset="0"/>
                <a:ea typeface="Verdana" panose="020B0604030504040204" pitchFamily="34" charset="0"/>
                <a:cs typeface="Verdana" panose="020B0604030504040204" pitchFamily="34" charset="0"/>
              </a:rPr>
              <a:t>Determine an appropriate measure of center or measure of variation to summarize numerical data, represented numerically or graphically, taking into consideration the context and any outliers. </a:t>
            </a:r>
            <a:endParaRPr lang="en-US" sz="2900" i="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70223" y="38615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94873" y="14352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94873" y="1596390"/>
            <a:ext cx="95900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96903"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814741"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16016" y="1600200"/>
            <a:ext cx="87599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justify whether or not a measure of center or variation appropriately summarizes data.  </a:t>
            </a:r>
            <a:endParaRPr lang="en-US" sz="3500" i="1"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5340" y="-75951"/>
            <a:ext cx="975527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78041" y="21361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316182" y="1386026"/>
                <a:ext cx="9815668"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dot plot, histogram, and box plot summarize the hours of battery life for </a:t>
                </a:r>
                <a14:m>
                  <m:oMath xmlns:m="http://schemas.openxmlformats.org/officeDocument/2006/math">
                    <m:r>
                      <a:rPr lang="en-US" sz="2000" i="1">
                        <a:latin typeface="Cambria Math" panose="02040503050406030204" pitchFamily="18" charset="0"/>
                        <a:ea typeface="Cambria Math" panose="02040503050406030204" pitchFamily="18" charset="0"/>
                      </a:rPr>
                      <m:t>26</m:t>
                    </m:r>
                  </m:oMath>
                </a14:m>
                <a:r>
                  <a:rPr lang="en-US" sz="2000" dirty="0">
                    <a:latin typeface="Verdana" panose="020B0604030504040204" pitchFamily="34" charset="0"/>
                    <a:ea typeface="Verdana" panose="020B0604030504040204" pitchFamily="34" charset="0"/>
                    <a:cs typeface="Verdana" panose="020B0604030504040204" pitchFamily="34" charset="0"/>
                  </a:rPr>
                  <a:t> cell phones that are constantly streaming videos.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316182" y="1386026"/>
                <a:ext cx="9815668" cy="707886"/>
              </a:xfrm>
              <a:prstGeom prst="rect">
                <a:avLst/>
              </a:prstGeom>
              <a:blipFill rotWithShape="0">
                <a:blip r:embed="rId4"/>
                <a:stretch>
                  <a:fillRect l="-683" t="-4310" b="-14655"/>
                </a:stretch>
              </a:blipFill>
            </p:spPr>
            <p:txBody>
              <a:bodyPr/>
              <a:lstStyle/>
              <a:p>
                <a:r>
                  <a:rPr lang="en-US">
                    <a:noFill/>
                  </a:rPr>
                  <a:t> </a:t>
                </a:r>
              </a:p>
            </p:txBody>
          </p:sp>
        </mc:Fallback>
      </mc:AlternateContent>
      <p:pic>
        <p:nvPicPr>
          <p:cNvPr id="4" name="Picture 3" descr="Chart, histogram&#10;&#10;Description automatically generated">
            <a:extLst>
              <a:ext uri="{FF2B5EF4-FFF2-40B4-BE49-F238E27FC236}">
                <a16:creationId xmlns:a16="http://schemas.microsoft.com/office/drawing/2014/main" id="{B4D88DAF-6ED0-C24E-959F-7952D8121235}"/>
              </a:ext>
            </a:extLst>
          </p:cNvPr>
          <p:cNvPicPr>
            <a:picLocks noChangeAspect="1"/>
          </p:cNvPicPr>
          <p:nvPr/>
        </p:nvPicPr>
        <p:blipFill>
          <a:blip r:embed="rId5"/>
          <a:stretch>
            <a:fillRect/>
          </a:stretch>
        </p:blipFill>
        <p:spPr>
          <a:xfrm>
            <a:off x="2882537" y="2457418"/>
            <a:ext cx="6222274" cy="4096069"/>
          </a:xfrm>
          <a:prstGeom prst="rect">
            <a:avLst/>
          </a:prstGeom>
        </p:spPr>
      </p:pic>
      <p:sp>
        <p:nvSpPr>
          <p:cNvPr id="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05345" y="520394"/>
            <a:ext cx="9129556" cy="3477875"/>
          </a:xfrm>
          <a:prstGeom prst="rect">
            <a:avLst/>
          </a:prstGeom>
          <a:noFill/>
        </p:spPr>
        <p:txBody>
          <a:bodyPr wrap="square" rtlCol="0">
            <a:spAutoFit/>
          </a:bodyPr>
          <a:lstStyle/>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wonder?</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histogram&#10;&#10;Description automatically generated">
            <a:extLst>
              <a:ext uri="{FF2B5EF4-FFF2-40B4-BE49-F238E27FC236}">
                <a16:creationId xmlns:a16="http://schemas.microsoft.com/office/drawing/2014/main" id="{BE36CAB5-08D6-2F4F-B74C-1349A4A2FB1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72206" y="675717"/>
            <a:ext cx="5666227" cy="3730028"/>
          </a:xfrm>
          <a:prstGeom prst="rect">
            <a:avLst/>
          </a:prstGeom>
        </p:spPr>
      </p:pic>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6617"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7954" y="4055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10.3.2 Collaboration: Comparing Data Displays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8146" y="32849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437954" y="1386025"/>
            <a:ext cx="9572124" cy="36009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Suppose an office tracks the number of phone calls received on business days, Monday through Friday, over two weeks. The data set is shown below.</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you notice about the data set.</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r>
              <a:rPr lang="en-US" dirty="0"/>
              <a:t> </a:t>
            </a:r>
            <a:endParaRPr lang="en-US" i="1" dirty="0"/>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B3D544B-B3B5-7648-961C-7D0C3CE4FDC0}"/>
                  </a:ext>
                </a:extLst>
              </p:cNvPr>
              <p:cNvGraphicFramePr>
                <a:graphicFrameLocks noGrp="1"/>
              </p:cNvGraphicFramePr>
              <p:nvPr>
                <p:extLst>
                  <p:ext uri="{D42A27DB-BD31-4B8C-83A1-F6EECF244321}">
                    <p14:modId xmlns:p14="http://schemas.microsoft.com/office/powerpoint/2010/main" val="4200549682"/>
                  </p:ext>
                </p:extLst>
              </p:nvPr>
            </p:nvGraphicFramePr>
            <p:xfrm>
              <a:off x="3112750" y="2584926"/>
              <a:ext cx="5641340" cy="844074"/>
            </p:xfrm>
            <a:graphic>
              <a:graphicData uri="http://schemas.openxmlformats.org/drawingml/2006/table">
                <a:tbl>
                  <a:tblPr firstRow="1" firstCol="1" bandRow="1">
                    <a:tableStyleId>{A91F0D33-8C57-4600-99A7-42BC86742BE1}</a:tableStyleId>
                  </a:tblPr>
                  <a:tblGrid>
                    <a:gridCol w="1127688">
                      <a:extLst>
                        <a:ext uri="{9D8B030D-6E8A-4147-A177-3AD203B41FA5}">
                          <a16:colId xmlns:a16="http://schemas.microsoft.com/office/drawing/2014/main" val="251475169"/>
                        </a:ext>
                      </a:extLst>
                    </a:gridCol>
                    <a:gridCol w="1128413">
                      <a:extLst>
                        <a:ext uri="{9D8B030D-6E8A-4147-A177-3AD203B41FA5}">
                          <a16:colId xmlns:a16="http://schemas.microsoft.com/office/drawing/2014/main" val="1437223844"/>
                        </a:ext>
                      </a:extLst>
                    </a:gridCol>
                    <a:gridCol w="1128413">
                      <a:extLst>
                        <a:ext uri="{9D8B030D-6E8A-4147-A177-3AD203B41FA5}">
                          <a16:colId xmlns:a16="http://schemas.microsoft.com/office/drawing/2014/main" val="769179835"/>
                        </a:ext>
                      </a:extLst>
                    </a:gridCol>
                    <a:gridCol w="1128413">
                      <a:extLst>
                        <a:ext uri="{9D8B030D-6E8A-4147-A177-3AD203B41FA5}">
                          <a16:colId xmlns:a16="http://schemas.microsoft.com/office/drawing/2014/main" val="1868046801"/>
                        </a:ext>
                      </a:extLst>
                    </a:gridCol>
                    <a:gridCol w="1128413">
                      <a:extLst>
                        <a:ext uri="{9D8B030D-6E8A-4147-A177-3AD203B41FA5}">
                          <a16:colId xmlns:a16="http://schemas.microsoft.com/office/drawing/2014/main" val="2343468042"/>
                        </a:ext>
                      </a:extLst>
                    </a:gridCol>
                  </a:tblGrid>
                  <a:tr h="42203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183</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165</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179</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8471098"/>
                      </a:ext>
                    </a:extLst>
                  </a:tr>
                  <a:tr h="42203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153</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135</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124</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957643"/>
                      </a:ext>
                    </a:extLst>
                  </a:tr>
                </a:tbl>
              </a:graphicData>
            </a:graphic>
          </p:graphicFrame>
        </mc:Choice>
        <mc:Fallback xmlns="">
          <p:graphicFrame>
            <p:nvGraphicFramePr>
              <p:cNvPr id="2" name="Table 1">
                <a:extLst>
                  <a:ext uri="{FF2B5EF4-FFF2-40B4-BE49-F238E27FC236}">
                    <a16:creationId xmlns:a16="http://schemas.microsoft.com/office/drawing/2014/main" id="{BB3D544B-B3B5-7648-961C-7D0C3CE4FDC0}"/>
                  </a:ext>
                </a:extLst>
              </p:cNvPr>
              <p:cNvGraphicFramePr>
                <a:graphicFrameLocks noGrp="1"/>
              </p:cNvGraphicFramePr>
              <p:nvPr>
                <p:extLst>
                  <p:ext uri="{D42A27DB-BD31-4B8C-83A1-F6EECF244321}">
                    <p14:modId xmlns:p14="http://schemas.microsoft.com/office/powerpoint/2010/main" val="4200549682"/>
                  </p:ext>
                </p:extLst>
              </p:nvPr>
            </p:nvGraphicFramePr>
            <p:xfrm>
              <a:off x="1588750" y="2584926"/>
              <a:ext cx="5641340" cy="844074"/>
            </p:xfrm>
            <a:graphic>
              <a:graphicData uri="http://schemas.openxmlformats.org/drawingml/2006/table">
                <a:tbl>
                  <a:tblPr firstRow="1" firstCol="1" bandRow="1">
                    <a:tableStyleId>{A91F0D33-8C57-4600-99A7-42BC86742BE1}</a:tableStyleId>
                  </a:tblPr>
                  <a:tblGrid>
                    <a:gridCol w="1127688">
                      <a:extLst>
                        <a:ext uri="{9D8B030D-6E8A-4147-A177-3AD203B41FA5}">
                          <a16:colId xmlns:a16="http://schemas.microsoft.com/office/drawing/2014/main" val="251475169"/>
                        </a:ext>
                      </a:extLst>
                    </a:gridCol>
                    <a:gridCol w="1128413">
                      <a:extLst>
                        <a:ext uri="{9D8B030D-6E8A-4147-A177-3AD203B41FA5}">
                          <a16:colId xmlns:a16="http://schemas.microsoft.com/office/drawing/2014/main" val="1437223844"/>
                        </a:ext>
                      </a:extLst>
                    </a:gridCol>
                    <a:gridCol w="1128413">
                      <a:extLst>
                        <a:ext uri="{9D8B030D-6E8A-4147-A177-3AD203B41FA5}">
                          <a16:colId xmlns:a16="http://schemas.microsoft.com/office/drawing/2014/main" val="769179835"/>
                        </a:ext>
                      </a:extLst>
                    </a:gridCol>
                    <a:gridCol w="1128413">
                      <a:extLst>
                        <a:ext uri="{9D8B030D-6E8A-4147-A177-3AD203B41FA5}">
                          <a16:colId xmlns:a16="http://schemas.microsoft.com/office/drawing/2014/main" val="1868046801"/>
                        </a:ext>
                      </a:extLst>
                    </a:gridCol>
                    <a:gridCol w="1128413">
                      <a:extLst>
                        <a:ext uri="{9D8B030D-6E8A-4147-A177-3AD203B41FA5}">
                          <a16:colId xmlns:a16="http://schemas.microsoft.com/office/drawing/2014/main" val="2343468042"/>
                        </a:ext>
                      </a:extLst>
                    </a:gridCol>
                  </a:tblGrid>
                  <a:tr h="422037">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124" t="-2941" r="-401124" b="-10294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124" t="-2941" r="-301124" b="-10294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01124" t="-2941" r="-201124" b="-10294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1124" t="-2941" r="-101124" b="-10294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401124" t="-2941" r="-1124" b="-102941"/>
                          </a:stretch>
                        </a:blipFill>
                      </a:tcPr>
                    </a:tc>
                    <a:extLst>
                      <a:ext uri="{0D108BD9-81ED-4DB2-BD59-A6C34878D82A}">
                        <a16:rowId xmlns:a16="http://schemas.microsoft.com/office/drawing/2014/main" val="1828471098"/>
                      </a:ext>
                    </a:extLst>
                  </a:tr>
                  <a:tr h="422037">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124" t="-106061" r="-401124" b="-606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124" t="-106061" r="-301124" b="-606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01124" t="-106061" r="-201124" b="-606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1124" t="-106061" r="-101124" b="-606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401124" t="-106061" r="-1124" b="-6061"/>
                          </a:stretch>
                        </a:blipFill>
                      </a:tcPr>
                    </a:tc>
                    <a:extLst>
                      <a:ext uri="{0D108BD9-81ED-4DB2-BD59-A6C34878D82A}">
                        <a16:rowId xmlns:a16="http://schemas.microsoft.com/office/drawing/2014/main" val="1271957643"/>
                      </a:ext>
                    </a:extLst>
                  </a:tr>
                </a:tbl>
              </a:graphicData>
            </a:graphic>
          </p:graphicFrame>
        </mc:Fallback>
      </mc:AlternateContent>
      <p:sp>
        <p:nvSpPr>
          <p:cNvPr id="11"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117</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440873" y="410665"/>
            <a:ext cx="9460920"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Match the measures of center and variation with their calculations for the data set above.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D75B1F8-9B48-A04A-A0D7-6837BCCB598F}"/>
                  </a:ext>
                </a:extLst>
              </p:cNvPr>
              <p:cNvGraphicFramePr>
                <a:graphicFrameLocks noGrp="1"/>
              </p:cNvGraphicFramePr>
              <p:nvPr>
                <p:extLst>
                  <p:ext uri="{D42A27DB-BD31-4B8C-83A1-F6EECF244321}">
                    <p14:modId xmlns:p14="http://schemas.microsoft.com/office/powerpoint/2010/main" val="3040992273"/>
                  </p:ext>
                </p:extLst>
              </p:nvPr>
            </p:nvGraphicFramePr>
            <p:xfrm>
              <a:off x="1917665" y="2022478"/>
              <a:ext cx="8507337" cy="3274197"/>
            </p:xfrm>
            <a:graphic>
              <a:graphicData uri="http://schemas.openxmlformats.org/drawingml/2006/table">
                <a:tbl>
                  <a:tblPr firstRow="1" firstCol="1" bandRow="1">
                    <a:tableStyleId>{A91F0D33-8C57-4600-99A7-42BC86742BE1}</a:tableStyleId>
                  </a:tblPr>
                  <a:tblGrid>
                    <a:gridCol w="906179">
                      <a:extLst>
                        <a:ext uri="{9D8B030D-6E8A-4147-A177-3AD203B41FA5}">
                          <a16:colId xmlns:a16="http://schemas.microsoft.com/office/drawing/2014/main" val="2252932039"/>
                        </a:ext>
                      </a:extLst>
                    </a:gridCol>
                    <a:gridCol w="7601158">
                      <a:extLst>
                        <a:ext uri="{9D8B030D-6E8A-4147-A177-3AD203B41FA5}">
                          <a16:colId xmlns:a16="http://schemas.microsoft.com/office/drawing/2014/main" val="3775615324"/>
                        </a:ext>
                      </a:extLst>
                    </a:gridCol>
                  </a:tblGrid>
                  <a:tr h="761163">
                    <a:tc>
                      <a:txBody>
                        <a:bodyPr/>
                        <a:lstStyle/>
                        <a:p>
                          <a:pPr marL="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en-US" sz="1800" i="1">
                                      <a:effectLst/>
                                      <a:latin typeface="Cambria Math" panose="02040503050406030204" pitchFamily="18" charset="0"/>
                                      <a:ea typeface="Cambria Math" panose="02040503050406030204" pitchFamily="18" charset="0"/>
                                    </a:rPr>
                                  </m:ctrlPr>
                                </m:fPr>
                                <m:num>
                                  <m:r>
                                    <a:rPr lang="en-US" sz="1800">
                                      <a:effectLst/>
                                      <a:latin typeface="Cambria Math" panose="02040503050406030204" pitchFamily="18" charset="0"/>
                                      <a:ea typeface="Cambria Math" panose="02040503050406030204" pitchFamily="18" charset="0"/>
                                    </a:rPr>
                                    <m:t>152+152</m:t>
                                  </m:r>
                                </m:num>
                                <m:den>
                                  <m:r>
                                    <a:rPr lang="en-US" sz="1800">
                                      <a:effectLst/>
                                      <a:latin typeface="Cambria Math" panose="02040503050406030204" pitchFamily="18" charset="0"/>
                                      <a:ea typeface="Cambria Math" panose="02040503050406030204" pitchFamily="18" charset="0"/>
                                    </a:rPr>
                                    <m:t>2</m:t>
                                  </m:r>
                                </m:den>
                              </m:f>
                              <m:r>
                                <a:rPr lang="en-US" sz="1800">
                                  <a:effectLst/>
                                  <a:latin typeface="Cambria Math" panose="02040503050406030204" pitchFamily="18" charset="0"/>
                                  <a:ea typeface="Cambria Math" panose="02040503050406030204" pitchFamily="18" charset="0"/>
                                </a:rPr>
                                <m:t>=152</m:t>
                              </m:r>
                            </m:oMath>
                          </a14:m>
                          <a:r>
                            <a:rPr lang="en-US" sz="1800" dirty="0">
                              <a:effectLst/>
                              <a:latin typeface="Cambria Math" panose="02040503050406030204" pitchFamily="18" charset="0"/>
                              <a:ea typeface="Cambria Math" panose="02040503050406030204" pitchFamily="18" charset="0"/>
                            </a:rPr>
                            <a:t>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970656"/>
                      </a:ext>
                    </a:extLst>
                  </a:tr>
                  <a:tr h="761163">
                    <a:tc>
                      <a:txBody>
                        <a:bodyPr/>
                        <a:lstStyle/>
                        <a:p>
                          <a:pPr marL="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165−124=41</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474897"/>
                      </a:ext>
                    </a:extLst>
                  </a:tr>
                  <a:tr h="990708">
                    <a:tc>
                      <a:txBody>
                        <a:bodyPr/>
                        <a:lstStyle/>
                        <a:p>
                          <a:pPr marL="685800" marR="0" algn="ctr">
                            <a:lnSpc>
                              <a:spcPct val="107000"/>
                            </a:lnSpc>
                            <a:spcBef>
                              <a:spcPts val="0"/>
                            </a:spcBef>
                            <a:spcAft>
                              <a:spcPts val="0"/>
                            </a:spcAft>
                          </a:pPr>
                          <a:r>
                            <a:rPr lang="en-US" sz="16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Cambria Math" panose="02040503050406030204" pitchFamily="18" charset="0"/>
                                      </a:rPr>
                                    </m:ctrlPr>
                                  </m:fPr>
                                  <m:num>
                                    <m:r>
                                      <a:rPr lang="en-US" sz="1800">
                                        <a:effectLst/>
                                        <a:latin typeface="Cambria Math" panose="02040503050406030204" pitchFamily="18" charset="0"/>
                                        <a:ea typeface="Cambria Math" panose="02040503050406030204" pitchFamily="18" charset="0"/>
                                      </a:rPr>
                                      <m:t>183+165+58+152+179+152+153+135+124+112</m:t>
                                    </m:r>
                                  </m:num>
                                  <m:den>
                                    <m:r>
                                      <a:rPr lang="en-US" sz="1800">
                                        <a:effectLst/>
                                        <a:latin typeface="Cambria Math" panose="02040503050406030204" pitchFamily="18" charset="0"/>
                                        <a:ea typeface="Cambria Math" panose="02040503050406030204" pitchFamily="18" charset="0"/>
                                      </a:rPr>
                                      <m:t>10</m:t>
                                    </m:r>
                                  </m:den>
                                </m:f>
                                <m:r>
                                  <a:rPr lang="en-US" sz="1800">
                                    <a:effectLst/>
                                    <a:latin typeface="Cambria Math" panose="02040503050406030204" pitchFamily="18" charset="0"/>
                                    <a:ea typeface="Cambria Math" panose="02040503050406030204" pitchFamily="18" charset="0"/>
                                  </a:rPr>
                                  <m:t>=141.3</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2530964"/>
                      </a:ext>
                    </a:extLst>
                  </a:tr>
                  <a:tr h="761163">
                    <a:tc>
                      <a:txBody>
                        <a:bodyPr/>
                        <a:lstStyle/>
                        <a:p>
                          <a:pPr marL="68580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183−58=125</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19544"/>
                      </a:ext>
                    </a:extLst>
                  </a:tr>
                </a:tbl>
              </a:graphicData>
            </a:graphic>
          </p:graphicFrame>
        </mc:Choice>
        <mc:Fallback xmlns="">
          <p:graphicFrame>
            <p:nvGraphicFramePr>
              <p:cNvPr id="3" name="Table 2">
                <a:extLst>
                  <a:ext uri="{FF2B5EF4-FFF2-40B4-BE49-F238E27FC236}">
                    <a16:creationId xmlns:a16="http://schemas.microsoft.com/office/drawing/2014/main" id="{FD75B1F8-9B48-A04A-A0D7-6837BCCB598F}"/>
                  </a:ext>
                </a:extLst>
              </p:cNvPr>
              <p:cNvGraphicFramePr>
                <a:graphicFrameLocks noGrp="1"/>
              </p:cNvGraphicFramePr>
              <p:nvPr>
                <p:extLst>
                  <p:ext uri="{D42A27DB-BD31-4B8C-83A1-F6EECF244321}">
                    <p14:modId xmlns:p14="http://schemas.microsoft.com/office/powerpoint/2010/main" val="3040992273"/>
                  </p:ext>
                </p:extLst>
              </p:nvPr>
            </p:nvGraphicFramePr>
            <p:xfrm>
              <a:off x="393664" y="2022477"/>
              <a:ext cx="8507337" cy="3274197"/>
            </p:xfrm>
            <a:graphic>
              <a:graphicData uri="http://schemas.openxmlformats.org/drawingml/2006/table">
                <a:tbl>
                  <a:tblPr firstRow="1" firstCol="1" bandRow="1">
                    <a:tableStyleId>{A91F0D33-8C57-4600-99A7-42BC86742BE1}</a:tableStyleId>
                  </a:tblPr>
                  <a:tblGrid>
                    <a:gridCol w="906179">
                      <a:extLst>
                        <a:ext uri="{9D8B030D-6E8A-4147-A177-3AD203B41FA5}">
                          <a16:colId xmlns:a16="http://schemas.microsoft.com/office/drawing/2014/main" val="2252932039"/>
                        </a:ext>
                      </a:extLst>
                    </a:gridCol>
                    <a:gridCol w="7601158">
                      <a:extLst>
                        <a:ext uri="{9D8B030D-6E8A-4147-A177-3AD203B41FA5}">
                          <a16:colId xmlns:a16="http://schemas.microsoft.com/office/drawing/2014/main" val="3775615324"/>
                        </a:ext>
                      </a:extLst>
                    </a:gridCol>
                  </a:tblGrid>
                  <a:tr h="761163">
                    <a:tc>
                      <a:txBody>
                        <a:bodyPr/>
                        <a:lstStyle/>
                        <a:p>
                          <a:pPr marL="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833" t="-1667" r="-333" b="-333333"/>
                          </a:stretch>
                        </a:blipFill>
                      </a:tcPr>
                    </a:tc>
                    <a:extLst>
                      <a:ext uri="{0D108BD9-81ED-4DB2-BD59-A6C34878D82A}">
                        <a16:rowId xmlns:a16="http://schemas.microsoft.com/office/drawing/2014/main" val="2841970656"/>
                      </a:ext>
                    </a:extLst>
                  </a:tr>
                  <a:tr h="761163">
                    <a:tc>
                      <a:txBody>
                        <a:bodyPr/>
                        <a:lstStyle/>
                        <a:p>
                          <a:pPr marL="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833" t="-101667" r="-333" b="-233333"/>
                          </a:stretch>
                        </a:blipFill>
                      </a:tcPr>
                    </a:tc>
                    <a:extLst>
                      <a:ext uri="{0D108BD9-81ED-4DB2-BD59-A6C34878D82A}">
                        <a16:rowId xmlns:a16="http://schemas.microsoft.com/office/drawing/2014/main" val="526474897"/>
                      </a:ext>
                    </a:extLst>
                  </a:tr>
                  <a:tr h="990708">
                    <a:tc>
                      <a:txBody>
                        <a:bodyPr/>
                        <a:lstStyle/>
                        <a:p>
                          <a:pPr marL="685800" marR="0" algn="ctr">
                            <a:lnSpc>
                              <a:spcPct val="107000"/>
                            </a:lnSpc>
                            <a:spcBef>
                              <a:spcPts val="0"/>
                            </a:spcBef>
                            <a:spcAft>
                              <a:spcPts val="0"/>
                            </a:spcAft>
                          </a:pPr>
                          <a:r>
                            <a:rPr lang="en-US" sz="16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833" t="-153165" r="-333" b="-77215"/>
                          </a:stretch>
                        </a:blipFill>
                      </a:tcPr>
                    </a:tc>
                    <a:extLst>
                      <a:ext uri="{0D108BD9-81ED-4DB2-BD59-A6C34878D82A}">
                        <a16:rowId xmlns:a16="http://schemas.microsoft.com/office/drawing/2014/main" val="4092530964"/>
                      </a:ext>
                    </a:extLst>
                  </a:tr>
                  <a:tr h="761163">
                    <a:tc>
                      <a:txBody>
                        <a:bodyPr/>
                        <a:lstStyle/>
                        <a:p>
                          <a:pPr marL="685800" marR="0" algn="ctr">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833" t="-333333" r="-333" b="-1667"/>
                          </a:stretch>
                        </a:blipFill>
                      </a:tcPr>
                    </a:tc>
                    <a:extLst>
                      <a:ext uri="{0D108BD9-81ED-4DB2-BD59-A6C34878D82A}">
                        <a16:rowId xmlns:a16="http://schemas.microsoft.com/office/drawing/2014/main" val="112719544"/>
                      </a:ext>
                    </a:extLst>
                  </a:tr>
                </a:tbl>
              </a:graphicData>
            </a:graphic>
          </p:graphicFrame>
        </mc:Fallback>
      </mc:AlternateContent>
      <p:graphicFrame>
        <p:nvGraphicFramePr>
          <p:cNvPr id="4" name="Table 3">
            <a:extLst>
              <a:ext uri="{FF2B5EF4-FFF2-40B4-BE49-F238E27FC236}">
                <a16:creationId xmlns:a16="http://schemas.microsoft.com/office/drawing/2014/main" id="{4ACC858A-7718-F54A-A473-BD1B938773E1}"/>
              </a:ext>
            </a:extLst>
          </p:cNvPr>
          <p:cNvGraphicFramePr>
            <a:graphicFrameLocks noGrp="1"/>
          </p:cNvGraphicFramePr>
          <p:nvPr>
            <p:extLst>
              <p:ext uri="{D42A27DB-BD31-4B8C-83A1-F6EECF244321}">
                <p14:modId xmlns:p14="http://schemas.microsoft.com/office/powerpoint/2010/main" val="926273071"/>
              </p:ext>
            </p:extLst>
          </p:nvPr>
        </p:nvGraphicFramePr>
        <p:xfrm>
          <a:off x="2537963" y="1257068"/>
          <a:ext cx="6801980" cy="441103"/>
        </p:xfrm>
        <a:graphic>
          <a:graphicData uri="http://schemas.openxmlformats.org/drawingml/2006/table">
            <a:tbl>
              <a:tblPr firstRow="1" firstCol="1" bandRow="1">
                <a:tableStyleId>{A91F0D33-8C57-4600-99A7-42BC86742BE1}</a:tableStyleId>
              </a:tblPr>
              <a:tblGrid>
                <a:gridCol w="1700178">
                  <a:extLst>
                    <a:ext uri="{9D8B030D-6E8A-4147-A177-3AD203B41FA5}">
                      <a16:colId xmlns:a16="http://schemas.microsoft.com/office/drawing/2014/main" val="3148174753"/>
                    </a:ext>
                  </a:extLst>
                </a:gridCol>
                <a:gridCol w="1700178">
                  <a:extLst>
                    <a:ext uri="{9D8B030D-6E8A-4147-A177-3AD203B41FA5}">
                      <a16:colId xmlns:a16="http://schemas.microsoft.com/office/drawing/2014/main" val="830361667"/>
                    </a:ext>
                  </a:extLst>
                </a:gridCol>
                <a:gridCol w="1700812">
                  <a:extLst>
                    <a:ext uri="{9D8B030D-6E8A-4147-A177-3AD203B41FA5}">
                      <a16:colId xmlns:a16="http://schemas.microsoft.com/office/drawing/2014/main" val="207979444"/>
                    </a:ext>
                  </a:extLst>
                </a:gridCol>
                <a:gridCol w="1700812">
                  <a:extLst>
                    <a:ext uri="{9D8B030D-6E8A-4147-A177-3AD203B41FA5}">
                      <a16:colId xmlns:a16="http://schemas.microsoft.com/office/drawing/2014/main" val="940732319"/>
                    </a:ext>
                  </a:extLst>
                </a:gridCol>
              </a:tblGrid>
              <a:tr h="441103">
                <a:tc>
                  <a:txBody>
                    <a:bodyPr/>
                    <a:lstStyle/>
                    <a:p>
                      <a:pPr marL="342900" marR="0" lvl="0" indent="-342900" algn="l">
                        <a:lnSpc>
                          <a:spcPct val="107000"/>
                        </a:lnSpc>
                        <a:spcBef>
                          <a:spcPts val="0"/>
                        </a:spcBef>
                        <a:spcAft>
                          <a:spcPts val="0"/>
                        </a:spcAft>
                        <a:buFont typeface="+mj-lt"/>
                        <a:buAutoNum type="alphaUcPeriod"/>
                      </a:pPr>
                      <a:r>
                        <a:rPr lang="en-US" sz="2000" i="1" dirty="0">
                          <a:effectLst/>
                          <a:latin typeface="Verdana" panose="020B0604030504040204" pitchFamily="34" charset="0"/>
                          <a:ea typeface="Verdana" panose="020B0604030504040204" pitchFamily="34" charset="0"/>
                          <a:cs typeface="Verdana" panose="020B0604030504040204" pitchFamily="34" charset="0"/>
                        </a:rPr>
                        <a:t>Mean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a:lnSpc>
                          <a:spcPct val="107000"/>
                        </a:lnSpc>
                        <a:spcBef>
                          <a:spcPts val="0"/>
                        </a:spcBef>
                        <a:spcAft>
                          <a:spcPts val="0"/>
                        </a:spcAft>
                        <a:buFont typeface="+mj-lt"/>
                        <a:buAutoNum type="alphaUcPeriod" startAt="2"/>
                      </a:pPr>
                      <a:r>
                        <a:rPr lang="en-US" sz="2000" i="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a:lnSpc>
                          <a:spcPct val="107000"/>
                        </a:lnSpc>
                        <a:spcBef>
                          <a:spcPts val="0"/>
                        </a:spcBef>
                        <a:spcAft>
                          <a:spcPts val="0"/>
                        </a:spcAft>
                        <a:buFont typeface="+mj-lt"/>
                        <a:buAutoNum type="alphaUcPeriod" startAt="3"/>
                      </a:pPr>
                      <a:r>
                        <a:rPr lang="en-US" sz="2000" i="1" dirty="0">
                          <a:effectLst/>
                          <a:latin typeface="Verdana" panose="020B0604030504040204" pitchFamily="34" charset="0"/>
                          <a:ea typeface="Verdana" panose="020B0604030504040204" pitchFamily="34" charset="0"/>
                          <a:cs typeface="Verdana" panose="020B0604030504040204" pitchFamily="34" charset="0"/>
                        </a:rPr>
                        <a:t>Range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a:lnSpc>
                          <a:spcPct val="107000"/>
                        </a:lnSpc>
                        <a:spcBef>
                          <a:spcPts val="0"/>
                        </a:spcBef>
                        <a:spcAft>
                          <a:spcPts val="0"/>
                        </a:spcAft>
                        <a:buFont typeface="+mj-lt"/>
                        <a:buAutoNum type="alphaUcPeriod" startAt="4"/>
                      </a:pPr>
                      <a:r>
                        <a:rPr lang="en-US" sz="2000" i="1"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6037631"/>
                  </a:ext>
                </a:extLst>
              </a:tr>
            </a:tbl>
          </a:graphicData>
        </a:graphic>
      </p:graphicFrame>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117</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108364" y="410666"/>
            <a:ext cx="10225843" cy="246221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 </a:t>
            </a:r>
            <a:r>
              <a:rPr lang="en-US" sz="2000" b="1" dirty="0">
                <a:latin typeface="Verdana" panose="020B0604030504040204" pitchFamily="34" charset="0"/>
                <a:ea typeface="Verdana" panose="020B0604030504040204" pitchFamily="34" charset="0"/>
                <a:cs typeface="Verdana" panose="020B0604030504040204" pitchFamily="34" charset="0"/>
              </a:rPr>
              <a:t>histogram</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b="1" dirty="0">
                <a:latin typeface="Verdana" panose="020B0604030504040204" pitchFamily="34" charset="0"/>
                <a:ea typeface="Verdana" panose="020B0604030504040204" pitchFamily="34" charset="0"/>
                <a:cs typeface="Verdana" panose="020B0604030504040204" pitchFamily="34" charset="0"/>
              </a:rPr>
              <a:t>line plot</a:t>
            </a:r>
            <a:r>
              <a:rPr lang="en-US" sz="2000" dirty="0">
                <a:latin typeface="Verdana" panose="020B0604030504040204" pitchFamily="34" charset="0"/>
                <a:ea typeface="Verdana" panose="020B0604030504040204" pitchFamily="34" charset="0"/>
                <a:cs typeface="Verdana" panose="020B0604030504040204" pitchFamily="34" charset="0"/>
              </a:rPr>
              <a:t>, and </a:t>
            </a:r>
            <a:r>
              <a:rPr lang="en-US" sz="2000" b="1" dirty="0">
                <a:latin typeface="Verdana" panose="020B0604030504040204" pitchFamily="34" charset="0"/>
                <a:ea typeface="Verdana" panose="020B0604030504040204" pitchFamily="34" charset="0"/>
                <a:cs typeface="Verdana" panose="020B0604030504040204" pitchFamily="34" charset="0"/>
              </a:rPr>
              <a:t>box plot</a:t>
            </a:r>
            <a:r>
              <a:rPr lang="en-US" sz="2000" dirty="0">
                <a:latin typeface="Verdana" panose="020B0604030504040204" pitchFamily="34" charset="0"/>
                <a:ea typeface="Verdana" panose="020B0604030504040204" pitchFamily="34" charset="0"/>
                <a:cs typeface="Verdana" panose="020B0604030504040204" pitchFamily="34" charset="0"/>
              </a:rPr>
              <a:t> representing the data are shown.</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8838" indent="-21748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Label the display types </a:t>
            </a:r>
          </a:p>
          <a:p>
            <a:pPr marL="858838" indent="-217488"/>
            <a:r>
              <a:rPr lang="en-US" sz="2000" dirty="0">
                <a:latin typeface="Verdana" panose="020B0604030504040204" pitchFamily="34" charset="0"/>
                <a:ea typeface="Verdana" panose="020B0604030504040204" pitchFamily="34" charset="0"/>
                <a:cs typeface="Verdana" panose="020B0604030504040204" pitchFamily="34" charset="0"/>
              </a:rPr>
              <a:t>    by filling in the box above </a:t>
            </a:r>
          </a:p>
          <a:p>
            <a:pPr marL="858838" indent="-217488"/>
            <a:r>
              <a:rPr lang="en-US" sz="2000" dirty="0">
                <a:latin typeface="Verdana" panose="020B0604030504040204" pitchFamily="34" charset="0"/>
                <a:ea typeface="Verdana" panose="020B0604030504040204" pitchFamily="34" charset="0"/>
                <a:cs typeface="Verdana" panose="020B0604030504040204" pitchFamily="34" charset="0"/>
              </a:rPr>
              <a:t>    each display.</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pPr lvl="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Rectangle 7">
            <a:extLst>
              <a:ext uri="{FF2B5EF4-FFF2-40B4-BE49-F238E27FC236}">
                <a16:creationId xmlns:a16="http://schemas.microsoft.com/office/drawing/2014/main" id="{A77D3B4E-F3A3-6F46-ADBE-E8B7A83F1200}"/>
              </a:ext>
            </a:extLst>
          </p:cNvPr>
          <p:cNvSpPr/>
          <p:nvPr/>
        </p:nvSpPr>
        <p:spPr>
          <a:xfrm>
            <a:off x="6642357" y="844174"/>
            <a:ext cx="2631942" cy="46792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9" name="Picture 8" descr="Chart, scatter chart&#10;&#10;Description automatically generated">
            <a:extLst>
              <a:ext uri="{FF2B5EF4-FFF2-40B4-BE49-F238E27FC236}">
                <a16:creationId xmlns:a16="http://schemas.microsoft.com/office/drawing/2014/main" id="{432D8A3F-E382-EE47-B12B-F9057CD2C73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43925" b="7842"/>
          <a:stretch/>
        </p:blipFill>
        <p:spPr bwMode="auto">
          <a:xfrm>
            <a:off x="5971094" y="1328537"/>
            <a:ext cx="3974469" cy="977809"/>
          </a:xfrm>
          <a:prstGeom prst="rect">
            <a:avLst/>
          </a:prstGeom>
          <a:ln>
            <a:noFill/>
          </a:ln>
          <a:extLst>
            <a:ext uri="{53640926-AAD7-44D8-BBD7-CCE9431645EC}">
              <a14:shadowObscured xmlns:a14="http://schemas.microsoft.com/office/drawing/2010/main"/>
            </a:ext>
          </a:extLst>
        </p:spPr>
      </p:pic>
      <p:pic>
        <p:nvPicPr>
          <p:cNvPr id="11" name="Picture 10" descr="Chart, histogram&#10;&#10;Description automatically generated">
            <a:extLst>
              <a:ext uri="{FF2B5EF4-FFF2-40B4-BE49-F238E27FC236}">
                <a16:creationId xmlns:a16="http://schemas.microsoft.com/office/drawing/2014/main" id="{0DF88F26-9BE3-6A45-BFB1-F9AA1907013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42358" y="2885350"/>
            <a:ext cx="3008541" cy="2355327"/>
          </a:xfrm>
          <a:prstGeom prst="rect">
            <a:avLst/>
          </a:prstGeom>
        </p:spPr>
      </p:pic>
      <p:pic>
        <p:nvPicPr>
          <p:cNvPr id="15" name="Picture 14" descr="Chart, histogram&#10;&#10;Description automatically generated">
            <a:extLst>
              <a:ext uri="{FF2B5EF4-FFF2-40B4-BE49-F238E27FC236}">
                <a16:creationId xmlns:a16="http://schemas.microsoft.com/office/drawing/2014/main" id="{4943422D-9306-9C4A-9605-CFF9CBC93CC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5091" b="51861"/>
          <a:stretch/>
        </p:blipFill>
        <p:spPr bwMode="auto">
          <a:xfrm>
            <a:off x="6334883" y="5641480"/>
            <a:ext cx="3422469" cy="927505"/>
          </a:xfrm>
          <a:prstGeom prst="rect">
            <a:avLst/>
          </a:prstGeom>
          <a:ln>
            <a:noFill/>
          </a:ln>
          <a:extLst>
            <a:ext uri="{53640926-AAD7-44D8-BBD7-CCE9431645EC}">
              <a14:shadowObscured xmlns:a14="http://schemas.microsoft.com/office/drawing/2010/main"/>
            </a:ext>
          </a:extLst>
        </p:spPr>
      </p:pic>
      <p:sp>
        <p:nvSpPr>
          <p:cNvPr id="16" name="Rectangle 15">
            <a:extLst>
              <a:ext uri="{FF2B5EF4-FFF2-40B4-BE49-F238E27FC236}">
                <a16:creationId xmlns:a16="http://schemas.microsoft.com/office/drawing/2014/main" id="{0E36C047-7C03-D641-98C6-BCDC6EECC895}"/>
              </a:ext>
            </a:extLst>
          </p:cNvPr>
          <p:cNvSpPr/>
          <p:nvPr/>
        </p:nvSpPr>
        <p:spPr>
          <a:xfrm>
            <a:off x="6642357" y="2286008"/>
            <a:ext cx="2631942" cy="46792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13705666-E53D-884A-B889-227562FFEACB}"/>
              </a:ext>
            </a:extLst>
          </p:cNvPr>
          <p:cNvSpPr/>
          <p:nvPr/>
        </p:nvSpPr>
        <p:spPr>
          <a:xfrm>
            <a:off x="6730146" y="5072220"/>
            <a:ext cx="2631942" cy="46792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117</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1798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343891" y="374090"/>
            <a:ext cx="9654884" cy="4401205"/>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by identifying which measures of center and variation can be determined from each display. </a:t>
            </a: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49263">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Describe any outliers in the data set.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id="{CC889D5E-C537-2A46-8A14-759E621DE703}"/>
              </a:ext>
            </a:extLst>
          </p:cNvPr>
          <p:cNvGraphicFramePr>
            <a:graphicFrameLocks noGrp="1"/>
          </p:cNvGraphicFramePr>
          <p:nvPr>
            <p:extLst>
              <p:ext uri="{D42A27DB-BD31-4B8C-83A1-F6EECF244321}">
                <p14:modId xmlns:p14="http://schemas.microsoft.com/office/powerpoint/2010/main" val="2561608170"/>
              </p:ext>
            </p:extLst>
          </p:nvPr>
        </p:nvGraphicFramePr>
        <p:xfrm>
          <a:off x="2410999" y="1644554"/>
          <a:ext cx="7520668" cy="2150622"/>
        </p:xfrm>
        <a:graphic>
          <a:graphicData uri="http://schemas.openxmlformats.org/drawingml/2006/table">
            <a:tbl>
              <a:tblPr firstRow="1" firstCol="1" bandRow="1">
                <a:tableStyleId>{A91F0D33-8C57-4600-99A7-42BC86742BE1}</a:tableStyleId>
              </a:tblPr>
              <a:tblGrid>
                <a:gridCol w="1639180">
                  <a:extLst>
                    <a:ext uri="{9D8B030D-6E8A-4147-A177-3AD203B41FA5}">
                      <a16:colId xmlns:a16="http://schemas.microsoft.com/office/drawing/2014/main" val="196464242"/>
                    </a:ext>
                  </a:extLst>
                </a:gridCol>
                <a:gridCol w="1470372">
                  <a:extLst>
                    <a:ext uri="{9D8B030D-6E8A-4147-A177-3AD203B41FA5}">
                      <a16:colId xmlns:a16="http://schemas.microsoft.com/office/drawing/2014/main" val="204757124"/>
                    </a:ext>
                  </a:extLst>
                </a:gridCol>
                <a:gridCol w="1470372">
                  <a:extLst>
                    <a:ext uri="{9D8B030D-6E8A-4147-A177-3AD203B41FA5}">
                      <a16:colId xmlns:a16="http://schemas.microsoft.com/office/drawing/2014/main" val="2494054435"/>
                    </a:ext>
                  </a:extLst>
                </a:gridCol>
                <a:gridCol w="1470372">
                  <a:extLst>
                    <a:ext uri="{9D8B030D-6E8A-4147-A177-3AD203B41FA5}">
                      <a16:colId xmlns:a16="http://schemas.microsoft.com/office/drawing/2014/main" val="1595313646"/>
                    </a:ext>
                  </a:extLst>
                </a:gridCol>
                <a:gridCol w="1470372">
                  <a:extLst>
                    <a:ext uri="{9D8B030D-6E8A-4147-A177-3AD203B41FA5}">
                      <a16:colId xmlns:a16="http://schemas.microsoft.com/office/drawing/2014/main" val="2424494951"/>
                    </a:ext>
                  </a:extLst>
                </a:gridCol>
              </a:tblGrid>
              <a:tr h="369837">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Mean</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IQR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09901965"/>
                  </a:ext>
                </a:extLst>
              </a:tr>
              <a:tr h="60580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Histogram</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174784"/>
                  </a:ext>
                </a:extLst>
              </a:tr>
              <a:tr h="58749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Plot</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1736616"/>
                  </a:ext>
                </a:extLst>
              </a:tr>
              <a:tr h="58749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Box Plot</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lnSpc>
                          <a:spcPct val="107000"/>
                        </a:lnSpc>
                        <a:spcBef>
                          <a:spcPts val="0"/>
                        </a:spcBef>
                        <a:spcAft>
                          <a:spcPts val="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896001"/>
                  </a:ext>
                </a:extLst>
              </a:tr>
            </a:tbl>
          </a:graphicData>
        </a:graphic>
      </p:graphicFrame>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233055" y="374090"/>
            <a:ext cx="9876556" cy="1015663"/>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Explain which of the displays you used to determine whether or not there was an outlier in the data set.</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41940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240" y="-810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17"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8575" y="-3092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10.3.3 Guided Instruction: Stem-and-Leaf Plots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701275" y="176340"/>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274618" y="1386026"/>
            <a:ext cx="9898796"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Recall the data collected on the number of phone calls an office received on business days over two weeks. </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t>In addition to displaying the data graphically with a histogram, line plot, or box plot, the data can also be displayed in a </a:t>
            </a:r>
            <a:r>
              <a:rPr lang="en-US" sz="2000" b="1" dirty="0"/>
              <a:t>stem-and-leaf</a:t>
            </a:r>
            <a:r>
              <a:rPr lang="en-US" sz="2000" dirty="0"/>
              <a:t> plot. </a:t>
            </a:r>
            <a:endParaRPr lang="en-US" sz="2000" i="1" dirty="0"/>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135DBA0-C8C2-DA4C-8F18-7291FD80CC80}"/>
                  </a:ext>
                </a:extLst>
              </p:cNvPr>
              <p:cNvGraphicFramePr>
                <a:graphicFrameLocks noGrp="1"/>
              </p:cNvGraphicFramePr>
              <p:nvPr>
                <p:extLst>
                  <p:ext uri="{D42A27DB-BD31-4B8C-83A1-F6EECF244321}">
                    <p14:modId xmlns:p14="http://schemas.microsoft.com/office/powerpoint/2010/main" val="3228561152"/>
                  </p:ext>
                </p:extLst>
              </p:nvPr>
            </p:nvGraphicFramePr>
            <p:xfrm>
              <a:off x="3400268" y="2284837"/>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3494443824"/>
                        </a:ext>
                      </a:extLst>
                    </a:gridCol>
                    <a:gridCol w="988695">
                      <a:extLst>
                        <a:ext uri="{9D8B030D-6E8A-4147-A177-3AD203B41FA5}">
                          <a16:colId xmlns:a16="http://schemas.microsoft.com/office/drawing/2014/main" val="2001802956"/>
                        </a:ext>
                      </a:extLst>
                    </a:gridCol>
                    <a:gridCol w="988695">
                      <a:extLst>
                        <a:ext uri="{9D8B030D-6E8A-4147-A177-3AD203B41FA5}">
                          <a16:colId xmlns:a16="http://schemas.microsoft.com/office/drawing/2014/main" val="2061452555"/>
                        </a:ext>
                      </a:extLst>
                    </a:gridCol>
                    <a:gridCol w="988695">
                      <a:extLst>
                        <a:ext uri="{9D8B030D-6E8A-4147-A177-3AD203B41FA5}">
                          <a16:colId xmlns:a16="http://schemas.microsoft.com/office/drawing/2014/main" val="2521339080"/>
                        </a:ext>
                      </a:extLst>
                    </a:gridCol>
                    <a:gridCol w="988695">
                      <a:extLst>
                        <a:ext uri="{9D8B030D-6E8A-4147-A177-3AD203B41FA5}">
                          <a16:colId xmlns:a16="http://schemas.microsoft.com/office/drawing/2014/main" val="4069891266"/>
                        </a:ext>
                      </a:extLst>
                    </a:gridCol>
                  </a:tblGrid>
                  <a:tr h="37846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183</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165</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179</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526672"/>
                      </a:ext>
                    </a:extLst>
                  </a:tr>
                  <a:tr h="37846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153</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135</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124</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5528"/>
                      </a:ext>
                    </a:extLst>
                  </a:tr>
                </a:tbl>
              </a:graphicData>
            </a:graphic>
          </p:graphicFrame>
        </mc:Choice>
        <mc:Fallback xmlns="">
          <p:graphicFrame>
            <p:nvGraphicFramePr>
              <p:cNvPr id="2" name="Table 1">
                <a:extLst>
                  <a:ext uri="{FF2B5EF4-FFF2-40B4-BE49-F238E27FC236}">
                    <a16:creationId xmlns:a16="http://schemas.microsoft.com/office/drawing/2014/main" id="{A135DBA0-C8C2-DA4C-8F18-7291FD80CC80}"/>
                  </a:ext>
                </a:extLst>
              </p:cNvPr>
              <p:cNvGraphicFramePr>
                <a:graphicFrameLocks noGrp="1"/>
              </p:cNvGraphicFramePr>
              <p:nvPr>
                <p:extLst>
                  <p:ext uri="{D42A27DB-BD31-4B8C-83A1-F6EECF244321}">
                    <p14:modId xmlns:p14="http://schemas.microsoft.com/office/powerpoint/2010/main" val="3228561152"/>
                  </p:ext>
                </p:extLst>
              </p:nvPr>
            </p:nvGraphicFramePr>
            <p:xfrm>
              <a:off x="1876268" y="2284837"/>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3494443824"/>
                        </a:ext>
                      </a:extLst>
                    </a:gridCol>
                    <a:gridCol w="988695">
                      <a:extLst>
                        <a:ext uri="{9D8B030D-6E8A-4147-A177-3AD203B41FA5}">
                          <a16:colId xmlns:a16="http://schemas.microsoft.com/office/drawing/2014/main" val="2001802956"/>
                        </a:ext>
                      </a:extLst>
                    </a:gridCol>
                    <a:gridCol w="988695">
                      <a:extLst>
                        <a:ext uri="{9D8B030D-6E8A-4147-A177-3AD203B41FA5}">
                          <a16:colId xmlns:a16="http://schemas.microsoft.com/office/drawing/2014/main" val="2061452555"/>
                        </a:ext>
                      </a:extLst>
                    </a:gridCol>
                    <a:gridCol w="988695">
                      <a:extLst>
                        <a:ext uri="{9D8B030D-6E8A-4147-A177-3AD203B41FA5}">
                          <a16:colId xmlns:a16="http://schemas.microsoft.com/office/drawing/2014/main" val="2521339080"/>
                        </a:ext>
                      </a:extLst>
                    </a:gridCol>
                    <a:gridCol w="988695">
                      <a:extLst>
                        <a:ext uri="{9D8B030D-6E8A-4147-A177-3AD203B41FA5}">
                          <a16:colId xmlns:a16="http://schemas.microsoft.com/office/drawing/2014/main" val="4069891266"/>
                        </a:ext>
                      </a:extLst>
                    </a:gridCol>
                  </a:tblGrid>
                  <a:tr h="3784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82" r="-402564" b="-1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82" r="-302564" b="-1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82" r="-202564" b="-1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282" r="-102564" b="-1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282" r="-2564" b="-100000"/>
                          </a:stretch>
                        </a:blipFill>
                      </a:tcPr>
                    </a:tc>
                    <a:extLst>
                      <a:ext uri="{0D108BD9-81ED-4DB2-BD59-A6C34878D82A}">
                        <a16:rowId xmlns:a16="http://schemas.microsoft.com/office/drawing/2014/main" val="2273526672"/>
                      </a:ext>
                    </a:extLst>
                  </a:tr>
                  <a:tr h="3784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82" t="-103333" r="-402564" b="-3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82" t="-103333" r="-302564" b="-3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82" t="-103333" r="-202564" b="-3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282" t="-103333" r="-102564" b="-3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282" t="-103333" r="-2564" b="-3333"/>
                          </a:stretch>
                        </a:blipFill>
                      </a:tcPr>
                    </a:tc>
                    <a:extLst>
                      <a:ext uri="{0D108BD9-81ED-4DB2-BD59-A6C34878D82A}">
                        <a16:rowId xmlns:a16="http://schemas.microsoft.com/office/drawing/2014/main" val="274955528"/>
                      </a:ext>
                    </a:extLst>
                  </a:tr>
                </a:tbl>
              </a:graphicData>
            </a:graphic>
          </p:graphicFrame>
        </mc:Fallback>
      </mc:AlternateContent>
      <p:grpSp>
        <p:nvGrpSpPr>
          <p:cNvPr id="10" name="Group 9">
            <a:extLst>
              <a:ext uri="{FF2B5EF4-FFF2-40B4-BE49-F238E27FC236}">
                <a16:creationId xmlns:a16="http://schemas.microsoft.com/office/drawing/2014/main" id="{8E11910E-8C48-2047-95CF-94E1D2A0F0B1}"/>
              </a:ext>
            </a:extLst>
          </p:cNvPr>
          <p:cNvGrpSpPr/>
          <p:nvPr/>
        </p:nvGrpSpPr>
        <p:grpSpPr>
          <a:xfrm>
            <a:off x="2416991" y="4488466"/>
            <a:ext cx="7222952" cy="1393190"/>
            <a:chOff x="0" y="0"/>
            <a:chExt cx="7222952" cy="1393190"/>
          </a:xfrm>
        </p:grpSpPr>
        <p:grpSp>
          <p:nvGrpSpPr>
            <p:cNvPr id="11" name="Group 10">
              <a:extLst>
                <a:ext uri="{FF2B5EF4-FFF2-40B4-BE49-F238E27FC236}">
                  <a16:creationId xmlns:a16="http://schemas.microsoft.com/office/drawing/2014/main" id="{9A437A7F-6E3C-954A-8125-0887A1B619EA}"/>
                </a:ext>
              </a:extLst>
            </p:cNvPr>
            <p:cNvGrpSpPr/>
            <p:nvPr/>
          </p:nvGrpSpPr>
          <p:grpSpPr>
            <a:xfrm>
              <a:off x="0" y="0"/>
              <a:ext cx="7222952" cy="1393190"/>
              <a:chOff x="1902013" y="3329150"/>
              <a:chExt cx="7222999" cy="1393800"/>
            </a:xfrm>
          </p:grpSpPr>
          <p:sp>
            <p:nvSpPr>
              <p:cNvPr id="15" name="Rectangle 14">
                <a:extLst>
                  <a:ext uri="{FF2B5EF4-FFF2-40B4-BE49-F238E27FC236}">
                    <a16:creationId xmlns:a16="http://schemas.microsoft.com/office/drawing/2014/main" id="{B33743BD-46F8-DE41-BDBC-6B8E9CFD2259}"/>
                  </a:ext>
                </a:extLst>
              </p:cNvPr>
              <p:cNvSpPr/>
              <p:nvPr/>
            </p:nvSpPr>
            <p:spPr>
              <a:xfrm>
                <a:off x="1902013" y="3329150"/>
                <a:ext cx="6852950" cy="1393800"/>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solidFill>
                      <a:srgbClr val="6C993D"/>
                    </a:solidFill>
                    <a:latin typeface="Cambria Math" panose="02040503050406030204" pitchFamily="18" charset="0"/>
                    <a:ea typeface="Cambria Math" panose="02040503050406030204" pitchFamily="18" charset="0"/>
                    <a:cs typeface="Cambria Math" panose="02040503050406030204" pitchFamily="18" charset="0"/>
                  </a:rPr>
                  <a:t> </a:t>
                </a:r>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p:grpSp>
            <p:nvGrpSpPr>
              <p:cNvPr id="16" name="Group 15">
                <a:extLst>
                  <a:ext uri="{FF2B5EF4-FFF2-40B4-BE49-F238E27FC236}">
                    <a16:creationId xmlns:a16="http://schemas.microsoft.com/office/drawing/2014/main" id="{65FD1323-84B2-9348-8A7F-2648165C9A95}"/>
                  </a:ext>
                </a:extLst>
              </p:cNvPr>
              <p:cNvGrpSpPr/>
              <p:nvPr/>
            </p:nvGrpSpPr>
            <p:grpSpPr>
              <a:xfrm>
                <a:off x="1902013" y="3329150"/>
                <a:ext cx="7222999" cy="1375763"/>
                <a:chOff x="-34990" y="0"/>
                <a:chExt cx="7222999" cy="1375763"/>
              </a:xfrm>
            </p:grpSpPr>
            <p:sp>
              <p:nvSpPr>
                <p:cNvPr id="17" name="Rectangle 16">
                  <a:extLst>
                    <a:ext uri="{FF2B5EF4-FFF2-40B4-BE49-F238E27FC236}">
                      <a16:creationId xmlns:a16="http://schemas.microsoft.com/office/drawing/2014/main" id="{CB9A006B-9D19-9E41-99A2-2ADCCF3606F7}"/>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solidFill>
                        <a:srgbClr val="6C993D"/>
                      </a:solidFill>
                      <a:latin typeface="Cambria Math" panose="02040503050406030204" pitchFamily="18" charset="0"/>
                      <a:ea typeface="Cambria Math" panose="02040503050406030204" pitchFamily="18" charset="0"/>
                      <a:cs typeface="Cambria Math" panose="02040503050406030204" pitchFamily="18" charset="0"/>
                    </a:rPr>
                    <a:t> </a:t>
                  </a:r>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p:sp>
              <p:nvSpPr>
                <p:cNvPr id="18" name="Rounded Rectangle 17">
                  <a:extLst>
                    <a:ext uri="{FF2B5EF4-FFF2-40B4-BE49-F238E27FC236}">
                      <a16:creationId xmlns:a16="http://schemas.microsoft.com/office/drawing/2014/main" id="{F5CB8046-5629-264E-88EE-AB404F9B8298}"/>
                    </a:ext>
                  </a:extLst>
                </p:cNvPr>
                <p:cNvSpPr/>
                <p:nvPr/>
              </p:nvSpPr>
              <p:spPr>
                <a:xfrm>
                  <a:off x="-34990" y="278705"/>
                  <a:ext cx="7222999" cy="1097058"/>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pPr>
                  <a:endParaRPr lang="en-US" sz="1800" dirty="0">
                    <a:solidFill>
                      <a:srgbClr val="6C993D"/>
                    </a:solidFill>
                    <a:latin typeface="Verdana" panose="020B0604030504040204" pitchFamily="34" charset="0"/>
                    <a:ea typeface="Calibri" panose="020F0502020204030204" pitchFamily="34" charset="0"/>
                    <a:cs typeface="Times New Roman" panose="02020603050405020304" pitchFamily="18" charset="0"/>
                  </a:endParaRPr>
                </a:p>
                <a:p>
                  <a:pPr marL="685800">
                    <a:lnSpc>
                      <a:spcPct val="107000"/>
                    </a:lnSpc>
                  </a:pPr>
                  <a:endParaRPr lang="en-US" sz="1800" dirty="0">
                    <a:solidFill>
                      <a:srgbClr val="6C993D"/>
                    </a:solidFill>
                    <a:latin typeface="Verdana" panose="020B0604030504040204" pitchFamily="34" charset="0"/>
                    <a:ea typeface="Calibri" panose="020F0502020204030204" pitchFamily="34" charset="0"/>
                    <a:cs typeface="Times New Roman" panose="02020603050405020304" pitchFamily="18" charset="0"/>
                  </a:endParaRPr>
                </a:p>
                <a:p>
                  <a:pPr marL="68580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stem-and-leaf plot</a:t>
                  </a:r>
                  <a:r>
                    <a:rPr lang="en-US" sz="2000" i="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table that organizes data by place value to compare data frequencies.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685800">
                    <a:lnSpc>
                      <a:spcPct val="107000"/>
                    </a:lnSpc>
                  </a:pPr>
                  <a:r>
                    <a:rPr lang="en-US" sz="1800" dirty="0">
                      <a:solidFill>
                        <a:srgbClr val="6C993D"/>
                      </a:solidFill>
                      <a:latin typeface="Verdana" panose="020B0604030504040204" pitchFamily="34" charset="0"/>
                      <a:ea typeface="Cambria Math" panose="02040503050406030204" pitchFamily="18" charset="0"/>
                      <a:cs typeface="Cambria Math" panose="02040503050406030204" pitchFamily="18" charset="0"/>
                    </a:rPr>
                    <a:t> </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a:p>
                  <a:pPr marL="685800">
                    <a:lnSpc>
                      <a:spcPct val="107000"/>
                    </a:lnSpc>
                    <a:spcAft>
                      <a:spcPts val="800"/>
                    </a:spcAft>
                  </a:pPr>
                  <a:r>
                    <a:rPr lang="en-US" sz="1800" i="1" dirty="0">
                      <a:solidFill>
                        <a:srgbClr val="6C993D"/>
                      </a:solidFill>
                      <a:latin typeface="Verdana" panose="020B0604030504040204" pitchFamily="34" charset="0"/>
                      <a:ea typeface="Cambria Math" panose="02040503050406030204" pitchFamily="18" charset="0"/>
                      <a:cs typeface="Cambria Math" panose="02040503050406030204" pitchFamily="18" charset="0"/>
                    </a:rPr>
                    <a:t> </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grpSp>
        </p:grpSp>
        <p:pic>
          <p:nvPicPr>
            <p:cNvPr id="14" name="Picture 13" descr="Icon&#10;&#10;Description automatically generated">
              <a:extLst>
                <a:ext uri="{FF2B5EF4-FFF2-40B4-BE49-F238E27FC236}">
                  <a16:creationId xmlns:a16="http://schemas.microsoft.com/office/drawing/2014/main" id="{58BB61BA-4DC2-A74D-A37C-04293809246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35066" y="375369"/>
              <a:ext cx="548640" cy="548640"/>
            </a:xfrm>
            <a:prstGeom prst="rect">
              <a:avLst/>
            </a:prstGeom>
            <a:noFill/>
            <a:ln>
              <a:noFill/>
            </a:ln>
            <a:effectLst>
              <a:outerShdw blurRad="50800" dist="38100" dir="2700000" algn="tl" rotWithShape="0">
                <a:prstClr val="black">
                  <a:alpha val="40000"/>
                </a:prstClr>
              </a:outerShdw>
            </a:effectLst>
          </p:spPr>
        </p:pic>
      </p:grpSp>
      <p:sp>
        <p:nvSpPr>
          <p:cNvPr id="1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118</a:t>
            </a:r>
            <a:endParaRPr i="1" dirty="0">
              <a:latin typeface="Calibri"/>
              <a:ea typeface="Calibri"/>
              <a:cs typeface="Calibri"/>
              <a:sym typeface="Calibri"/>
            </a:endParaRPr>
          </a:p>
        </p:txBody>
      </p:sp>
      <p:pic>
        <p:nvPicPr>
          <p:cNvPr id="20"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066800" y="288745"/>
            <a:ext cx="5862624"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data in the stem-and-leaf plot?</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C545E2A-3BC4-204D-A98B-4F43852192CB}"/>
                  </a:ext>
                </a:extLst>
              </p:cNvPr>
              <p:cNvGraphicFramePr>
                <a:graphicFrameLocks noGrp="1"/>
              </p:cNvGraphicFramePr>
              <p:nvPr>
                <p:extLst>
                  <p:ext uri="{D42A27DB-BD31-4B8C-83A1-F6EECF244321}">
                    <p14:modId xmlns:p14="http://schemas.microsoft.com/office/powerpoint/2010/main" val="1538613507"/>
                  </p:ext>
                </p:extLst>
              </p:nvPr>
            </p:nvGraphicFramePr>
            <p:xfrm>
              <a:off x="6929424" y="327825"/>
              <a:ext cx="3434370" cy="6141475"/>
            </p:xfrm>
            <a:graphic>
              <a:graphicData uri="http://schemas.openxmlformats.org/drawingml/2006/table">
                <a:tbl>
                  <a:tblPr firstRow="1" firstCol="1" bandRow="1">
                    <a:tableStyleId>{A91F0D33-8C57-4600-99A7-42BC86742BE1}</a:tableStyleId>
                  </a:tblPr>
                  <a:tblGrid>
                    <a:gridCol w="1339736">
                      <a:extLst>
                        <a:ext uri="{9D8B030D-6E8A-4147-A177-3AD203B41FA5}">
                          <a16:colId xmlns:a16="http://schemas.microsoft.com/office/drawing/2014/main" val="2070304497"/>
                        </a:ext>
                      </a:extLst>
                    </a:gridCol>
                    <a:gridCol w="2094634">
                      <a:extLst>
                        <a:ext uri="{9D8B030D-6E8A-4147-A177-3AD203B41FA5}">
                          <a16:colId xmlns:a16="http://schemas.microsoft.com/office/drawing/2014/main" val="2144931817"/>
                        </a:ext>
                      </a:extLst>
                    </a:gridCol>
                  </a:tblGrid>
                  <a:tr h="332727">
                    <a:tc>
                      <a:txBody>
                        <a:bodyPr/>
                        <a:lstStyle/>
                        <a:p>
                          <a:pPr marL="0" marR="0" algn="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0744814"/>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21050090"/>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8851105"/>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57521252"/>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51819794"/>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0466229"/>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484398045"/>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755834881"/>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12922717"/>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696879408"/>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28442257"/>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2, 2, 3</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80679222"/>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63625720"/>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92447040"/>
                      </a:ext>
                    </a:extLst>
                  </a:tr>
                  <a:tr h="365068">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25153687"/>
                      </a:ext>
                    </a:extLst>
                  </a:tr>
                  <a:tr h="697796">
                    <a:tc>
                      <a:txBody>
                        <a:bodyPr/>
                        <a:lstStyle/>
                        <a:p>
                          <a:pPr marL="0" marR="0" algn="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Key: 5|8 = 58</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89121981"/>
                      </a:ext>
                    </a:extLst>
                  </a:tr>
                </a:tbl>
              </a:graphicData>
            </a:graphic>
          </p:graphicFrame>
        </mc:Choice>
        <mc:Fallback xmlns="">
          <p:graphicFrame>
            <p:nvGraphicFramePr>
              <p:cNvPr id="2" name="Table 1">
                <a:extLst>
                  <a:ext uri="{FF2B5EF4-FFF2-40B4-BE49-F238E27FC236}">
                    <a16:creationId xmlns:a16="http://schemas.microsoft.com/office/drawing/2014/main" id="{9C545E2A-3BC4-204D-A98B-4F43852192CB}"/>
                  </a:ext>
                </a:extLst>
              </p:cNvPr>
              <p:cNvGraphicFramePr>
                <a:graphicFrameLocks noGrp="1"/>
              </p:cNvGraphicFramePr>
              <p:nvPr>
                <p:extLst>
                  <p:ext uri="{D42A27DB-BD31-4B8C-83A1-F6EECF244321}">
                    <p14:modId xmlns:p14="http://schemas.microsoft.com/office/powerpoint/2010/main" val="1538613507"/>
                  </p:ext>
                </p:extLst>
              </p:nvPr>
            </p:nvGraphicFramePr>
            <p:xfrm>
              <a:off x="5405424" y="327824"/>
              <a:ext cx="3434370" cy="6141475"/>
            </p:xfrm>
            <a:graphic>
              <a:graphicData uri="http://schemas.openxmlformats.org/drawingml/2006/table">
                <a:tbl>
                  <a:tblPr firstRow="1" firstCol="1" bandRow="1">
                    <a:tableStyleId>{A91F0D33-8C57-4600-99A7-42BC86742BE1}</a:tableStyleId>
                  </a:tblPr>
                  <a:tblGrid>
                    <a:gridCol w="1339736">
                      <a:extLst>
                        <a:ext uri="{9D8B030D-6E8A-4147-A177-3AD203B41FA5}">
                          <a16:colId xmlns:a16="http://schemas.microsoft.com/office/drawing/2014/main" val="2070304497"/>
                        </a:ext>
                      </a:extLst>
                    </a:gridCol>
                    <a:gridCol w="2094634">
                      <a:extLst>
                        <a:ext uri="{9D8B030D-6E8A-4147-A177-3AD203B41FA5}">
                          <a16:colId xmlns:a16="http://schemas.microsoft.com/office/drawing/2014/main" val="2144931817"/>
                        </a:ext>
                      </a:extLst>
                    </a:gridCol>
                  </a:tblGrid>
                  <a:tr h="332727">
                    <a:tc>
                      <a:txBody>
                        <a:bodyPr/>
                        <a:lstStyle/>
                        <a:p>
                          <a:pPr marL="0" marR="0" algn="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0744814"/>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3793" r="-156604" b="-1486207"/>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113793" b="-1486207"/>
                          </a:stretch>
                        </a:blipFill>
                      </a:tcPr>
                    </a:tc>
                    <a:extLst>
                      <a:ext uri="{0D108BD9-81ED-4DB2-BD59-A6C34878D82A}">
                        <a16:rowId xmlns:a16="http://schemas.microsoft.com/office/drawing/2014/main" val="3921050090"/>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13793" r="-156604" b="-1386207"/>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8851105"/>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13793" r="-156604" b="-1286207"/>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57521252"/>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13793" r="-156604" b="-1186207"/>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51819794"/>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532143" r="-156604" b="-1128571"/>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0466229"/>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10345" r="-156604" b="-989655"/>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484398045"/>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10345" r="-156604" b="-889655"/>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710345" b="-889655"/>
                          </a:stretch>
                        </a:blipFill>
                      </a:tcPr>
                    </a:tc>
                    <a:extLst>
                      <a:ext uri="{0D108BD9-81ED-4DB2-BD59-A6C34878D82A}">
                        <a16:rowId xmlns:a16="http://schemas.microsoft.com/office/drawing/2014/main" val="1755834881"/>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10345" r="-156604" b="-789655"/>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810345" b="-789655"/>
                          </a:stretch>
                        </a:blipFill>
                      </a:tcPr>
                    </a:tc>
                    <a:extLst>
                      <a:ext uri="{0D108BD9-81ED-4DB2-BD59-A6C34878D82A}">
                        <a16:rowId xmlns:a16="http://schemas.microsoft.com/office/drawing/2014/main" val="2512922717"/>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10345" r="-156604" b="-689655"/>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910345" b="-689655"/>
                          </a:stretch>
                        </a:blipFill>
                      </a:tcPr>
                    </a:tc>
                    <a:extLst>
                      <a:ext uri="{0D108BD9-81ED-4DB2-BD59-A6C34878D82A}">
                        <a16:rowId xmlns:a16="http://schemas.microsoft.com/office/drawing/2014/main" val="696879408"/>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10345" r="-156604" b="-589655"/>
                          </a:stretch>
                        </a:blipFill>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28442257"/>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50000" r="-156604" b="-510714"/>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1150000" b="-510714"/>
                          </a:stretch>
                        </a:blipFill>
                      </a:tcPr>
                    </a:tc>
                    <a:extLst>
                      <a:ext uri="{0D108BD9-81ED-4DB2-BD59-A6C34878D82A}">
                        <a16:rowId xmlns:a16="http://schemas.microsoft.com/office/drawing/2014/main" val="2180679222"/>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206897" r="-156604" b="-393103"/>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1206897" b="-393103"/>
                          </a:stretch>
                        </a:blipFill>
                      </a:tcPr>
                    </a:tc>
                    <a:extLst>
                      <a:ext uri="{0D108BD9-81ED-4DB2-BD59-A6C34878D82A}">
                        <a16:rowId xmlns:a16="http://schemas.microsoft.com/office/drawing/2014/main" val="3563625720"/>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306897" r="-156604" b="-293103"/>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1306897" b="-293103"/>
                          </a:stretch>
                        </a:blipFill>
                      </a:tcPr>
                    </a:tc>
                    <a:extLst>
                      <a:ext uri="{0D108BD9-81ED-4DB2-BD59-A6C34878D82A}">
                        <a16:rowId xmlns:a16="http://schemas.microsoft.com/office/drawing/2014/main" val="992447040"/>
                      </a:ext>
                    </a:extLst>
                  </a:tr>
                  <a:tr h="365068">
                    <a:tc>
                      <a:txBody>
                        <a:bodyPr/>
                        <a:lstStyle/>
                        <a:p>
                          <a:endParaRPr lang="en-US"/>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406897" r="-156604" b="-193103"/>
                          </a:stretch>
                        </a:blipFill>
                      </a:tcPr>
                    </a:tc>
                    <a:tc>
                      <a:txBody>
                        <a:bodyPr/>
                        <a:lstStyle/>
                        <a:p>
                          <a:endParaRPr lang="en-US"/>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63855" t="-1406897" b="-193103"/>
                          </a:stretch>
                        </a:blipFill>
                      </a:tcPr>
                    </a:tc>
                    <a:extLst>
                      <a:ext uri="{0D108BD9-81ED-4DB2-BD59-A6C34878D82A}">
                        <a16:rowId xmlns:a16="http://schemas.microsoft.com/office/drawing/2014/main" val="4125153687"/>
                      </a:ext>
                    </a:extLst>
                  </a:tr>
                  <a:tr h="697796">
                    <a:tc>
                      <a:txBody>
                        <a:bodyPr/>
                        <a:lstStyle/>
                        <a:p>
                          <a:pPr marL="0" marR="0" algn="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Key: 5|8 = 58</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0142" marR="60142"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89121981"/>
                      </a:ext>
                    </a:extLst>
                  </a:tr>
                </a:tbl>
              </a:graphicData>
            </a:graphic>
          </p:graphicFrame>
        </mc:Fallback>
      </mc:AlternateContent>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118</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205345" y="288745"/>
                <a:ext cx="10390909" cy="523220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the stem-and-leaf plot with the line plot from the collaboration.</a:t>
                </a: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value does the entry </a:t>
                </a:r>
                <a14:m>
                  <m:oMath xmlns:m="http://schemas.openxmlformats.org/officeDocument/2006/math">
                    <m:r>
                      <a:rPr lang="en-US" sz="2000" i="1">
                        <a:latin typeface="Cambria Math" panose="02040503050406030204" pitchFamily="18" charset="0"/>
                        <a:ea typeface="Cambria Math" panose="02040503050406030204" pitchFamily="18" charset="0"/>
                      </a:rPr>
                      <m:t>13|5</m:t>
                    </m:r>
                  </m:oMath>
                </a14:m>
                <a:r>
                  <a:rPr lang="en-US" sz="2000" dirty="0">
                    <a:latin typeface="Verdana" panose="020B0604030504040204" pitchFamily="34" charset="0"/>
                    <a:ea typeface="Verdana" panose="020B0604030504040204" pitchFamily="34" charset="0"/>
                    <a:cs typeface="Verdana" panose="020B0604030504040204" pitchFamily="34" charset="0"/>
                  </a:rPr>
                  <a:t> represent?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i="1" dirty="0"/>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205345" y="288745"/>
                <a:ext cx="10390909" cy="5232202"/>
              </a:xfrm>
              <a:prstGeom prst="rect">
                <a:avLst/>
              </a:prstGeom>
              <a:blipFill rotWithShape="0">
                <a:blip r:embed="rId3"/>
                <a:stretch>
                  <a:fillRect l="-646" t="-698"/>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BAAE7F92-70D0-8F43-BF69-FDEA5B98E501}"/>
              </a:ext>
            </a:extLst>
          </p:cNvPr>
          <p:cNvGraphicFramePr>
            <a:graphicFrameLocks noGrp="1"/>
          </p:cNvGraphicFramePr>
          <p:nvPr>
            <p:extLst>
              <p:ext uri="{D42A27DB-BD31-4B8C-83A1-F6EECF244321}">
                <p14:modId xmlns:p14="http://schemas.microsoft.com/office/powerpoint/2010/main" val="1184051943"/>
              </p:ext>
            </p:extLst>
          </p:nvPr>
        </p:nvGraphicFramePr>
        <p:xfrm>
          <a:off x="2320833" y="1215176"/>
          <a:ext cx="6709956" cy="3243613"/>
        </p:xfrm>
        <a:graphic>
          <a:graphicData uri="http://schemas.openxmlformats.org/drawingml/2006/table">
            <a:tbl>
              <a:tblPr firstRow="1" firstCol="1" bandRow="1">
                <a:tableStyleId>{A91F0D33-8C57-4600-99A7-42BC86742BE1}</a:tableStyleId>
              </a:tblPr>
              <a:tblGrid>
                <a:gridCol w="3354978">
                  <a:extLst>
                    <a:ext uri="{9D8B030D-6E8A-4147-A177-3AD203B41FA5}">
                      <a16:colId xmlns:a16="http://schemas.microsoft.com/office/drawing/2014/main" val="3966689702"/>
                    </a:ext>
                  </a:extLst>
                </a:gridCol>
                <a:gridCol w="3354978">
                  <a:extLst>
                    <a:ext uri="{9D8B030D-6E8A-4147-A177-3AD203B41FA5}">
                      <a16:colId xmlns:a16="http://schemas.microsoft.com/office/drawing/2014/main" val="4073697912"/>
                    </a:ext>
                  </a:extLst>
                </a:gridCol>
              </a:tblGrid>
              <a:tr h="882571">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similarities do you notice between the displays?</a:t>
                      </a:r>
                      <a:endParaRPr lang="en-US"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differences do you notice between the displays?</a:t>
                      </a:r>
                      <a:endParaRPr lang="en-US"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98460389"/>
                  </a:ext>
                </a:extLst>
              </a:tr>
              <a:tr h="2361042">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4734848"/>
                  </a:ext>
                </a:extLst>
              </a:tr>
            </a:tbl>
          </a:graphicData>
        </a:graphic>
      </p:graphicFrame>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1206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942109" y="288746"/>
            <a:ext cx="10496323" cy="3908762"/>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Which measure(s) of center can be determined from the stem-and-leaf plot?</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Which measure(s) of variation can be determined from the stem-and-leaf plot?</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i="1" dirty="0"/>
          </a:p>
          <a:p>
            <a:pPr marL="457200" indent="-457200">
              <a:buFont typeface="+mj-lt"/>
              <a:buAutoNum type="arabicPeriod" startAt="2"/>
            </a:pPr>
            <a:endParaRPr lang="en-US" i="1" dirty="0"/>
          </a:p>
        </p:txBody>
      </p:sp>
      <p:sp>
        <p:nvSpPr>
          <p:cNvPr id="7" name="Rounded Rectangle 6">
            <a:extLst>
              <a:ext uri="{FF2B5EF4-FFF2-40B4-BE49-F238E27FC236}">
                <a16:creationId xmlns:a16="http://schemas.microsoft.com/office/drawing/2014/main" id="{EA60E532-8C9A-0F4C-AED5-93B94B77045A}"/>
              </a:ext>
            </a:extLst>
          </p:cNvPr>
          <p:cNvSpPr/>
          <p:nvPr/>
        </p:nvSpPr>
        <p:spPr>
          <a:xfrm>
            <a:off x="2415359" y="1073286"/>
            <a:ext cx="4177030" cy="1164816"/>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mean and median</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a:extLst>
              <a:ext uri="{FF2B5EF4-FFF2-40B4-BE49-F238E27FC236}">
                <a16:creationId xmlns:a16="http://schemas.microsoft.com/office/drawing/2014/main" id="{58630DD1-9163-9C4E-B9EA-20B2D947A045}"/>
              </a:ext>
            </a:extLst>
          </p:cNvPr>
          <p:cNvSpPr/>
          <p:nvPr/>
        </p:nvSpPr>
        <p:spPr>
          <a:xfrm>
            <a:off x="2415359" y="4190493"/>
            <a:ext cx="6162312" cy="1164816"/>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interquartile range</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range and the interquartile range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75501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20859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4505" y="9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10.3.4 Collaboration: Center and Variation in Context</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64697" y="26033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314505" y="1386026"/>
                <a:ext cx="9819022" cy="1538883"/>
              </a:xfrm>
              <a:prstGeom prst="rect">
                <a:avLst/>
              </a:prstGeom>
              <a:noFill/>
            </p:spPr>
            <p:txBody>
              <a:bodyPr wrap="square" rtlCol="0">
                <a:spAutoFit/>
              </a:bodyPr>
              <a:lstStyle/>
              <a:p>
                <a:r>
                  <a:rPr lang="en-US" dirty="0"/>
                  <a:t> </a:t>
                </a:r>
                <a:endParaRPr lang="en-US" i="1" dirty="0"/>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a study of wild bears, researchers measured the weights, in pounds (</a:t>
                </a:r>
                <a:r>
                  <a:rPr lang="en-US" sz="2000" dirty="0" err="1">
                    <a:latin typeface="Verdana" panose="020B0604030504040204" pitchFamily="34" charset="0"/>
                    <a:ea typeface="Verdana" panose="020B0604030504040204" pitchFamily="34" charset="0"/>
                    <a:cs typeface="Verdana" panose="020B0604030504040204" pitchFamily="34" charset="0"/>
                  </a:rPr>
                  <a:t>lb</a:t>
                </a:r>
                <a:r>
                  <a:rPr lang="en-US" sz="20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000" i="1">
                        <a:latin typeface="Cambria Math" panose="02040503050406030204" pitchFamily="18" charset="0"/>
                        <a:ea typeface="Cambria Math" panose="02040503050406030204" pitchFamily="18" charset="0"/>
                      </a:rPr>
                      <m:t>143</m:t>
                    </m:r>
                  </m:oMath>
                </a14:m>
                <a:r>
                  <a:rPr lang="en-US" sz="2000" dirty="0">
                    <a:latin typeface="Verdana" panose="020B0604030504040204" pitchFamily="34" charset="0"/>
                    <a:ea typeface="Verdana" panose="020B0604030504040204" pitchFamily="34" charset="0"/>
                    <a:cs typeface="Verdana" panose="020B0604030504040204" pitchFamily="34" charset="0"/>
                  </a:rPr>
                  <a:t> wild bears that ranged in age from newborn to </a:t>
                </a:r>
                <a14:m>
                  <m:oMath xmlns:m="http://schemas.openxmlformats.org/officeDocument/2006/math">
                    <m:r>
                      <a:rPr lang="en-US" sz="2000" i="1">
                        <a:latin typeface="Cambria Math" panose="02040503050406030204" pitchFamily="18" charset="0"/>
                        <a:ea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years old. The data was used to make the histogram shown.</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314505" y="1386026"/>
                <a:ext cx="9819022" cy="1538883"/>
              </a:xfrm>
              <a:prstGeom prst="rect">
                <a:avLst/>
              </a:prstGeom>
              <a:blipFill rotWithShape="0">
                <a:blip r:embed="rId4"/>
                <a:stretch>
                  <a:fillRect l="-683" r="-1491"/>
                </a:stretch>
              </a:blipFill>
            </p:spPr>
            <p:txBody>
              <a:bodyPr/>
              <a:lstStyle/>
              <a:p>
                <a:r>
                  <a:rPr lang="en-US">
                    <a:noFill/>
                  </a:rPr>
                  <a:t> </a:t>
                </a:r>
              </a:p>
            </p:txBody>
          </p:sp>
        </mc:Fallback>
      </mc:AlternateContent>
      <p:pic>
        <p:nvPicPr>
          <p:cNvPr id="11" name="Picture 10" descr="Chart, histogram&#10;&#10;Description automatically generated">
            <a:extLst>
              <a:ext uri="{FF2B5EF4-FFF2-40B4-BE49-F238E27FC236}">
                <a16:creationId xmlns:a16="http://schemas.microsoft.com/office/drawing/2014/main" id="{29007147-DA63-7244-B38A-A632D48CB3A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9095" y="3069132"/>
            <a:ext cx="4264769" cy="3180558"/>
          </a:xfrm>
          <a:prstGeom prst="rect">
            <a:avLst/>
          </a:prstGeom>
        </p:spPr>
      </p:pic>
      <p:sp>
        <p:nvSpPr>
          <p:cNvPr id="12" name="Text Box 103">
            <a:extLst>
              <a:ext uri="{FF2B5EF4-FFF2-40B4-BE49-F238E27FC236}">
                <a16:creationId xmlns:a16="http://schemas.microsoft.com/office/drawing/2014/main" id="{803E8603-554A-3B4D-9E0D-0E212112D720}"/>
              </a:ext>
            </a:extLst>
          </p:cNvPr>
          <p:cNvSpPr txBox="1"/>
          <p:nvPr/>
        </p:nvSpPr>
        <p:spPr>
          <a:xfrm>
            <a:off x="4266565" y="2893250"/>
            <a:ext cx="3415030" cy="6273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b="1" dirty="0">
                <a:latin typeface="Verdana" panose="020B0604030504040204" pitchFamily="34" charset="0"/>
                <a:ea typeface="Cambria Math" panose="02040503050406030204" pitchFamily="18" charset="0"/>
                <a:cs typeface="Cambria Math" panose="02040503050406030204" pitchFamily="18" charset="0"/>
              </a:rPr>
              <a:t>Wild Bear Weight</a:t>
            </a: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2" name="TextBox 1">
            <a:extLst>
              <a:ext uri="{FF2B5EF4-FFF2-40B4-BE49-F238E27FC236}">
                <a16:creationId xmlns:a16="http://schemas.microsoft.com/office/drawing/2014/main" id="{F2782F4D-9DD3-A04B-BC9C-4C658FDE6C13}"/>
              </a:ext>
            </a:extLst>
          </p:cNvPr>
          <p:cNvSpPr txBox="1"/>
          <p:nvPr/>
        </p:nvSpPr>
        <p:spPr>
          <a:xfrm>
            <a:off x="4529618" y="6329183"/>
            <a:ext cx="2483721"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Weight (pounds)</a:t>
            </a:r>
          </a:p>
        </p:txBody>
      </p:sp>
      <p:sp>
        <p:nvSpPr>
          <p:cNvPr id="13"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64788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6C08EE3-8247-C14E-9600-35165D5C8679}"/>
              </a:ext>
            </a:extLst>
          </p:cNvPr>
          <p:cNvSpPr txBox="1"/>
          <p:nvPr/>
        </p:nvSpPr>
        <p:spPr>
          <a:xfrm>
            <a:off x="1932432" y="337513"/>
            <a:ext cx="8327136" cy="3785652"/>
          </a:xfrm>
          <a:prstGeom prst="rect">
            <a:avLst/>
          </a:prstGeom>
          <a:noFill/>
        </p:spPr>
        <p:txBody>
          <a:bodyPr wrap="square" rtlCol="0">
            <a:spAutoFit/>
          </a:bodyPr>
          <a:lstStyle/>
          <a:p>
            <a:pPr marL="92392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Based on the data, it appears wild bears typically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weigh between                            pounds. A good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estimate for the typical weight for wild bears is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__________ pounds.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D321F774-B949-CF46-8DD8-E4E4EF9544D9}"/>
                  </a:ext>
                </a:extLst>
              </p:cNvPr>
              <p:cNvSpPr/>
              <p:nvPr/>
            </p:nvSpPr>
            <p:spPr>
              <a:xfrm>
                <a:off x="4972504" y="1452574"/>
                <a:ext cx="2246993" cy="133241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50</m:t>
                    </m:r>
                  </m:oMath>
                </a14:m>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150</m:t>
                    </m:r>
                  </m:oMath>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100</m:t>
                    </m:r>
                  </m:oMath>
                </a14:m>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200</m:t>
                    </m:r>
                  </m:oMath>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150</m:t>
                    </m:r>
                  </m:oMath>
                </a14:m>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i="1" dirty="0">
                    <a:solidFill>
                      <a:srgbClr val="000000"/>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250</m:t>
                    </m:r>
                  </m:oMath>
                </a14:m>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6" name="Rounded Rectangle 5">
                <a:extLst>
                  <a:ext uri="{FF2B5EF4-FFF2-40B4-BE49-F238E27FC236}">
                    <a16:creationId xmlns:a16="http://schemas.microsoft.com/office/drawing/2014/main" id="{D321F774-B949-CF46-8DD8-E4E4EF9544D9}"/>
                  </a:ext>
                </a:extLst>
              </p:cNvPr>
              <p:cNvSpPr>
                <a:spLocks noRot="1" noChangeAspect="1" noMove="1" noResize="1" noEditPoints="1" noAdjustHandles="1" noChangeArrowheads="1" noChangeShapeType="1" noTextEdit="1"/>
              </p:cNvSpPr>
              <p:nvPr/>
            </p:nvSpPr>
            <p:spPr>
              <a:xfrm>
                <a:off x="4972504" y="1452574"/>
                <a:ext cx="2246993" cy="1332410"/>
              </a:xfrm>
              <a:prstGeom prst="roundRect">
                <a:avLst/>
              </a:prstGeom>
              <a:blipFill>
                <a:blip r:embed="rId3"/>
                <a:stretch>
                  <a:fillRect t="-905" b="-7692"/>
                </a:stretch>
              </a:blipFill>
              <a:ln>
                <a:solidFill>
                  <a:schemeClr val="tx1"/>
                </a:solidFill>
              </a:ln>
              <a:effectLst/>
            </p:spPr>
            <p:txBody>
              <a:bodyPr/>
              <a:lstStyle/>
              <a:p>
                <a:r>
                  <a:rPr lang="en-US">
                    <a:noFill/>
                  </a:rPr>
                  <a:t> </a:t>
                </a:r>
              </a:p>
            </p:txBody>
          </p:sp>
        </mc:Fallback>
      </mc:AlternateContent>
      <p:pic>
        <p:nvPicPr>
          <p:cNvPr id="10" name="Picture 9" descr="Chart, histogram&#10;&#10;Description automatically generated">
            <a:extLst>
              <a:ext uri="{FF2B5EF4-FFF2-40B4-BE49-F238E27FC236}">
                <a16:creationId xmlns:a16="http://schemas.microsoft.com/office/drawing/2014/main" id="{2F41ED54-9CEB-844D-BD0A-1F68C200E5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71478" y="4035655"/>
            <a:ext cx="3020289" cy="2252456"/>
          </a:xfrm>
          <a:prstGeom prst="rect">
            <a:avLst/>
          </a:prstGeom>
        </p:spPr>
      </p:pic>
      <p:sp>
        <p:nvSpPr>
          <p:cNvPr id="11" name="Text Box 103">
            <a:extLst>
              <a:ext uri="{FF2B5EF4-FFF2-40B4-BE49-F238E27FC236}">
                <a16:creationId xmlns:a16="http://schemas.microsoft.com/office/drawing/2014/main" id="{A6205EA5-2783-E74F-92B2-0ABF20A25A85}"/>
              </a:ext>
            </a:extLst>
          </p:cNvPr>
          <p:cNvSpPr txBox="1"/>
          <p:nvPr/>
        </p:nvSpPr>
        <p:spPr>
          <a:xfrm>
            <a:off x="6110637" y="3646011"/>
            <a:ext cx="3415030" cy="6273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b="1" dirty="0">
                <a:latin typeface="Verdana" panose="020B0604030504040204" pitchFamily="34" charset="0"/>
                <a:ea typeface="Cambria Math" panose="02040503050406030204" pitchFamily="18" charset="0"/>
                <a:cs typeface="Cambria Math" panose="02040503050406030204" pitchFamily="18" charset="0"/>
              </a:rPr>
              <a:t>Wild Bear Weight</a:t>
            </a: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3" name="TextBox 12">
            <a:extLst>
              <a:ext uri="{FF2B5EF4-FFF2-40B4-BE49-F238E27FC236}">
                <a16:creationId xmlns:a16="http://schemas.microsoft.com/office/drawing/2014/main" id="{1FD1AFBC-AA27-8D4A-8DC9-9D4D3667973F}"/>
              </a:ext>
            </a:extLst>
          </p:cNvPr>
          <p:cNvSpPr txBox="1"/>
          <p:nvPr/>
        </p:nvSpPr>
        <p:spPr>
          <a:xfrm>
            <a:off x="6072890" y="6329183"/>
            <a:ext cx="2483721"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Weight (pounds)</a:t>
            </a:r>
          </a:p>
        </p:txBody>
      </p:sp>
      <p:sp>
        <p:nvSpPr>
          <p:cNvPr id="14"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71154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108364" y="349706"/>
            <a:ext cx="9975272" cy="2246769"/>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estimate with your partner. Discuss whether it is possible for both of your estimates to be reasonable, even if they are not the same.</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whether your estimate from Part A is closer to the median or the mean. Summarize your discussion.</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16393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872836" y="349706"/>
                <a:ext cx="10446328" cy="4401205"/>
              </a:xfrm>
              <a:prstGeom prst="rect">
                <a:avLst/>
              </a:prstGeom>
              <a:noFill/>
            </p:spPr>
            <p:txBody>
              <a:bodyPr wrap="square" rtlCol="0">
                <a:spAutoFit/>
              </a:bodyPr>
              <a:lstStyle/>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Angelica and Raymond were asked to describe the variation in weight of the wild bears.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Angelica said, “The bear weights range from less than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to over</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500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err="1">
                    <a:latin typeface="Verdana" panose="020B0604030504040204" pitchFamily="34" charset="0"/>
                    <a:ea typeface="Verdana" panose="020B0604030504040204" pitchFamily="34" charset="0"/>
                    <a:cs typeface="Verdana" panose="020B0604030504040204" pitchFamily="34" charset="0"/>
                  </a:rPr>
                  <a:t>lbs</a:t>
                </a:r>
                <a:r>
                  <a:rPr lang="en-US" sz="2000" dirty="0">
                    <a:latin typeface="Verdana" panose="020B0604030504040204" pitchFamily="34" charset="0"/>
                    <a:ea typeface="Verdana" panose="020B0604030504040204" pitchFamily="34" charset="0"/>
                    <a:cs typeface="Verdana" panose="020B0604030504040204" pitchFamily="34" charset="0"/>
                  </a:rPr>
                  <a:t>, so the range best describes the spread of the weights of the wild bears.”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Raymond said, “It looks like most bears in the sample weigh between </a:t>
                </a:r>
                <a14:m>
                  <m:oMath xmlns:m="http://schemas.openxmlformats.org/officeDocument/2006/math">
                    <m:r>
                      <a:rPr lang="en-US" sz="2000" i="1">
                        <a:latin typeface="Cambria Math" panose="02040503050406030204" pitchFamily="18" charset="0"/>
                        <a:ea typeface="Cambria Math" panose="02040503050406030204" pitchFamily="18"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300</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err="1">
                    <a:latin typeface="Verdana" panose="020B0604030504040204" pitchFamily="34" charset="0"/>
                    <a:ea typeface="Verdana" panose="020B0604030504040204" pitchFamily="34" charset="0"/>
                    <a:cs typeface="Verdana" panose="020B0604030504040204" pitchFamily="34" charset="0"/>
                  </a:rPr>
                  <a:t>lbs</a:t>
                </a:r>
                <a:r>
                  <a:rPr lang="en-US" sz="2000" dirty="0">
                    <a:latin typeface="Verdana" panose="020B0604030504040204" pitchFamily="34" charset="0"/>
                    <a:ea typeface="Verdana" panose="020B0604030504040204" pitchFamily="34" charset="0"/>
                    <a:cs typeface="Verdana" panose="020B0604030504040204" pitchFamily="34" charset="0"/>
                  </a:rPr>
                  <a:t>, with few weighing less and few weighing more. The small weights could be because there were babies in the sample. So, the interquartile range is the best measure of spread to describe this data.”</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Explain whether you agree with Angelica or Raymond. Justify your reasoning.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872836" y="349706"/>
                <a:ext cx="10446328" cy="4401205"/>
              </a:xfrm>
              <a:prstGeom prst="rect">
                <a:avLst/>
              </a:prstGeom>
              <a:blipFill rotWithShape="0">
                <a:blip r:embed="rId3"/>
                <a:stretch>
                  <a:fillRect t="-831" r="-1225"/>
                </a:stretch>
              </a:blipFill>
            </p:spPr>
            <p:txBody>
              <a:bodyPr/>
              <a:lstStyle/>
              <a:p>
                <a:r>
                  <a:rPr lang="en-US">
                    <a:noFill/>
                  </a:rPr>
                  <a:t> </a:t>
                </a:r>
              </a:p>
            </p:txBody>
          </p:sp>
        </mc:Fallback>
      </mc:AlternateContent>
      <p:sp>
        <p:nvSpPr>
          <p:cNvPr id="6"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32300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7413"/>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205345" y="349706"/>
                <a:ext cx="9781310"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two histograms, labeled A and B, show height distributions of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male professional basketball players and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male professional baseball players.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205345" y="349706"/>
                <a:ext cx="9781310" cy="1015663"/>
              </a:xfrm>
              <a:prstGeom prst="rect">
                <a:avLst/>
              </a:prstGeom>
              <a:blipFill rotWithShape="0">
                <a:blip r:embed="rId3"/>
                <a:stretch>
                  <a:fillRect l="-686" t="-3593" r="-374" b="-9581"/>
                </a:stretch>
              </a:blipFill>
            </p:spPr>
            <p:txBody>
              <a:bodyPr/>
              <a:lstStyle/>
              <a:p>
                <a:r>
                  <a:rPr lang="en-US">
                    <a:noFill/>
                  </a:rPr>
                  <a:t> </a:t>
                </a:r>
              </a:p>
            </p:txBody>
          </p:sp>
        </mc:Fallback>
      </mc:AlternateContent>
      <p:pic>
        <p:nvPicPr>
          <p:cNvPr id="6" name="Picture 5" descr="Chart, histogram&#10;&#10;Description automatically generated">
            <a:extLst>
              <a:ext uri="{FF2B5EF4-FFF2-40B4-BE49-F238E27FC236}">
                <a16:creationId xmlns:a16="http://schemas.microsoft.com/office/drawing/2014/main" id="{6D3CAC7D-57FA-1041-B6E4-21358A48482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17367"/>
          <a:stretch/>
        </p:blipFill>
        <p:spPr bwMode="auto">
          <a:xfrm>
            <a:off x="4142104" y="1480521"/>
            <a:ext cx="3907790" cy="2139791"/>
          </a:xfrm>
          <a:prstGeom prst="rect">
            <a:avLst/>
          </a:prstGeom>
          <a:ln>
            <a:noFill/>
          </a:ln>
          <a:extLst>
            <a:ext uri="{53640926-AAD7-44D8-BBD7-CCE9431645EC}">
              <a14:shadowObscured xmlns:a14="http://schemas.microsoft.com/office/drawing/2010/main"/>
            </a:ext>
          </a:extLst>
        </p:spPr>
      </p:pic>
      <p:sp>
        <p:nvSpPr>
          <p:cNvPr id="7" name="Text Box 11">
            <a:extLst>
              <a:ext uri="{FF2B5EF4-FFF2-40B4-BE49-F238E27FC236}">
                <a16:creationId xmlns:a16="http://schemas.microsoft.com/office/drawing/2014/main" id="{B1246DCF-BE16-A747-9A78-726B28F7D066}"/>
              </a:ext>
            </a:extLst>
          </p:cNvPr>
          <p:cNvSpPr txBox="1"/>
          <p:nvPr/>
        </p:nvSpPr>
        <p:spPr>
          <a:xfrm>
            <a:off x="3951242" y="1341924"/>
            <a:ext cx="4850585" cy="119402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A: Heights of Professional Basketball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8" name="Picture 7" descr="Chart, histogram&#10;&#10;Description automatically generated">
            <a:extLst>
              <a:ext uri="{FF2B5EF4-FFF2-40B4-BE49-F238E27FC236}">
                <a16:creationId xmlns:a16="http://schemas.microsoft.com/office/drawing/2014/main" id="{E8E7BC1B-AFF7-2D49-883B-96EB4F0452D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52274" y="4387269"/>
            <a:ext cx="4087450" cy="2121027"/>
          </a:xfrm>
          <a:prstGeom prst="rect">
            <a:avLst/>
          </a:prstGeom>
        </p:spPr>
      </p:pic>
      <p:sp>
        <p:nvSpPr>
          <p:cNvPr id="9" name="Text Box 18">
            <a:extLst>
              <a:ext uri="{FF2B5EF4-FFF2-40B4-BE49-F238E27FC236}">
                <a16:creationId xmlns:a16="http://schemas.microsoft.com/office/drawing/2014/main" id="{80C3A18D-8A77-AD47-81FF-F1119DC0BF49}"/>
              </a:ext>
            </a:extLst>
          </p:cNvPr>
          <p:cNvSpPr txBox="1"/>
          <p:nvPr/>
        </p:nvSpPr>
        <p:spPr>
          <a:xfrm>
            <a:off x="4231934" y="3913323"/>
            <a:ext cx="3907790" cy="9467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B: Heights of Professional Baseball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2" name="TextBox 1">
            <a:extLst>
              <a:ext uri="{FF2B5EF4-FFF2-40B4-BE49-F238E27FC236}">
                <a16:creationId xmlns:a16="http://schemas.microsoft.com/office/drawing/2014/main" id="{71702C3E-ED5F-9B4B-8A4F-2AC46F816E5E}"/>
              </a:ext>
            </a:extLst>
          </p:cNvPr>
          <p:cNvSpPr txBox="1"/>
          <p:nvPr/>
        </p:nvSpPr>
        <p:spPr>
          <a:xfrm>
            <a:off x="5277394" y="3558330"/>
            <a:ext cx="1932364"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3" name="TextBox 2">
            <a:extLst>
              <a:ext uri="{FF2B5EF4-FFF2-40B4-BE49-F238E27FC236}">
                <a16:creationId xmlns:a16="http://schemas.microsoft.com/office/drawing/2014/main" id="{F54DEA80-DB14-9449-BD1A-0AC5CA867967}"/>
              </a:ext>
            </a:extLst>
          </p:cNvPr>
          <p:cNvSpPr txBox="1"/>
          <p:nvPr/>
        </p:nvSpPr>
        <p:spPr>
          <a:xfrm>
            <a:off x="5173508" y="6442910"/>
            <a:ext cx="2036250"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13"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27811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85"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932432" y="349706"/>
                <a:ext cx="8327136" cy="2554545"/>
              </a:xfrm>
              <a:prstGeom prst="rect">
                <a:avLst/>
              </a:prstGeom>
              <a:noFill/>
            </p:spPr>
            <p:txBody>
              <a:bodyPr wrap="square" rtlCol="0">
                <a:spAutoFit/>
              </a:bodyPr>
              <a:lstStyle/>
              <a:p>
                <a:pPr marL="466725" indent="-3175"/>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each statement.</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3925" lvl="1" indent="-51752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the average height is around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14:m>
                  <m:oMath xmlns:m="http://schemas.openxmlformats.org/officeDocument/2006/math">
                    <m:r>
                      <a:rPr lang="en-US" sz="2000" i="1">
                        <a:latin typeface="Cambria Math" panose="02040503050406030204" pitchFamily="18" charset="0"/>
                        <a:ea typeface="Cambria Math" panose="02040503050406030204" pitchFamily="18" charset="0"/>
                      </a:rPr>
                      <m:t>72</m:t>
                    </m:r>
                  </m:oMath>
                </a14:m>
                <a:r>
                  <a:rPr lang="en-US" sz="2000" dirty="0">
                    <a:latin typeface="Verdana" panose="020B0604030504040204" pitchFamily="34" charset="0"/>
                    <a:ea typeface="Verdana" panose="020B0604030504040204" pitchFamily="34" charset="0"/>
                    <a:cs typeface="Verdana" panose="020B0604030504040204" pitchFamily="34" charset="0"/>
                  </a:rPr>
                  <a:t> inches. The values of the mean and median are similar.</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408432" y="349705"/>
                <a:ext cx="8327136" cy="2554545"/>
              </a:xfrm>
              <a:prstGeom prst="rect">
                <a:avLst/>
              </a:prstGeom>
              <a:blipFill>
                <a:blip r:embed="rId4"/>
                <a:stretch>
                  <a:fillRect t="-1485"/>
                </a:stretch>
              </a:blipFill>
            </p:spPr>
            <p:txBody>
              <a:bodyPr/>
              <a:lstStyle/>
              <a:p>
                <a:r>
                  <a:rPr lang="en-US">
                    <a:noFill/>
                  </a:rPr>
                  <a:t> </a:t>
                </a:r>
              </a:p>
            </p:txBody>
          </p:sp>
        </mc:Fallback>
      </mc:AlternateContent>
      <p:pic>
        <p:nvPicPr>
          <p:cNvPr id="6" name="Picture 5" descr="Chart, histogram&#10;&#10;Description automatically generated">
            <a:extLst>
              <a:ext uri="{FF2B5EF4-FFF2-40B4-BE49-F238E27FC236}">
                <a16:creationId xmlns:a16="http://schemas.microsoft.com/office/drawing/2014/main" id="{6D3CAC7D-57FA-1041-B6E4-21358A48482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7367"/>
          <a:stretch/>
        </p:blipFill>
        <p:spPr bwMode="auto">
          <a:xfrm>
            <a:off x="2088770" y="3867884"/>
            <a:ext cx="3907790" cy="2139791"/>
          </a:xfrm>
          <a:prstGeom prst="rect">
            <a:avLst/>
          </a:prstGeom>
          <a:ln>
            <a:noFill/>
          </a:ln>
          <a:extLst>
            <a:ext uri="{53640926-AAD7-44D8-BBD7-CCE9431645EC}">
              <a14:shadowObscured xmlns:a14="http://schemas.microsoft.com/office/drawing/2010/main"/>
            </a:ext>
          </a:extLst>
        </p:spPr>
      </p:pic>
      <p:sp>
        <p:nvSpPr>
          <p:cNvPr id="7" name="Text Box 11">
            <a:extLst>
              <a:ext uri="{FF2B5EF4-FFF2-40B4-BE49-F238E27FC236}">
                <a16:creationId xmlns:a16="http://schemas.microsoft.com/office/drawing/2014/main" id="{B1246DCF-BE16-A747-9A78-726B28F7D066}"/>
              </a:ext>
            </a:extLst>
          </p:cNvPr>
          <p:cNvSpPr txBox="1"/>
          <p:nvPr/>
        </p:nvSpPr>
        <p:spPr>
          <a:xfrm>
            <a:off x="1539205" y="3092947"/>
            <a:ext cx="4850585" cy="119402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A: Heights of Professional Basketball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8" name="Picture 7" descr="Chart, histogram&#10;&#10;Description automatically generated">
            <a:extLst>
              <a:ext uri="{FF2B5EF4-FFF2-40B4-BE49-F238E27FC236}">
                <a16:creationId xmlns:a16="http://schemas.microsoft.com/office/drawing/2014/main" id="{E8E7BC1B-AFF7-2D49-883B-96EB4F0452D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95441" y="3779063"/>
            <a:ext cx="4087450" cy="2121027"/>
          </a:xfrm>
          <a:prstGeom prst="rect">
            <a:avLst/>
          </a:prstGeom>
        </p:spPr>
      </p:pic>
      <p:sp>
        <p:nvSpPr>
          <p:cNvPr id="9" name="Text Box 18">
            <a:extLst>
              <a:ext uri="{FF2B5EF4-FFF2-40B4-BE49-F238E27FC236}">
                <a16:creationId xmlns:a16="http://schemas.microsoft.com/office/drawing/2014/main" id="{80C3A18D-8A77-AD47-81FF-F1119DC0BF49}"/>
              </a:ext>
            </a:extLst>
          </p:cNvPr>
          <p:cNvSpPr txBox="1"/>
          <p:nvPr/>
        </p:nvSpPr>
        <p:spPr>
          <a:xfrm>
            <a:off x="6285271" y="3083751"/>
            <a:ext cx="3907790" cy="9467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B: Heights of Professional Baseball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2" name="TextBox 1">
            <a:extLst>
              <a:ext uri="{FF2B5EF4-FFF2-40B4-BE49-F238E27FC236}">
                <a16:creationId xmlns:a16="http://schemas.microsoft.com/office/drawing/2014/main" id="{71702C3E-ED5F-9B4B-8A4F-2AC46F816E5E}"/>
              </a:ext>
            </a:extLst>
          </p:cNvPr>
          <p:cNvSpPr txBox="1"/>
          <p:nvPr/>
        </p:nvSpPr>
        <p:spPr>
          <a:xfrm>
            <a:off x="3076484" y="5900090"/>
            <a:ext cx="1932364"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3" name="TextBox 2">
            <a:extLst>
              <a:ext uri="{FF2B5EF4-FFF2-40B4-BE49-F238E27FC236}">
                <a16:creationId xmlns:a16="http://schemas.microsoft.com/office/drawing/2014/main" id="{F54DEA80-DB14-9449-BD1A-0AC5CA867967}"/>
              </a:ext>
            </a:extLst>
          </p:cNvPr>
          <p:cNvSpPr txBox="1"/>
          <p:nvPr/>
        </p:nvSpPr>
        <p:spPr>
          <a:xfrm>
            <a:off x="7314750" y="6007675"/>
            <a:ext cx="2036250"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13" name="Rectangle: Rounded Corners 10">
            <a:extLst>
              <a:ext uri="{FF2B5EF4-FFF2-40B4-BE49-F238E27FC236}">
                <a16:creationId xmlns:a16="http://schemas.microsoft.com/office/drawing/2014/main" id="{A77927A1-D2A6-6249-9D90-F51C5CB15D47}"/>
              </a:ext>
            </a:extLst>
          </p:cNvPr>
          <p:cNvSpPr/>
          <p:nvPr/>
        </p:nvSpPr>
        <p:spPr>
          <a:xfrm>
            <a:off x="3324432" y="1063100"/>
            <a:ext cx="2356287" cy="83346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A,</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B,</a:t>
            </a:r>
          </a:p>
        </p:txBody>
      </p:sp>
      <p:sp>
        <p:nvSpPr>
          <p:cNvPr id="14"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15"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12486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37"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932432" y="349706"/>
            <a:ext cx="8327136" cy="2554545"/>
          </a:xfrm>
          <a:prstGeom prst="rect">
            <a:avLst/>
          </a:prstGeom>
          <a:noFill/>
        </p:spPr>
        <p:txBody>
          <a:bodyPr wrap="square" rtlCol="0">
            <a:spAutoFit/>
          </a:bodyPr>
          <a:lstStyle/>
          <a:p>
            <a:pPr marL="914400" lvl="1"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To explain typical height, the variation in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is best described by the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3925" indent="-457200">
              <a:tabLst>
                <a:tab pos="914400" algn="l"/>
                <a:tab pos="965200" algn="l"/>
              </a:tabLst>
            </a:pP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i="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interquartile range because the range may be misleading due to outliers. The values of the mean and median are similar.</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histogram&#10;&#10;Description automatically generated">
            <a:extLst>
              <a:ext uri="{FF2B5EF4-FFF2-40B4-BE49-F238E27FC236}">
                <a16:creationId xmlns:a16="http://schemas.microsoft.com/office/drawing/2014/main" id="{6D3CAC7D-57FA-1041-B6E4-21358A48482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7367"/>
          <a:stretch/>
        </p:blipFill>
        <p:spPr bwMode="auto">
          <a:xfrm>
            <a:off x="2088770" y="3867884"/>
            <a:ext cx="3907790" cy="2139791"/>
          </a:xfrm>
          <a:prstGeom prst="rect">
            <a:avLst/>
          </a:prstGeom>
          <a:ln>
            <a:noFill/>
          </a:ln>
          <a:extLst>
            <a:ext uri="{53640926-AAD7-44D8-BBD7-CCE9431645EC}">
              <a14:shadowObscured xmlns:a14="http://schemas.microsoft.com/office/drawing/2010/main"/>
            </a:ext>
          </a:extLst>
        </p:spPr>
      </p:pic>
      <p:sp>
        <p:nvSpPr>
          <p:cNvPr id="7" name="Text Box 11">
            <a:extLst>
              <a:ext uri="{FF2B5EF4-FFF2-40B4-BE49-F238E27FC236}">
                <a16:creationId xmlns:a16="http://schemas.microsoft.com/office/drawing/2014/main" id="{B1246DCF-BE16-A747-9A78-726B28F7D066}"/>
              </a:ext>
            </a:extLst>
          </p:cNvPr>
          <p:cNvSpPr txBox="1"/>
          <p:nvPr/>
        </p:nvSpPr>
        <p:spPr>
          <a:xfrm>
            <a:off x="1539205" y="3092947"/>
            <a:ext cx="4850585" cy="119402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A: Heights of Professional Basketball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8" name="Picture 7" descr="Chart, histogram&#10;&#10;Description automatically generated">
            <a:extLst>
              <a:ext uri="{FF2B5EF4-FFF2-40B4-BE49-F238E27FC236}">
                <a16:creationId xmlns:a16="http://schemas.microsoft.com/office/drawing/2014/main" id="{E8E7BC1B-AFF7-2D49-883B-96EB4F0452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95441" y="3779063"/>
            <a:ext cx="4087450" cy="2121027"/>
          </a:xfrm>
          <a:prstGeom prst="rect">
            <a:avLst/>
          </a:prstGeom>
        </p:spPr>
      </p:pic>
      <p:sp>
        <p:nvSpPr>
          <p:cNvPr id="9" name="Text Box 18">
            <a:extLst>
              <a:ext uri="{FF2B5EF4-FFF2-40B4-BE49-F238E27FC236}">
                <a16:creationId xmlns:a16="http://schemas.microsoft.com/office/drawing/2014/main" id="{80C3A18D-8A77-AD47-81FF-F1119DC0BF49}"/>
              </a:ext>
            </a:extLst>
          </p:cNvPr>
          <p:cNvSpPr txBox="1"/>
          <p:nvPr/>
        </p:nvSpPr>
        <p:spPr>
          <a:xfrm>
            <a:off x="6285271" y="3083751"/>
            <a:ext cx="3907790" cy="9467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b="1" dirty="0">
                <a:latin typeface="Verdana" panose="020B0604030504040204" pitchFamily="34" charset="0"/>
                <a:ea typeface="Cambria Math" panose="02040503050406030204" pitchFamily="18" charset="0"/>
                <a:cs typeface="Cambria Math" panose="02040503050406030204" pitchFamily="18" charset="0"/>
              </a:rPr>
              <a:t>Histogram B: Heights of Professional Baseball Players</a:t>
            </a:r>
            <a:endParaRPr lang="en-US"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2" name="TextBox 1">
            <a:extLst>
              <a:ext uri="{FF2B5EF4-FFF2-40B4-BE49-F238E27FC236}">
                <a16:creationId xmlns:a16="http://schemas.microsoft.com/office/drawing/2014/main" id="{71702C3E-ED5F-9B4B-8A4F-2AC46F816E5E}"/>
              </a:ext>
            </a:extLst>
          </p:cNvPr>
          <p:cNvSpPr txBox="1"/>
          <p:nvPr/>
        </p:nvSpPr>
        <p:spPr>
          <a:xfrm>
            <a:off x="3076484" y="5900090"/>
            <a:ext cx="1932364"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3" name="TextBox 2">
            <a:extLst>
              <a:ext uri="{FF2B5EF4-FFF2-40B4-BE49-F238E27FC236}">
                <a16:creationId xmlns:a16="http://schemas.microsoft.com/office/drawing/2014/main" id="{F54DEA80-DB14-9449-BD1A-0AC5CA867967}"/>
              </a:ext>
            </a:extLst>
          </p:cNvPr>
          <p:cNvSpPr txBox="1"/>
          <p:nvPr/>
        </p:nvSpPr>
        <p:spPr>
          <a:xfrm>
            <a:off x="7314750" y="6007675"/>
            <a:ext cx="2036250" cy="307777"/>
          </a:xfrm>
          <a:prstGeom prst="rect">
            <a:avLst/>
          </a:prstGeom>
          <a:noFill/>
        </p:spPr>
        <p:txBody>
          <a:bodyPr wrap="square" rtlCol="0">
            <a:spAutoFit/>
          </a:bodyPr>
          <a:lstStyle/>
          <a:p>
            <a:r>
              <a:rPr lang="en-US" dirty="0">
                <a:latin typeface="Verdana" panose="020B0604030504040204" pitchFamily="34" charset="0"/>
                <a:ea typeface="Verdana" panose="020B0604030504040204" pitchFamily="34" charset="0"/>
                <a:cs typeface="Verdana" panose="020B0604030504040204" pitchFamily="34" charset="0"/>
              </a:rPr>
              <a:t>Height (in inches)</a:t>
            </a:r>
          </a:p>
        </p:txBody>
      </p:sp>
      <p:sp>
        <p:nvSpPr>
          <p:cNvPr id="13" name="Rectangle: Rounded Corners 10">
            <a:extLst>
              <a:ext uri="{FF2B5EF4-FFF2-40B4-BE49-F238E27FC236}">
                <a16:creationId xmlns:a16="http://schemas.microsoft.com/office/drawing/2014/main" id="{A77927A1-D2A6-6249-9D90-F51C5CB15D47}"/>
              </a:ext>
            </a:extLst>
          </p:cNvPr>
          <p:cNvSpPr/>
          <p:nvPr/>
        </p:nvSpPr>
        <p:spPr>
          <a:xfrm>
            <a:off x="2950105" y="708901"/>
            <a:ext cx="2356287" cy="83346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A,</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B</a:t>
            </a:r>
            <a:r>
              <a:rPr lang="en-US" sz="2000" i="1" dirty="0">
                <a:latin typeface="Verdana" panose="020B0604030504040204" pitchFamily="34" charset="0"/>
                <a:ea typeface="Verdana" panose="020B0604030504040204" pitchFamily="34" charset="0"/>
                <a:cs typeface="Verdana" panose="020B0604030504040204" pitchFamily="34" charset="0"/>
              </a:rPr>
              <a:t>,    </a:t>
            </a:r>
          </a:p>
        </p:txBody>
      </p:sp>
      <p:sp>
        <p:nvSpPr>
          <p:cNvPr id="14"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19912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052945" y="349705"/>
            <a:ext cx="10086110" cy="2554545"/>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An earthworm farmer set up several containers of a certain species of earthworm so he could learn about their lengths. Lengths of earthworms provide information about their ages. The farmer measured the lengths of the earthworms in one container.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farmer displayed the earthworms’ lengths, in millimeters (mm), in a stem-and-leaf plot.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266C605-46FA-6E43-9651-6D57CA5940A5}"/>
                  </a:ext>
                </a:extLst>
              </p:cNvPr>
              <p:cNvGraphicFramePr>
                <a:graphicFrameLocks noGrp="1"/>
              </p:cNvGraphicFramePr>
              <p:nvPr>
                <p:extLst>
                  <p:ext uri="{D42A27DB-BD31-4B8C-83A1-F6EECF244321}">
                    <p14:modId xmlns:p14="http://schemas.microsoft.com/office/powerpoint/2010/main" val="3339055377"/>
                  </p:ext>
                </p:extLst>
              </p:nvPr>
            </p:nvGraphicFramePr>
            <p:xfrm>
              <a:off x="3129317" y="2979481"/>
              <a:ext cx="3193106" cy="3759194"/>
            </p:xfrm>
            <a:graphic>
              <a:graphicData uri="http://schemas.openxmlformats.org/drawingml/2006/table">
                <a:tbl>
                  <a:tblPr firstRow="1" firstCol="1" bandRow="1">
                    <a:tableStyleId>{A91F0D33-8C57-4600-99A7-42BC86742BE1}</a:tableStyleId>
                  </a:tblPr>
                  <a:tblGrid>
                    <a:gridCol w="809313">
                      <a:extLst>
                        <a:ext uri="{9D8B030D-6E8A-4147-A177-3AD203B41FA5}">
                          <a16:colId xmlns:a16="http://schemas.microsoft.com/office/drawing/2014/main" val="1899782225"/>
                        </a:ext>
                      </a:extLst>
                    </a:gridCol>
                    <a:gridCol w="2383793">
                      <a:extLst>
                        <a:ext uri="{9D8B030D-6E8A-4147-A177-3AD203B41FA5}">
                          <a16:colId xmlns:a16="http://schemas.microsoft.com/office/drawing/2014/main" val="3914214377"/>
                        </a:ext>
                      </a:extLst>
                    </a:gridCol>
                  </a:tblGrid>
                  <a:tr h="513174">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Stem</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Leaf</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1293398"/>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0</m:t>
                                </m:r>
                              </m:oMath>
                            </m:oMathPara>
                          </a14:m>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4813281"/>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1</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611982"/>
                      </a:ext>
                    </a:extLst>
                  </a:tr>
                  <a:tr h="333275">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2</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0, 3, 3, 5, 5, 6, 7, 7, 8, 9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666361"/>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3</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8449177"/>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4</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1, 2, 8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308895"/>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5</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2, 4, 9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775392"/>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6</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923619"/>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7</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066812"/>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8</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 </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276864"/>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9</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6307625"/>
                      </a:ext>
                    </a:extLst>
                  </a:tr>
                  <a:tr h="247241">
                    <a:tc>
                      <a:txBody>
                        <a:bodyPr/>
                        <a:lstStyle/>
                        <a:p>
                          <a:pPr marL="0" marR="0" algn="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8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Key: </a:t>
                          </a:r>
                          <a14:m>
                            <m:oMath xmlns:m="http://schemas.openxmlformats.org/officeDocument/2006/math">
                              <m:r>
                                <a:rPr lang="en-US" sz="1800">
                                  <a:effectLst/>
                                  <a:latin typeface="Cambria Math" panose="02040503050406030204" pitchFamily="18" charset="0"/>
                                  <a:ea typeface="Cambria Math" panose="02040503050406030204" pitchFamily="18" charset="0"/>
                                </a:rPr>
                                <m:t>2</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|8 = 28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9825519"/>
                      </a:ext>
                    </a:extLst>
                  </a:tr>
                </a:tbl>
              </a:graphicData>
            </a:graphic>
          </p:graphicFrame>
        </mc:Choice>
        <mc:Fallback xmlns="">
          <p:graphicFrame>
            <p:nvGraphicFramePr>
              <p:cNvPr id="4" name="Table 3">
                <a:extLst>
                  <a:ext uri="{FF2B5EF4-FFF2-40B4-BE49-F238E27FC236}">
                    <a16:creationId xmlns:a16="http://schemas.microsoft.com/office/drawing/2014/main" id="{2266C605-46FA-6E43-9651-6D57CA5940A5}"/>
                  </a:ext>
                </a:extLst>
              </p:cNvPr>
              <p:cNvGraphicFramePr>
                <a:graphicFrameLocks noGrp="1"/>
              </p:cNvGraphicFramePr>
              <p:nvPr>
                <p:extLst>
                  <p:ext uri="{D42A27DB-BD31-4B8C-83A1-F6EECF244321}">
                    <p14:modId xmlns:p14="http://schemas.microsoft.com/office/powerpoint/2010/main" val="3339055377"/>
                  </p:ext>
                </p:extLst>
              </p:nvPr>
            </p:nvGraphicFramePr>
            <p:xfrm>
              <a:off x="1605317" y="2979480"/>
              <a:ext cx="3193106" cy="3766179"/>
            </p:xfrm>
            <a:graphic>
              <a:graphicData uri="http://schemas.openxmlformats.org/drawingml/2006/table">
                <a:tbl>
                  <a:tblPr firstRow="1" firstCol="1" bandRow="1">
                    <a:tableStyleId>{A91F0D33-8C57-4600-99A7-42BC86742BE1}</a:tableStyleId>
                  </a:tblPr>
                  <a:tblGrid>
                    <a:gridCol w="809313">
                      <a:extLst>
                        <a:ext uri="{9D8B030D-6E8A-4147-A177-3AD203B41FA5}">
                          <a16:colId xmlns:a16="http://schemas.microsoft.com/office/drawing/2014/main" val="1899782225"/>
                        </a:ext>
                      </a:extLst>
                    </a:gridCol>
                    <a:gridCol w="2383793">
                      <a:extLst>
                        <a:ext uri="{9D8B030D-6E8A-4147-A177-3AD203B41FA5}">
                          <a16:colId xmlns:a16="http://schemas.microsoft.com/office/drawing/2014/main" val="3914214377"/>
                        </a:ext>
                      </a:extLst>
                    </a:gridCol>
                  </a:tblGrid>
                  <a:tr h="513174">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Stem</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Leaf</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1293398"/>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4348" r="-295313" b="-106521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4813281"/>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04348" r="-295313" b="-96521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611982"/>
                      </a:ext>
                    </a:extLst>
                  </a:tr>
                  <a:tr h="333275">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57692" r="-295313" b="-75384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0, 3, 3, 5, 5, 6, 7, 7, 8, 9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666361"/>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95833" r="-295313" b="-71666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8449177"/>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21739" r="-295313" b="-6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1, 2, 8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308895"/>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21739" r="-295313" b="-5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2, 4, 9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775392"/>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821739" r="-295313" b="-4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923619"/>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883333" r="-295313" b="-32916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066812"/>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26087" r="-295313" b="-243478"/>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 </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276864"/>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126087" r="-295313" b="-143478"/>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6307625"/>
                      </a:ext>
                    </a:extLst>
                  </a:tr>
                  <a:tr h="278257">
                    <a:tc>
                      <a:txBody>
                        <a:bodyPr/>
                        <a:lstStyle/>
                        <a:p>
                          <a:pPr marL="0" marR="0" algn="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8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4043" t="-1281818" r="-532" b="-50000"/>
                          </a:stretch>
                        </a:blipFill>
                      </a:tcPr>
                    </a:tc>
                    <a:extLst>
                      <a:ext uri="{0D108BD9-81ED-4DB2-BD59-A6C34878D82A}">
                        <a16:rowId xmlns:a16="http://schemas.microsoft.com/office/drawing/2014/main" val="2169825519"/>
                      </a:ext>
                    </a:extLst>
                  </a:tr>
                </a:tbl>
              </a:graphicData>
            </a:graphic>
          </p:graphicFrame>
        </mc:Fallback>
      </mc:AlternateContent>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18133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942109" y="349705"/>
                <a:ext cx="6460177" cy="47089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Use the display to answer the following questions.</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Half of the earthworms sampled were less than ________ mm long.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farmer reported that the average length is </a:t>
                </a:r>
                <a14:m>
                  <m:oMath xmlns:m="http://schemas.openxmlformats.org/officeDocument/2006/math">
                    <m:r>
                      <a:rPr lang="en-US" sz="2000" i="1">
                        <a:latin typeface="Cambria Math" panose="02040503050406030204" pitchFamily="18" charset="0"/>
                        <a:ea typeface="Cambria Math" panose="02040503050406030204" pitchFamily="18" charset="0"/>
                      </a:rPr>
                      <m:t>35.92</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mm. Why might this measure of center be misleading about the typical length of the earthworms in this sample?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942109" y="349705"/>
                <a:ext cx="6460177" cy="4708981"/>
              </a:xfrm>
              <a:prstGeom prst="rect">
                <a:avLst/>
              </a:prstGeom>
              <a:blipFill rotWithShape="0">
                <a:blip r:embed="rId3"/>
                <a:stretch>
                  <a:fillRect l="-1039" t="-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266C605-46FA-6E43-9651-6D57CA5940A5}"/>
                  </a:ext>
                </a:extLst>
              </p:cNvPr>
              <p:cNvGraphicFramePr>
                <a:graphicFrameLocks noGrp="1"/>
              </p:cNvGraphicFramePr>
              <p:nvPr>
                <p:extLst>
                  <p:ext uri="{D42A27DB-BD31-4B8C-83A1-F6EECF244321}">
                    <p14:modId xmlns:p14="http://schemas.microsoft.com/office/powerpoint/2010/main" val="3120812578"/>
                  </p:ext>
                </p:extLst>
              </p:nvPr>
            </p:nvGraphicFramePr>
            <p:xfrm>
              <a:off x="7402286" y="271116"/>
              <a:ext cx="3193106" cy="3759194"/>
            </p:xfrm>
            <a:graphic>
              <a:graphicData uri="http://schemas.openxmlformats.org/drawingml/2006/table">
                <a:tbl>
                  <a:tblPr firstRow="1" firstCol="1" bandRow="1">
                    <a:tableStyleId>{A91F0D33-8C57-4600-99A7-42BC86742BE1}</a:tableStyleId>
                  </a:tblPr>
                  <a:tblGrid>
                    <a:gridCol w="809313">
                      <a:extLst>
                        <a:ext uri="{9D8B030D-6E8A-4147-A177-3AD203B41FA5}">
                          <a16:colId xmlns:a16="http://schemas.microsoft.com/office/drawing/2014/main" val="1899782225"/>
                        </a:ext>
                      </a:extLst>
                    </a:gridCol>
                    <a:gridCol w="2383793">
                      <a:extLst>
                        <a:ext uri="{9D8B030D-6E8A-4147-A177-3AD203B41FA5}">
                          <a16:colId xmlns:a16="http://schemas.microsoft.com/office/drawing/2014/main" val="3914214377"/>
                        </a:ext>
                      </a:extLst>
                    </a:gridCol>
                  </a:tblGrid>
                  <a:tr h="513174">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Stem</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Leaf</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1293398"/>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0</m:t>
                                </m:r>
                              </m:oMath>
                            </m:oMathPara>
                          </a14:m>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4813281"/>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1</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611982"/>
                      </a:ext>
                    </a:extLst>
                  </a:tr>
                  <a:tr h="333275">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2</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0, 3, 3, 5, 5, 6, 7, 7, 8, 9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666361"/>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3</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8449177"/>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4</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1, 2, 8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308895"/>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5</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2, 4, 9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775392"/>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6</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923619"/>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7</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066812"/>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8</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 </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276864"/>
                      </a:ext>
                    </a:extLst>
                  </a:tr>
                  <a:tr h="268454">
                    <a:tc>
                      <a:txBody>
                        <a:bodyPr/>
                        <a:lstStyle/>
                        <a:p>
                          <a:pPr marL="0" marR="0" algn="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mbria Math" panose="02040503050406030204" pitchFamily="18" charset="0"/>
                                  </a:rPr>
                                  <m:t>9</m:t>
                                </m:r>
                              </m:oMath>
                            </m:oMathPara>
                          </a14:m>
                          <a:endParaRPr lang="en-US" sz="18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6307625"/>
                      </a:ext>
                    </a:extLst>
                  </a:tr>
                  <a:tr h="247241">
                    <a:tc>
                      <a:txBody>
                        <a:bodyPr/>
                        <a:lstStyle/>
                        <a:p>
                          <a:pPr marL="0" marR="0" algn="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8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Key: </a:t>
                          </a:r>
                          <a14:m>
                            <m:oMath xmlns:m="http://schemas.openxmlformats.org/officeDocument/2006/math">
                              <m:r>
                                <a:rPr lang="en-US" sz="1800">
                                  <a:effectLst/>
                                  <a:latin typeface="Cambria Math" panose="02040503050406030204" pitchFamily="18" charset="0"/>
                                  <a:ea typeface="Cambria Math" panose="02040503050406030204" pitchFamily="18" charset="0"/>
                                </a:rPr>
                                <m:t>2</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|8 = 28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9825519"/>
                      </a:ext>
                    </a:extLst>
                  </a:tr>
                </a:tbl>
              </a:graphicData>
            </a:graphic>
          </p:graphicFrame>
        </mc:Choice>
        <mc:Fallback xmlns="">
          <p:graphicFrame>
            <p:nvGraphicFramePr>
              <p:cNvPr id="4" name="Table 3">
                <a:extLst>
                  <a:ext uri="{FF2B5EF4-FFF2-40B4-BE49-F238E27FC236}">
                    <a16:creationId xmlns:a16="http://schemas.microsoft.com/office/drawing/2014/main" id="{2266C605-46FA-6E43-9651-6D57CA5940A5}"/>
                  </a:ext>
                </a:extLst>
              </p:cNvPr>
              <p:cNvGraphicFramePr>
                <a:graphicFrameLocks noGrp="1"/>
              </p:cNvGraphicFramePr>
              <p:nvPr>
                <p:extLst>
                  <p:ext uri="{D42A27DB-BD31-4B8C-83A1-F6EECF244321}">
                    <p14:modId xmlns:p14="http://schemas.microsoft.com/office/powerpoint/2010/main" val="3120812578"/>
                  </p:ext>
                </p:extLst>
              </p:nvPr>
            </p:nvGraphicFramePr>
            <p:xfrm>
              <a:off x="5878286" y="271115"/>
              <a:ext cx="3193106" cy="3766179"/>
            </p:xfrm>
            <a:graphic>
              <a:graphicData uri="http://schemas.openxmlformats.org/drawingml/2006/table">
                <a:tbl>
                  <a:tblPr firstRow="1" firstCol="1" bandRow="1">
                    <a:tableStyleId>{A91F0D33-8C57-4600-99A7-42BC86742BE1}</a:tableStyleId>
                  </a:tblPr>
                  <a:tblGrid>
                    <a:gridCol w="809313">
                      <a:extLst>
                        <a:ext uri="{9D8B030D-6E8A-4147-A177-3AD203B41FA5}">
                          <a16:colId xmlns:a16="http://schemas.microsoft.com/office/drawing/2014/main" val="1899782225"/>
                        </a:ext>
                      </a:extLst>
                    </a:gridCol>
                    <a:gridCol w="2383793">
                      <a:extLst>
                        <a:ext uri="{9D8B030D-6E8A-4147-A177-3AD203B41FA5}">
                          <a16:colId xmlns:a16="http://schemas.microsoft.com/office/drawing/2014/main" val="3914214377"/>
                        </a:ext>
                      </a:extLst>
                    </a:gridCol>
                  </a:tblGrid>
                  <a:tr h="513174">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Stem</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Leaf</a:t>
                          </a:r>
                          <a:endParaRPr lang="en-US" sz="18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1293398"/>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195833" r="-296875" b="-1020833"/>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4813281"/>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308696" r="-296875" b="-96521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611982"/>
                      </a:ext>
                    </a:extLst>
                  </a:tr>
                  <a:tr h="333275">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361538" r="-296875" b="-75384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0, 3, 3, 5, 5, 6, 7, 7, 8, 9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666361"/>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521739" r="-296875" b="-752174"/>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8449177"/>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621739" r="-296875" b="-652174"/>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1, 2, 8</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308895"/>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721739" r="-296875" b="-552174"/>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2, 4, 9</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775392"/>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787500" r="-296875" b="-429167"/>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923619"/>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926087" r="-296875" b="-3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066812"/>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1026087" r="-296875" b="-2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 </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276864"/>
                      </a:ext>
                    </a:extLst>
                  </a:tr>
                  <a:tr h="293497">
                    <a:tc>
                      <a:txBody>
                        <a:bodyPr/>
                        <a:lstStyle/>
                        <a:p>
                          <a:endParaRPr lang="en-US"/>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1126087" r="-296875" b="-147826"/>
                          </a:stretch>
                        </a:blipFill>
                      </a:tcPr>
                    </a:tc>
                    <a:tc>
                      <a:txBody>
                        <a:bodyPr/>
                        <a:lstStyle/>
                        <a:p>
                          <a:pPr marL="0" marR="0" algn="l">
                            <a:lnSpc>
                              <a:spcPct val="107000"/>
                            </a:lnSpc>
                            <a:spcBef>
                              <a:spcPts val="0"/>
                            </a:spcBef>
                            <a:spcAft>
                              <a:spcPts val="0"/>
                            </a:spcAft>
                          </a:pPr>
                          <a:r>
                            <a:rPr lang="en-US" sz="18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18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6307625"/>
                      </a:ext>
                    </a:extLst>
                  </a:tr>
                  <a:tr h="278257">
                    <a:tc>
                      <a:txBody>
                        <a:bodyPr/>
                        <a:lstStyle/>
                        <a:p>
                          <a:pPr marL="0" marR="0" algn="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8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33862" t="-1281818" r="-529" b="-54545"/>
                          </a:stretch>
                        </a:blipFill>
                      </a:tcPr>
                    </a:tc>
                    <a:extLst>
                      <a:ext uri="{0D108BD9-81ED-4DB2-BD59-A6C34878D82A}">
                        <a16:rowId xmlns:a16="http://schemas.microsoft.com/office/drawing/2014/main" val="2169825519"/>
                      </a:ext>
                    </a:extLst>
                  </a:tr>
                </a:tbl>
              </a:graphicData>
            </a:graphic>
          </p:graphicFrame>
        </mc:Fallback>
      </mc:AlternateContent>
      <p:sp>
        <p:nvSpPr>
          <p:cNvPr id="7"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121</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7606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2347CCE-34A7-8044-BA67-B5895157AE55}"/>
                  </a:ext>
                </a:extLst>
              </p:cNvPr>
              <p:cNvSpPr txBox="1"/>
              <p:nvPr/>
            </p:nvSpPr>
            <p:spPr>
              <a:xfrm>
                <a:off x="1932432" y="349704"/>
                <a:ext cx="8120544" cy="5940088"/>
              </a:xfrm>
              <a:prstGeom prst="rect">
                <a:avLst/>
              </a:prstGeom>
              <a:noFill/>
            </p:spPr>
            <p:txBody>
              <a:bodyPr wrap="square" rtlCol="0">
                <a:spAutoFit/>
              </a:bodyPr>
              <a:lstStyle/>
              <a:p>
                <a:pPr marL="914400" lvl="1"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Compare your answers to Parts A and B with your partner and, if necessary, resolve any differences.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The farmer reported that the lengths varied between </a:t>
                </a:r>
                <a14:m>
                  <m:oMath xmlns:m="http://schemas.openxmlformats.org/officeDocument/2006/math">
                    <m:r>
                      <a:rPr lang="en-US" sz="2000" i="1">
                        <a:latin typeface="Cambria Math"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mm and </a:t>
                </a:r>
                <a14:m>
                  <m:oMath xmlns:m="http://schemas.openxmlformats.org/officeDocument/2006/math">
                    <m:r>
                      <a:rPr lang="en-US" sz="2000" i="1">
                        <a:latin typeface="Cambria Math" charset="0"/>
                      </a:rPr>
                      <m:t>93</m:t>
                    </m:r>
                  </m:oMath>
                </a14:m>
                <a:r>
                  <a:rPr lang="en-US" sz="2000" dirty="0">
                    <a:latin typeface="Verdana" panose="020B0604030504040204" pitchFamily="34" charset="0"/>
                    <a:ea typeface="Verdana" panose="020B0604030504040204" pitchFamily="34" charset="0"/>
                    <a:cs typeface="Verdana" panose="020B0604030504040204" pitchFamily="34" charset="0"/>
                  </a:rPr>
                  <a:t> mm. The farmer’s assistant said that most earthworms had lengths between </a:t>
                </a:r>
                <a14:m>
                  <m:oMath xmlns:m="http://schemas.openxmlformats.org/officeDocument/2006/math">
                    <m:r>
                      <a:rPr lang="en-US" sz="2000" i="1">
                        <a:latin typeface="Cambria Math" panose="02040503050406030204" pitchFamily="18" charset="0"/>
                        <a:ea typeface="Cambria Math" panose="02040503050406030204" pitchFamily="18" charset="0"/>
                      </a:rPr>
                      <m:t>23</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48</m:t>
                    </m:r>
                  </m:oMath>
                </a14:m>
                <a:r>
                  <a:rPr lang="en-US" sz="2000" dirty="0">
                    <a:latin typeface="Verdana" panose="020B0604030504040204" pitchFamily="34" charset="0"/>
                    <a:ea typeface="Verdana" panose="020B0604030504040204" pitchFamily="34" charset="0"/>
                    <a:cs typeface="Verdana" panose="020B0604030504040204" pitchFamily="34" charset="0"/>
                  </a:rPr>
                  <a:t> mm.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statements.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The farmer is using the		to summarize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the variation in worm length, while the farmer’s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assistant is using the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1932432" y="349704"/>
                <a:ext cx="8120544" cy="5940088"/>
              </a:xfrm>
              <a:prstGeom prst="rect">
                <a:avLst/>
              </a:prstGeom>
              <a:blipFill>
                <a:blip r:embed="rId3"/>
                <a:stretch>
                  <a:fillRect t="-615" r="-901"/>
                </a:stretch>
              </a:blipFill>
            </p:spPr>
            <p:txBody>
              <a:bodyPr/>
              <a:lstStyle/>
              <a:p>
                <a:r>
                  <a:rPr lang="en-PH">
                    <a:noFill/>
                  </a:rPr>
                  <a:t> </a:t>
                </a:r>
              </a:p>
            </p:txBody>
          </p:sp>
        </mc:Fallback>
      </mc:AlternateContent>
      <p:sp>
        <p:nvSpPr>
          <p:cNvPr id="7" name="Rounded Rectangle 6">
            <a:extLst>
              <a:ext uri="{FF2B5EF4-FFF2-40B4-BE49-F238E27FC236}">
                <a16:creationId xmlns:a16="http://schemas.microsoft.com/office/drawing/2014/main" id="{EFE3A3B4-2BAE-A749-8C27-C3DAF342D0D7}"/>
              </a:ext>
            </a:extLst>
          </p:cNvPr>
          <p:cNvSpPr/>
          <p:nvPr/>
        </p:nvSpPr>
        <p:spPr>
          <a:xfrm>
            <a:off x="5992704" y="3196046"/>
            <a:ext cx="1358538" cy="829627"/>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a:extLst>
              <a:ext uri="{FF2B5EF4-FFF2-40B4-BE49-F238E27FC236}">
                <a16:creationId xmlns:a16="http://schemas.microsoft.com/office/drawing/2014/main" id="{B413A2F8-0C0C-9A47-B5D0-1EE69566C219}"/>
              </a:ext>
            </a:extLst>
          </p:cNvPr>
          <p:cNvSpPr/>
          <p:nvPr/>
        </p:nvSpPr>
        <p:spPr>
          <a:xfrm>
            <a:off x="5788053" y="4968240"/>
            <a:ext cx="1526697" cy="829627"/>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74396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932432" y="349704"/>
            <a:ext cx="8120544" cy="2862322"/>
          </a:xfrm>
          <a:prstGeom prst="rect">
            <a:avLst/>
          </a:prstGeom>
          <a:noFill/>
        </p:spPr>
        <p:txBody>
          <a:bodyPr wrap="square" rtlCol="0">
            <a:spAutoFit/>
          </a:bodyPr>
          <a:lstStyle/>
          <a:p>
            <a:pPr marL="914400"/>
            <a:r>
              <a:rPr lang="en-US" sz="2000" dirty="0">
                <a:latin typeface="Verdana" panose="020B0604030504040204" pitchFamily="34" charset="0"/>
                <a:ea typeface="Verdana" panose="020B0604030504040204" pitchFamily="34" charset="0"/>
                <a:cs typeface="Verdana" panose="020B0604030504040204" pitchFamily="34" charset="0"/>
              </a:rPr>
              <a:t>If a researcher is interested in how long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earthworms are, the	                 is an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appropriate measure of variation for the farmer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to report because </a:t>
            </a:r>
            <a:r>
              <a:rPr lang="en-US" sz="2000" u="sng"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a:extLst>
              <a:ext uri="{FF2B5EF4-FFF2-40B4-BE49-F238E27FC236}">
                <a16:creationId xmlns:a16="http://schemas.microsoft.com/office/drawing/2014/main" id="{EFE3A3B4-2BAE-A749-8C27-C3DAF342D0D7}"/>
              </a:ext>
            </a:extLst>
          </p:cNvPr>
          <p:cNvSpPr/>
          <p:nvPr/>
        </p:nvSpPr>
        <p:spPr>
          <a:xfrm>
            <a:off x="5696614" y="683475"/>
            <a:ext cx="1358538" cy="829627"/>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6182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8591" y="-2647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59141" y="199550"/>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488591" y="1386025"/>
            <a:ext cx="9470850"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Draw an </a:t>
            </a:r>
            <a:r>
              <a:rPr lang="en-US" sz="2000" b="1" dirty="0">
                <a:latin typeface="Verdana" panose="020B0604030504040204" pitchFamily="34" charset="0"/>
                <a:ea typeface="Verdana" panose="020B0604030504040204" pitchFamily="34" charset="0"/>
                <a:cs typeface="Verdana" panose="020B0604030504040204" pitchFamily="34" charset="0"/>
              </a:rPr>
              <a:t>X</a:t>
            </a:r>
            <a:r>
              <a:rPr lang="en-US" sz="2000" dirty="0">
                <a:latin typeface="Verdana" panose="020B0604030504040204" pitchFamily="34" charset="0"/>
                <a:ea typeface="Verdana" panose="020B0604030504040204" pitchFamily="34" charset="0"/>
                <a:cs typeface="Verdana" panose="020B0604030504040204" pitchFamily="34" charset="0"/>
              </a:rPr>
              <a:t> on the line to indicate where your current learning is in relation to the following learning targets.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lvl="1"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I can justify whether or not a measure of center      </a:t>
            </a:r>
          </a:p>
          <a:p>
            <a:pPr lvl="1"/>
            <a:r>
              <a:rPr lang="en-US" sz="2000" dirty="0">
                <a:latin typeface="Verdana" panose="020B0604030504040204" pitchFamily="34" charset="0"/>
                <a:ea typeface="Verdana" panose="020B0604030504040204" pitchFamily="34" charset="0"/>
                <a:cs typeface="Verdana" panose="020B0604030504040204" pitchFamily="34" charset="0"/>
              </a:rPr>
              <a:t>      appropriately summarizes data.</a:t>
            </a: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I can justify whether or not a measure of variation  </a:t>
            </a:r>
          </a:p>
          <a:p>
            <a:pPr lvl="1"/>
            <a:r>
              <a:rPr lang="en-US" sz="2000" dirty="0">
                <a:latin typeface="Verdana" panose="020B0604030504040204" pitchFamily="34" charset="0"/>
                <a:ea typeface="Verdana" panose="020B0604030504040204" pitchFamily="34" charset="0"/>
                <a:cs typeface="Verdana" panose="020B0604030504040204" pitchFamily="34" charset="0"/>
              </a:rPr>
              <a:t>      appropriately summarizes data.</a:t>
            </a:r>
          </a:p>
          <a:p>
            <a:pPr marL="457200" lvl="1"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id="{F111FFCB-C386-C84C-B8A3-A5B794DCEE20}"/>
              </a:ext>
            </a:extLst>
          </p:cNvPr>
          <p:cNvGraphicFramePr>
            <a:graphicFrameLocks noGrp="1"/>
          </p:cNvGraphicFramePr>
          <p:nvPr>
            <p:extLst>
              <p:ext uri="{D42A27DB-BD31-4B8C-83A1-F6EECF244321}">
                <p14:modId xmlns:p14="http://schemas.microsoft.com/office/powerpoint/2010/main" val="1434221804"/>
              </p:ext>
            </p:extLst>
          </p:nvPr>
        </p:nvGraphicFramePr>
        <p:xfrm>
          <a:off x="1745711" y="2582634"/>
          <a:ext cx="8956611" cy="1684383"/>
        </p:xfrm>
        <a:graphic>
          <a:graphicData uri="http://schemas.openxmlformats.org/drawingml/2006/table">
            <a:tbl>
              <a:tblPr firstRow="1" firstCol="1" bandRow="1">
                <a:tableStyleId>{A91F0D33-8C57-4600-99A7-42BC86742BE1}</a:tableStyleId>
              </a:tblPr>
              <a:tblGrid>
                <a:gridCol w="2985537">
                  <a:extLst>
                    <a:ext uri="{9D8B030D-6E8A-4147-A177-3AD203B41FA5}">
                      <a16:colId xmlns:a16="http://schemas.microsoft.com/office/drawing/2014/main" val="690483617"/>
                    </a:ext>
                  </a:extLst>
                </a:gridCol>
                <a:gridCol w="2985537">
                  <a:extLst>
                    <a:ext uri="{9D8B030D-6E8A-4147-A177-3AD203B41FA5}">
                      <a16:colId xmlns:a16="http://schemas.microsoft.com/office/drawing/2014/main" val="4033923446"/>
                    </a:ext>
                  </a:extLst>
                </a:gridCol>
                <a:gridCol w="2985537">
                  <a:extLst>
                    <a:ext uri="{9D8B030D-6E8A-4147-A177-3AD203B41FA5}">
                      <a16:colId xmlns:a16="http://schemas.microsoft.com/office/drawing/2014/main" val="1395563749"/>
                    </a:ext>
                  </a:extLst>
                </a:gridCol>
              </a:tblGrid>
              <a:tr h="1684383">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help.</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I’m getting there, but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understand this</a:t>
                      </a:r>
                    </a:p>
                    <a:p>
                      <a:pPr marL="0" marR="0" algn="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531125739"/>
                  </a:ext>
                </a:extLst>
              </a:tr>
            </a:tbl>
          </a:graphicData>
        </a:graphic>
      </p:graphicFrame>
      <p:cxnSp>
        <p:nvCxnSpPr>
          <p:cNvPr id="10" name="Straight Arrow Connector 9">
            <a:extLst>
              <a:ext uri="{FF2B5EF4-FFF2-40B4-BE49-F238E27FC236}">
                <a16:creationId xmlns:a16="http://schemas.microsoft.com/office/drawing/2014/main" id="{1B2CE8B4-81D9-1541-99BA-E498AF8758E2}"/>
              </a:ext>
            </a:extLst>
          </p:cNvPr>
          <p:cNvCxnSpPr>
            <a:cxnSpLocks/>
          </p:cNvCxnSpPr>
          <p:nvPr/>
        </p:nvCxnSpPr>
        <p:spPr>
          <a:xfrm>
            <a:off x="1953792" y="4013109"/>
            <a:ext cx="8433792"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30EDA27-0F6C-0A47-9C32-00E589215070}"/>
              </a:ext>
            </a:extLst>
          </p:cNvPr>
          <p:cNvCxnSpPr>
            <a:cxnSpLocks/>
          </p:cNvCxnSpPr>
          <p:nvPr/>
        </p:nvCxnSpPr>
        <p:spPr>
          <a:xfrm>
            <a:off x="1901109" y="6097285"/>
            <a:ext cx="8433792"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BF66BC3C-E5B8-9442-8EAC-1925D2221B80}"/>
              </a:ext>
            </a:extLst>
          </p:cNvPr>
          <p:cNvGraphicFramePr>
            <a:graphicFrameLocks noGrp="1"/>
          </p:cNvGraphicFramePr>
          <p:nvPr>
            <p:extLst>
              <p:ext uri="{D42A27DB-BD31-4B8C-83A1-F6EECF244321}">
                <p14:modId xmlns:p14="http://schemas.microsoft.com/office/powerpoint/2010/main" val="113085053"/>
              </p:ext>
            </p:extLst>
          </p:nvPr>
        </p:nvGraphicFramePr>
        <p:xfrm>
          <a:off x="1772550" y="4713373"/>
          <a:ext cx="8956611" cy="1727829"/>
        </p:xfrm>
        <a:graphic>
          <a:graphicData uri="http://schemas.openxmlformats.org/drawingml/2006/table">
            <a:tbl>
              <a:tblPr firstRow="1" firstCol="1" bandRow="1">
                <a:tableStyleId>{A91F0D33-8C57-4600-99A7-42BC86742BE1}</a:tableStyleId>
              </a:tblPr>
              <a:tblGrid>
                <a:gridCol w="2985537">
                  <a:extLst>
                    <a:ext uri="{9D8B030D-6E8A-4147-A177-3AD203B41FA5}">
                      <a16:colId xmlns:a16="http://schemas.microsoft.com/office/drawing/2014/main" val="690483617"/>
                    </a:ext>
                  </a:extLst>
                </a:gridCol>
                <a:gridCol w="2985537">
                  <a:extLst>
                    <a:ext uri="{9D8B030D-6E8A-4147-A177-3AD203B41FA5}">
                      <a16:colId xmlns:a16="http://schemas.microsoft.com/office/drawing/2014/main" val="4033923446"/>
                    </a:ext>
                  </a:extLst>
                </a:gridCol>
                <a:gridCol w="2985537">
                  <a:extLst>
                    <a:ext uri="{9D8B030D-6E8A-4147-A177-3AD203B41FA5}">
                      <a16:colId xmlns:a16="http://schemas.microsoft.com/office/drawing/2014/main" val="1395563749"/>
                    </a:ext>
                  </a:extLst>
                </a:gridCol>
              </a:tblGrid>
              <a:tr h="1727829">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help.</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I’m getting there, but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understand this</a:t>
                      </a:r>
                    </a:p>
                    <a:p>
                      <a:pPr marL="0" marR="0" algn="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531125739"/>
                  </a:ext>
                </a:extLst>
              </a:tr>
            </a:tbl>
          </a:graphicData>
        </a:graphic>
      </p:graphicFrame>
      <p:sp>
        <p:nvSpPr>
          <p:cNvPr id="14" name="Google Shape;282;g104476d1465_1_17"/>
          <p:cNvSpPr txBox="1"/>
          <p:nvPr/>
        </p:nvSpPr>
        <p:spPr>
          <a:xfrm>
            <a:off x="8700207" y="64592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122</a:t>
            </a:r>
            <a:endParaRPr i="1" dirty="0">
              <a:latin typeface="Calibri"/>
              <a:ea typeface="Calibri"/>
              <a:cs typeface="Calibri"/>
              <a:sym typeface="Calibri"/>
            </a:endParaRP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8433" y="620218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566CA0-2807-442A-B8BE-2C68014FF9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FAD14E-BA3C-466B-A717-AD9ABF2B52D4}">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3.xml><?xml version="1.0" encoding="utf-8"?>
<ds:datastoreItem xmlns:ds="http://schemas.openxmlformats.org/officeDocument/2006/customXml" ds:itemID="{5D9C6F9B-B9B8-4BEA-BCE4-1CDE0F4F7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1334</TotalTime>
  <Words>1803</Words>
  <Application>Microsoft Office PowerPoint</Application>
  <PresentationFormat>Widescreen</PresentationFormat>
  <Paragraphs>434</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 Black</vt:lpstr>
      <vt:lpstr>Calibri</vt:lpstr>
      <vt:lpstr>Cambria Math</vt:lpstr>
      <vt:lpstr>Century Gothic</vt:lpstr>
      <vt:lpstr>Courier New</vt:lpstr>
      <vt:lpstr>Verdana</vt:lpstr>
      <vt:lpstr>Wingdings</vt:lpstr>
      <vt:lpstr>1_Office Theme</vt:lpstr>
      <vt:lpstr>6th Grade Accelerated Math  Unit 10, Lesson 3  Justifying Measures of Center and Variation  Volume 2, pg. 116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19</cp:revision>
  <dcterms:created xsi:type="dcterms:W3CDTF">2015-03-17T18:51:18Z</dcterms:created>
  <dcterms:modified xsi:type="dcterms:W3CDTF">2023-06-30T09:12:28Z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