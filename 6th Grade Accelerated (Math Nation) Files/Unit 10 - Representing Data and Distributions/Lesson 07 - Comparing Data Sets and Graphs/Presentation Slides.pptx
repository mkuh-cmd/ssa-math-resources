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hOjtdiUzKxLbZCGYBWwLqFxrss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7EC58F-0D09-4F9A-9DB5-D61B73C90F9F}">
  <a:tblStyle styleId="{387EC58F-0D09-4F9A-9DB5-D61B73C90F9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94"/>
  </p:normalViewPr>
  <p:slideViewPr>
    <p:cSldViewPr snapToGrid="0">
      <p:cViewPr varScale="1">
        <p:scale>
          <a:sx n="121" d="100"/>
          <a:sy n="121" d="100"/>
        </p:scale>
        <p:origin x="55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4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1" name="Google Shape;34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4" name="Google Shape;35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3" name="Google Shape;36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7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Comparing Data Sets and Graphs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139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5C8AE86-A568-75DB-A2D9-7CAC3F5439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752" y="1829054"/>
            <a:ext cx="3126752" cy="3644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44328" y="7365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828" y="3094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544328" y="1600200"/>
            <a:ext cx="91033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MA.7.DP.1.2</a:t>
            </a:r>
            <a:endParaRPr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Given two numerical or graphical representations of data, use the measure(s) of center and measure(s) of variability to make comparisons, interpret results, and draw conclusions about the two populations.</a:t>
            </a:r>
            <a:endParaRPr dirty="0"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endParaRPr sz="2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854" y="3351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704504" y="9254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1444487" y="1622895"/>
            <a:ext cx="877956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/>
          </a:p>
          <a:p>
            <a:pPr marL="457200"/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/>
          </a:p>
          <a:p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/>
          </a:p>
          <a:p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719184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022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9" name="Google Shape;149;p2"/>
          <p:cNvSpPr txBox="1"/>
          <p:nvPr/>
        </p:nvSpPr>
        <p:spPr>
          <a:xfrm>
            <a:off x="1738905" y="1600200"/>
            <a:ext cx="87141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000"/>
              <a:buFont typeface="Verdana"/>
              <a:buChar char="❏"/>
            </a:pPr>
            <a:r>
              <a:rPr lang="en-US" sz="2400" dirty="0"/>
              <a:t>I can compare and interpret a numerical representation of data of one population and a graphical representation of another population.</a:t>
            </a:r>
            <a:endParaRPr dirty="0"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167" name="Google Shape;167;p4"/>
          <p:cNvSpPr txBox="1"/>
          <p:nvPr/>
        </p:nvSpPr>
        <p:spPr>
          <a:xfrm>
            <a:off x="1340407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10.7.1 Warm-Up: Would You Rather?</a:t>
            </a:r>
            <a:endParaRPr dirty="0"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107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2060448" y="1386025"/>
            <a:ext cx="8327136" cy="1938992"/>
          </a:xfrm>
          <a:prstGeom prst="rect">
            <a:avLst/>
          </a:prstGeom>
          <a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761" t="-1298" b="-45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p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-14798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1461752" y="218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10.7.2 Guided Practice: Summarizing Data</a:t>
            </a:r>
            <a:endParaRPr dirty="0"/>
          </a:p>
        </p:txBody>
      </p:sp>
      <p:pic>
        <p:nvPicPr>
          <p:cNvPr id="190" name="Google Shape;190;p6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944" y="18783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1" name="Google Shape;191;p6"/>
          <p:cNvSpPr txBox="1"/>
          <p:nvPr/>
        </p:nvSpPr>
        <p:spPr>
          <a:xfrm>
            <a:off x="1461752" y="1386026"/>
            <a:ext cx="9524528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commute time, in minutes, for </a:t>
            </a:r>
            <a:r>
              <a:rPr lang="en-US" sz="2000" u="none" strike="noStrike" cap="none" dirty="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randomly selected people in Duval County, Florida is shown. 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dirty="0"/>
          </a:p>
          <a:p>
            <a:pPr marL="46990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box plot displays the commute time, in minutes, for </a:t>
            </a:r>
            <a:r>
              <a:rPr lang="en-US" sz="2000" u="none" strike="noStrike" cap="none" dirty="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randomly selected people in Union County, Florida.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92" name="Google Shape;192;p6"/>
          <p:cNvGraphicFramePr/>
          <p:nvPr/>
        </p:nvGraphicFramePr>
        <p:xfrm>
          <a:off x="2753741" y="2355521"/>
          <a:ext cx="6940450" cy="609600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57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8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9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10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17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18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20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20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21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22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23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24</a:t>
                      </a:r>
                      <a:endParaRPr sz="200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25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26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26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29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29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29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32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34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38</a:t>
                      </a:r>
                      <a:endParaRPr sz="2000" u="none" strike="noStrike" cap="none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40</a:t>
                      </a:r>
                      <a:endParaRPr sz="2000" u="none" strike="noStrike" cap="none" dirty="0">
                        <a:latin typeface="Cambria Math"/>
                        <a:ea typeface="Cambria Math"/>
                        <a:cs typeface="Cambria Math"/>
                        <a:sym typeface="Cambria Math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3" name="Google Shape;193;p6" descr="Chart, box and whisker chart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53741" y="4353386"/>
            <a:ext cx="6945630" cy="184721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/>
          <p:nvPr/>
        </p:nvSpPr>
        <p:spPr>
          <a:xfrm>
            <a:off x="3478924" y="4096310"/>
            <a:ext cx="5420396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2000" b="1" dirty="0">
                <a:latin typeface="Verdana"/>
                <a:ea typeface="Verdana"/>
                <a:cs typeface="Verdana"/>
                <a:sym typeface="Verdana"/>
              </a:rPr>
              <a:t>Travel Time in Union County, Florida</a:t>
            </a:r>
            <a:endParaRPr sz="20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344273" y="6261258"/>
            <a:ext cx="2370455" cy="466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Time (in minutes)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1152939" y="520394"/>
            <a:ext cx="10036788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3925" lvl="4" indent="-454025">
              <a:buSzPts val="24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Explain why it would be beneficial to create a box plot of the Duval County data when comparing these data sets.</a:t>
            </a:r>
            <a:endParaRPr lang="en-US" dirty="0"/>
          </a:p>
          <a:p>
            <a:pPr marL="923925" lvl="4" indent="-454025">
              <a:buSzPts val="2400"/>
              <a:buFont typeface="Arial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3925" lvl="4" indent="-454025">
              <a:buSzPts val="2400"/>
              <a:buFont typeface="Arial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3925" lvl="4" indent="-454025">
              <a:buSzPts val="2400"/>
              <a:buFont typeface="Arial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923925" lvl="4" indent="-454025">
              <a:buSzPts val="2400"/>
              <a:buFont typeface="Arial"/>
              <a:buAutoNum type="alphaLcPeriod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23925" lvl="4" indent="-454025">
              <a:buSzPts val="24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What are some measures used to describe data that cannot be determined from a box plot?</a:t>
            </a:r>
            <a:endParaRPr dirty="0"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1086678" y="520394"/>
            <a:ext cx="1016931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3925" lvl="1" indent="-454025">
              <a:buSzPts val="2000"/>
              <a:buFont typeface="Arial"/>
              <a:buAutoNum type="alphaLcPeriod" startAt="3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Use at least three terms from the term bank below to write a three-sentence summary comparing travel times to work in Duval County to travel times to work in Union County.</a:t>
            </a:r>
            <a:endParaRPr/>
          </a:p>
        </p:txBody>
      </p:sp>
      <p:grpSp>
        <p:nvGrpSpPr>
          <p:cNvPr id="214" name="Google Shape;214;p8"/>
          <p:cNvGrpSpPr/>
          <p:nvPr/>
        </p:nvGrpSpPr>
        <p:grpSpPr>
          <a:xfrm>
            <a:off x="2605377" y="2041944"/>
            <a:ext cx="9919344" cy="2219168"/>
            <a:chOff x="-212349" y="-861444"/>
            <a:chExt cx="2618599" cy="2235728"/>
          </a:xfrm>
        </p:grpSpPr>
        <p:sp>
          <p:nvSpPr>
            <p:cNvPr id="215" name="Google Shape;215;p8"/>
            <p:cNvSpPr/>
            <p:nvPr/>
          </p:nvSpPr>
          <p:spPr>
            <a:xfrm>
              <a:off x="0" y="0"/>
              <a:ext cx="2406250" cy="1285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/>
                  <a:ea typeface="Cambria"/>
                  <a:cs typeface="Cambria"/>
                  <a:sym typeface="Cambria"/>
                </a:rPr>
                <a:t> </a:t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-116686" y="-861444"/>
              <a:ext cx="1850631" cy="223572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Cambria"/>
                  <a:ea typeface="Cambria"/>
                  <a:cs typeface="Cambria"/>
                  <a:sym typeface="Cambria"/>
                </a:rPr>
                <a:t> </a:t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-212349" y="-609600"/>
              <a:ext cx="213246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0" indent="457200"/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mean		median			range	 		IQR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marL="457200" indent="457200">
                <a:spcBef>
                  <a:spcPts val="1000"/>
                </a:spcBef>
              </a:pPr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	center		variability		upper quartile		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marL="457200" indent="457200">
                <a:spcBef>
                  <a:spcPts val="1000"/>
                </a:spcBef>
              </a:pPr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lower quartile		sample		population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marL="457200" indent="457200">
                <a:spcBef>
                  <a:spcPts val="1000"/>
                </a:spcBef>
              </a:pPr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			 					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  <a:p>
              <a:pPr marL="457200" indent="457200">
                <a:spcBef>
                  <a:spcPts val="1000"/>
                </a:spcBef>
                <a:spcAft>
                  <a:spcPts val="1000"/>
                </a:spcAft>
              </a:pPr>
              <a:r>
                <a:rPr lang="en-US" sz="1800">
                  <a:latin typeface="Verdana"/>
                  <a:ea typeface="Verdana"/>
                  <a:cs typeface="Verdana"/>
                  <a:sym typeface="Verdana"/>
                </a:rPr>
                <a:t> </a:t>
              </a:r>
              <a:endParaRPr sz="1200"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0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25" name="Google Shape;225;p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7" name="Google Shape;22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171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0" y="-1418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1613305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10.7.3 Try It: Comparing Data Sets and Graphs</a:t>
            </a:r>
            <a:endParaRPr dirty="0"/>
          </a:p>
        </p:txBody>
      </p:sp>
      <p:pic>
        <p:nvPicPr>
          <p:cNvPr id="237" name="Google Shape;237;p1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993" y="31861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8" name="Google Shape;238;p10"/>
          <p:cNvSpPr txBox="1"/>
          <p:nvPr/>
        </p:nvSpPr>
        <p:spPr>
          <a:xfrm>
            <a:off x="1613305" y="1278179"/>
            <a:ext cx="9221410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Deltona High School Wolves and Wildwood High School Wildcats cross-country teams ran an obstacle course. Each team’s times are summarized. 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2940733" y="2383498"/>
            <a:ext cx="6566557" cy="4305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000" b="1">
                <a:latin typeface="Verdana"/>
                <a:ea typeface="Verdana"/>
                <a:cs typeface="Verdana"/>
                <a:sym typeface="Verdana"/>
              </a:rPr>
              <a:t>Deltona HS Wolves’ Obstacle Course Times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40" name="Google Shape;240;p10"/>
          <p:cNvGraphicFramePr/>
          <p:nvPr/>
        </p:nvGraphicFramePr>
        <p:xfrm>
          <a:off x="4149785" y="2917056"/>
          <a:ext cx="4148425" cy="1219200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82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: 25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: 43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 : 49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 : 02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 : 12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 : 21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31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32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37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52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 : 54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08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20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26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6</a:t>
                      </a: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 : 33</a:t>
                      </a:r>
                      <a:endParaRPr sz="1400" u="none" strike="noStrike" cap="none"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 : 48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53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16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: 23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8</a:t>
                      </a:r>
                      <a:r>
                        <a:rPr lang="en-US" dirty="0">
                          <a:solidFill>
                            <a:schemeClr val="dk1"/>
                          </a:solidFill>
                        </a:rPr>
                        <a:t> : 05</a:t>
                      </a:r>
                      <a:endParaRPr sz="1400" u="none" strike="noStrike" cap="none" dirty="0"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1" name="Google Shape;241;p10"/>
          <p:cNvSpPr txBox="1"/>
          <p:nvPr/>
        </p:nvSpPr>
        <p:spPr>
          <a:xfrm>
            <a:off x="2815419" y="4316536"/>
            <a:ext cx="6817186" cy="4305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000" b="1">
                <a:latin typeface="Verdana"/>
                <a:ea typeface="Verdana"/>
                <a:cs typeface="Verdana"/>
                <a:sym typeface="Verdana"/>
              </a:rPr>
              <a:t>Wildwood HS Wildcats’ Obstacle Course Times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42" name="Google Shape;242;p10" descr="Chart, box and whisker cha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20356" r="-333" b="14781"/>
          <a:stretch/>
        </p:blipFill>
        <p:spPr>
          <a:xfrm>
            <a:off x="3447477" y="4657333"/>
            <a:ext cx="5297047" cy="169897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 txBox="1"/>
          <p:nvPr/>
        </p:nvSpPr>
        <p:spPr>
          <a:xfrm>
            <a:off x="4343665" y="6303301"/>
            <a:ext cx="3760691" cy="45593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 Course Times</a:t>
            </a:r>
            <a:endParaRPr/>
          </a:p>
        </p:txBody>
      </p:sp>
      <p:sp>
        <p:nvSpPr>
          <p:cNvPr id="13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2007765" y="520394"/>
            <a:ext cx="8327136" cy="56323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447" r="-1521" b="-89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60" name="Google Shape;260;p12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2" name="Google Shape;262;p1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90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0" name="Google Shape;270;p13"/>
          <p:cNvSpPr txBox="1"/>
          <p:nvPr/>
        </p:nvSpPr>
        <p:spPr>
          <a:xfrm>
            <a:off x="1469151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10.7.4 Activity: Roll the Dice</a:t>
            </a:r>
            <a:endParaRPr dirty="0"/>
          </a:p>
        </p:txBody>
      </p:sp>
      <p:pic>
        <p:nvPicPr>
          <p:cNvPr id="272" name="Google Shape;272;p13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9343" y="34827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73" name="Google Shape;273;p13"/>
          <p:cNvSpPr txBox="1"/>
          <p:nvPr/>
        </p:nvSpPr>
        <p:spPr>
          <a:xfrm>
            <a:off x="1690137" y="1386025"/>
            <a:ext cx="9067758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With your partner, decide which of you will be “Partner 1” and “Partner 2.” Partner 1 will be creating a line plot and Partner 2 will be recording a data set.</a:t>
            </a:r>
            <a:endParaRPr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Using a standard six-sided die, each person will roll one die 25 times. After each roll, record the results in either a line plot or numerical data set below, depending on if you are Partner 1 or Partner 2.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"/>
          <p:cNvSpPr/>
          <p:nvPr/>
        </p:nvSpPr>
        <p:spPr>
          <a:xfrm>
            <a:off x="0" y="-17729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2" name="Google Shape;282;p14"/>
          <p:cNvSpPr txBox="1"/>
          <p:nvPr/>
        </p:nvSpPr>
        <p:spPr>
          <a:xfrm>
            <a:off x="1563757" y="520393"/>
            <a:ext cx="9215152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4" indent="-457200">
              <a:buSzPts val="2000"/>
              <a:buFont typeface="Arial"/>
              <a:buAutoNum type="arabicPeriod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When both partners are finished, copy their data below.</a:t>
            </a:r>
            <a:endParaRPr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Line plot (Partner 1’s rolls):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Data set (Partner 2’s rolls):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</p:txBody>
      </p:sp>
      <p:cxnSp>
        <p:nvCxnSpPr>
          <p:cNvPr id="283" name="Google Shape;283;p14"/>
          <p:cNvCxnSpPr/>
          <p:nvPr/>
        </p:nvCxnSpPr>
        <p:spPr>
          <a:xfrm>
            <a:off x="3352799" y="2708172"/>
            <a:ext cx="5486400" cy="25400"/>
          </a:xfrm>
          <a:prstGeom prst="straightConnector1">
            <a:avLst/>
          </a:prstGeom>
          <a:noFill/>
          <a:ln w="44450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</p:spPr>
      </p:cxnSp>
      <p:graphicFrame>
        <p:nvGraphicFramePr>
          <p:cNvPr id="284" name="Google Shape;284;p14"/>
          <p:cNvGraphicFramePr/>
          <p:nvPr/>
        </p:nvGraphicFramePr>
        <p:xfrm>
          <a:off x="2697163" y="3779827"/>
          <a:ext cx="6797625" cy="2557750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135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</a:t>
                      </a:r>
                      <a:endParaRPr sz="12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1484243" y="520393"/>
            <a:ext cx="9374180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000"/>
              <a:buFont typeface="Arial"/>
              <a:buAutoNum type="arabicPeriod" startAt="2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Complete the table by calculating the measures of center and spread for your data. 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Share your data with your partner and add their data to the table. </a:t>
            </a:r>
            <a:endParaRPr dirty="0"/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30200">
              <a:buSzPts val="20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94" name="Google Shape;294;p15"/>
          <p:cNvGraphicFramePr/>
          <p:nvPr/>
        </p:nvGraphicFramePr>
        <p:xfrm>
          <a:off x="2886509" y="1908804"/>
          <a:ext cx="6418975" cy="2586400"/>
        </p:xfrm>
        <a:graphic>
          <a:graphicData uri="http://schemas.openxmlformats.org/drawingml/2006/table">
            <a:tbl>
              <a:tblPr bandRow="1">
                <a:noFill/>
                <a:tableStyleId>{387EC58F-0D09-4F9A-9DB5-D61B73C90F9F}</a:tableStyleId>
              </a:tblPr>
              <a:tblGrid>
                <a:gridCol w="151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Partner 1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Partner 2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Mean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Median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Range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IQR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/>
                    </a:p>
                  </a:txBody>
                  <a:tcPr marL="68575" marR="685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1431235" y="520393"/>
            <a:ext cx="948019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000"/>
              <a:buFont typeface="Arial"/>
              <a:buAutoNum type="arabicPeriod" startAt="3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With your partner, discuss similarities and differences in your data. 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Summarize your discussion in the table.</a:t>
            </a:r>
            <a:endParaRPr dirty="0"/>
          </a:p>
          <a:p>
            <a:r>
              <a:rPr lang="en-US" dirty="0"/>
              <a:t> </a:t>
            </a:r>
            <a:endParaRPr dirty="0"/>
          </a:p>
        </p:txBody>
      </p:sp>
      <p:graphicFrame>
        <p:nvGraphicFramePr>
          <p:cNvPr id="304" name="Google Shape;304;p16"/>
          <p:cNvGraphicFramePr/>
          <p:nvPr/>
        </p:nvGraphicFramePr>
        <p:xfrm>
          <a:off x="2926527" y="1443724"/>
          <a:ext cx="6338950" cy="4893875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323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Similarities</a:t>
                      </a:r>
                      <a:endParaRPr/>
                    </a:p>
                  </a:txBody>
                  <a:tcPr marL="51000" marR="510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Differences</a:t>
                      </a:r>
                      <a:endParaRPr/>
                    </a:p>
                  </a:txBody>
                  <a:tcPr marL="51000" marR="51000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 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1000" marR="510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 </a:t>
                      </a:r>
                      <a:endParaRPr sz="9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51000" marR="51000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12" name="Google Shape;312;p17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3" name="Google Shape;31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1366911" y="122062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10.7.5 Your Turn!</a:t>
            </a:r>
            <a:endParaRPr dirty="0"/>
          </a:p>
        </p:txBody>
      </p:sp>
      <p:pic>
        <p:nvPicPr>
          <p:cNvPr id="323" name="Google Shape;32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611" y="12206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25" name="Google Shape;325;p18"/>
          <p:cNvSpPr txBox="1"/>
          <p:nvPr/>
        </p:nvSpPr>
        <p:spPr>
          <a:xfrm>
            <a:off x="1179443" y="1227170"/>
            <a:ext cx="10260650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4" indent="-457200">
              <a:buSzPts val="2000"/>
              <a:buFont typeface="Arial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A group of ten rowers that practice outdoors on the water (Group 1) are challenging a group of ten who use indoor rowing machines (Group 2). They want to see who can row faster using rowing machines.</a:t>
            </a:r>
            <a:endParaRPr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46990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time, in minutes, it took each of the ten rowers in Group 1 to row 500 meters on the rowing machine is represented in the stem-and-leaf plot.</a:t>
            </a:r>
            <a:endParaRPr dirty="0"/>
          </a:p>
          <a:p>
            <a:pPr marL="469900"/>
            <a:endParaRPr sz="800" dirty="0">
              <a:latin typeface="Verdana"/>
              <a:ea typeface="Verdana"/>
              <a:cs typeface="Verdana"/>
              <a:sym typeface="Verdana"/>
            </a:endParaRPr>
          </a:p>
          <a:p>
            <a:pPr marL="14288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000" b="1" dirty="0">
                <a:latin typeface="Verdana"/>
                <a:ea typeface="Verdana"/>
                <a:cs typeface="Verdana"/>
                <a:sym typeface="Verdana"/>
              </a:rPr>
              <a:t>Group 1: Outdoor Rower Times (in minutes)</a:t>
            </a:r>
            <a:endParaRPr dirty="0"/>
          </a:p>
        </p:txBody>
      </p:sp>
      <p:graphicFrame>
        <p:nvGraphicFramePr>
          <p:cNvPr id="326" name="Google Shape;326;p18"/>
          <p:cNvGraphicFramePr/>
          <p:nvPr/>
        </p:nvGraphicFramePr>
        <p:xfrm>
          <a:off x="2519850" y="3936574"/>
          <a:ext cx="2390150" cy="1828800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106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Stem</a:t>
                      </a:r>
                      <a:endParaRPr/>
                    </a:p>
                  </a:txBody>
                  <a:tcPr marL="68575" marR="6857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Leaf</a:t>
                      </a:r>
                      <a:endParaRPr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15</a:t>
                      </a:r>
                      <a:endParaRPr sz="2000" u="none" strike="noStrike" cap="none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2, 8</a:t>
                      </a:r>
                      <a:endParaRPr sz="2000" u="none" strike="noStrike" cap="none"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16</a:t>
                      </a:r>
                      <a:endParaRPr sz="2000" u="none" strike="noStrike" cap="none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</a:t>
                      </a:r>
                      <a:endParaRPr sz="2000" u="none" strike="noStrike" cap="none"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17</a:t>
                      </a:r>
                      <a:endParaRPr sz="2000" u="none" strike="noStrike" cap="none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0, 5, 8</a:t>
                      </a:r>
                      <a:endParaRPr sz="2000" u="none" strike="noStrike" cap="none"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18</a:t>
                      </a:r>
                      <a:endParaRPr sz="2000" u="none" strike="noStrike" cap="none"/>
                    </a:p>
                  </a:txBody>
                  <a:tcPr marL="68575" marR="68575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0, 2, 3, 7</a:t>
                      </a:r>
                      <a:endParaRPr sz="2000" u="none" strike="noStrike" cap="none"/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Key: 15|2 = 1.52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68575" marR="68575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7" name="Google Shape;327;p18"/>
          <p:cNvSpPr txBox="1"/>
          <p:nvPr/>
        </p:nvSpPr>
        <p:spPr>
          <a:xfrm>
            <a:off x="5037088" y="3936575"/>
            <a:ext cx="5502062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/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The time, in minutes, it took each of the ten rowers in Group 2 to row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500</a:t>
            </a: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 meters on the rowing machine is represented in the data set.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 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algn="ctr"/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{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1.63, 1.82, 1.95, 1.97 2.0, 2.02, 2.12, 2.20, 2.25, 2.88</a:t>
            </a: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}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2007765" y="520393"/>
            <a:ext cx="832713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For each statement, state whether it is true or false. For any statements that are true, explain why.</a:t>
            </a:r>
            <a:endParaRPr/>
          </a:p>
        </p:txBody>
      </p:sp>
      <p:graphicFrame>
        <p:nvGraphicFramePr>
          <p:cNvPr id="337" name="Google Shape;337;p19"/>
          <p:cNvGraphicFramePr/>
          <p:nvPr/>
        </p:nvGraphicFramePr>
        <p:xfrm>
          <a:off x="1925116" y="1228279"/>
          <a:ext cx="8327125" cy="4903800"/>
        </p:xfrm>
        <a:graphic>
          <a:graphicData uri="http://schemas.openxmlformats.org/drawingml/2006/table">
            <a:tbl>
              <a:tblPr firstRow="1" firstCol="1" bandRow="1">
                <a:noFill/>
                <a:tableStyleId>{387EC58F-0D09-4F9A-9DB5-D61B73C90F9F}</a:tableStyleId>
              </a:tblPr>
              <a:tblGrid>
                <a:gridCol w="559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Statement</a:t>
                      </a:r>
                      <a:endParaRPr sz="20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True or False?</a:t>
                      </a:r>
                      <a:endParaRPr sz="20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/>
                        <a:t>Explanation</a:t>
                      </a:r>
                      <a:endParaRPr sz="2000" b="1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The center of the Group 1 times is similar to the center of the Group 2 times.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The variability of the Group 1 times is similar to the variability of the Group 2 times.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The Group 1 rowers that practice on the water are typically faster than the Group 2 rowers that row on machines.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 </a:t>
                      </a:r>
                      <a:endParaRPr sz="20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The Group 1 rowers that practice on the water are more consistent than the Group 2 rowers that row on machines.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20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 </a:t>
                      </a:r>
                      <a:endParaRPr sz="2000" u="none" strike="noStrike" cap="none"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30175" marR="301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346" name="Google Shape;346;p20"/>
          <p:cNvSpPr txBox="1"/>
          <p:nvPr/>
        </p:nvSpPr>
        <p:spPr>
          <a:xfrm>
            <a:off x="2007765" y="294357"/>
            <a:ext cx="8327136" cy="59400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08" t="-639" b="-63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  <p:pic>
        <p:nvPicPr>
          <p:cNvPr id="347" name="Google Shape;347;p20" descr="Chart, scatter chart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5719" y="1649046"/>
            <a:ext cx="4445615" cy="200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0" descr="Chart, scatter chart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9206" y="1514034"/>
            <a:ext cx="4397620" cy="214987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0"/>
          <p:cNvSpPr txBox="1"/>
          <p:nvPr/>
        </p:nvSpPr>
        <p:spPr>
          <a:xfrm>
            <a:off x="1627053" y="1084063"/>
            <a:ext cx="464294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1">
                <a:latin typeface="Verdana"/>
                <a:ea typeface="Verdana"/>
                <a:cs typeface="Verdana"/>
                <a:sym typeface="Verdana"/>
              </a:rPr>
              <a:t>Arrival Times of Airline P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0" name="Google Shape;350;p20"/>
          <p:cNvSpPr txBox="1"/>
          <p:nvPr/>
        </p:nvSpPr>
        <p:spPr>
          <a:xfrm>
            <a:off x="6094541" y="1084063"/>
            <a:ext cx="469812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1">
                <a:latin typeface="Verdana"/>
                <a:ea typeface="Verdana"/>
                <a:cs typeface="Verdana"/>
                <a:sym typeface="Verdana"/>
              </a:rPr>
              <a:t>Arrival Times of Airline Q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9" name="Google Shape;359;p21"/>
          <p:cNvSpPr txBox="1"/>
          <p:nvPr/>
        </p:nvSpPr>
        <p:spPr>
          <a:xfrm>
            <a:off x="1205948" y="520393"/>
            <a:ext cx="9930770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Based on the data, from which airline would you choose to buy your ticket?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Use measure(s) of center and variability to justify your choice.</a:t>
            </a:r>
            <a:endParaRPr dirty="0"/>
          </a:p>
          <a:p>
            <a:r>
              <a:rPr lang="en-US" dirty="0"/>
              <a:t> </a:t>
            </a:r>
            <a:endParaRPr dirty="0"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8" name="Google Shape;368;p22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69" name="Google Shape;36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02B6A"/>
          </a:solidFill>
          <a:ln w="9525" cap="flat" cmpd="sng">
            <a:solidFill>
              <a:srgbClr val="202B6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 dirty="0"/>
          </a:p>
        </p:txBody>
      </p:sp>
      <p:sp>
        <p:nvSpPr>
          <p:cNvPr id="378" name="Google Shape;378;p23"/>
          <p:cNvSpPr txBox="1"/>
          <p:nvPr/>
        </p:nvSpPr>
        <p:spPr>
          <a:xfrm>
            <a:off x="1470405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10.7.6 Wrap-Up: Cool Down</a:t>
            </a:r>
            <a:endParaRPr dirty="0"/>
          </a:p>
        </p:txBody>
      </p:sp>
      <p:pic>
        <p:nvPicPr>
          <p:cNvPr id="379" name="Google Shape;37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105" y="27619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80" name="Google Shape;380;p23"/>
          <p:cNvSpPr txBox="1"/>
          <p:nvPr/>
        </p:nvSpPr>
        <p:spPr>
          <a:xfrm>
            <a:off x="1470405" y="1386025"/>
            <a:ext cx="9507222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4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Write a short note to a classmate who missed class summarizing today’s lesson.  </a:t>
            </a:r>
            <a:endParaRPr dirty="0"/>
          </a:p>
          <a:p>
            <a:r>
              <a:rPr lang="en-US" i="1" dirty="0"/>
              <a:t> </a:t>
            </a:r>
            <a:endParaRPr sz="1050" dirty="0"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4598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421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1215</Words>
  <Application>Microsoft Macintosh PowerPoint</Application>
  <PresentationFormat>Widescreen</PresentationFormat>
  <Paragraphs>272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1_Office Theme</vt:lpstr>
      <vt:lpstr>6th Grade Accelerated Math  Unit 10, Lesson 7  Comparing Data Sets and Graphs  Volume 2, pg. 139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Accelerated Math  Unit 10, Lesson 7  Comparing Data Sets and Graphs  Volume 2, pg. 139  </dc:title>
  <dc:creator>Karen McKenzie</dc:creator>
  <cp:lastModifiedBy>Diana Barnett</cp:lastModifiedBy>
  <cp:revision>6</cp:revision>
  <dcterms:created xsi:type="dcterms:W3CDTF">2015-03-17T18:51:18Z</dcterms:created>
  <dcterms:modified xsi:type="dcterms:W3CDTF">2023-01-30T18:03:59Z</dcterms:modified>
</cp:coreProperties>
</file>