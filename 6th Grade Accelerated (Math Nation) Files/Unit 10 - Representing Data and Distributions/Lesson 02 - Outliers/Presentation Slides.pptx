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56" r:id="rId2"/>
    <p:sldId id="257" r:id="rId3"/>
    <p:sldId id="285" r:id="rId4"/>
    <p:sldId id="286" r:id="rId5"/>
    <p:sldId id="261" r:id="rId6"/>
    <p:sldId id="287" r:id="rId7"/>
    <p:sldId id="311" r:id="rId8"/>
    <p:sldId id="312" r:id="rId9"/>
    <p:sldId id="313" r:id="rId10"/>
    <p:sldId id="335" r:id="rId11"/>
    <p:sldId id="336" r:id="rId12"/>
    <p:sldId id="337" r:id="rId13"/>
    <p:sldId id="338" r:id="rId14"/>
    <p:sldId id="329" r:id="rId15"/>
    <p:sldId id="330" r:id="rId16"/>
    <p:sldId id="331" r:id="rId17"/>
    <p:sldId id="323" r:id="rId18"/>
    <p:sldId id="324" r:id="rId19"/>
    <p:sldId id="325" r:id="rId20"/>
    <p:sldId id="332" r:id="rId21"/>
    <p:sldId id="333" r:id="rId22"/>
    <p:sldId id="334" r:id="rId23"/>
    <p:sldId id="339" r:id="rId24"/>
    <p:sldId id="340" r:id="rId25"/>
    <p:sldId id="341" r:id="rId26"/>
    <p:sldId id="342" r:id="rId27"/>
    <p:sldId id="343" r:id="rId28"/>
    <p:sldId id="344" r:id="rId29"/>
    <p:sldId id="302" r:id="rId30"/>
    <p:sldId id="303" r:id="rId31"/>
    <p:sldId id="309" r:id="rId32"/>
    <p:sldId id="306" r:id="rId33"/>
    <p:sldId id="307" r:id="rId34"/>
    <p:sldId id="310"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p:restoredTop sz="94695"/>
  </p:normalViewPr>
  <p:slideViewPr>
    <p:cSldViewPr snapToGrid="0">
      <p:cViewPr varScale="1">
        <p:scale>
          <a:sx n="59" d="100"/>
          <a:sy n="59" d="100"/>
        </p:scale>
        <p:origin x="15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404280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327269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94692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42059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5083056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489932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3792070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7225506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627060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313883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6288481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8550909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5042564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54045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10.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9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0.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Outliers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109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8575"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510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39738" y="13797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916238" y="37375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739738" y="1600200"/>
            <a:ext cx="8803964" cy="512127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MA.6.DP.1.6</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real-world scenario, determine and describe how changes in data values impact measures of center and variation.</a:t>
            </a:r>
          </a:p>
          <a:p>
            <a:pPr marL="0" indent="0">
              <a:buSzPts val="1100"/>
              <a:buNone/>
            </a:pPr>
            <a:r>
              <a:rPr lang="en-US" sz="2800" dirty="0">
                <a:solidFill>
                  <a:schemeClr val="tx1"/>
                </a:solidFill>
                <a:latin typeface="Verdana"/>
                <a:ea typeface="Verdana"/>
                <a:cs typeface="Verdana"/>
                <a:sym typeface="Verdana"/>
              </a:rPr>
              <a:t>MA.7.DP.1.1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Determine an appropriate measure of center or measure of variation to summarize numerical data, represented numerically or graphically, taking into consideration the context and any outliers.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58400"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83050"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587500" y="1596390"/>
            <a:ext cx="960476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94819"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12657"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94819" y="1600200"/>
            <a:ext cx="920236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determine the implications an outlier has in a given data set.</a:t>
            </a:r>
          </a:p>
          <a:p>
            <a:pPr marL="457200" indent="-450850">
              <a:buClr>
                <a:srgbClr val="434343"/>
              </a:buClr>
              <a:buSzPts val="3500"/>
              <a:buFont typeface="Verdana"/>
              <a:buChar char="❏"/>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relate the impact of an outlier to which measures of center and variation best describe a distribution.</a:t>
            </a: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p:txBody>
      </p:sp>
      <p:sp>
        <p:nvSpPr>
          <p:cNvPr id="8"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6938" y="-41275"/>
            <a:ext cx="94369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10.2.1 Warm-Up: Precision Is Key</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99638" y="200269"/>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446938" y="1386025"/>
            <a:ext cx="9554156" cy="473975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Becky Miller is a quality control engineer with GE Aviation. Like many other careers, manufacturing engineering has many moving parts that make up an entire process. Becky says that manufacturing is problem-solving.</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List at least two steps that you take when faced with a difficult task.</a:t>
            </a:r>
          </a:p>
          <a:p>
            <a:pPr lvl="0"/>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dirty="0"/>
              <a:t> </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Becky mentions that an error “about the size of a human hair” can make a difference in manufacturing jet engines.</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a time that you have made a small error that caused a big impact in your next steps?</a:t>
            </a:r>
            <a:endParaRPr lang="en-US" sz="2000" i="1" dirty="0">
              <a:latin typeface="Verdana" panose="020B0604030504040204" pitchFamily="34" charset="0"/>
              <a:ea typeface="Verdana" panose="020B0604030504040204" pitchFamily="34" charset="0"/>
              <a:cs typeface="Verdana" panose="020B0604030504040204" pitchFamily="34" charset="0"/>
            </a:endParaRPr>
          </a:p>
          <a:p>
            <a:r>
              <a:rPr lang="en-US" i="1" dirty="0"/>
              <a:t> </a:t>
            </a:r>
          </a:p>
          <a:p>
            <a:endParaRPr lang="en-US" i="1" dirty="0"/>
          </a:p>
        </p:txBody>
      </p:sp>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76850" y="1906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900" b="1" dirty="0">
                <a:solidFill>
                  <a:srgbClr val="33BEA6"/>
                </a:solidFill>
                <a:latin typeface="Verdana"/>
                <a:ea typeface="Verdana"/>
                <a:cs typeface="Verdana"/>
                <a:sym typeface="Verdana"/>
              </a:rPr>
              <a:t>10.2.2 Exploration: Determining, Describing, and Comparing Numerical Data Represented Graphically</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24596" y="285104"/>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587500" y="1386025"/>
            <a:ext cx="9273032" cy="16312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Twenty students timed how long it took each of them to solve a puzzle. Below is a list of their solution times, in minutes, and a dot plot displaying the data.</a:t>
            </a:r>
          </a:p>
        </p:txBody>
      </p:sp>
      <p:pic>
        <p:nvPicPr>
          <p:cNvPr id="3" name="Picture 2" descr="Chart, scatter chart&#10;&#10;Description automatically generated">
            <a:extLst>
              <a:ext uri="{FF2B5EF4-FFF2-40B4-BE49-F238E27FC236}">
                <a16:creationId xmlns:a16="http://schemas.microsoft.com/office/drawing/2014/main" id="{87A9650B-994C-AB47-B18E-527EAB234B6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44480" y="3154673"/>
            <a:ext cx="5817326" cy="3485685"/>
          </a:xfrm>
          <a:prstGeom prst="rect">
            <a:avLst/>
          </a:prstGeom>
        </p:spPr>
      </p:pic>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206500" y="374090"/>
                <a:ext cx="9128401" cy="5016758"/>
              </a:xfrm>
              <a:prstGeom prst="rect">
                <a:avLst/>
              </a:prstGeom>
              <a:noFill/>
            </p:spPr>
            <p:txBody>
              <a:bodyPr wrap="square" rtlCol="0">
                <a:spAutoFit/>
              </a:bodyPr>
              <a:lstStyle/>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distribution of </a:t>
                </a:r>
              </a:p>
              <a:p>
                <a:pPr marL="465137"/>
                <a:r>
                  <a:rPr lang="en-US" sz="2000" dirty="0">
                    <a:latin typeface="Verdana" panose="020B0604030504040204" pitchFamily="34" charset="0"/>
                    <a:ea typeface="Verdana" panose="020B0604030504040204" pitchFamily="34" charset="0"/>
                    <a:cs typeface="Verdana" panose="020B0604030504040204" pitchFamily="34" charset="0"/>
                  </a:rPr>
                  <a:t>     data.</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Determine the mean of the data set.</a:t>
                </a:r>
                <a:r>
                  <a:rPr lang="en-US" sz="2000" i="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Then, draw an arrow (</a:t>
                </a:r>
                <a14:m>
                  <m:oMath xmlns:m="http://schemas.openxmlformats.org/officeDocument/2006/math">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below the number line that points to this value.</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Determine the median of the data set.</a:t>
                </a:r>
                <a:r>
                  <a:rPr lang="en-US" sz="2000" i="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Then, circle the value on the number line that represents this value.</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206500" y="374090"/>
                <a:ext cx="9128401" cy="5016758"/>
              </a:xfrm>
              <a:prstGeom prst="rect">
                <a:avLst/>
              </a:prstGeom>
              <a:blipFill rotWithShape="0">
                <a:blip r:embed="rId3"/>
                <a:stretch>
                  <a:fillRect b="-1215"/>
                </a:stretch>
              </a:blipFill>
            </p:spPr>
            <p:txBody>
              <a:bodyPr/>
              <a:lstStyle/>
              <a:p>
                <a:r>
                  <a:rPr lang="en-US">
                    <a:noFill/>
                  </a:rPr>
                  <a:t> </a:t>
                </a:r>
              </a:p>
            </p:txBody>
          </p:sp>
        </mc:Fallback>
      </mc:AlternateContent>
      <p:pic>
        <p:nvPicPr>
          <p:cNvPr id="6" name="Picture 5" descr="Chart, scatter chart&#10;&#10;Description automatically generated">
            <a:extLst>
              <a:ext uri="{FF2B5EF4-FFF2-40B4-BE49-F238E27FC236}">
                <a16:creationId xmlns:a16="http://schemas.microsoft.com/office/drawing/2014/main" id="{667BE35B-658A-1D47-BA7F-17D0638422F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792686" y="80547"/>
            <a:ext cx="3824140" cy="2291387"/>
          </a:xfrm>
          <a:prstGeom prst="rect">
            <a:avLst/>
          </a:prstGeom>
        </p:spPr>
      </p:pic>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473200" y="374089"/>
            <a:ext cx="8861701" cy="5016758"/>
          </a:xfrm>
          <a:prstGeom prst="rect">
            <a:avLst/>
          </a:prstGeom>
          <a:noFill/>
        </p:spPr>
        <p:txBody>
          <a:bodyPr wrap="square" rtlCol="0">
            <a:spAutoFit/>
          </a:bodyPr>
          <a:lstStyle/>
          <a:p>
            <a:pPr marL="4572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a:t>
            </a:r>
          </a:p>
          <a:p>
            <a:pPr marL="469900"/>
            <a:r>
              <a:rPr lang="en-US" sz="2000" dirty="0">
                <a:latin typeface="Verdana" panose="020B0604030504040204" pitchFamily="34" charset="0"/>
                <a:ea typeface="Verdana" panose="020B0604030504040204" pitchFamily="34" charset="0"/>
                <a:cs typeface="Verdana" panose="020B0604030504040204" pitchFamily="34" charset="0"/>
              </a:rPr>
              <a:t>     what you notice about the </a:t>
            </a:r>
          </a:p>
          <a:p>
            <a:pPr marL="469900"/>
            <a:r>
              <a:rPr lang="en-US" sz="2000" dirty="0">
                <a:latin typeface="Verdana" panose="020B0604030504040204" pitchFamily="34" charset="0"/>
                <a:ea typeface="Verdana" panose="020B0604030504040204" pitchFamily="34" charset="0"/>
                <a:cs typeface="Verdana" panose="020B0604030504040204" pitchFamily="34" charset="0"/>
              </a:rPr>
              <a:t>     mean and the median of the</a:t>
            </a:r>
          </a:p>
          <a:p>
            <a:pPr marL="469900"/>
            <a:r>
              <a:rPr lang="en-US" sz="2000" dirty="0">
                <a:latin typeface="Verdana" panose="020B0604030504040204" pitchFamily="34" charset="0"/>
                <a:ea typeface="Verdana" panose="020B0604030504040204" pitchFamily="34" charset="0"/>
                <a:cs typeface="Verdana" panose="020B0604030504040204" pitchFamily="34" charset="0"/>
              </a:rPr>
              <a:t>     data. Summarize your </a:t>
            </a:r>
          </a:p>
          <a:p>
            <a:pPr marL="469900"/>
            <a:r>
              <a:rPr lang="en-US" sz="2000" dirty="0">
                <a:latin typeface="Verdana" panose="020B0604030504040204" pitchFamily="34" charset="0"/>
                <a:ea typeface="Verdana" panose="020B0604030504040204" pitchFamily="34" charset="0"/>
                <a:cs typeface="Verdana" panose="020B0604030504040204" pitchFamily="34" charset="0"/>
              </a:rPr>
              <a:t>     discussion.</a:t>
            </a:r>
          </a:p>
          <a:p>
            <a:pPr marL="919163">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What is the range of the data?</a:t>
            </a: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49263">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Find the interquartile range (IQR).</a:t>
            </a:r>
          </a:p>
        </p:txBody>
      </p:sp>
      <p:graphicFrame>
        <p:nvGraphicFramePr>
          <p:cNvPr id="2" name="Table 1">
            <a:extLst>
              <a:ext uri="{FF2B5EF4-FFF2-40B4-BE49-F238E27FC236}">
                <a16:creationId xmlns:a16="http://schemas.microsoft.com/office/drawing/2014/main" id="{9F46BE54-D656-DA4A-B87A-2F4D5A84FE40}"/>
              </a:ext>
            </a:extLst>
          </p:cNvPr>
          <p:cNvGraphicFramePr>
            <a:graphicFrameLocks noGrp="1"/>
          </p:cNvGraphicFramePr>
          <p:nvPr>
            <p:extLst>
              <p:ext uri="{D42A27DB-BD31-4B8C-83A1-F6EECF244321}">
                <p14:modId xmlns:p14="http://schemas.microsoft.com/office/powerpoint/2010/main" val="2527912031"/>
              </p:ext>
            </p:extLst>
          </p:nvPr>
        </p:nvGraphicFramePr>
        <p:xfrm>
          <a:off x="2463587" y="5538905"/>
          <a:ext cx="5911850" cy="1118870"/>
        </p:xfrm>
        <a:graphic>
          <a:graphicData uri="http://schemas.openxmlformats.org/drawingml/2006/table">
            <a:tbl>
              <a:tblPr firstRow="1" firstCol="1" bandRow="1">
                <a:tableStyleId>{A91F0D33-8C57-4600-99A7-42BC86742BE1}</a:tableStyleId>
              </a:tblPr>
              <a:tblGrid>
                <a:gridCol w="1962785">
                  <a:extLst>
                    <a:ext uri="{9D8B030D-6E8A-4147-A177-3AD203B41FA5}">
                      <a16:colId xmlns:a16="http://schemas.microsoft.com/office/drawing/2014/main" val="1978140983"/>
                    </a:ext>
                  </a:extLst>
                </a:gridCol>
                <a:gridCol w="1962785">
                  <a:extLst>
                    <a:ext uri="{9D8B030D-6E8A-4147-A177-3AD203B41FA5}">
                      <a16:colId xmlns:a16="http://schemas.microsoft.com/office/drawing/2014/main" val="1506030757"/>
                    </a:ext>
                  </a:extLst>
                </a:gridCol>
                <a:gridCol w="1986280">
                  <a:extLst>
                    <a:ext uri="{9D8B030D-6E8A-4147-A177-3AD203B41FA5}">
                      <a16:colId xmlns:a16="http://schemas.microsoft.com/office/drawing/2014/main" val="3488738472"/>
                    </a:ext>
                  </a:extLst>
                </a:gridCol>
              </a:tblGrid>
              <a:tr h="4394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Q1</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Q3</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IQR</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62894376"/>
                  </a:ext>
                </a:extLst>
              </a:tr>
              <a:tr h="679450">
                <a:tc>
                  <a:txBody>
                    <a:bodyPr/>
                    <a:lstStyle/>
                    <a:p>
                      <a:pPr marL="0" marR="0" algn="ctr">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0658446"/>
                  </a:ext>
                </a:extLst>
              </a:tr>
            </a:tbl>
          </a:graphicData>
        </a:graphic>
      </p:graphicFrame>
      <p:pic>
        <p:nvPicPr>
          <p:cNvPr id="8" name="Picture 7" descr="Chart, scatter chart&#10;&#10;Description automatically generated">
            <a:extLst>
              <a:ext uri="{FF2B5EF4-FFF2-40B4-BE49-F238E27FC236}">
                <a16:creationId xmlns:a16="http://schemas.microsoft.com/office/drawing/2014/main" id="{4934C28C-E4B7-FA40-A93E-66EE1424F0F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68514" y="200226"/>
            <a:ext cx="3648313" cy="2186033"/>
          </a:xfrm>
          <a:prstGeom prst="rect">
            <a:avLst/>
          </a:prstGeom>
        </p:spPr>
      </p:pic>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47146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244600" y="374090"/>
                <a:ext cx="9853466" cy="286232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Imagine that the fastest time of </a:t>
                </a:r>
                <a14:m>
                  <m:oMath xmlns:m="http://schemas.openxmlformats.org/officeDocument/2006/math">
                    <m:r>
                      <a:rPr lang="en-US" sz="2000" i="1">
                        <a:latin typeface="Cambria Math" panose="02040503050406030204" pitchFamily="18" charset="0"/>
                        <a:ea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minutes was removed from the data set. Discuss with your partner what effect, if any, removing this value has on the values of center and variation (mean, median, range, IQR). Summarize your discussion.</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How does the shape of the graph change after </a:t>
                </a:r>
                <a14:m>
                  <m:oMath xmlns:m="http://schemas.openxmlformats.org/officeDocument/2006/math">
                    <m:r>
                      <a:rPr lang="en-US" sz="2000" i="1">
                        <a:latin typeface="Cambria Math" panose="02040503050406030204" pitchFamily="18" charset="0"/>
                        <a:ea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is removed? </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244600" y="374090"/>
                <a:ext cx="9853466" cy="2862322"/>
              </a:xfrm>
              <a:prstGeom prst="rect">
                <a:avLst/>
              </a:prstGeom>
              <a:blipFill rotWithShape="0">
                <a:blip r:embed="rId3"/>
                <a:stretch>
                  <a:fillRect l="-680" t="-1277" b="-2979"/>
                </a:stretch>
              </a:blipFill>
            </p:spPr>
            <p:txBody>
              <a:bodyPr/>
              <a:lstStyle/>
              <a:p>
                <a:r>
                  <a:rPr lang="en-US">
                    <a:noFill/>
                  </a:rPr>
                  <a:t> </a:t>
                </a:r>
              </a:p>
            </p:txBody>
          </p:sp>
        </mc:Fallback>
      </mc:AlternateContent>
      <p:sp>
        <p:nvSpPr>
          <p:cNvPr id="6"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1168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2007765" y="374089"/>
            <a:ext cx="8327136" cy="400110"/>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Compare the new values with the original values.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5969436-C678-0049-B509-4B9262F9D8CD}"/>
                  </a:ext>
                </a:extLst>
              </p:cNvPr>
              <p:cNvGraphicFramePr>
                <a:graphicFrameLocks noGrp="1"/>
              </p:cNvGraphicFramePr>
              <p:nvPr>
                <p:extLst>
                  <p:ext uri="{D42A27DB-BD31-4B8C-83A1-F6EECF244321}">
                    <p14:modId xmlns:p14="http://schemas.microsoft.com/office/powerpoint/2010/main" val="3134387684"/>
                  </p:ext>
                </p:extLst>
              </p:nvPr>
            </p:nvGraphicFramePr>
            <p:xfrm>
              <a:off x="2222410" y="919615"/>
              <a:ext cx="7520758" cy="3487865"/>
            </p:xfrm>
            <a:graphic>
              <a:graphicData uri="http://schemas.openxmlformats.org/drawingml/2006/table">
                <a:tbl>
                  <a:tblPr firstRow="1" firstCol="1" bandRow="1">
                    <a:tableStyleId>{A91F0D33-8C57-4600-99A7-42BC86742BE1}</a:tableStyleId>
                  </a:tblPr>
                  <a:tblGrid>
                    <a:gridCol w="1358249">
                      <a:extLst>
                        <a:ext uri="{9D8B030D-6E8A-4147-A177-3AD203B41FA5}">
                          <a16:colId xmlns:a16="http://schemas.microsoft.com/office/drawing/2014/main" val="3935556379"/>
                        </a:ext>
                      </a:extLst>
                    </a:gridCol>
                    <a:gridCol w="2293831">
                      <a:extLst>
                        <a:ext uri="{9D8B030D-6E8A-4147-A177-3AD203B41FA5}">
                          <a16:colId xmlns:a16="http://schemas.microsoft.com/office/drawing/2014/main" val="448020995"/>
                        </a:ext>
                      </a:extLst>
                    </a:gridCol>
                    <a:gridCol w="1896735">
                      <a:extLst>
                        <a:ext uri="{9D8B030D-6E8A-4147-A177-3AD203B41FA5}">
                          <a16:colId xmlns:a16="http://schemas.microsoft.com/office/drawing/2014/main" val="3078653238"/>
                        </a:ext>
                      </a:extLst>
                    </a:gridCol>
                    <a:gridCol w="1971943">
                      <a:extLst>
                        <a:ext uri="{9D8B030D-6E8A-4147-A177-3AD203B41FA5}">
                          <a16:colId xmlns:a16="http://schemas.microsoft.com/office/drawing/2014/main" val="978026203"/>
                        </a:ext>
                      </a:extLst>
                    </a:gridCol>
                  </a:tblGrid>
                  <a:tr h="663575">
                    <a:tc>
                      <a:txBody>
                        <a:bodyPr/>
                        <a:lstStyle/>
                        <a:p>
                          <a:pPr marL="0" marR="0" algn="ctr">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Value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b="1">
                                    <a:effectLst/>
                                    <a:latin typeface="Cambria Math" panose="02040503050406030204" pitchFamily="18" charset="0"/>
                                  </a:rPr>
                                  <m:t>&gt;,&lt;,=</m:t>
                                </m:r>
                              </m:oMath>
                            </m:oMathPara>
                          </a14:m>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New Value after </a:t>
                          </a:r>
                          <a14:m>
                            <m:oMath xmlns:m="http://schemas.openxmlformats.org/officeDocument/2006/math">
                              <m:r>
                                <a:rPr lang="en-US" sz="1800" b="1">
                                  <a:effectLst/>
                                  <a:latin typeface="Cambria Math" panose="02040503050406030204" pitchFamily="18" charset="0"/>
                                  <a:ea typeface="Cambria Math" panose="02040503050406030204" pitchFamily="18" charset="0"/>
                                </a:rPr>
                                <m:t>𝟐</m:t>
                              </m:r>
                              <m:r>
                                <a:rPr lang="en-US" sz="1800" b="1">
                                  <a:effectLst/>
                                  <a:latin typeface="Cambria Math" panose="02040503050406030204" pitchFamily="18" charset="0"/>
                                </a:rPr>
                                <m:t> </m:t>
                              </m:r>
                            </m:oMath>
                          </a14:m>
                          <a:r>
                            <a:rPr lang="en-US" sz="1800" b="1" dirty="0">
                              <a:effectLst/>
                              <a:latin typeface="Verdana" panose="020B0604030504040204" pitchFamily="34" charset="0"/>
                              <a:ea typeface="Verdana" panose="020B0604030504040204" pitchFamily="34" charset="0"/>
                              <a:cs typeface="Verdana" panose="020B0604030504040204" pitchFamily="34" charset="0"/>
                            </a:rPr>
                            <a:t>is Removed</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327200119"/>
                      </a:ext>
                    </a:extLst>
                  </a:tr>
                  <a:tr h="66357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Mean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9151242"/>
                      </a:ext>
                    </a:extLst>
                  </a:tr>
                  <a:tr h="6426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Median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844903"/>
                      </a:ext>
                    </a:extLst>
                  </a:tr>
                  <a:tr h="66357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Range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977516"/>
                      </a:ext>
                    </a:extLst>
                  </a:tr>
                  <a:tr h="66357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IQR</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1243196"/>
                      </a:ext>
                    </a:extLst>
                  </a:tr>
                </a:tbl>
              </a:graphicData>
            </a:graphic>
          </p:graphicFrame>
        </mc:Choice>
        <mc:Fallback xmlns="">
          <p:graphicFrame>
            <p:nvGraphicFramePr>
              <p:cNvPr id="2" name="Table 1">
                <a:extLst>
                  <a:ext uri="{FF2B5EF4-FFF2-40B4-BE49-F238E27FC236}">
                    <a16:creationId xmlns:a16="http://schemas.microsoft.com/office/drawing/2014/main" id="{15969436-C678-0049-B509-4B9262F9D8CD}"/>
                  </a:ext>
                </a:extLst>
              </p:cNvPr>
              <p:cNvGraphicFramePr>
                <a:graphicFrameLocks noGrp="1"/>
              </p:cNvGraphicFramePr>
              <p:nvPr>
                <p:extLst>
                  <p:ext uri="{D42A27DB-BD31-4B8C-83A1-F6EECF244321}">
                    <p14:modId xmlns:p14="http://schemas.microsoft.com/office/powerpoint/2010/main" val="3134387684"/>
                  </p:ext>
                </p:extLst>
              </p:nvPr>
            </p:nvGraphicFramePr>
            <p:xfrm>
              <a:off x="698410" y="919615"/>
              <a:ext cx="7520758" cy="3487865"/>
            </p:xfrm>
            <a:graphic>
              <a:graphicData uri="http://schemas.openxmlformats.org/drawingml/2006/table">
                <a:tbl>
                  <a:tblPr firstRow="1" firstCol="1" bandRow="1">
                    <a:tableStyleId>{A91F0D33-8C57-4600-99A7-42BC86742BE1}</a:tableStyleId>
                  </a:tblPr>
                  <a:tblGrid>
                    <a:gridCol w="1358249">
                      <a:extLst>
                        <a:ext uri="{9D8B030D-6E8A-4147-A177-3AD203B41FA5}">
                          <a16:colId xmlns:a16="http://schemas.microsoft.com/office/drawing/2014/main" val="3935556379"/>
                        </a:ext>
                      </a:extLst>
                    </a:gridCol>
                    <a:gridCol w="2293831">
                      <a:extLst>
                        <a:ext uri="{9D8B030D-6E8A-4147-A177-3AD203B41FA5}">
                          <a16:colId xmlns:a16="http://schemas.microsoft.com/office/drawing/2014/main" val="448020995"/>
                        </a:ext>
                      </a:extLst>
                    </a:gridCol>
                    <a:gridCol w="1896735">
                      <a:extLst>
                        <a:ext uri="{9D8B030D-6E8A-4147-A177-3AD203B41FA5}">
                          <a16:colId xmlns:a16="http://schemas.microsoft.com/office/drawing/2014/main" val="3078653238"/>
                        </a:ext>
                      </a:extLst>
                    </a:gridCol>
                    <a:gridCol w="1971943">
                      <a:extLst>
                        <a:ext uri="{9D8B030D-6E8A-4147-A177-3AD203B41FA5}">
                          <a16:colId xmlns:a16="http://schemas.microsoft.com/office/drawing/2014/main" val="978026203"/>
                        </a:ext>
                      </a:extLst>
                    </a:gridCol>
                  </a:tblGrid>
                  <a:tr h="854520">
                    <a:tc>
                      <a:txBody>
                        <a:bodyPr/>
                        <a:lstStyle/>
                        <a:p>
                          <a:pPr marL="0" marR="0" algn="ctr">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Original Value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2000" t="-10294" r="-104667" b="-30735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0769" t="-10294" r="-641" b="-307353"/>
                          </a:stretch>
                        </a:blipFill>
                      </a:tcPr>
                    </a:tc>
                    <a:extLst>
                      <a:ext uri="{0D108BD9-81ED-4DB2-BD59-A6C34878D82A}">
                        <a16:rowId xmlns:a16="http://schemas.microsoft.com/office/drawing/2014/main" val="3327200119"/>
                      </a:ext>
                    </a:extLst>
                  </a:tr>
                  <a:tr h="66357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Mean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9151242"/>
                      </a:ext>
                    </a:extLst>
                  </a:tr>
                  <a:tr h="6426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Median</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844903"/>
                      </a:ext>
                    </a:extLst>
                  </a:tr>
                  <a:tr h="66357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Range</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977516"/>
                      </a:ext>
                    </a:extLst>
                  </a:tr>
                  <a:tr h="663575">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IQR</a:t>
                          </a:r>
                          <a:endParaRPr lang="en-US"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rPr>
                            <a:t> </a:t>
                          </a:r>
                          <a:endParaRPr lang="en-US" sz="16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rPr>
                            <a:t> </a:t>
                          </a:r>
                          <a:endParaRPr lang="en-US" sz="16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1243196"/>
                      </a:ext>
                    </a:extLst>
                  </a:tr>
                </a:tbl>
              </a:graphicData>
            </a:graphic>
          </p:graphicFrame>
        </mc:Fallback>
      </mc:AlternateContent>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111</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91164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2007765" y="374089"/>
            <a:ext cx="8327136" cy="3385542"/>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Which measure(s) of center will be affected if the outlier is removed?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Which measure(s) of variation will be affected if the outlier is removed?</a:t>
            </a:r>
          </a:p>
          <a:p>
            <a:pPr lvl="0"/>
            <a:endParaRPr lang="en-US" dirty="0"/>
          </a:p>
        </p:txBody>
      </p:sp>
      <p:sp>
        <p:nvSpPr>
          <p:cNvPr id="7" name="Rounded Rectangle 6">
            <a:extLst>
              <a:ext uri="{FF2B5EF4-FFF2-40B4-BE49-F238E27FC236}">
                <a16:creationId xmlns:a16="http://schemas.microsoft.com/office/drawing/2014/main" id="{E7687C78-6F5D-FB4E-B711-21A0A31225CB}"/>
              </a:ext>
            </a:extLst>
          </p:cNvPr>
          <p:cNvSpPr/>
          <p:nvPr/>
        </p:nvSpPr>
        <p:spPr>
          <a:xfrm>
            <a:off x="2516779" y="1193136"/>
            <a:ext cx="4290241" cy="1027612"/>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median</a:t>
            </a: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both the mean and median</a:t>
            </a:r>
          </a:p>
        </p:txBody>
      </p:sp>
      <p:sp>
        <p:nvSpPr>
          <p:cNvPr id="8" name="Rounded Rectangle 7">
            <a:extLst>
              <a:ext uri="{FF2B5EF4-FFF2-40B4-BE49-F238E27FC236}">
                <a16:creationId xmlns:a16="http://schemas.microsoft.com/office/drawing/2014/main" id="{A04405D1-B8FC-854C-8D29-1215D2682FD7}"/>
              </a:ext>
            </a:extLst>
          </p:cNvPr>
          <p:cNvSpPr/>
          <p:nvPr/>
        </p:nvSpPr>
        <p:spPr>
          <a:xfrm>
            <a:off x="2516779" y="3634287"/>
            <a:ext cx="6083935" cy="112059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interquartile range</a:t>
            </a:r>
          </a:p>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both the range and the interquartile range</a:t>
            </a:r>
          </a:p>
        </p:txBody>
      </p:sp>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111</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69041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06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64150" y="2854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54B5D1"/>
                </a:solidFill>
                <a:latin typeface="Verdana"/>
                <a:ea typeface="Verdana"/>
                <a:cs typeface="Verdana"/>
                <a:sym typeface="Verdana"/>
              </a:rPr>
              <a:t>10.2.3 Bring It Together: Outlier Effects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1905000" y="1386025"/>
                <a:ext cx="8482584" cy="523220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 to describe the effect the outlier, </a:t>
                </a:r>
                <a14:m>
                  <m:oMath xmlns:m="http://schemas.openxmlformats.org/officeDocument/2006/math">
                    <m:r>
                      <a:rPr lang="en-US" sz="2000" i="1">
                        <a:latin typeface="Cambria Math" panose="02040503050406030204" pitchFamily="18" charset="0"/>
                        <a:ea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has on each measure of center or variation. </a:t>
                </a:r>
              </a:p>
              <a:p>
                <a:r>
                  <a:rPr lang="en-US" i="1" dirty="0"/>
                  <a:t> </a:t>
                </a:r>
                <a:endParaRPr lang="en-US" dirty="0"/>
              </a:p>
              <a:p>
                <a:pPr marL="914400" indent="-4572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does not have a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tabLst>
                    <a:tab pos="906463" algn="l"/>
                  </a:tabLst>
                </a:pPr>
                <a:r>
                  <a:rPr lang="en-US" sz="2000" dirty="0">
                    <a:latin typeface="Verdana" panose="020B0604030504040204" pitchFamily="34" charset="0"/>
                    <a:ea typeface="Verdana" panose="020B0604030504040204" pitchFamily="34" charset="0"/>
                    <a:cs typeface="Verdana" panose="020B0604030504040204" pitchFamily="34" charset="0"/>
                  </a:rPr>
                  <a:t>significant effect on the 			 </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will change, often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significantly, the value of the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does not have a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indent="914400"/>
                <a:r>
                  <a:rPr lang="en-US" sz="2000" dirty="0">
                    <a:latin typeface="Verdana" panose="020B0604030504040204" pitchFamily="34" charset="0"/>
                    <a:ea typeface="Verdana" panose="020B0604030504040204" pitchFamily="34" charset="0"/>
                    <a:cs typeface="Verdana" panose="020B0604030504040204" pitchFamily="34" charset="0"/>
                  </a:rPr>
                  <a:t>significant effect on the 			 </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1905000" y="1386025"/>
                <a:ext cx="8482584" cy="5232202"/>
              </a:xfrm>
              <a:prstGeom prst="rect">
                <a:avLst/>
              </a:prstGeom>
              <a:blipFill rotWithShape="0">
                <a:blip r:embed="rId3"/>
                <a:stretch>
                  <a:fillRect l="-791" t="-698"/>
                </a:stretch>
              </a:blipFill>
            </p:spPr>
            <p:txBody>
              <a:bodyPr/>
              <a:lstStyle/>
              <a:p>
                <a:r>
                  <a:rPr lang="en-US">
                    <a:noFill/>
                  </a:rPr>
                  <a:t> </a:t>
                </a:r>
              </a:p>
            </p:txBody>
          </p:sp>
        </mc:Fallback>
      </mc:AlternateContent>
      <p:pic>
        <p:nvPicPr>
          <p:cNvPr id="10" name="Picture 2" descr="Icon&#10;&#10;Description automatically generated">
            <a:extLst>
              <a:ext uri="{FF2B5EF4-FFF2-40B4-BE49-F238E27FC236}">
                <a16:creationId xmlns:a16="http://schemas.microsoft.com/office/drawing/2014/main" id="{2375E889-EE73-6348-B442-A413C5A27F4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2428" y="14144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Rounded Rectangle 8">
            <a:extLst>
              <a:ext uri="{FF2B5EF4-FFF2-40B4-BE49-F238E27FC236}">
                <a16:creationId xmlns:a16="http://schemas.microsoft.com/office/drawing/2014/main" id="{0A74E418-9576-E142-9017-891D45FF8560}"/>
              </a:ext>
            </a:extLst>
          </p:cNvPr>
          <p:cNvSpPr/>
          <p:nvPr/>
        </p:nvSpPr>
        <p:spPr>
          <a:xfrm>
            <a:off x="6166082" y="2709755"/>
            <a:ext cx="1635806" cy="707886"/>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median.</a:t>
            </a:r>
          </a:p>
        </p:txBody>
      </p:sp>
      <p:sp>
        <p:nvSpPr>
          <p:cNvPr id="13" name="Rounded Rectangle 12">
            <a:extLst>
              <a:ext uri="{FF2B5EF4-FFF2-40B4-BE49-F238E27FC236}">
                <a16:creationId xmlns:a16="http://schemas.microsoft.com/office/drawing/2014/main" id="{C50F4090-DA18-F142-8B3C-9773F33819CB}"/>
              </a:ext>
            </a:extLst>
          </p:cNvPr>
          <p:cNvSpPr/>
          <p:nvPr/>
        </p:nvSpPr>
        <p:spPr>
          <a:xfrm>
            <a:off x="6881069" y="4229772"/>
            <a:ext cx="1635806" cy="707886"/>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median.</a:t>
            </a:r>
          </a:p>
        </p:txBody>
      </p:sp>
      <p:sp>
        <p:nvSpPr>
          <p:cNvPr id="14" name="Rounded Rectangle 13">
            <a:extLst>
              <a:ext uri="{FF2B5EF4-FFF2-40B4-BE49-F238E27FC236}">
                <a16:creationId xmlns:a16="http://schemas.microsoft.com/office/drawing/2014/main" id="{095B24D4-36E7-4147-BEC7-C3F1D551A2C8}"/>
              </a:ext>
            </a:extLst>
          </p:cNvPr>
          <p:cNvSpPr/>
          <p:nvPr/>
        </p:nvSpPr>
        <p:spPr>
          <a:xfrm>
            <a:off x="6166082" y="5728938"/>
            <a:ext cx="1532890" cy="77533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
        <p:nvSpPr>
          <p:cNvPr id="11"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111</a:t>
            </a:r>
            <a:endParaRPr i="1" dirty="0">
              <a:latin typeface="Calibri"/>
              <a:ea typeface="Calibri"/>
              <a:cs typeface="Calibri"/>
              <a:sym typeface="Calibri"/>
            </a:endParaRPr>
          </a:p>
        </p:txBody>
      </p:sp>
      <p:pic>
        <p:nvPicPr>
          <p:cNvPr id="15"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A08C1C0E-C7C0-F14B-88E2-57B6133AD69D}"/>
              </a:ext>
            </a:extLst>
          </p:cNvPr>
          <p:cNvSpPr txBox="1"/>
          <p:nvPr/>
        </p:nvSpPr>
        <p:spPr>
          <a:xfrm>
            <a:off x="1932432" y="435050"/>
            <a:ext cx="8327136" cy="1015663"/>
          </a:xfrm>
          <a:prstGeom prst="rect">
            <a:avLst/>
          </a:prstGeom>
          <a:noFill/>
        </p:spPr>
        <p:txBody>
          <a:bodyPr wrap="square" rtlCol="0">
            <a:spAutoFit/>
          </a:bodyPr>
          <a:lstStyle/>
          <a:p>
            <a:pPr marL="914400" indent="-4572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will change, often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indent="914400"/>
            <a:r>
              <a:rPr lang="en-US" sz="2000" dirty="0">
                <a:latin typeface="Verdana" panose="020B0604030504040204" pitchFamily="34" charset="0"/>
                <a:ea typeface="Verdana" panose="020B0604030504040204" pitchFamily="34" charset="0"/>
                <a:cs typeface="Verdana" panose="020B0604030504040204" pitchFamily="34" charset="0"/>
              </a:rPr>
              <a:t>significantly, the value of the	 </a:t>
            </a:r>
          </a:p>
        </p:txBody>
      </p:sp>
      <p:sp>
        <p:nvSpPr>
          <p:cNvPr id="6" name="Rounded Rectangle 5">
            <a:extLst>
              <a:ext uri="{FF2B5EF4-FFF2-40B4-BE49-F238E27FC236}">
                <a16:creationId xmlns:a16="http://schemas.microsoft.com/office/drawing/2014/main" id="{8196D004-6053-174F-8A18-2AC0273CD81E}"/>
              </a:ext>
            </a:extLst>
          </p:cNvPr>
          <p:cNvSpPr/>
          <p:nvPr/>
        </p:nvSpPr>
        <p:spPr>
          <a:xfrm>
            <a:off x="6803376" y="942881"/>
            <a:ext cx="1532890" cy="77533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
        <p:nvSpPr>
          <p:cNvPr id="7" name="Rounded Rectangle 6">
            <a:extLst>
              <a:ext uri="{FF2B5EF4-FFF2-40B4-BE49-F238E27FC236}">
                <a16:creationId xmlns:a16="http://schemas.microsoft.com/office/drawing/2014/main" id="{6ED721D8-DC16-F24D-A340-93156BBD5E04}"/>
              </a:ext>
            </a:extLst>
          </p:cNvPr>
          <p:cNvSpPr/>
          <p:nvPr/>
        </p:nvSpPr>
        <p:spPr>
          <a:xfrm>
            <a:off x="2575016" y="4502837"/>
            <a:ext cx="7041969" cy="1757317"/>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When outliers are present or a distribution is skewed, the ____________ is the preferred measure of center and the _________ is the preferred measure of variation to describe the distribution.</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marL="742950" indent="2971800">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p:txBody>
      </p:sp>
      <p:pic>
        <p:nvPicPr>
          <p:cNvPr id="8" name="Shape 27" descr="Icon&#10;&#10;Description automatically generated">
            <a:extLst>
              <a:ext uri="{FF2B5EF4-FFF2-40B4-BE49-F238E27FC236}">
                <a16:creationId xmlns:a16="http://schemas.microsoft.com/office/drawing/2014/main" id="{EB8F5A4F-9D88-AD44-9B1F-089D7EDBC477}"/>
              </a:ext>
            </a:extLst>
          </p:cNvPr>
          <p:cNvPicPr/>
          <p:nvPr/>
        </p:nvPicPr>
        <p:blipFill rotWithShape="1">
          <a:blip r:embed="rId3" cstate="screen">
            <a:alphaModFix/>
            <a:extLst>
              <a:ext uri="{28A0092B-C50C-407E-A947-70E740481C1C}">
                <a14:useLocalDpi xmlns:a14="http://schemas.microsoft.com/office/drawing/2010/main"/>
              </a:ext>
            </a:extLst>
          </a:blip>
          <a:srcRect/>
          <a:stretch/>
        </p:blipFill>
        <p:spPr>
          <a:xfrm>
            <a:off x="2795542" y="4622485"/>
            <a:ext cx="539750" cy="539115"/>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72273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2701"/>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45684" y="-83591"/>
            <a:ext cx="1020021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10.2.4 Guided Practice: Data Outliers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95876" y="1713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1282700" y="1386025"/>
                <a:ext cx="9882632" cy="501675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Zoe needed exact change to purchase a snack and a drink from the vending machine. She asked her friends how much change, in dollars, they had and listed the results.  </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0.15, 0.15, 0.20, 0.25, 0.25, 0.30, 0.30, 0.30, 0.35, 0.75, 0.85</m:t>
                      </m:r>
                    </m:oMath>
                  </m:oMathPara>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data?</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Will the mean be higher, lower, or approximately the same as the median? Explain your reasoning or justify your answer by showing your work.</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1282700" y="1386025"/>
                <a:ext cx="9882632" cy="5016758"/>
              </a:xfrm>
              <a:prstGeom prst="rect">
                <a:avLst/>
              </a:prstGeom>
              <a:blipFill rotWithShape="0">
                <a:blip r:embed="rId4"/>
                <a:stretch>
                  <a:fillRect l="-678" t="-729"/>
                </a:stretch>
              </a:blipFill>
            </p:spPr>
            <p:txBody>
              <a:bodyPr/>
              <a:lstStyle/>
              <a:p>
                <a:r>
                  <a:rPr lang="en-US">
                    <a:noFill/>
                  </a:rPr>
                  <a:t> </a:t>
                </a:r>
              </a:p>
            </p:txBody>
          </p:sp>
        </mc:Fallback>
      </mc:AlternateContent>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244600" y="386282"/>
                <a:ext cx="9702800" cy="5847755"/>
              </a:xfrm>
              <a:prstGeom prst="rect">
                <a:avLst/>
              </a:prstGeom>
              <a:noFill/>
            </p:spPr>
            <p:txBody>
              <a:bodyPr wrap="square" rtlCol="0">
                <a:spAutoFit/>
              </a:bodyPr>
              <a:lstStyle/>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Describe the impact of removing </a:t>
                </a:r>
                <a14:m>
                  <m:oMath xmlns:m="http://schemas.openxmlformats.org/officeDocument/2006/math">
                    <m:r>
                      <a:rPr lang="en-US" sz="2000" i="1">
                        <a:latin typeface="Cambria Math" panose="02040503050406030204" pitchFamily="18" charset="0"/>
                        <a:ea typeface="Cambria Math" panose="02040503050406030204" pitchFamily="18" charset="0"/>
                      </a:rPr>
                      <m:t>0.85</m:t>
                    </m:r>
                  </m:oMath>
                </a14:m>
                <a:r>
                  <a:rPr lang="en-US" sz="2000" dirty="0">
                    <a:latin typeface="Verdana" panose="020B0604030504040204" pitchFamily="34" charset="0"/>
                    <a:ea typeface="Verdana" panose="020B0604030504040204" pitchFamily="34" charset="0"/>
                    <a:cs typeface="Verdana" panose="020B0604030504040204" pitchFamily="34" charset="0"/>
                  </a:rPr>
                  <a:t> from the data set.</a:t>
                </a: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The values </a:t>
                </a:r>
                <a14:m>
                  <m:oMath xmlns:m="http://schemas.openxmlformats.org/officeDocument/2006/math">
                    <m:r>
                      <a:rPr lang="en-US" sz="2000" i="1">
                        <a:latin typeface="Cambria Math" panose="02040503050406030204" pitchFamily="18" charset="0"/>
                        <a:ea typeface="Cambria Math" panose="02040503050406030204" pitchFamily="18" charset="0"/>
                      </a:rPr>
                      <m:t>0.85</m:t>
                    </m:r>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 are outliers in this data set. What happens to the range if </a:t>
                </a:r>
                <a14:m>
                  <m:oMath xmlns:m="http://schemas.openxmlformats.org/officeDocument/2006/math">
                    <m:r>
                      <a:rPr lang="en-US" sz="2000" i="1">
                        <a:latin typeface="Cambria Math" panose="02040503050406030204" pitchFamily="18" charset="0"/>
                        <a:ea typeface="Cambria Math" panose="02040503050406030204" pitchFamily="18" charset="0"/>
                      </a:rPr>
                      <m:t>0.85</m:t>
                    </m:r>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0.75</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were both removed from the data set?</a:t>
                </a: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The IQR of the full data set is _________. </a:t>
                </a:r>
              </a:p>
              <a:p>
                <a:pPr marL="914400" indent="-449263"/>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The IQR with </a:t>
                </a:r>
                <a14:m>
                  <m:oMath xmlns:m="http://schemas.openxmlformats.org/officeDocument/2006/math">
                    <m:r>
                      <a:rPr lang="en-US" sz="2000" i="1">
                        <a:latin typeface="Cambria Math" panose="02040503050406030204" pitchFamily="18" charset="0"/>
                        <a:ea typeface="Cambria Math" panose="02040503050406030204" pitchFamily="18" charset="0"/>
                      </a:rPr>
                      <m:t>0.85</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 removed is __________.</a:t>
                </a:r>
              </a:p>
              <a:p>
                <a:pPr marL="914400" indent="-449263"/>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Is there a big difference between the IQR of the original data set and the modified data set?</a:t>
                </a:r>
              </a:p>
              <a:p>
                <a:pPr lvl="0"/>
                <a:endParaRPr lang="en-US" dirty="0"/>
              </a:p>
            </p:txBody>
          </p:sp>
        </mc:Choice>
        <mc:Fallback xmlns="">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1244600" y="386282"/>
                <a:ext cx="9702800" cy="5847755"/>
              </a:xfrm>
              <a:prstGeom prst="rect">
                <a:avLst/>
              </a:prstGeom>
              <a:blipFill rotWithShape="0">
                <a:blip r:embed="rId3"/>
                <a:stretch>
                  <a:fillRect t="-625" r="-1131"/>
                </a:stretch>
              </a:blipFill>
            </p:spPr>
            <p:txBody>
              <a:bodyPr/>
              <a:lstStyle/>
              <a:p>
                <a:r>
                  <a:rPr lang="en-US">
                    <a:noFill/>
                  </a:rPr>
                  <a:t> </a:t>
                </a:r>
              </a:p>
            </p:txBody>
          </p:sp>
        </mc:Fallback>
      </mc:AlternateContent>
      <p:sp>
        <p:nvSpPr>
          <p:cNvPr id="6"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112</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18385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90024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474"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9246" y="60325"/>
            <a:ext cx="105618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10.2.5 Exploration: Measures of Center</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2948"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549400" y="1386025"/>
            <a:ext cx="8838184"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Consider the histogram of the lengths of female sharks.</a:t>
            </a:r>
          </a:p>
        </p:txBody>
      </p:sp>
      <p:pic>
        <p:nvPicPr>
          <p:cNvPr id="3" name="Picture 2" descr="Chart, histogram&#10;&#10;Description automatically generated">
            <a:extLst>
              <a:ext uri="{FF2B5EF4-FFF2-40B4-BE49-F238E27FC236}">
                <a16:creationId xmlns:a16="http://schemas.microsoft.com/office/drawing/2014/main" id="{A5C7C1E7-AD2B-E14A-9156-D4BAAB79AA0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34153" y="1909166"/>
            <a:ext cx="5075071" cy="4403819"/>
          </a:xfrm>
          <a:prstGeom prst="rect">
            <a:avLst/>
          </a:prstGeom>
        </p:spPr>
      </p:pic>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113</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52392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282700" y="374090"/>
            <a:ext cx="8915037" cy="5324535"/>
          </a:xfrm>
          <a:prstGeom prst="rect">
            <a:avLst/>
          </a:prstGeom>
          <a:noFill/>
        </p:spPr>
        <p:txBody>
          <a:bodyPr wrap="square" rtlCol="0">
            <a:spAutoFit/>
          </a:bodyPr>
          <a:lstStyle/>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shape of the </a:t>
            </a:r>
          </a:p>
          <a:p>
            <a:pPr marL="465137"/>
            <a:r>
              <a:rPr lang="en-US" sz="2000" dirty="0">
                <a:latin typeface="Verdana" panose="020B0604030504040204" pitchFamily="34" charset="0"/>
                <a:ea typeface="Verdana" panose="020B0604030504040204" pitchFamily="34" charset="0"/>
                <a:cs typeface="Verdana" panose="020B0604030504040204" pitchFamily="34" charset="0"/>
              </a:rPr>
              <a:t>     histogram. </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7"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Circle the value on the horizontal axis of the graph that shows the approximate location of the median of the data.</a:t>
            </a: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Draw an arrow (</a:t>
            </a:r>
            <a:r>
              <a:rPr lang="en-US" sz="2000" dirty="0">
                <a:latin typeface="Verdana" panose="020B0604030504040204" pitchFamily="34" charset="0"/>
                <a:ea typeface="Verdana" panose="020B0604030504040204" pitchFamily="34" charset="0"/>
                <a:cs typeface="Verdana" panose="020B0604030504040204" pitchFamily="34" charset="0"/>
                <a:sym typeface="Wingdings" pitchFamily="2" charset="2"/>
              </a:rPr>
              <a:t></a:t>
            </a:r>
            <a:r>
              <a:rPr lang="en-US" sz="2000" dirty="0">
                <a:latin typeface="Verdana" panose="020B0604030504040204" pitchFamily="34" charset="0"/>
                <a:ea typeface="Verdana" panose="020B0604030504040204" pitchFamily="34" charset="0"/>
                <a:cs typeface="Verdana" panose="020B0604030504040204" pitchFamily="34" charset="0"/>
              </a:rPr>
              <a:t>) on the graph to indicate the approximate location of the mean of the data.</a:t>
            </a:r>
          </a:p>
        </p:txBody>
      </p:sp>
      <p:pic>
        <p:nvPicPr>
          <p:cNvPr id="3" name="Picture 2" descr="Chart, histogram&#10;&#10;Description automatically generated">
            <a:extLst>
              <a:ext uri="{FF2B5EF4-FFF2-40B4-BE49-F238E27FC236}">
                <a16:creationId xmlns:a16="http://schemas.microsoft.com/office/drawing/2014/main" id="{92F4E329-0692-9C4A-A3AD-B0EB118D84B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38500" y="110220"/>
            <a:ext cx="3176602" cy="2756450"/>
          </a:xfrm>
          <a:prstGeom prst="rect">
            <a:avLst/>
          </a:prstGeom>
        </p:spPr>
      </p:pic>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1182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333500" y="374090"/>
            <a:ext cx="8864237" cy="1015663"/>
          </a:xfrm>
          <a:prstGeom prst="rect">
            <a:avLst/>
          </a:prstGeom>
          <a:noFill/>
        </p:spPr>
        <p:txBody>
          <a:bodyPr wrap="square" rtlCol="0">
            <a:spAutoFit/>
          </a:bodyPr>
          <a:lstStyle/>
          <a:p>
            <a:pPr marL="914400" indent="-449263">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Compare your answers to B and C with your partner’s answers. Discuss your reasoning and, if necessary, make changes.</a:t>
            </a:r>
          </a:p>
        </p:txBody>
      </p:sp>
      <p:grpSp>
        <p:nvGrpSpPr>
          <p:cNvPr id="7" name="Group 6">
            <a:extLst>
              <a:ext uri="{FF2B5EF4-FFF2-40B4-BE49-F238E27FC236}">
                <a16:creationId xmlns:a16="http://schemas.microsoft.com/office/drawing/2014/main" id="{75204DEE-4C4C-074E-AACA-F2B1FF0ECA28}"/>
              </a:ext>
            </a:extLst>
          </p:cNvPr>
          <p:cNvGrpSpPr/>
          <p:nvPr/>
        </p:nvGrpSpPr>
        <p:grpSpPr>
          <a:xfrm>
            <a:off x="2372475" y="4896103"/>
            <a:ext cx="6998426" cy="1085802"/>
            <a:chOff x="1662274" y="3275735"/>
            <a:chExt cx="6998426" cy="1085802"/>
          </a:xfrm>
        </p:grpSpPr>
        <p:grpSp>
          <p:nvGrpSpPr>
            <p:cNvPr id="8" name="Group 7">
              <a:extLst>
                <a:ext uri="{FF2B5EF4-FFF2-40B4-BE49-F238E27FC236}">
                  <a16:creationId xmlns:a16="http://schemas.microsoft.com/office/drawing/2014/main" id="{ED8FDF62-1A1F-1144-9B38-CF3A2F53C540}"/>
                </a:ext>
              </a:extLst>
            </p:cNvPr>
            <p:cNvGrpSpPr/>
            <p:nvPr/>
          </p:nvGrpSpPr>
          <p:grpSpPr>
            <a:xfrm>
              <a:off x="1662274" y="3275735"/>
              <a:ext cx="6998426" cy="1085802"/>
              <a:chOff x="1662274" y="3275735"/>
              <a:chExt cx="6998426" cy="1085802"/>
            </a:xfrm>
          </p:grpSpPr>
          <p:sp>
            <p:nvSpPr>
              <p:cNvPr id="9" name="Rectangle 8">
                <a:extLst>
                  <a:ext uri="{FF2B5EF4-FFF2-40B4-BE49-F238E27FC236}">
                    <a16:creationId xmlns:a16="http://schemas.microsoft.com/office/drawing/2014/main" id="{8FB97BDF-677A-1840-89CC-3BECAEF69952}"/>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0" name="Group 9">
                <a:extLst>
                  <a:ext uri="{FF2B5EF4-FFF2-40B4-BE49-F238E27FC236}">
                    <a16:creationId xmlns:a16="http://schemas.microsoft.com/office/drawing/2014/main" id="{284C05C6-FE4F-F74B-B45E-5E41BD470732}"/>
                  </a:ext>
                </a:extLst>
              </p:cNvPr>
              <p:cNvGrpSpPr/>
              <p:nvPr/>
            </p:nvGrpSpPr>
            <p:grpSpPr>
              <a:xfrm>
                <a:off x="1662274" y="3275735"/>
                <a:ext cx="6998426" cy="1085802"/>
                <a:chOff x="1662274" y="3275735"/>
                <a:chExt cx="6998426" cy="1085802"/>
              </a:xfrm>
            </p:grpSpPr>
            <p:sp>
              <p:nvSpPr>
                <p:cNvPr id="11" name="Rectangle 10">
                  <a:extLst>
                    <a:ext uri="{FF2B5EF4-FFF2-40B4-BE49-F238E27FC236}">
                      <a16:creationId xmlns:a16="http://schemas.microsoft.com/office/drawing/2014/main" id="{6D980135-74D5-7F4E-A97B-76F91A1BD1A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3" name="Group 12">
                  <a:extLst>
                    <a:ext uri="{FF2B5EF4-FFF2-40B4-BE49-F238E27FC236}">
                      <a16:creationId xmlns:a16="http://schemas.microsoft.com/office/drawing/2014/main" id="{69572A63-C11B-9F43-BBF6-A081B8FF8784}"/>
                    </a:ext>
                  </a:extLst>
                </p:cNvPr>
                <p:cNvGrpSpPr/>
                <p:nvPr/>
              </p:nvGrpSpPr>
              <p:grpSpPr>
                <a:xfrm>
                  <a:off x="1662274" y="3275735"/>
                  <a:ext cx="6998426" cy="1085802"/>
                  <a:chOff x="1662274" y="3275735"/>
                  <a:chExt cx="6998426" cy="1085802"/>
                </a:xfrm>
              </p:grpSpPr>
              <p:sp>
                <p:nvSpPr>
                  <p:cNvPr id="14" name="Rectangle 13">
                    <a:extLst>
                      <a:ext uri="{FF2B5EF4-FFF2-40B4-BE49-F238E27FC236}">
                        <a16:creationId xmlns:a16="http://schemas.microsoft.com/office/drawing/2014/main" id="{23DC0724-B637-294F-BFE5-04A83A421142}"/>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5" name="Group 14">
                    <a:extLst>
                      <a:ext uri="{FF2B5EF4-FFF2-40B4-BE49-F238E27FC236}">
                        <a16:creationId xmlns:a16="http://schemas.microsoft.com/office/drawing/2014/main" id="{6925EDAA-FC28-5942-BB1C-7F30B9798B08}"/>
                      </a:ext>
                    </a:extLst>
                  </p:cNvPr>
                  <p:cNvGrpSpPr/>
                  <p:nvPr/>
                </p:nvGrpSpPr>
                <p:grpSpPr>
                  <a:xfrm>
                    <a:off x="1662274" y="3275735"/>
                    <a:ext cx="6998426" cy="1085802"/>
                    <a:chOff x="-369026" y="0"/>
                    <a:chExt cx="6998426" cy="1085802"/>
                  </a:xfrm>
                </p:grpSpPr>
                <p:sp>
                  <p:nvSpPr>
                    <p:cNvPr id="16" name="Rectangle 15">
                      <a:extLst>
                        <a:ext uri="{FF2B5EF4-FFF2-40B4-BE49-F238E27FC236}">
                          <a16:creationId xmlns:a16="http://schemas.microsoft.com/office/drawing/2014/main" id="{50226A12-807A-C94A-8330-89717B0B2288}"/>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7" name="Group 16">
                      <a:extLst>
                        <a:ext uri="{FF2B5EF4-FFF2-40B4-BE49-F238E27FC236}">
                          <a16:creationId xmlns:a16="http://schemas.microsoft.com/office/drawing/2014/main" id="{89540DE4-70A7-124E-919C-E0BC488FC7CA}"/>
                        </a:ext>
                      </a:extLst>
                    </p:cNvPr>
                    <p:cNvGrpSpPr/>
                    <p:nvPr/>
                  </p:nvGrpSpPr>
                  <p:grpSpPr>
                    <a:xfrm>
                      <a:off x="-369026" y="0"/>
                      <a:ext cx="6998426" cy="1085802"/>
                      <a:chOff x="-369026" y="0"/>
                      <a:chExt cx="6998426" cy="1085802"/>
                    </a:xfrm>
                  </p:grpSpPr>
                  <p:sp>
                    <p:nvSpPr>
                      <p:cNvPr id="19" name="Rectangle 18">
                        <a:extLst>
                          <a:ext uri="{FF2B5EF4-FFF2-40B4-BE49-F238E27FC236}">
                            <a16:creationId xmlns:a16="http://schemas.microsoft.com/office/drawing/2014/main" id="{30B08BFB-8625-4A4F-B370-83ABACF88CB0}"/>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0" name="Rectangle 19">
                        <a:extLst>
                          <a:ext uri="{FF2B5EF4-FFF2-40B4-BE49-F238E27FC236}">
                            <a16:creationId xmlns:a16="http://schemas.microsoft.com/office/drawing/2014/main" id="{700BF0EF-3622-9141-8333-7EB1617E887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1" name="Rounded Rectangle 20">
                        <a:extLst>
                          <a:ext uri="{FF2B5EF4-FFF2-40B4-BE49-F238E27FC236}">
                            <a16:creationId xmlns:a16="http://schemas.microsoft.com/office/drawing/2014/main" id="{434778D5-035D-3845-B5F4-87B1A17D2E46}"/>
                          </a:ext>
                        </a:extLst>
                      </p:cNvPr>
                      <p:cNvSpPr/>
                      <p:nvPr/>
                    </p:nvSpPr>
                    <p:spPr>
                      <a:xfrm>
                        <a:off x="-369026" y="0"/>
                        <a:ext cx="6998426" cy="1085802"/>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spcAft>
                            <a:spcPts val="800"/>
                          </a:spcAft>
                        </a:pPr>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lnSpc>
                            <a:spcPct val="107000"/>
                          </a:lnSpc>
                          <a:spcAft>
                            <a:spcPts val="800"/>
                          </a:spcAft>
                        </a:pPr>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lnSpc>
                            <a:spcPct val="107000"/>
                          </a:lnSpc>
                          <a:spcAft>
                            <a:spcPts val="8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In a symmetrical graph, the mean and the median are located in the middle of the graph, approximately in the same location.</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algn="ctr">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a:p>
                        <a:pPr marL="742950" indent="2971800">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p:txBody>
                  </p:sp>
                </p:grpSp>
                <p:pic>
                  <p:nvPicPr>
                    <p:cNvPr id="18" name="Shape 27" descr="Icon&#10;&#10;Description automatically generated">
                      <a:extLst>
                        <a:ext uri="{FF2B5EF4-FFF2-40B4-BE49-F238E27FC236}">
                          <a16:creationId xmlns:a16="http://schemas.microsoft.com/office/drawing/2014/main" id="{1C4E60F8-EF48-7143-849F-29881A07C6CE}"/>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69875" y="87825"/>
                      <a:ext cx="539750" cy="539750"/>
                    </a:xfrm>
                    <a:prstGeom prst="rect">
                      <a:avLst/>
                    </a:prstGeom>
                    <a:noFill/>
                    <a:ln>
                      <a:noFill/>
                    </a:ln>
                    <a:effectLst>
                      <a:outerShdw blurRad="50800" dist="38100" dir="2700000" algn="tl" rotWithShape="0">
                        <a:prstClr val="black">
                          <a:alpha val="40000"/>
                        </a:prstClr>
                      </a:outerShdw>
                    </a:effectLst>
                  </p:spPr>
                </p:pic>
              </p:grpSp>
            </p:grpSp>
          </p:grpSp>
        </p:grpSp>
      </p:grpSp>
      <p:sp>
        <p:nvSpPr>
          <p:cNvPr id="22"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113</a:t>
            </a:r>
            <a:endParaRPr i="1" dirty="0">
              <a:latin typeface="Calibri"/>
              <a:ea typeface="Calibri"/>
              <a:cs typeface="Calibri"/>
              <a:sym typeface="Calibri"/>
            </a:endParaRPr>
          </a:p>
        </p:txBody>
      </p:sp>
      <p:pic>
        <p:nvPicPr>
          <p:cNvPr id="2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43904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130300" y="374089"/>
                <a:ext cx="6100437" cy="2246769"/>
              </a:xfrm>
              <a:prstGeom prst="rect">
                <a:avLst/>
              </a:prstGeom>
              <a:noFill/>
            </p:spPr>
            <p:txBody>
              <a:bodyPr wrap="square" rtlCol="0">
                <a:spAutoFit/>
              </a:bodyPr>
              <a:lstStyle/>
              <a:p>
                <a:pPr marL="914400" indent="-449263">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The mean and the median of this histogram are located between </a:t>
                </a:r>
                <a14:m>
                  <m:oMath xmlns:m="http://schemas.openxmlformats.org/officeDocument/2006/math">
                    <m:r>
                      <a:rPr lang="en-US" sz="2000" i="1">
                        <a:latin typeface="Cambria Math" panose="02040503050406030204" pitchFamily="18" charset="0"/>
                        <a:ea typeface="Cambria Math" panose="02040503050406030204" pitchFamily="18" charset="0"/>
                      </a:rPr>
                      <m:t>15−15.5</m:t>
                    </m:r>
                  </m:oMath>
                </a14:m>
                <a:r>
                  <a:rPr lang="en-US" sz="2000" dirty="0">
                    <a:latin typeface="Verdana" panose="020B0604030504040204" pitchFamily="34" charset="0"/>
                    <a:ea typeface="Verdana" panose="020B0604030504040204" pitchFamily="34" charset="0"/>
                    <a:cs typeface="Verdana" panose="020B0604030504040204" pitchFamily="34" charset="0"/>
                  </a:rPr>
                  <a:t>. Discuss with your partner which measure most accurately describes the center of the histogram. Summarize your discussion.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130300" y="374089"/>
                <a:ext cx="6100437" cy="2246769"/>
              </a:xfrm>
              <a:prstGeom prst="rect">
                <a:avLst/>
              </a:prstGeom>
              <a:blipFill rotWithShape="0">
                <a:blip r:embed="rId3"/>
                <a:stretch>
                  <a:fillRect t="-1626" r="-2398"/>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4628103D-B6D8-5542-A576-23C15028FF56}"/>
              </a:ext>
            </a:extLst>
          </p:cNvPr>
          <p:cNvGrpSpPr/>
          <p:nvPr/>
        </p:nvGrpSpPr>
        <p:grpSpPr>
          <a:xfrm>
            <a:off x="2419874" y="4770036"/>
            <a:ext cx="7167451" cy="1430564"/>
            <a:chOff x="2031299" y="3275735"/>
            <a:chExt cx="7167451" cy="1430564"/>
          </a:xfrm>
        </p:grpSpPr>
        <p:grpSp>
          <p:nvGrpSpPr>
            <p:cNvPr id="23" name="Group 22">
              <a:extLst>
                <a:ext uri="{FF2B5EF4-FFF2-40B4-BE49-F238E27FC236}">
                  <a16:creationId xmlns:a16="http://schemas.microsoft.com/office/drawing/2014/main" id="{1D90CFE9-CAC5-094B-BF9C-45A916C9F376}"/>
                </a:ext>
              </a:extLst>
            </p:cNvPr>
            <p:cNvGrpSpPr/>
            <p:nvPr/>
          </p:nvGrpSpPr>
          <p:grpSpPr>
            <a:xfrm>
              <a:off x="2031299" y="3275735"/>
              <a:ext cx="7167451" cy="1430564"/>
              <a:chOff x="2031299" y="3275735"/>
              <a:chExt cx="7167451" cy="1430564"/>
            </a:xfrm>
          </p:grpSpPr>
          <p:sp>
            <p:nvSpPr>
              <p:cNvPr id="24" name="Rectangle 23">
                <a:extLst>
                  <a:ext uri="{FF2B5EF4-FFF2-40B4-BE49-F238E27FC236}">
                    <a16:creationId xmlns:a16="http://schemas.microsoft.com/office/drawing/2014/main" id="{6F5C64C4-E5EA-D341-BDE8-FFEED0EADE4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25" name="Group 24">
                <a:extLst>
                  <a:ext uri="{FF2B5EF4-FFF2-40B4-BE49-F238E27FC236}">
                    <a16:creationId xmlns:a16="http://schemas.microsoft.com/office/drawing/2014/main" id="{75BC192B-4687-414F-918B-6170F60E63BC}"/>
                  </a:ext>
                </a:extLst>
              </p:cNvPr>
              <p:cNvGrpSpPr/>
              <p:nvPr/>
            </p:nvGrpSpPr>
            <p:grpSpPr>
              <a:xfrm>
                <a:off x="2031299" y="3275735"/>
                <a:ext cx="7167451" cy="1430564"/>
                <a:chOff x="2031299" y="3275735"/>
                <a:chExt cx="7167451" cy="1430564"/>
              </a:xfrm>
            </p:grpSpPr>
            <p:sp>
              <p:nvSpPr>
                <p:cNvPr id="26" name="Rectangle 25">
                  <a:extLst>
                    <a:ext uri="{FF2B5EF4-FFF2-40B4-BE49-F238E27FC236}">
                      <a16:creationId xmlns:a16="http://schemas.microsoft.com/office/drawing/2014/main" id="{7924B58B-CC4B-6D49-9471-60FD2FB1463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27" name="Group 26">
                  <a:extLst>
                    <a:ext uri="{FF2B5EF4-FFF2-40B4-BE49-F238E27FC236}">
                      <a16:creationId xmlns:a16="http://schemas.microsoft.com/office/drawing/2014/main" id="{B7D64BDD-3D98-ED4C-831C-142D9C20E02B}"/>
                    </a:ext>
                  </a:extLst>
                </p:cNvPr>
                <p:cNvGrpSpPr/>
                <p:nvPr/>
              </p:nvGrpSpPr>
              <p:grpSpPr>
                <a:xfrm>
                  <a:off x="2031299" y="3275735"/>
                  <a:ext cx="7167451" cy="1430564"/>
                  <a:chOff x="2031299" y="3275735"/>
                  <a:chExt cx="7167451" cy="1430564"/>
                </a:xfrm>
              </p:grpSpPr>
              <p:sp>
                <p:nvSpPr>
                  <p:cNvPr id="28" name="Rectangle 27">
                    <a:extLst>
                      <a:ext uri="{FF2B5EF4-FFF2-40B4-BE49-F238E27FC236}">
                        <a16:creationId xmlns:a16="http://schemas.microsoft.com/office/drawing/2014/main" id="{82661EA3-F5AF-4049-851A-26CD4978447A}"/>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29" name="Group 28">
                    <a:extLst>
                      <a:ext uri="{FF2B5EF4-FFF2-40B4-BE49-F238E27FC236}">
                        <a16:creationId xmlns:a16="http://schemas.microsoft.com/office/drawing/2014/main" id="{DD428613-F2B0-B74E-9491-1E0D64566599}"/>
                      </a:ext>
                    </a:extLst>
                  </p:cNvPr>
                  <p:cNvGrpSpPr/>
                  <p:nvPr/>
                </p:nvGrpSpPr>
                <p:grpSpPr>
                  <a:xfrm>
                    <a:off x="2031299" y="3275735"/>
                    <a:ext cx="7167451" cy="1430564"/>
                    <a:chOff x="-1" y="0"/>
                    <a:chExt cx="7167451" cy="1430564"/>
                  </a:xfrm>
                </p:grpSpPr>
                <p:sp>
                  <p:nvSpPr>
                    <p:cNvPr id="30" name="Rectangle 29">
                      <a:extLst>
                        <a:ext uri="{FF2B5EF4-FFF2-40B4-BE49-F238E27FC236}">
                          <a16:creationId xmlns:a16="http://schemas.microsoft.com/office/drawing/2014/main" id="{DC92FFA0-6CE8-444E-9E9F-C2731F29A3C7}"/>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31" name="Group 30">
                      <a:extLst>
                        <a:ext uri="{FF2B5EF4-FFF2-40B4-BE49-F238E27FC236}">
                          <a16:creationId xmlns:a16="http://schemas.microsoft.com/office/drawing/2014/main" id="{2E448C55-CD19-6249-9280-587C1EAC3D7B}"/>
                        </a:ext>
                      </a:extLst>
                    </p:cNvPr>
                    <p:cNvGrpSpPr/>
                    <p:nvPr/>
                  </p:nvGrpSpPr>
                  <p:grpSpPr>
                    <a:xfrm>
                      <a:off x="-1" y="0"/>
                      <a:ext cx="7167451" cy="1430564"/>
                      <a:chOff x="-1" y="0"/>
                      <a:chExt cx="7167451" cy="1430564"/>
                    </a:xfrm>
                  </p:grpSpPr>
                  <p:sp>
                    <p:nvSpPr>
                      <p:cNvPr id="33" name="Rectangle 32">
                        <a:extLst>
                          <a:ext uri="{FF2B5EF4-FFF2-40B4-BE49-F238E27FC236}">
                            <a16:creationId xmlns:a16="http://schemas.microsoft.com/office/drawing/2014/main" id="{DC12A3D4-CF6A-D045-8818-F53FCA0F59E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34" name="Rectangle 33">
                        <a:extLst>
                          <a:ext uri="{FF2B5EF4-FFF2-40B4-BE49-F238E27FC236}">
                            <a16:creationId xmlns:a16="http://schemas.microsoft.com/office/drawing/2014/main" id="{2F48FBC3-C769-3241-91B0-906C16DF736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35" name="Rounded Rectangle 34">
                        <a:extLst>
                          <a:ext uri="{FF2B5EF4-FFF2-40B4-BE49-F238E27FC236}">
                            <a16:creationId xmlns:a16="http://schemas.microsoft.com/office/drawing/2014/main" id="{4387E3B0-F07B-FC42-82B7-ED595B7C4C93}"/>
                          </a:ext>
                        </a:extLst>
                      </p:cNvPr>
                      <p:cNvSpPr/>
                      <p:nvPr/>
                    </p:nvSpPr>
                    <p:spPr>
                      <a:xfrm>
                        <a:off x="-1" y="0"/>
                        <a:ext cx="7167451" cy="1430564"/>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endPar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endParaRPr lang="en-US" sz="18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In a symmetrical graph with no outliers, the __________ is the preferred measure of center and the ___________ is the preferred measure of variation to describe the distribution.</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marL="742950" indent="2971800">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p:txBody>
                  </p:sp>
                </p:grpSp>
                <p:pic>
                  <p:nvPicPr>
                    <p:cNvPr id="32" name="Shape 27" descr="Icon&#10;&#10;Description automatically generated">
                      <a:extLst>
                        <a:ext uri="{FF2B5EF4-FFF2-40B4-BE49-F238E27FC236}">
                          <a16:creationId xmlns:a16="http://schemas.microsoft.com/office/drawing/2014/main" id="{998039FF-F664-C54B-B9BE-F9237AEC81E0}"/>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17805" y="123312"/>
                      <a:ext cx="539750" cy="539750"/>
                    </a:xfrm>
                    <a:prstGeom prst="rect">
                      <a:avLst/>
                    </a:prstGeom>
                    <a:noFill/>
                    <a:ln>
                      <a:noFill/>
                    </a:ln>
                    <a:effectLst>
                      <a:outerShdw blurRad="50800" dist="38100" dir="2700000" algn="tl" rotWithShape="0">
                        <a:prstClr val="black">
                          <a:alpha val="40000"/>
                        </a:prstClr>
                      </a:outerShdw>
                    </a:effectLst>
                  </p:spPr>
                </p:pic>
              </p:grpSp>
            </p:grpSp>
          </p:grpSp>
        </p:grpSp>
      </p:grpSp>
      <p:sp>
        <p:nvSpPr>
          <p:cNvPr id="21"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113</a:t>
            </a:r>
            <a:endParaRPr i="1" dirty="0">
              <a:latin typeface="Calibri"/>
              <a:ea typeface="Calibri"/>
              <a:cs typeface="Calibri"/>
              <a:sym typeface="Calibri"/>
            </a:endParaRPr>
          </a:p>
        </p:txBody>
      </p:sp>
      <p:pic>
        <p:nvPicPr>
          <p:cNvPr id="3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a:extLst>
              <a:ext uri="{FF2B5EF4-FFF2-40B4-BE49-F238E27FC236}">
                <a16:creationId xmlns:a16="http://schemas.microsoft.com/office/drawing/2014/main" id="{F5D48A24-28B4-7E02-0A16-C5604B3CE9DB}"/>
              </a:ext>
            </a:extLst>
          </p:cNvPr>
          <p:cNvPicPr>
            <a:picLocks noChangeAspect="1"/>
          </p:cNvPicPr>
          <p:nvPr/>
        </p:nvPicPr>
        <p:blipFill>
          <a:blip r:embed="rId6"/>
          <a:stretch>
            <a:fillRect/>
          </a:stretch>
        </p:blipFill>
        <p:spPr>
          <a:xfrm>
            <a:off x="7394294" y="565661"/>
            <a:ext cx="3309961" cy="3044606"/>
          </a:xfrm>
          <a:prstGeom prst="rect">
            <a:avLst/>
          </a:prstGeom>
        </p:spPr>
      </p:pic>
    </p:spTree>
    <p:extLst>
      <p:ext uri="{BB962C8B-B14F-4D97-AF65-F5344CB8AC3E}">
        <p14:creationId xmlns:p14="http://schemas.microsoft.com/office/powerpoint/2010/main" val="1887472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168400" y="374090"/>
            <a:ext cx="9868702"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histogram displays the number of points per game scored by a college basketball player during the 2008 season.</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pic>
        <p:nvPicPr>
          <p:cNvPr id="3" name="Picture 2" descr="Chart, histogram&#10;&#10;Description automatically generated">
            <a:extLst>
              <a:ext uri="{FF2B5EF4-FFF2-40B4-BE49-F238E27FC236}">
                <a16:creationId xmlns:a16="http://schemas.microsoft.com/office/drawing/2014/main" id="{06BAC6CA-2B52-B24C-A57D-BC64299250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58674" y="1482117"/>
            <a:ext cx="5088155" cy="4796763"/>
          </a:xfrm>
          <a:prstGeom prst="rect">
            <a:avLst/>
          </a:prstGeom>
        </p:spPr>
      </p:pic>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27432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155700" y="374089"/>
            <a:ext cx="9042037" cy="5632311"/>
          </a:xfrm>
          <a:prstGeom prst="rect">
            <a:avLst/>
          </a:prstGeom>
          <a:noFill/>
        </p:spPr>
        <p:txBody>
          <a:bodyPr wrap="square" rtlCol="0">
            <a:spAutoFit/>
          </a:bodyPr>
          <a:lstStyle/>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shape of the </a:t>
            </a:r>
          </a:p>
          <a:p>
            <a:pPr marL="465137"/>
            <a:r>
              <a:rPr lang="en-US" sz="2000" dirty="0">
                <a:latin typeface="Verdana" panose="020B0604030504040204" pitchFamily="34" charset="0"/>
                <a:ea typeface="Verdana" panose="020B0604030504040204" pitchFamily="34" charset="0"/>
                <a:cs typeface="Verdana" panose="020B0604030504040204" pitchFamily="34" charset="0"/>
              </a:rPr>
              <a:t>     histogram.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Circle the value on the horizontal axis of the graph that shows the approximate location of the median of this data.</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Draw an arrow (</a:t>
            </a:r>
            <a:r>
              <a:rPr lang="en-US" sz="2000" dirty="0">
                <a:latin typeface="Verdana" panose="020B0604030504040204" pitchFamily="34" charset="0"/>
                <a:ea typeface="Verdana" panose="020B0604030504040204" pitchFamily="34" charset="0"/>
                <a:cs typeface="Verdana" panose="020B0604030504040204" pitchFamily="34" charset="0"/>
                <a:sym typeface="Wingdings" pitchFamily="2" charset="2"/>
              </a:rPr>
              <a:t></a:t>
            </a:r>
            <a:r>
              <a:rPr lang="en-US" sz="2000" dirty="0">
                <a:latin typeface="Verdana" panose="020B0604030504040204" pitchFamily="34" charset="0"/>
                <a:ea typeface="Verdana" panose="020B0604030504040204" pitchFamily="34" charset="0"/>
                <a:cs typeface="Verdana" panose="020B0604030504040204" pitchFamily="34" charset="0"/>
              </a:rPr>
              <a:t>) on the graph to indicate the approximate location of the mean of the data.</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7" name="Picture 6" descr="Chart, histogram&#10;&#10;Description automatically generated">
            <a:extLst>
              <a:ext uri="{FF2B5EF4-FFF2-40B4-BE49-F238E27FC236}">
                <a16:creationId xmlns:a16="http://schemas.microsoft.com/office/drawing/2014/main" id="{B88F7AC0-9673-E247-B5FA-A95516A88FA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71308" y="133373"/>
            <a:ext cx="3143794" cy="2963753"/>
          </a:xfrm>
          <a:prstGeom prst="rect">
            <a:avLst/>
          </a:prstGeom>
        </p:spPr>
      </p:pic>
      <p:sp>
        <p:nvSpPr>
          <p:cNvPr id="8"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21461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1181100" y="374090"/>
                <a:ext cx="7757253" cy="5324535"/>
              </a:xfrm>
              <a:prstGeom prst="rect">
                <a:avLst/>
              </a:prstGeom>
              <a:noFill/>
            </p:spPr>
            <p:txBody>
              <a:bodyPr wrap="square" rtlCol="0">
                <a:spAutoFit/>
              </a:bodyPr>
              <a:lstStyle/>
              <a:p>
                <a:pPr marL="914400" indent="-449263">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In a symmetrical graph, the </a:t>
                </a:r>
              </a:p>
              <a:p>
                <a:pPr marL="919163"/>
                <a:r>
                  <a:rPr lang="en-US" sz="2000" dirty="0">
                    <a:latin typeface="Verdana" panose="020B0604030504040204" pitchFamily="34" charset="0"/>
                    <a:ea typeface="Verdana" panose="020B0604030504040204" pitchFamily="34" charset="0"/>
                    <a:cs typeface="Verdana" panose="020B0604030504040204" pitchFamily="34" charset="0"/>
                  </a:rPr>
                  <a:t>mean is the preferred measure </a:t>
                </a:r>
              </a:p>
              <a:p>
                <a:pPr marL="919163"/>
                <a:r>
                  <a:rPr lang="en-US" sz="2000" dirty="0">
                    <a:latin typeface="Verdana" panose="020B0604030504040204" pitchFamily="34" charset="0"/>
                    <a:ea typeface="Verdana" panose="020B0604030504040204" pitchFamily="34" charset="0"/>
                    <a:cs typeface="Verdana" panose="020B0604030504040204" pitchFamily="34" charset="0"/>
                  </a:rPr>
                  <a:t>of center to use. The histogram </a:t>
                </a:r>
              </a:p>
              <a:p>
                <a:pPr marL="919163"/>
                <a:r>
                  <a:rPr lang="en-US" sz="2000" dirty="0">
                    <a:latin typeface="Verdana" panose="020B0604030504040204" pitchFamily="34" charset="0"/>
                    <a:ea typeface="Verdana" panose="020B0604030504040204" pitchFamily="34" charset="0"/>
                    <a:cs typeface="Verdana" panose="020B0604030504040204" pitchFamily="34" charset="0"/>
                  </a:rPr>
                  <a:t>for points scored is skewed. </a:t>
                </a:r>
              </a:p>
              <a:p>
                <a:pPr marL="919163"/>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a:t>
                </a:r>
              </a:p>
              <a:p>
                <a:pPr marL="919163"/>
                <a:r>
                  <a:rPr lang="en-US" sz="2000" dirty="0">
                    <a:latin typeface="Verdana" panose="020B0604030504040204" pitchFamily="34" charset="0"/>
                    <a:ea typeface="Verdana" panose="020B0604030504040204" pitchFamily="34" charset="0"/>
                    <a:cs typeface="Verdana" panose="020B0604030504040204" pitchFamily="34" charset="0"/>
                  </a:rPr>
                  <a:t>the mean would not be a good representation of the center for points scored. Summarize your </a:t>
                </a:r>
              </a:p>
              <a:p>
                <a:pPr marL="919163"/>
                <a:r>
                  <a:rPr lang="en-US" sz="2000" dirty="0">
                    <a:latin typeface="Verdana" panose="020B0604030504040204" pitchFamily="34" charset="0"/>
                    <a:ea typeface="Verdana" panose="020B0604030504040204" pitchFamily="34" charset="0"/>
                    <a:cs typeface="Verdana" panose="020B0604030504040204" pitchFamily="34" charset="0"/>
                  </a:rPr>
                  <a:t>discussion.</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In this graph, the median is located between </a:t>
                </a:r>
              </a:p>
              <a:p>
                <a:pPr marL="914400"/>
                <a14:m>
                  <m:oMath xmlns:m="http://schemas.openxmlformats.org/officeDocument/2006/math">
                    <m:r>
                      <a:rPr lang="en-US" sz="2000" i="1">
                        <a:latin typeface="Cambria Math" panose="02040503050406030204" pitchFamily="18" charset="0"/>
                        <a:ea typeface="Cambria Math" panose="02040503050406030204" pitchFamily="18" charset="0"/>
                      </a:rPr>
                      <m:t>15−20</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and the mean is in the </a:t>
                </a:r>
                <a14:m>
                  <m:oMath xmlns:m="http://schemas.openxmlformats.org/officeDocument/2006/math">
                    <m:r>
                      <a:rPr lang="en-US" sz="2000" i="1">
                        <a:latin typeface="Cambria Math" panose="02040503050406030204" pitchFamily="18" charset="0"/>
                        <a:ea typeface="Cambria Math" panose="02040503050406030204" pitchFamily="18" charset="0"/>
                      </a:rPr>
                      <m:t>20−25</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interval. Which measure most accurately describes the center of the histogram? </a:t>
                </a:r>
              </a:p>
            </p:txBody>
          </p:sp>
        </mc:Choice>
        <mc:Fallback xmlns="">
          <p:sp>
            <p:nvSpPr>
              <p:cNvPr id="5" name="TextBox 4">
                <a:extLst>
                  <a:ext uri="{FF2B5EF4-FFF2-40B4-BE49-F238E27FC236}">
                    <a16:creationId xmlns:a16="http://schemas.microsoft.com/office/drawing/2014/main" xmlns:a14="http://schemas.microsoft.com/office/drawing/2010/main" xmlns="" id="{B74EB5C6-2FDE-474B-866F-02AD6706D73C}"/>
                  </a:ext>
                </a:extLst>
              </p:cNvPr>
              <p:cNvSpPr txBox="1">
                <a:spLocks noRot="1" noChangeAspect="1" noMove="1" noResize="1" noEditPoints="1" noAdjustHandles="1" noChangeArrowheads="1" noChangeShapeType="1" noTextEdit="1"/>
              </p:cNvSpPr>
              <p:nvPr/>
            </p:nvSpPr>
            <p:spPr>
              <a:xfrm>
                <a:off x="1181100" y="374090"/>
                <a:ext cx="7757253" cy="5324535"/>
              </a:xfrm>
              <a:prstGeom prst="rect">
                <a:avLst/>
              </a:prstGeom>
              <a:blipFill rotWithShape="0">
                <a:blip r:embed="rId3"/>
                <a:stretch>
                  <a:fillRect t="-686" b="-1030"/>
                </a:stretch>
              </a:blipFill>
            </p:spPr>
            <p:txBody>
              <a:bodyPr/>
              <a:lstStyle/>
              <a:p>
                <a:r>
                  <a:rPr lang="en-US">
                    <a:noFill/>
                  </a:rPr>
                  <a:t> </a:t>
                </a:r>
              </a:p>
            </p:txBody>
          </p:sp>
        </mc:Fallback>
      </mc:AlternateContent>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a:extLst>
              <a:ext uri="{FF2B5EF4-FFF2-40B4-BE49-F238E27FC236}">
                <a16:creationId xmlns:a16="http://schemas.microsoft.com/office/drawing/2014/main" id="{F9A28CB0-88C2-930A-7C3D-CA56C580F53F}"/>
              </a:ext>
            </a:extLst>
          </p:cNvPr>
          <p:cNvPicPr>
            <a:picLocks noChangeAspect="1"/>
          </p:cNvPicPr>
          <p:nvPr/>
        </p:nvPicPr>
        <p:blipFill>
          <a:blip r:embed="rId5"/>
          <a:stretch>
            <a:fillRect/>
          </a:stretch>
        </p:blipFill>
        <p:spPr>
          <a:xfrm>
            <a:off x="8477987" y="374090"/>
            <a:ext cx="3108781" cy="2858968"/>
          </a:xfrm>
          <a:prstGeom prst="rect">
            <a:avLst/>
          </a:prstGeom>
        </p:spPr>
      </p:pic>
    </p:spTree>
    <p:extLst>
      <p:ext uri="{BB962C8B-B14F-4D97-AF65-F5344CB8AC3E}">
        <p14:creationId xmlns:p14="http://schemas.microsoft.com/office/powerpoint/2010/main" val="1950244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1041400" y="374089"/>
            <a:ext cx="6273351" cy="1938992"/>
          </a:xfrm>
          <a:prstGeom prst="rect">
            <a:avLst/>
          </a:prstGeom>
          <a:noFill/>
        </p:spPr>
        <p:txBody>
          <a:bodyPr wrap="square" rtlCol="0">
            <a:spAutoFit/>
          </a:bodyPr>
          <a:lstStyle/>
          <a:p>
            <a:pPr marL="914400" indent="-449263">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Which measure of variation should be used to describe the distribution? </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Rectangle: Rounded Corners 69">
            <a:extLst>
              <a:ext uri="{FF2B5EF4-FFF2-40B4-BE49-F238E27FC236}">
                <a16:creationId xmlns:a16="http://schemas.microsoft.com/office/drawing/2014/main" id="{482C2047-8E37-6143-BDF1-6D391A0E9572}"/>
              </a:ext>
            </a:extLst>
          </p:cNvPr>
          <p:cNvSpPr/>
          <p:nvPr/>
        </p:nvSpPr>
        <p:spPr>
          <a:xfrm>
            <a:off x="2519026" y="4438384"/>
            <a:ext cx="7167450" cy="1762216"/>
          </a:xfrm>
          <a:prstGeom prst="roundRect">
            <a:avLst/>
          </a:prstGeom>
          <a:solidFill>
            <a:srgbClr val="B8E7F5"/>
          </a:solidFill>
          <a:ln>
            <a:solidFill>
              <a:srgbClr val="B7E7F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685800">
              <a:lnSpc>
                <a:spcPct val="107000"/>
              </a:lnSpc>
              <a:spcAft>
                <a:spcPts val="8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In a skewed graph or a graph with outliers, the ____________ is the preferred measure of center and the _____________ is the preferred measure of variation to describe the distribution.</a:t>
            </a:r>
            <a:endParaRPr lang="en-US" sz="2000"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8" name="Shape 27" descr="Icon&#10;&#10;Description automatically generated">
            <a:extLst>
              <a:ext uri="{FF2B5EF4-FFF2-40B4-BE49-F238E27FC236}">
                <a16:creationId xmlns:a16="http://schemas.microsoft.com/office/drawing/2014/main" id="{81E779C0-F081-AF43-9A77-3AB3F6BA5867}"/>
              </a:ext>
            </a:extLst>
          </p:cNvPr>
          <p:cNvPicPr/>
          <p:nvPr/>
        </p:nvPicPr>
        <p:blipFill rotWithShape="1">
          <a:blip r:embed="rId3" cstate="screen">
            <a:alphaModFix/>
            <a:extLst>
              <a:ext uri="{28A0092B-C50C-407E-A947-70E740481C1C}">
                <a14:useLocalDpi xmlns:a14="http://schemas.microsoft.com/office/drawing/2010/main"/>
              </a:ext>
            </a:extLst>
          </a:blip>
          <a:srcRect/>
          <a:stretch/>
        </p:blipFill>
        <p:spPr>
          <a:xfrm>
            <a:off x="2691038" y="4600619"/>
            <a:ext cx="539750" cy="539115"/>
          </a:xfrm>
          <a:prstGeom prst="rect">
            <a:avLst/>
          </a:prstGeom>
          <a:noFill/>
          <a:ln>
            <a:noFill/>
          </a:ln>
          <a:effectLst>
            <a:outerShdw blurRad="50800" dist="38100" dir="2700000" algn="tl" rotWithShape="0">
              <a:prstClr val="black">
                <a:alpha val="40000"/>
              </a:prstClr>
            </a:outerShdw>
          </a:effectLst>
        </p:spPr>
      </p:pic>
      <p:pic>
        <p:nvPicPr>
          <p:cNvPr id="9" name="Picture 8" descr="Chart, histogram&#10;&#10;Description automatically generated">
            <a:extLst>
              <a:ext uri="{FF2B5EF4-FFF2-40B4-BE49-F238E27FC236}">
                <a16:creationId xmlns:a16="http://schemas.microsoft.com/office/drawing/2014/main" id="{5E1F756C-9FAF-724D-9DDF-949A22B4D00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71308" y="188457"/>
            <a:ext cx="3143794" cy="2963753"/>
          </a:xfrm>
          <a:prstGeom prst="rect">
            <a:avLst/>
          </a:prstGeom>
        </p:spPr>
      </p:pic>
      <p:sp>
        <p:nvSpPr>
          <p:cNvPr id="10"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21562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46938" y="215427"/>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10.2.6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99638" y="215427"/>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1257300" y="1386026"/>
            <a:ext cx="9130284"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following data set shows the number of tickets a movie theater sold in one day for each movie that is playing at the theater.</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One of the values in the data set is an outlier. Explain which value you think is the outlier.</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1A8D0E0-E0B4-B649-8FEA-4A4FF4869FFC}"/>
                  </a:ext>
                </a:extLst>
              </p:cNvPr>
              <p:cNvGraphicFramePr>
                <a:graphicFrameLocks noGrp="1"/>
              </p:cNvGraphicFramePr>
              <p:nvPr>
                <p:extLst>
                  <p:ext uri="{D42A27DB-BD31-4B8C-83A1-F6EECF244321}">
                    <p14:modId xmlns:p14="http://schemas.microsoft.com/office/powerpoint/2010/main" val="3685798381"/>
                  </p:ext>
                </p:extLst>
              </p:nvPr>
            </p:nvGraphicFramePr>
            <p:xfrm>
              <a:off x="2146201" y="2692160"/>
              <a:ext cx="6981007" cy="811952"/>
            </p:xfrm>
            <a:graphic>
              <a:graphicData uri="http://schemas.openxmlformats.org/drawingml/2006/table">
                <a:tbl>
                  <a:tblPr firstRow="1" firstCol="1" bandRow="1">
                    <a:tableStyleId>{A91F0D33-8C57-4600-99A7-42BC86742BE1}</a:tableStyleId>
                  </a:tblPr>
                  <a:tblGrid>
                    <a:gridCol w="997000">
                      <a:extLst>
                        <a:ext uri="{9D8B030D-6E8A-4147-A177-3AD203B41FA5}">
                          <a16:colId xmlns:a16="http://schemas.microsoft.com/office/drawing/2014/main" val="166286213"/>
                        </a:ext>
                      </a:extLst>
                    </a:gridCol>
                    <a:gridCol w="997000">
                      <a:extLst>
                        <a:ext uri="{9D8B030D-6E8A-4147-A177-3AD203B41FA5}">
                          <a16:colId xmlns:a16="http://schemas.microsoft.com/office/drawing/2014/main" val="4075205802"/>
                        </a:ext>
                      </a:extLst>
                    </a:gridCol>
                    <a:gridCol w="997669">
                      <a:extLst>
                        <a:ext uri="{9D8B030D-6E8A-4147-A177-3AD203B41FA5}">
                          <a16:colId xmlns:a16="http://schemas.microsoft.com/office/drawing/2014/main" val="699375083"/>
                        </a:ext>
                      </a:extLst>
                    </a:gridCol>
                    <a:gridCol w="997000">
                      <a:extLst>
                        <a:ext uri="{9D8B030D-6E8A-4147-A177-3AD203B41FA5}">
                          <a16:colId xmlns:a16="http://schemas.microsoft.com/office/drawing/2014/main" val="4118252041"/>
                        </a:ext>
                      </a:extLst>
                    </a:gridCol>
                    <a:gridCol w="997669">
                      <a:extLst>
                        <a:ext uri="{9D8B030D-6E8A-4147-A177-3AD203B41FA5}">
                          <a16:colId xmlns:a16="http://schemas.microsoft.com/office/drawing/2014/main" val="3759275280"/>
                        </a:ext>
                      </a:extLst>
                    </a:gridCol>
                    <a:gridCol w="997000">
                      <a:extLst>
                        <a:ext uri="{9D8B030D-6E8A-4147-A177-3AD203B41FA5}">
                          <a16:colId xmlns:a16="http://schemas.microsoft.com/office/drawing/2014/main" val="1275366250"/>
                        </a:ext>
                      </a:extLst>
                    </a:gridCol>
                    <a:gridCol w="997669">
                      <a:extLst>
                        <a:ext uri="{9D8B030D-6E8A-4147-A177-3AD203B41FA5}">
                          <a16:colId xmlns:a16="http://schemas.microsoft.com/office/drawing/2014/main" val="1529055027"/>
                        </a:ext>
                      </a:extLst>
                    </a:gridCol>
                  </a:tblGrid>
                  <a:tr h="40597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162</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623</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76</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277</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181</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64</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105</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5902433"/>
                      </a:ext>
                    </a:extLst>
                  </a:tr>
                  <a:tr h="40597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265</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82</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263</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124</m:t>
                                </m:r>
                              </m:oMath>
                            </m:oMathPara>
                          </a14:m>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167</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150</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245</m:t>
                                </m:r>
                              </m:oMath>
                            </m:oMathPara>
                          </a14:m>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4427173"/>
                      </a:ext>
                    </a:extLst>
                  </a:tr>
                </a:tbl>
              </a:graphicData>
            </a:graphic>
          </p:graphicFrame>
        </mc:Choice>
        <mc:Fallback xmlns="">
          <p:graphicFrame>
            <p:nvGraphicFramePr>
              <p:cNvPr id="2" name="Table 1">
                <a:extLst>
                  <a:ext uri="{FF2B5EF4-FFF2-40B4-BE49-F238E27FC236}">
                    <a16:creationId xmlns:a16="http://schemas.microsoft.com/office/drawing/2014/main" id="{91A8D0E0-E0B4-B649-8FEA-4A4FF4869FFC}"/>
                  </a:ext>
                </a:extLst>
              </p:cNvPr>
              <p:cNvGraphicFramePr>
                <a:graphicFrameLocks noGrp="1"/>
              </p:cNvGraphicFramePr>
              <p:nvPr>
                <p:extLst>
                  <p:ext uri="{D42A27DB-BD31-4B8C-83A1-F6EECF244321}">
                    <p14:modId xmlns:p14="http://schemas.microsoft.com/office/powerpoint/2010/main" val="3685798381"/>
                  </p:ext>
                </p:extLst>
              </p:nvPr>
            </p:nvGraphicFramePr>
            <p:xfrm>
              <a:off x="622200" y="2692160"/>
              <a:ext cx="6981007" cy="811952"/>
            </p:xfrm>
            <a:graphic>
              <a:graphicData uri="http://schemas.openxmlformats.org/drawingml/2006/table">
                <a:tbl>
                  <a:tblPr firstRow="1" firstCol="1" bandRow="1">
                    <a:tableStyleId>{A91F0D33-8C57-4600-99A7-42BC86742BE1}</a:tableStyleId>
                  </a:tblPr>
                  <a:tblGrid>
                    <a:gridCol w="997000">
                      <a:extLst>
                        <a:ext uri="{9D8B030D-6E8A-4147-A177-3AD203B41FA5}">
                          <a16:colId xmlns:a16="http://schemas.microsoft.com/office/drawing/2014/main" val="166286213"/>
                        </a:ext>
                      </a:extLst>
                    </a:gridCol>
                    <a:gridCol w="997000">
                      <a:extLst>
                        <a:ext uri="{9D8B030D-6E8A-4147-A177-3AD203B41FA5}">
                          <a16:colId xmlns:a16="http://schemas.microsoft.com/office/drawing/2014/main" val="4075205802"/>
                        </a:ext>
                      </a:extLst>
                    </a:gridCol>
                    <a:gridCol w="997669">
                      <a:extLst>
                        <a:ext uri="{9D8B030D-6E8A-4147-A177-3AD203B41FA5}">
                          <a16:colId xmlns:a16="http://schemas.microsoft.com/office/drawing/2014/main" val="699375083"/>
                        </a:ext>
                      </a:extLst>
                    </a:gridCol>
                    <a:gridCol w="997000">
                      <a:extLst>
                        <a:ext uri="{9D8B030D-6E8A-4147-A177-3AD203B41FA5}">
                          <a16:colId xmlns:a16="http://schemas.microsoft.com/office/drawing/2014/main" val="4118252041"/>
                        </a:ext>
                      </a:extLst>
                    </a:gridCol>
                    <a:gridCol w="997669">
                      <a:extLst>
                        <a:ext uri="{9D8B030D-6E8A-4147-A177-3AD203B41FA5}">
                          <a16:colId xmlns:a16="http://schemas.microsoft.com/office/drawing/2014/main" val="3759275280"/>
                        </a:ext>
                      </a:extLst>
                    </a:gridCol>
                    <a:gridCol w="997000">
                      <a:extLst>
                        <a:ext uri="{9D8B030D-6E8A-4147-A177-3AD203B41FA5}">
                          <a16:colId xmlns:a16="http://schemas.microsoft.com/office/drawing/2014/main" val="1275366250"/>
                        </a:ext>
                      </a:extLst>
                    </a:gridCol>
                    <a:gridCol w="997669">
                      <a:extLst>
                        <a:ext uri="{9D8B030D-6E8A-4147-A177-3AD203B41FA5}">
                          <a16:colId xmlns:a16="http://schemas.microsoft.com/office/drawing/2014/main" val="1529055027"/>
                        </a:ext>
                      </a:extLst>
                    </a:gridCol>
                  </a:tblGrid>
                  <a:tr h="40597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r="-598734"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282" r="-506410"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8734" r="-400000"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8734" r="-300000"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8734" r="-200000"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5128" r="-102564"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97468" r="-1266" b="-100000"/>
                          </a:stretch>
                        </a:blipFill>
                      </a:tcPr>
                    </a:tc>
                    <a:extLst>
                      <a:ext uri="{0D108BD9-81ED-4DB2-BD59-A6C34878D82A}">
                        <a16:rowId xmlns:a16="http://schemas.microsoft.com/office/drawing/2014/main" val="2235902433"/>
                      </a:ext>
                    </a:extLst>
                  </a:tr>
                  <a:tr h="40597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3125" r="-598734" b="-312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282" t="-103125" r="-506410" b="-312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8734" t="-103125" r="-400000" b="-312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8734" t="-103125" r="-300000" b="-312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8734" t="-103125" r="-200000" b="-312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5128" t="-103125" r="-102564" b="-312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97468" t="-103125" r="-1266" b="-3125"/>
                          </a:stretch>
                        </a:blipFill>
                      </a:tcPr>
                    </a:tc>
                    <a:extLst>
                      <a:ext uri="{0D108BD9-81ED-4DB2-BD59-A6C34878D82A}">
                        <a16:rowId xmlns:a16="http://schemas.microsoft.com/office/drawing/2014/main" val="3294427173"/>
                      </a:ext>
                    </a:extLst>
                  </a:tr>
                </a:tbl>
              </a:graphicData>
            </a:graphic>
          </p:graphicFrame>
        </mc:Fallback>
      </mc:AlternateContent>
      <p:sp>
        <p:nvSpPr>
          <p:cNvPr id="10"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115</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1932432" y="398474"/>
                <a:ext cx="8327136" cy="440120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Removing the outlier, </a:t>
                </a:r>
                <a14:m>
                  <m:oMath xmlns:m="http://schemas.openxmlformats.org/officeDocument/2006/math">
                    <m:r>
                      <a:rPr lang="en-US" sz="2000" i="1">
                        <a:latin typeface="Cambria Math" panose="02040503050406030204" pitchFamily="18" charset="0"/>
                        <a:ea typeface="Cambria Math" panose="02040503050406030204" pitchFamily="18" charset="0"/>
                      </a:rPr>
                      <m:t>623</m:t>
                    </m:r>
                  </m:oMath>
                </a14:m>
                <a:r>
                  <a:rPr lang="en-US" sz="2000" dirty="0">
                    <a:latin typeface="Verdana" panose="020B0604030504040204" pitchFamily="34" charset="0"/>
                    <a:ea typeface="Verdana" panose="020B0604030504040204" pitchFamily="34" charset="0"/>
                    <a:cs typeface="Verdana" panose="020B0604030504040204" pitchFamily="34" charset="0"/>
                  </a:rPr>
                  <a:t>, causes the mean to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and the range to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because it is much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than the other values in the data set.</a:t>
                </a: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08432" y="398473"/>
                <a:ext cx="8327136" cy="4401205"/>
              </a:xfrm>
              <a:prstGeom prst="rect">
                <a:avLst/>
              </a:prstGeom>
              <a:blipFill>
                <a:blip r:embed="rId4"/>
                <a:stretch>
                  <a:fillRect l="-762" t="-865" b="-1729"/>
                </a:stretch>
              </a:blipFill>
            </p:spPr>
            <p:txBody>
              <a:bodyPr/>
              <a:lstStyle/>
              <a:p>
                <a:r>
                  <a:rPr lang="en-US">
                    <a:noFill/>
                  </a:rPr>
                  <a:t> </a:t>
                </a:r>
              </a:p>
            </p:txBody>
          </p:sp>
        </mc:Fallback>
      </mc:AlternateContent>
      <p:sp>
        <p:nvSpPr>
          <p:cNvPr id="6" name="Rectangle: Rounded Corners 6">
            <a:extLst>
              <a:ext uri="{FF2B5EF4-FFF2-40B4-BE49-F238E27FC236}">
                <a16:creationId xmlns:a16="http://schemas.microsoft.com/office/drawing/2014/main" id="{E19898E2-477D-BB41-8DA5-ED50300352A5}"/>
              </a:ext>
            </a:extLst>
          </p:cNvPr>
          <p:cNvSpPr/>
          <p:nvPr/>
        </p:nvSpPr>
        <p:spPr>
          <a:xfrm>
            <a:off x="2464525" y="1489166"/>
            <a:ext cx="2821578" cy="1258751"/>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1000"/>
              </a:spcAft>
              <a:buFont typeface="Courier New" panose="02070309020205020404" pitchFamily="49" charset="0"/>
              <a:buChar char="o"/>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increase</a:t>
            </a: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decrease</a:t>
            </a: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remain the same</a:t>
            </a:r>
          </a:p>
          <a:p>
            <a:pPr algn="ctr">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7" name="Rectangle: Rounded Corners 6">
            <a:extLst>
              <a:ext uri="{FF2B5EF4-FFF2-40B4-BE49-F238E27FC236}">
                <a16:creationId xmlns:a16="http://schemas.microsoft.com/office/drawing/2014/main" id="{3BC3595B-590C-2446-8233-6458257F5241}"/>
              </a:ext>
            </a:extLst>
          </p:cNvPr>
          <p:cNvSpPr/>
          <p:nvPr/>
        </p:nvSpPr>
        <p:spPr>
          <a:xfrm>
            <a:off x="7935075" y="2947539"/>
            <a:ext cx="1543136" cy="888810"/>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larger</a:t>
            </a: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smaller</a:t>
            </a:r>
          </a:p>
        </p:txBody>
      </p:sp>
      <p:sp>
        <p:nvSpPr>
          <p:cNvPr id="8" name="Rectangle: Rounded Corners 6">
            <a:extLst>
              <a:ext uri="{FF2B5EF4-FFF2-40B4-BE49-F238E27FC236}">
                <a16:creationId xmlns:a16="http://schemas.microsoft.com/office/drawing/2014/main" id="{4CD56554-DB63-5B41-9030-EF50E4E74255}"/>
              </a:ext>
            </a:extLst>
          </p:cNvPr>
          <p:cNvSpPr/>
          <p:nvPr/>
        </p:nvSpPr>
        <p:spPr>
          <a:xfrm>
            <a:off x="2464525" y="2947540"/>
            <a:ext cx="2821578" cy="1258751"/>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1000"/>
              </a:spcAft>
              <a:buFont typeface="Courier New" panose="02070309020205020404" pitchFamily="49" charset="0"/>
              <a:buChar char="o"/>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increase</a:t>
            </a: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decrease</a:t>
            </a:r>
          </a:p>
          <a:p>
            <a:pPr marL="342900" indent="-342900">
              <a:lnSpc>
                <a:spcPct val="107000"/>
              </a:lnSpc>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remain the same</a:t>
            </a:r>
          </a:p>
          <a:p>
            <a:pPr algn="ctr">
              <a:lnSpc>
                <a:spcPct val="107000"/>
              </a:lnSpc>
              <a:spcAft>
                <a:spcPts val="800"/>
              </a:spcAft>
            </a:pP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9"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115</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46938"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10.2.7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99638" y="276199"/>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1612900" y="1386026"/>
            <a:ext cx="8774684" cy="224676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has a significant effect on which measures of center and spread? Select all that apply.</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Median</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Interquartile Range</a:t>
            </a:r>
          </a:p>
          <a:p>
            <a:pPr marL="9144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
        <p:nvSpPr>
          <p:cNvPr id="8"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1104900" y="422857"/>
            <a:ext cx="9154668"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data set has an outlier that is significantly less than most of the other values.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how this impacts the measures selected in number </a:t>
            </a:r>
            <a:r>
              <a:rPr lang="en-US" sz="2000" dirty="0">
                <a:latin typeface="Cambria Math" panose="02040503050406030204" pitchFamily="18" charset="0"/>
                <a:ea typeface="Cambria Math" panose="02040503050406030204" pitchFamily="18" charset="0"/>
                <a:cs typeface="Verdana" panose="020B0604030504040204" pitchFamily="34" charset="0"/>
              </a:rPr>
              <a:t>1</a:t>
            </a:r>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Which measures of center and variation would you use to best describe the data?</a:t>
            </a:r>
          </a:p>
        </p:txBody>
      </p:sp>
      <p:sp>
        <p:nvSpPr>
          <p:cNvPr id="6" name="Google Shape;282;g104476d1465_1_17"/>
          <p:cNvSpPr txBox="1"/>
          <p:nvPr/>
        </p:nvSpPr>
        <p:spPr>
          <a:xfrm>
            <a:off x="86990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115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72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1369</TotalTime>
  <Words>1803</Words>
  <Application>Microsoft Office PowerPoint</Application>
  <PresentationFormat>Widescreen</PresentationFormat>
  <Paragraphs>389</Paragraphs>
  <Slides>34</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Arial Black</vt:lpstr>
      <vt:lpstr>Calibri</vt:lpstr>
      <vt:lpstr>Cambria Math</vt:lpstr>
      <vt:lpstr>Century Gothic</vt:lpstr>
      <vt:lpstr>Courier New</vt:lpstr>
      <vt:lpstr>Verdana</vt:lpstr>
      <vt:lpstr>Wingdings</vt:lpstr>
      <vt:lpstr>1_Office Theme</vt:lpstr>
      <vt:lpstr>6th Grade Accelerated Math  Unit 10, Lesson 2  Outliers  Volume 2, pg. 109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Practice</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16</cp:revision>
  <dcterms:created xsi:type="dcterms:W3CDTF">2015-03-17T18:51:18Z</dcterms:created>
  <dcterms:modified xsi:type="dcterms:W3CDTF">2022-08-22T01:38:56Z</dcterms:modified>
</cp:coreProperties>
</file>