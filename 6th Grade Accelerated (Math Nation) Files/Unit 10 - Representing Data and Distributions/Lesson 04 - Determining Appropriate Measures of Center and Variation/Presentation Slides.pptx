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jUk6q5ZNTyu91+ccmOKpCBAQIA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B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94694"/>
  </p:normalViewPr>
  <p:slideViewPr>
    <p:cSldViewPr snapToGrid="0">
      <p:cViewPr varScale="1">
        <p:scale>
          <a:sx n="121" d="100"/>
          <a:sy n="121" d="100"/>
        </p:scale>
        <p:origin x="50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6" name="Google Shape;19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4" name="Google Shape;22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4" name="Google Shape;23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4" name="Google Shape;24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4" name="Google Shape;254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7" name="Google Shape;27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8" name="Google Shape;278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0" name="Google Shape;290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0" name="Google Shape;300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8" name="Google Shape;308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9" name="Google Shape;309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9" name="Google Shape;319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1" name="Google Shape;331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0" name="Google Shape;340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9" name="Google Shape;349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7" name="Google Shape;35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8" name="Google Shape;358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8" name="Google Shape;368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" name="Google Shape;379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0" name="Google Shape;380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2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10, Lesson 4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Determining Appropriate Measures of Center and Variation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122</a:t>
            </a:r>
            <a:endParaRPr dirty="0"/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114" name="Google Shape;114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" name="Google Shape;115;g104476d1465_0_0"/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69527572-45BE-27A2-4E91-B4DCCC6616D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752" y="1829054"/>
            <a:ext cx="3126752" cy="36449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3" name="Google Shape;123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570832" y="96769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4" name="Google Shape;124;g104476d1465_1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7332" y="33254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5" name="Google Shape;125;g104476d1465_1_17"/>
          <p:cNvSpPr txBox="1"/>
          <p:nvPr/>
        </p:nvSpPr>
        <p:spPr>
          <a:xfrm>
            <a:off x="871948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770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7" name="Google Shape;127;g104476d1465_1_17"/>
          <p:cNvSpPr txBox="1"/>
          <p:nvPr/>
        </p:nvSpPr>
        <p:spPr>
          <a:xfrm>
            <a:off x="1749287" y="1600200"/>
            <a:ext cx="846151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sz="2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MA.7.DP.1.1</a:t>
            </a:r>
            <a:endParaRPr/>
          </a:p>
          <a:p>
            <a:pPr marL="4572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100"/>
            </a:pPr>
            <a:r>
              <a:rPr lang="en-US" sz="2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Determine an appropriate measure of center or measure of variation to summarize numerical data, represented numerically or graphically, while taking into consideration the context and any outliers. </a:t>
            </a:r>
            <a:endParaRPr sz="2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34" name="Google Shape;13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8615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6" name="Google Shape;136;p1"/>
          <p:cNvSpPr txBox="1"/>
          <p:nvPr/>
        </p:nvSpPr>
        <p:spPr>
          <a:xfrm>
            <a:off x="1493265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0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/>
          </a:p>
        </p:txBody>
      </p:sp>
      <p:sp>
        <p:nvSpPr>
          <p:cNvPr id="138" name="Google Shape;138;p1"/>
          <p:cNvSpPr txBox="1"/>
          <p:nvPr/>
        </p:nvSpPr>
        <p:spPr>
          <a:xfrm>
            <a:off x="1603513" y="1596390"/>
            <a:ext cx="957273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MA.K12.MTR.2.1 Demonstrate understanding by representing problems in multiple ways.</a:t>
            </a:r>
            <a:endParaRPr/>
          </a:p>
          <a:p>
            <a:pPr marL="457200"/>
            <a:endParaRPr sz="22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2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MA.K12.MTR.7.1 Apply mathematics to real-world contexts.</a:t>
            </a:r>
            <a:endParaRPr sz="22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71948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770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>
              <a:highlight>
                <a:srgbClr val="FFFF00"/>
              </a:highlight>
            </a:endParaRPr>
          </a:p>
        </p:txBody>
      </p:sp>
      <p:sp>
        <p:nvSpPr>
          <p:cNvPr id="146" name="Google Shape;146;p2"/>
          <p:cNvSpPr txBox="1"/>
          <p:nvPr/>
        </p:nvSpPr>
        <p:spPr>
          <a:xfrm>
            <a:off x="1505034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700" b="1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  <a:endParaRPr/>
          </a:p>
        </p:txBody>
      </p:sp>
      <p:pic>
        <p:nvPicPr>
          <p:cNvPr id="147" name="Google Shape;14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2872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9" name="Google Shape;149;p2"/>
          <p:cNvSpPr txBox="1"/>
          <p:nvPr/>
        </p:nvSpPr>
        <p:spPr>
          <a:xfrm>
            <a:off x="1725653" y="1600200"/>
            <a:ext cx="874069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 can determine an appropriate measure of center and variation to summarize numerical data.</a:t>
            </a:r>
            <a:endParaRPr/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71948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770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57" name="Google Shape;157;g104476d1465_1_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8" name="Google Shape;158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71948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770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1457153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10.4.1 Warm-Up: Between Two Numbers</a:t>
            </a:r>
            <a:endParaRPr dirty="0"/>
          </a:p>
        </p:txBody>
      </p:sp>
      <p:pic>
        <p:nvPicPr>
          <p:cNvPr id="168" name="Google Shape;16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9853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70" name="Google Shape;170;p4"/>
          <p:cNvSpPr txBox="1"/>
          <p:nvPr/>
        </p:nvSpPr>
        <p:spPr>
          <a:xfrm>
            <a:off x="2047196" y="1386025"/>
            <a:ext cx="8327136" cy="3046988"/>
          </a:xfrm>
          <a:prstGeom prst="rect">
            <a:avLst/>
          </a:prstGeom>
          <a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-1219" t="-1242" r="-1065" b="-373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71948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770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0" name="Google Shape;180;p5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2723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71948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770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88" name="Google Shape;188;p6"/>
          <p:cNvSpPr txBox="1"/>
          <p:nvPr/>
        </p:nvSpPr>
        <p:spPr>
          <a:xfrm>
            <a:off x="1498148" y="-570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10.4.2 Guided Practice: Measures of Center and Variation</a:t>
            </a:r>
            <a:endParaRPr dirty="0"/>
          </a:p>
        </p:txBody>
      </p:sp>
      <p:pic>
        <p:nvPicPr>
          <p:cNvPr id="190" name="Google Shape;190;p6" descr="Icon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3842" y="166221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91" name="Google Shape;191;p6"/>
          <p:cNvSpPr txBox="1"/>
          <p:nvPr/>
        </p:nvSpPr>
        <p:spPr>
          <a:xfrm>
            <a:off x="2060448" y="1386025"/>
            <a:ext cx="8327136" cy="1569660"/>
          </a:xfrm>
          <a:prstGeom prst="rect">
            <a:avLst/>
          </a:prstGeom>
          <a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-1219" t="-2398" r="-150" b="-79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pic>
        <p:nvPicPr>
          <p:cNvPr id="192" name="Google Shape;192;p6" descr="Chart, box and whisker chart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19850" y="3208879"/>
            <a:ext cx="7253762" cy="273852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5;g104476d1465_1_17"/>
          <p:cNvSpPr txBox="1"/>
          <p:nvPr/>
        </p:nvSpPr>
        <p:spPr>
          <a:xfrm>
            <a:off x="871948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770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01" name="Google Shape;201;p7"/>
          <p:cNvSpPr txBox="1"/>
          <p:nvPr/>
        </p:nvSpPr>
        <p:spPr>
          <a:xfrm>
            <a:off x="1676885" y="3223469"/>
            <a:ext cx="9309408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2" indent="-457200">
              <a:buSzPts val="2400"/>
              <a:buFont typeface="+mj-lt"/>
              <a:buAutoNum type="alphaL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Explain which measure of center, the mean or the median, best describes the center of the data.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609600" lvl="2" indent="-457200">
              <a:buSzPts val="2400"/>
              <a:buFont typeface="+mj-lt"/>
              <a:buAutoNum type="alphaLcPeriod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609600" lvl="2" indent="-457200">
              <a:buSzPts val="2400"/>
              <a:buFont typeface="+mj-lt"/>
              <a:buAutoNum type="alphaLcPeriod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457200" lvl="2" indent="-457200">
              <a:buSzPts val="2400"/>
              <a:buFont typeface="+mj-lt"/>
              <a:buAutoNum type="alphaL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If possible, find the value of the measure you chose in Part A.</a:t>
            </a:r>
            <a:endParaRPr dirty="0"/>
          </a:p>
        </p:txBody>
      </p:sp>
      <p:pic>
        <p:nvPicPr>
          <p:cNvPr id="6" name="Google Shape;192;p6" descr="Chart, box and whisker chart&#10;&#10;Description automatically generated">
            <a:extLst>
              <a:ext uri="{FF2B5EF4-FFF2-40B4-BE49-F238E27FC236}">
                <a16:creationId xmlns:a16="http://schemas.microsoft.com/office/drawing/2014/main" id="{D24D7252-6E45-410D-897F-B9C5E53D104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69119" y="185426"/>
            <a:ext cx="7253762" cy="273852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25;g104476d1465_1_17"/>
          <p:cNvSpPr txBox="1"/>
          <p:nvPr/>
        </p:nvSpPr>
        <p:spPr>
          <a:xfrm>
            <a:off x="871948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770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10" name="Google Shape;210;p8"/>
          <p:cNvSpPr txBox="1"/>
          <p:nvPr/>
        </p:nvSpPr>
        <p:spPr>
          <a:xfrm>
            <a:off x="1524000" y="3319955"/>
            <a:ext cx="9690590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2" indent="-457200"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Describe the variation of the weekly average price of gasoline. </a:t>
            </a:r>
          </a:p>
          <a:p>
            <a:pPr marL="457200" lvl="2" indent="-457200">
              <a:buFont typeface="+mj-lt"/>
              <a:buAutoNum type="alphaLcPeriod" startAt="3"/>
            </a:pPr>
            <a:endParaRPr lang="en-US" sz="2400" dirty="0">
              <a:latin typeface="Verdana"/>
              <a:ea typeface="Verdana"/>
              <a:sym typeface="Verdana"/>
            </a:endParaRPr>
          </a:p>
          <a:p>
            <a:pPr marL="457200" lvl="2" indent="-457200">
              <a:buFont typeface="+mj-lt"/>
              <a:buAutoNum type="alphaLcPeriod" startAt="3"/>
            </a:pPr>
            <a:endParaRPr lang="en-US" dirty="0"/>
          </a:p>
          <a:p>
            <a:pPr marL="457200" lvl="2" indent="-457200">
              <a:buFont typeface="+mj-lt"/>
              <a:buAutoNum type="alphaLcPeriod" startAt="3"/>
            </a:pPr>
            <a:endParaRPr dirty="0"/>
          </a:p>
          <a:p>
            <a:pPr marL="457200" lvl="2" indent="-457200"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Given your description, does the interquartile range or range better represent the variation in price? </a:t>
            </a:r>
            <a:endParaRPr dirty="0"/>
          </a:p>
          <a:p>
            <a:r>
              <a:rPr lang="en-US" dirty="0"/>
              <a:t> </a:t>
            </a:r>
            <a:endParaRPr sz="1050" dirty="0"/>
          </a:p>
        </p:txBody>
      </p:sp>
      <p:pic>
        <p:nvPicPr>
          <p:cNvPr id="6" name="Google Shape;192;p6" descr="Chart, box and whisker chart&#10;&#10;Description automatically generated">
            <a:extLst>
              <a:ext uri="{FF2B5EF4-FFF2-40B4-BE49-F238E27FC236}">
                <a16:creationId xmlns:a16="http://schemas.microsoft.com/office/drawing/2014/main" id="{D33644A8-10A6-404F-BC91-C287435BB92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69119" y="182876"/>
            <a:ext cx="7253762" cy="273852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25;g104476d1465_1_17"/>
          <p:cNvSpPr txBox="1"/>
          <p:nvPr/>
        </p:nvSpPr>
        <p:spPr>
          <a:xfrm>
            <a:off x="871948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770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19" name="Google Shape;219;p9"/>
          <p:cNvSpPr txBox="1"/>
          <p:nvPr/>
        </p:nvSpPr>
        <p:spPr>
          <a:xfrm>
            <a:off x="2007765" y="520393"/>
            <a:ext cx="8327136" cy="1938992"/>
          </a:xfrm>
          <a:prstGeom prst="rect">
            <a:avLst/>
          </a:prstGeom>
          <a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-608" t="-1298" r="-608" b="-45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pic>
        <p:nvPicPr>
          <p:cNvPr id="220" name="Google Shape;220;p9" descr="Chart, histogram&#10;&#10;Description automatically generated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67875" y="2459386"/>
            <a:ext cx="6456250" cy="411947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25;g104476d1465_1_17"/>
          <p:cNvSpPr txBox="1"/>
          <p:nvPr/>
        </p:nvSpPr>
        <p:spPr>
          <a:xfrm>
            <a:off x="871948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770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 dirty="0"/>
          </a:p>
        </p:txBody>
      </p:sp>
      <p:sp>
        <p:nvSpPr>
          <p:cNvPr id="229" name="Google Shape;229;p10"/>
          <p:cNvSpPr txBox="1"/>
          <p:nvPr/>
        </p:nvSpPr>
        <p:spPr>
          <a:xfrm>
            <a:off x="1192696" y="520394"/>
            <a:ext cx="9957274" cy="403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/>
            <a:r>
              <a:rPr lang="en-US" sz="2400" dirty="0"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Complete the statements to explain which measure of center and variation Robin should provide to her insurance agent to accurately summarize the ages of her employees. </a:t>
            </a:r>
            <a:endParaRPr dirty="0"/>
          </a:p>
          <a:p>
            <a:pPr marL="457200"/>
            <a:endParaRPr lang="en-US" sz="2400" dirty="0"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457200"/>
            <a:endParaRPr lang="en-US" sz="2400" dirty="0"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457200"/>
            <a:endParaRPr sz="2400" dirty="0"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914400" indent="-457200">
              <a:buSzPts val="2400"/>
              <a:buFont typeface="Arial"/>
              <a:buAutoNum type="alphaLcPeriod"/>
            </a:pPr>
            <a:r>
              <a:rPr lang="en-US" sz="2400" dirty="0"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The                 best summarizes the center of</a:t>
            </a:r>
            <a:endParaRPr dirty="0"/>
          </a:p>
          <a:p>
            <a:pPr marL="457200"/>
            <a:endParaRPr sz="2400" dirty="0"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457200" indent="457200"/>
            <a:r>
              <a:rPr lang="en-US" sz="2400" dirty="0"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the data for the agent because …</a:t>
            </a:r>
            <a:endParaRPr dirty="0"/>
          </a:p>
          <a:p>
            <a:pPr marL="457200"/>
            <a:endParaRPr sz="2400" dirty="0"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457200"/>
            <a:endParaRPr sz="160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30" name="Google Shape;230;p10" descr="A picture containing shap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t="6337"/>
          <a:stretch/>
        </p:blipFill>
        <p:spPr>
          <a:xfrm>
            <a:off x="2756840" y="2588500"/>
            <a:ext cx="1714500" cy="8445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25;g104476d1465_1_17"/>
          <p:cNvSpPr txBox="1"/>
          <p:nvPr/>
        </p:nvSpPr>
        <p:spPr>
          <a:xfrm>
            <a:off x="871948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770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39" name="Google Shape;239;p11"/>
          <p:cNvSpPr txBox="1"/>
          <p:nvPr/>
        </p:nvSpPr>
        <p:spPr>
          <a:xfrm>
            <a:off x="2007765" y="520394"/>
            <a:ext cx="8327136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2" indent="-457200">
              <a:buSzPts val="2400"/>
              <a:buFont typeface="Arial"/>
              <a:buAutoNum type="alphaLcPeriod" startAt="2"/>
            </a:pP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The  	           best summarizes the</a:t>
            </a:r>
            <a:endParaRPr/>
          </a:p>
          <a:p>
            <a:pPr marL="457200" lvl="2" indent="-304800">
              <a:buSzPts val="2400"/>
            </a:pP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marL="457200" lvl="2" indent="-457200"/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    variation of  the data for the agent because … </a:t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3401378" y="358557"/>
            <a:ext cx="1477645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indent="-285750">
              <a:buSzPts val="1800"/>
              <a:buFont typeface="Courier New"/>
              <a:buChar char="o"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IQR</a:t>
            </a:r>
            <a:endParaRPr sz="1200">
              <a:solidFill>
                <a:schemeClr val="dk1"/>
              </a:solidFill>
            </a:endParaRPr>
          </a:p>
          <a:p>
            <a:pPr marL="285750" indent="-285750">
              <a:buSzPts val="1800"/>
              <a:buFont typeface="Courier New"/>
              <a:buChar char="o"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range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71948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770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48" name="Google Shape;248;p12"/>
          <p:cNvSpPr txBox="1">
            <a:spLocks noGrp="1"/>
          </p:cNvSpPr>
          <p:nvPr>
            <p:ph type="title" idx="4294967295"/>
          </p:nvPr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50" name="Google Shape;250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3171" y="2852928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71948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770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58" name="Google Shape;258;p13"/>
          <p:cNvSpPr txBox="1"/>
          <p:nvPr/>
        </p:nvSpPr>
        <p:spPr>
          <a:xfrm>
            <a:off x="1455899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10.4.3 Try It: Measures of Center and Variation</a:t>
            </a:r>
            <a:endParaRPr dirty="0"/>
          </a:p>
        </p:txBody>
      </p:sp>
      <p:pic>
        <p:nvPicPr>
          <p:cNvPr id="260" name="Google Shape;260;p13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6091" y="287946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61" name="Google Shape;261;p13"/>
          <p:cNvSpPr txBox="1"/>
          <p:nvPr/>
        </p:nvSpPr>
        <p:spPr>
          <a:xfrm>
            <a:off x="1676885" y="1386025"/>
            <a:ext cx="9094262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4" indent="-342900">
              <a:buSzPts val="2400"/>
              <a:buFont typeface="Arial"/>
              <a:buAutoNum type="arabicPeriod"/>
            </a:pP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Tom Brady is considered by most to be one of the best NFL quarterbacks of all time. 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His pass-completion percentages from 2009 to 2019 are shown in the box plot and stem-and-leaf plot.</a:t>
            </a:r>
            <a:endParaRPr sz="1600" dirty="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62" name="Google Shape;262;p13" descr="Chart, box and whisker char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b="9437"/>
          <a:stretch/>
        </p:blipFill>
        <p:spPr>
          <a:xfrm>
            <a:off x="2525907" y="2876100"/>
            <a:ext cx="7140186" cy="344793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5;g104476d1465_1_17"/>
          <p:cNvSpPr txBox="1"/>
          <p:nvPr/>
        </p:nvSpPr>
        <p:spPr>
          <a:xfrm>
            <a:off x="871948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770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4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71" name="Google Shape;271;p14"/>
          <p:cNvSpPr txBox="1"/>
          <p:nvPr/>
        </p:nvSpPr>
        <p:spPr>
          <a:xfrm>
            <a:off x="2007765" y="520393"/>
            <a:ext cx="83271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5" indent="-457200">
              <a:buSzPts val="2000"/>
              <a:buFont typeface="Arial"/>
              <a:buAutoNum type="alphaLcPeriod"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The  		 best  summarizes the center of </a:t>
            </a:r>
            <a:endParaRPr/>
          </a:p>
          <a:p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 </a:t>
            </a:r>
            <a:endParaRPr/>
          </a:p>
          <a:p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marL="457200"/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the data. The   		   is  not the best measure </a:t>
            </a:r>
            <a:endParaRPr/>
          </a:p>
          <a:p>
            <a:pPr indent="457200"/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 </a:t>
            </a:r>
            <a:endParaRPr/>
          </a:p>
          <a:p>
            <a:pPr indent="457200"/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indent="457200"/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of center because it is influenced by the values    	</a:t>
            </a:r>
            <a:endParaRPr/>
          </a:p>
          <a:p>
            <a:pPr indent="457200"/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 </a:t>
            </a:r>
            <a:endParaRPr/>
          </a:p>
          <a:p>
            <a:pPr marL="457200"/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	  		                 that are far from the rest of </a:t>
            </a:r>
            <a:endParaRPr/>
          </a:p>
          <a:p>
            <a:pPr marL="457200"/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indent="457200"/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 </a:t>
            </a:r>
            <a:endParaRPr/>
          </a:p>
          <a:p>
            <a:pPr indent="457200"/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the data values. </a:t>
            </a:r>
            <a:endParaRPr/>
          </a:p>
        </p:txBody>
      </p:sp>
      <p:sp>
        <p:nvSpPr>
          <p:cNvPr id="272" name="Google Shape;272;p14"/>
          <p:cNvSpPr/>
          <p:nvPr/>
        </p:nvSpPr>
        <p:spPr>
          <a:xfrm>
            <a:off x="3160077" y="330200"/>
            <a:ext cx="1477500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indent="-285750">
              <a:buSzPts val="1800"/>
              <a:buFont typeface="Courier New"/>
              <a:buChar char="o"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mean</a:t>
            </a:r>
            <a:endParaRPr sz="1200">
              <a:solidFill>
                <a:schemeClr val="dk1"/>
              </a:solidFill>
            </a:endParaRPr>
          </a:p>
          <a:p>
            <a:pPr marL="285750" indent="-285750">
              <a:buSzPts val="1800"/>
              <a:buFont typeface="Courier New"/>
              <a:buChar char="o"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median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73" name="Google Shape;273;p14"/>
          <p:cNvSpPr/>
          <p:nvPr/>
        </p:nvSpPr>
        <p:spPr>
          <a:xfrm>
            <a:off x="4394043" y="1269386"/>
            <a:ext cx="1477645" cy="76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indent="-285750">
              <a:buSzPts val="1800"/>
              <a:buFont typeface="Courier New"/>
              <a:buChar char="o"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mean</a:t>
            </a:r>
            <a:endParaRPr sz="1200">
              <a:solidFill>
                <a:schemeClr val="dk1"/>
              </a:solidFill>
            </a:endParaRPr>
          </a:p>
          <a:p>
            <a:pPr marL="285750" indent="-285750">
              <a:buSzPts val="1800"/>
              <a:buFont typeface="Courier New"/>
              <a:buChar char="o"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median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74" name="Google Shape;274;p14"/>
          <p:cNvSpPr/>
          <p:nvPr/>
        </p:nvSpPr>
        <p:spPr>
          <a:xfrm>
            <a:off x="2625406" y="2908934"/>
            <a:ext cx="2699400" cy="775200"/>
          </a:xfrm>
          <a:prstGeom prst="roundRect">
            <a:avLst>
              <a:gd name="adj" fmla="val 16667"/>
            </a:avLst>
          </a:prstGeom>
          <a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3173" b="-952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71948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770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83" name="Google Shape;283;p15"/>
          <p:cNvSpPr txBox="1"/>
          <p:nvPr/>
        </p:nvSpPr>
        <p:spPr>
          <a:xfrm>
            <a:off x="2007765" y="520393"/>
            <a:ext cx="8327100" cy="28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5" indent="-457200"/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b.   The  	           best summarizes the variation of </a:t>
            </a:r>
            <a:endParaRPr/>
          </a:p>
          <a:p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 </a:t>
            </a:r>
            <a:endParaRPr/>
          </a:p>
          <a:p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 </a:t>
            </a:r>
            <a:endParaRPr/>
          </a:p>
          <a:p>
            <a:pPr indent="457200"/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the data. The   	          is not the best measure </a:t>
            </a:r>
            <a:endParaRPr/>
          </a:p>
          <a:p>
            <a:pPr indent="457200"/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 </a:t>
            </a:r>
            <a:endParaRPr/>
          </a:p>
          <a:p>
            <a:pPr indent="457200"/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marL="457200" indent="-457200"/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     of variation because it is affected by the value    	</a:t>
            </a:r>
            <a:endParaRPr/>
          </a:p>
          <a:p>
            <a:pPr marL="457200" indent="-457200"/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 </a:t>
            </a:r>
            <a:endParaRPr/>
          </a:p>
          <a:p>
            <a:pPr marL="457200" indent="-457200"/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			     that is far from the rest of the data. </a:t>
            </a:r>
            <a:endParaRPr/>
          </a:p>
        </p:txBody>
      </p:sp>
      <p:sp>
        <p:nvSpPr>
          <p:cNvPr id="284" name="Google Shape;284;p15"/>
          <p:cNvSpPr/>
          <p:nvPr/>
        </p:nvSpPr>
        <p:spPr>
          <a:xfrm>
            <a:off x="3144202" y="376555"/>
            <a:ext cx="1230000" cy="77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indent="-285750">
              <a:buSzPts val="1800"/>
              <a:buFont typeface="Courier New"/>
              <a:buChar char="o"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IQR</a:t>
            </a:r>
            <a:endParaRPr sz="1200">
              <a:solidFill>
                <a:schemeClr val="dk1"/>
              </a:solidFill>
            </a:endParaRPr>
          </a:p>
          <a:p>
            <a:pPr marL="285750" indent="-285750">
              <a:buSzPts val="1800"/>
              <a:buFont typeface="Courier New"/>
              <a:buChar char="o"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range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85" name="Google Shape;285;p15"/>
          <p:cNvSpPr/>
          <p:nvPr/>
        </p:nvSpPr>
        <p:spPr>
          <a:xfrm>
            <a:off x="4374197" y="1291283"/>
            <a:ext cx="1230000" cy="77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indent="-285750">
              <a:buSzPts val="1800"/>
              <a:buFont typeface="Courier New"/>
              <a:buChar char="o"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IQR</a:t>
            </a:r>
            <a:endParaRPr sz="1200">
              <a:solidFill>
                <a:schemeClr val="dk1"/>
              </a:solidFill>
            </a:endParaRPr>
          </a:p>
          <a:p>
            <a:pPr marL="285750" indent="-285750">
              <a:buSzPts val="1800"/>
              <a:buFont typeface="Courier New"/>
              <a:buChar char="o"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range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86" name="Google Shape;286;p15"/>
          <p:cNvSpPr/>
          <p:nvPr/>
        </p:nvSpPr>
        <p:spPr>
          <a:xfrm>
            <a:off x="2641150" y="2823293"/>
            <a:ext cx="1206600" cy="775200"/>
          </a:xfrm>
          <a:prstGeom prst="roundRect">
            <a:avLst>
              <a:gd name="adj" fmla="val 16667"/>
            </a:avLst>
          </a:prstGeom>
          <a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b="-952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71948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770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 dirty="0"/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71948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770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786DABA-DCC2-E872-AA07-9BF3080C719A}"/>
                  </a:ext>
                </a:extLst>
              </p:cNvPr>
              <p:cNvSpPr txBox="1"/>
              <p:nvPr/>
            </p:nvSpPr>
            <p:spPr>
              <a:xfrm>
                <a:off x="572814" y="-36411"/>
                <a:ext cx="11619186" cy="3046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0" lv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solidFill>
                      <a:srgbClr val="000000"/>
                    </a:solidFill>
                    <a:effectLst/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2.  The </a:t>
                </a:r>
                <a:r>
                  <a:rPr lang="en-US" sz="2400" dirty="0" err="1">
                    <a:solidFill>
                      <a:srgbClr val="000000"/>
                    </a:solidFill>
                    <a:effectLst/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Rachards</a:t>
                </a:r>
                <a:r>
                  <a:rPr lang="en-US" sz="2400" dirty="0">
                    <a:solidFill>
                      <a:srgbClr val="000000"/>
                    </a:solidFill>
                    <a:effectLst/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family is moving to Gainesville, Florida and want to purchase a home in a specific area. They have a budget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$160,000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effectLst/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 prices of homes in the area are shown below, in thousands of dollars.</a:t>
                </a:r>
                <a:endParaRPr lang="en-US" sz="1600" dirty="0">
                  <a:effectLst/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solidFill>
                      <a:srgbClr val="000000"/>
                    </a:solidFill>
                    <a:effectLst/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1600" dirty="0">
                  <a:effectLst/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150, 302, 201, 212, 150, 160, 140, 145</m:t>
                      </m:r>
                    </m:oMath>
                  </m:oMathPara>
                </a14:m>
                <a:endParaRPr lang="en-US" sz="1600" dirty="0">
                  <a:effectLst/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solidFill>
                      <a:srgbClr val="000000"/>
                    </a:solidFill>
                    <a:effectLst/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1600" dirty="0">
                  <a:latin typeface="Cambria" panose="02040503050406030204" pitchFamily="18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solidFill>
                      <a:srgbClr val="000000"/>
                    </a:solidFill>
                    <a:effectLst/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</a:t>
                </a:r>
                <a:r>
                  <a:rPr lang="en-US" sz="2400" dirty="0" err="1">
                    <a:solidFill>
                      <a:srgbClr val="000000"/>
                    </a:solidFill>
                    <a:effectLst/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Rachards</a:t>
                </a:r>
                <a:r>
                  <a:rPr lang="en-US" sz="2400" dirty="0">
                    <a:solidFill>
                      <a:srgbClr val="000000"/>
                    </a:solidFill>
                    <a:effectLst/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concerned that the homes may be out of their budget, so they ask the realtor to summarize the home prices. </a:t>
                </a:r>
                <a:endParaRPr lang="en-US" sz="1600" dirty="0">
                  <a:effectLst/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786DABA-DCC2-E872-AA07-9BF3080C71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814" y="-36411"/>
                <a:ext cx="11619186" cy="3046988"/>
              </a:xfrm>
              <a:prstGeom prst="rect">
                <a:avLst/>
              </a:prstGeom>
              <a:blipFill>
                <a:blip r:embed="rId4"/>
                <a:stretch>
                  <a:fillRect l="-873" t="-1660" b="-3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 dirty="0"/>
          </a:p>
        </p:txBody>
      </p:sp>
      <p:sp>
        <p:nvSpPr>
          <p:cNvPr id="305" name="Google Shape;305;p17"/>
          <p:cNvSpPr txBox="1"/>
          <p:nvPr/>
        </p:nvSpPr>
        <p:spPr>
          <a:xfrm>
            <a:off x="1351722" y="520393"/>
            <a:ext cx="9639222" cy="415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5" indent="-457200">
              <a:buSzPts val="2400"/>
              <a:buFont typeface="+mj-lt"/>
              <a:buAutoNum type="alphaL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Which measure of center should the realtor report to the </a:t>
            </a:r>
            <a:r>
              <a:rPr lang="en-US" sz="2400" dirty="0" err="1">
                <a:latin typeface="Verdana"/>
                <a:ea typeface="Verdana"/>
                <a:cs typeface="Verdana"/>
                <a:sym typeface="Verdana"/>
              </a:rPr>
              <a:t>Rachards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, the mean or the median? Explain your reasoning. </a:t>
            </a:r>
            <a:endParaRPr dirty="0"/>
          </a:p>
          <a:p>
            <a:pPr marL="609600" lvl="5" indent="-457200">
              <a:buSzPts val="2400"/>
              <a:buFont typeface="+mj-lt"/>
              <a:buAutoNum type="alphaLcPeriod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609600" lvl="5" indent="-457200">
              <a:buSzPts val="2400"/>
              <a:buFont typeface="+mj-lt"/>
              <a:buAutoNum type="alphaLcPeriod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609600" lvl="5" indent="-457200">
              <a:buSzPts val="2400"/>
              <a:buFont typeface="+mj-lt"/>
              <a:buAutoNum type="alphaLcPeriod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609600" lvl="5" indent="-457200">
              <a:buSzPts val="2400"/>
              <a:buFont typeface="+mj-lt"/>
              <a:buAutoNum type="alphaLcPeriod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609600" lvl="5" indent="-457200">
              <a:buSzPts val="2400"/>
              <a:buFont typeface="+mj-lt"/>
              <a:buAutoNum type="alphaLcPeriod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457200" lvl="5" indent="-457200">
              <a:buSzPts val="2400"/>
              <a:buFont typeface="+mj-lt"/>
              <a:buAutoNum type="alphaL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Which measure of variation should the realtor report to the </a:t>
            </a:r>
            <a:r>
              <a:rPr lang="en-US" sz="2400" dirty="0" err="1">
                <a:latin typeface="Verdana"/>
                <a:ea typeface="Verdana"/>
                <a:cs typeface="Verdana"/>
                <a:sym typeface="Verdana"/>
              </a:rPr>
              <a:t>Rachards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, the interquartile range or the range? Explain your reasoning. </a:t>
            </a:r>
            <a:endParaRPr dirty="0"/>
          </a:p>
        </p:txBody>
      </p:sp>
      <p:sp>
        <p:nvSpPr>
          <p:cNvPr id="6" name="Google Shape;125;g104476d1465_1_17"/>
          <p:cNvSpPr txBox="1"/>
          <p:nvPr/>
        </p:nvSpPr>
        <p:spPr>
          <a:xfrm>
            <a:off x="871948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770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"/>
          <p:cNvSpPr/>
          <p:nvPr/>
        </p:nvSpPr>
        <p:spPr>
          <a:xfrm>
            <a:off x="0" y="-13252"/>
            <a:ext cx="2731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 dirty="0"/>
          </a:p>
        </p:txBody>
      </p:sp>
      <p:sp>
        <p:nvSpPr>
          <p:cNvPr id="313" name="Google Shape;313;p18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14" name="Google Shape;31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71948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770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9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23" name="Google Shape;323;p19"/>
          <p:cNvSpPr txBox="1"/>
          <p:nvPr/>
        </p:nvSpPr>
        <p:spPr>
          <a:xfrm>
            <a:off x="1446424" y="13983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10.4.4 Your Turn!</a:t>
            </a:r>
            <a:endParaRPr dirty="0"/>
          </a:p>
        </p:txBody>
      </p:sp>
      <p:pic>
        <p:nvPicPr>
          <p:cNvPr id="324" name="Google Shape;324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293" y="13983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26" name="Google Shape;326;p19"/>
              <p:cNvSpPr txBox="1"/>
              <p:nvPr/>
            </p:nvSpPr>
            <p:spPr>
              <a:xfrm>
                <a:off x="1446424" y="1386025"/>
                <a:ext cx="9555184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r>
                  <a:rPr lang="en-US" sz="2000" dirty="0">
                    <a:latin typeface="Verdana"/>
                    <a:ea typeface="Verdana"/>
                    <a:cs typeface="Verdana"/>
                    <a:sym typeface="Verdana"/>
                  </a:rPr>
                  <a:t>Zane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12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  <a:sym typeface="Verdana"/>
                  </a:rPr>
                  <a:t> of his friends listed how far, in miles, they live from the school and created a histogram. </a:t>
                </a:r>
                <a:endParaRPr dirty="0"/>
              </a:p>
            </p:txBody>
          </p:sp>
        </mc:Choice>
        <mc:Fallback>
          <p:sp>
            <p:nvSpPr>
              <p:cNvPr id="326" name="Google Shape;326;p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6424" y="1386025"/>
                <a:ext cx="9555184" cy="707886"/>
              </a:xfrm>
              <a:prstGeom prst="rect">
                <a:avLst/>
              </a:prstGeom>
              <a:blipFill>
                <a:blip r:embed="rId4"/>
                <a:stretch>
                  <a:fillRect l="-663" t="-3509" b="-1403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7" name="Google Shape;327;p19" descr="Chart, histogram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50019" y="2069050"/>
            <a:ext cx="6858000" cy="43942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5;g104476d1465_1_17"/>
          <p:cNvSpPr txBox="1"/>
          <p:nvPr/>
        </p:nvSpPr>
        <p:spPr>
          <a:xfrm>
            <a:off x="871948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770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0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36" name="Google Shape;336;p20"/>
          <p:cNvSpPr txBox="1"/>
          <p:nvPr/>
        </p:nvSpPr>
        <p:spPr>
          <a:xfrm>
            <a:off x="1968009" y="533645"/>
            <a:ext cx="8327136" cy="1938992"/>
          </a:xfrm>
          <a:prstGeom prst="rect">
            <a:avLst/>
          </a:prstGeom>
          <a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-1064" t="-2596" b="-649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sp>
        <p:nvSpPr>
          <p:cNvPr id="6" name="Google Shape;125;g104476d1465_1_17"/>
          <p:cNvSpPr txBox="1"/>
          <p:nvPr/>
        </p:nvSpPr>
        <p:spPr>
          <a:xfrm>
            <a:off x="871948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770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1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45" name="Google Shape;345;p21"/>
          <p:cNvSpPr txBox="1"/>
          <p:nvPr/>
        </p:nvSpPr>
        <p:spPr>
          <a:xfrm>
            <a:off x="2007765" y="520393"/>
            <a:ext cx="8327136" cy="501675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608" t="-503" b="-126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sp>
        <p:nvSpPr>
          <p:cNvPr id="6" name="Google Shape;125;g104476d1465_1_17"/>
          <p:cNvSpPr txBox="1"/>
          <p:nvPr/>
        </p:nvSpPr>
        <p:spPr>
          <a:xfrm>
            <a:off x="871948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770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2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 dirty="0"/>
          </a:p>
        </p:txBody>
      </p:sp>
      <p:sp>
        <p:nvSpPr>
          <p:cNvPr id="354" name="Google Shape;354;p22"/>
          <p:cNvSpPr txBox="1"/>
          <p:nvPr/>
        </p:nvSpPr>
        <p:spPr>
          <a:xfrm>
            <a:off x="2007765" y="520393"/>
            <a:ext cx="8327136" cy="5232202"/>
          </a:xfrm>
          <a:prstGeom prst="rect">
            <a:avLst/>
          </a:prstGeom>
          <a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-608" b="-96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 </a:t>
            </a:r>
            <a:endParaRPr dirty="0"/>
          </a:p>
        </p:txBody>
      </p:sp>
      <p:sp>
        <p:nvSpPr>
          <p:cNvPr id="6" name="Google Shape;125;g104476d1465_1_17"/>
          <p:cNvSpPr txBox="1"/>
          <p:nvPr/>
        </p:nvSpPr>
        <p:spPr>
          <a:xfrm>
            <a:off x="871948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770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3"/>
          <p:cNvSpPr/>
          <p:nvPr/>
        </p:nvSpPr>
        <p:spPr>
          <a:xfrm>
            <a:off x="0" y="-4352"/>
            <a:ext cx="2731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 dirty="0"/>
          </a:p>
        </p:txBody>
      </p:sp>
      <p:sp>
        <p:nvSpPr>
          <p:cNvPr id="363" name="Google Shape;363;p23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64" name="Google Shape;364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71948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770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73" name="Google Shape;373;p24"/>
          <p:cNvSpPr txBox="1"/>
          <p:nvPr/>
        </p:nvSpPr>
        <p:spPr>
          <a:xfrm>
            <a:off x="1498228" y="-106016"/>
            <a:ext cx="1041547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10.4.5 Wrap-Up: Ticket Out the Door</a:t>
            </a:r>
            <a:endParaRPr dirty="0"/>
          </a:p>
        </p:txBody>
      </p:sp>
      <p:pic>
        <p:nvPicPr>
          <p:cNvPr id="374" name="Google Shape;37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8778" y="14289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75" name="Google Shape;375;p24"/>
          <p:cNvSpPr txBox="1"/>
          <p:nvPr/>
        </p:nvSpPr>
        <p:spPr>
          <a:xfrm>
            <a:off x="1416078" y="1386026"/>
            <a:ext cx="9615876" cy="5139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The dot plot summarizes the hours of battery life for students’ cell phones when streaming videos. </a:t>
            </a:r>
            <a:endParaRPr dirty="0"/>
          </a:p>
          <a:p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algn="ctr"/>
            <a:endParaRPr sz="2400" b="1" dirty="0">
              <a:latin typeface="Verdana"/>
              <a:ea typeface="Verdana"/>
              <a:cs typeface="Verdana"/>
              <a:sym typeface="Verdana"/>
            </a:endParaRPr>
          </a:p>
          <a:p>
            <a:pPr algn="ctr"/>
            <a:r>
              <a:rPr lang="en-US" sz="2400" b="1" dirty="0">
                <a:latin typeface="Verdana"/>
                <a:ea typeface="Verdana"/>
                <a:cs typeface="Verdana"/>
                <a:sym typeface="Verdana"/>
              </a:rPr>
              <a:t>Battery Life (in hours)</a:t>
            </a:r>
            <a:endParaRPr dirty="0"/>
          </a:p>
          <a:p>
            <a:pPr algn="ctr"/>
            <a:endParaRPr sz="2000" b="1" dirty="0">
              <a:latin typeface="Verdana"/>
              <a:ea typeface="Verdana"/>
              <a:cs typeface="Verdana"/>
              <a:sym typeface="Verdana"/>
            </a:endParaRPr>
          </a:p>
          <a:p>
            <a:pPr algn="ctr"/>
            <a:endParaRPr sz="2000" b="1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76" name="Google Shape;376;p24" descr="Chart, scatter chart&#10;&#10;Description automatically generated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77062" y="2402219"/>
            <a:ext cx="4837876" cy="303926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5;g104476d1465_1_17"/>
          <p:cNvSpPr txBox="1"/>
          <p:nvPr/>
        </p:nvSpPr>
        <p:spPr>
          <a:xfrm>
            <a:off x="871948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770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5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 dirty="0"/>
          </a:p>
        </p:txBody>
      </p:sp>
      <p:sp>
        <p:nvSpPr>
          <p:cNvPr id="385" name="Google Shape;385;p25"/>
          <p:cNvSpPr txBox="1"/>
          <p:nvPr/>
        </p:nvSpPr>
        <p:spPr>
          <a:xfrm>
            <a:off x="1245704" y="520393"/>
            <a:ext cx="9851258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Mr. Funk’s world history class has an upcoming field trip to Tallahassee</a:t>
            </a: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, Florida 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that involves a five-hour drive. The students want to be able to watch videos on their phones during the drive without charging their cell phones.</a:t>
            </a:r>
            <a:endParaRPr dirty="0"/>
          </a:p>
          <a:p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457200">
              <a:buSzPts val="2400"/>
              <a:buFont typeface="Arial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Determine the appropriate measure of center and variation for the battery life of the students’ cell phones when streaming videos. </a:t>
            </a:r>
            <a:endParaRPr dirty="0"/>
          </a:p>
        </p:txBody>
      </p:sp>
      <p:sp>
        <p:nvSpPr>
          <p:cNvPr id="6" name="Google Shape;125;g104476d1465_1_17"/>
          <p:cNvSpPr txBox="1"/>
          <p:nvPr/>
        </p:nvSpPr>
        <p:spPr>
          <a:xfrm>
            <a:off x="871948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5770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862</Words>
  <Application>Microsoft Macintosh PowerPoint</Application>
  <PresentationFormat>Widescreen</PresentationFormat>
  <Paragraphs>161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Arial Black</vt:lpstr>
      <vt:lpstr>Calibri</vt:lpstr>
      <vt:lpstr>Cambria</vt:lpstr>
      <vt:lpstr>Cambria Math</vt:lpstr>
      <vt:lpstr>Courier New</vt:lpstr>
      <vt:lpstr>Verdana</vt:lpstr>
      <vt:lpstr>1_Office Theme</vt:lpstr>
      <vt:lpstr>6th Grade Accelerated Math  Unit 10, Lesson 4  Determining Appropriate Measures of Center and Variation  Volume 2, pg. 122   </vt:lpstr>
      <vt:lpstr>Benchmark</vt:lpstr>
      <vt:lpstr>PowerPoint Presentation</vt:lpstr>
      <vt:lpstr>PowerPoint Presentation</vt:lpstr>
      <vt:lpstr>Warm-Up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6th Accelerated Math  Unit 10, Lesson 4  Determining Appropriate Measures of Center and Variation  Volume 2, pg. 122  </dc:title>
  <dc:creator>Karen McKenzie</dc:creator>
  <cp:lastModifiedBy>Diana Barnett</cp:lastModifiedBy>
  <cp:revision>7</cp:revision>
  <dcterms:created xsi:type="dcterms:W3CDTF">2015-03-17T18:51:18Z</dcterms:created>
  <dcterms:modified xsi:type="dcterms:W3CDTF">2023-01-30T17:44:53Z</dcterms:modified>
</cp:coreProperties>
</file>