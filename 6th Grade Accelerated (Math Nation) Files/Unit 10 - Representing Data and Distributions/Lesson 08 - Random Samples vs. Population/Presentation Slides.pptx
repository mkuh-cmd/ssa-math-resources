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8"/>
  </p:notesMasterIdLst>
  <p:sldIdLst>
    <p:sldId id="256" r:id="rId2"/>
    <p:sldId id="257" r:id="rId3"/>
    <p:sldId id="345" r:id="rId4"/>
    <p:sldId id="286" r:id="rId5"/>
    <p:sldId id="261" r:id="rId6"/>
    <p:sldId id="287" r:id="rId7"/>
    <p:sldId id="383" r:id="rId8"/>
    <p:sldId id="289" r:id="rId9"/>
    <p:sldId id="290" r:id="rId10"/>
    <p:sldId id="308" r:id="rId11"/>
    <p:sldId id="389" r:id="rId12"/>
    <p:sldId id="390" r:id="rId13"/>
    <p:sldId id="391" r:id="rId14"/>
    <p:sldId id="392" r:id="rId15"/>
    <p:sldId id="393" r:id="rId16"/>
    <p:sldId id="394" r:id="rId17"/>
    <p:sldId id="314" r:id="rId18"/>
    <p:sldId id="315" r:id="rId19"/>
    <p:sldId id="316" r:id="rId20"/>
    <p:sldId id="339" r:id="rId21"/>
    <p:sldId id="340" r:id="rId22"/>
    <p:sldId id="341" r:id="rId23"/>
    <p:sldId id="384" r:id="rId24"/>
    <p:sldId id="371" r:id="rId25"/>
    <p:sldId id="372" r:id="rId26"/>
    <p:sldId id="373" r:id="rId27"/>
    <p:sldId id="374" r:id="rId28"/>
    <p:sldId id="375" r:id="rId29"/>
    <p:sldId id="376" r:id="rId30"/>
    <p:sldId id="387" r:id="rId31"/>
    <p:sldId id="388" r:id="rId32"/>
    <p:sldId id="395" r:id="rId33"/>
    <p:sldId id="396" r:id="rId34"/>
    <p:sldId id="306" r:id="rId35"/>
    <p:sldId id="307" r:id="rId36"/>
    <p:sldId id="397" r:id="rId3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9"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B6A"/>
    <a:srgbClr val="E24E5F"/>
    <a:srgbClr val="6ABC5E"/>
    <a:srgbClr val="BFBFBF"/>
    <a:srgbClr val="C9DF6F"/>
    <a:srgbClr val="417DBF"/>
    <a:srgbClr val="3F2A67"/>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03"/>
    <p:restoredTop sz="94694"/>
  </p:normalViewPr>
  <p:slideViewPr>
    <p:cSldViewPr snapToGrid="0">
      <p:cViewPr varScale="1">
        <p:scale>
          <a:sx n="121" d="100"/>
          <a:sy n="121" d="100"/>
        </p:scale>
        <p:origin x="664" y="13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5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23541589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3538175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068433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5281033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6486372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8810594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9940645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5752346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6738162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3683785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6679637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19413163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1335488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42191853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27538053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3554597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23676176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28685309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extLst>
      <p:ext uri="{BB962C8B-B14F-4D97-AF65-F5344CB8AC3E}">
        <p14:creationId xmlns:p14="http://schemas.microsoft.com/office/powerpoint/2010/main" val="28694300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extLst>
      <p:ext uri="{BB962C8B-B14F-4D97-AF65-F5344CB8AC3E}">
        <p14:creationId xmlns:p14="http://schemas.microsoft.com/office/powerpoint/2010/main" val="30248322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33</a:t>
            </a:fld>
            <a:endParaRPr/>
          </a:p>
        </p:txBody>
      </p:sp>
    </p:spTree>
    <p:extLst>
      <p:ext uri="{BB962C8B-B14F-4D97-AF65-F5344CB8AC3E}">
        <p14:creationId xmlns:p14="http://schemas.microsoft.com/office/powerpoint/2010/main" val="34141300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35</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36</a:t>
            </a:fld>
            <a:endParaRPr/>
          </a:p>
        </p:txBody>
      </p:sp>
    </p:spTree>
    <p:extLst>
      <p:ext uri="{BB962C8B-B14F-4D97-AF65-F5344CB8AC3E}">
        <p14:creationId xmlns:p14="http://schemas.microsoft.com/office/powerpoint/2010/main" val="21317411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9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0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8.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1" y="2212773"/>
            <a:ext cx="5077650" cy="3194455"/>
          </a:xfrm>
          <a:prstGeom prst="rect">
            <a:avLst/>
          </a:prstGeom>
        </p:spPr>
        <p:txBody>
          <a:bodyPr spcFirstLastPara="1" wrap="square" lIns="91425" tIns="45700" rIns="91425" bIns="45700" anchor="ctr" anchorCtr="0">
            <a:noAutofit/>
          </a:bodyPr>
          <a:lstStyle/>
          <a:p>
            <a:pPr algn="ctr">
              <a:lnSpc>
                <a:spcPct val="100000"/>
              </a:lnSpc>
            </a:pPr>
            <a:r>
              <a:rPr lang="en-US" sz="3600" b="1">
                <a:solidFill>
                  <a:srgbClr val="417DBF"/>
                </a:solidFill>
                <a:latin typeface="Verdana"/>
                <a:ea typeface="Verdana"/>
                <a:cs typeface="Verdana"/>
                <a:sym typeface="Verdana"/>
              </a:rPr>
              <a:t>6</a:t>
            </a:r>
            <a:r>
              <a:rPr lang="en-US" sz="3600" b="1" baseline="30000">
                <a:solidFill>
                  <a:srgbClr val="417DBF"/>
                </a:solidFill>
                <a:latin typeface="Verdana"/>
                <a:ea typeface="Verdana"/>
                <a:cs typeface="Verdana"/>
                <a:sym typeface="Verdana"/>
              </a:rPr>
              <a:t>th</a:t>
            </a:r>
            <a:r>
              <a:rPr lang="en-US" sz="3600" b="1">
                <a:solidFill>
                  <a:srgbClr val="417DBF"/>
                </a:solidFill>
                <a:latin typeface="Verdana"/>
                <a:ea typeface="Verdana"/>
                <a:cs typeface="Verdana"/>
                <a:sym typeface="Verdana"/>
              </a:rPr>
              <a:t> Grade Accelerated </a:t>
            </a:r>
            <a:r>
              <a:rPr lang="en-US" sz="3600" b="1" dirty="0">
                <a:solidFill>
                  <a:srgbClr val="417DBF"/>
                </a:solidFill>
                <a:latin typeface="Verdana"/>
                <a:ea typeface="Verdana"/>
                <a:cs typeface="Verdana"/>
                <a:sym typeface="Verdana"/>
              </a:rPr>
              <a:t>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10, Lesson 8</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Random Samples vs. Population</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146</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5" name="Picture 4" descr="Logo&#10;&#10;Description automatically generated">
            <a:extLst>
              <a:ext uri="{FF2B5EF4-FFF2-40B4-BE49-F238E27FC236}">
                <a16:creationId xmlns:a16="http://schemas.microsoft.com/office/drawing/2014/main" id="{DA55A498-46EC-079A-244B-9D0A6670848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6752" y="1829054"/>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573819" y="12743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750319" y="36321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146</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573819" y="1307592"/>
            <a:ext cx="904436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panose="020B0604030504040204" pitchFamily="34" charset="0"/>
                <a:ea typeface="Verdana" panose="020B0604030504040204" pitchFamily="34" charset="0"/>
                <a:cs typeface="Verdana" panose="020B0604030504040204" pitchFamily="34" charset="0"/>
              </a:rPr>
              <a:t>MA.7.DP.1.3</a:t>
            </a:r>
          </a:p>
          <a:p>
            <a:pPr marL="552450" lvl="1" indent="0">
              <a:buNone/>
            </a:pPr>
            <a:r>
              <a:rPr lang="en-US" sz="2400" dirty="0">
                <a:latin typeface="Verdana" panose="020B0604030504040204" pitchFamily="34" charset="0"/>
                <a:ea typeface="Verdana" panose="020B0604030504040204" pitchFamily="34" charset="0"/>
                <a:cs typeface="Verdana" panose="020B0604030504040204" pitchFamily="34" charset="0"/>
              </a:rPr>
              <a:t>Given categorical data from a random sample, use proportional relationships to make predictions about a population.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id="{78632872-3F42-3447-924A-20A16C6976F7}"/>
              </a:ext>
            </a:extLst>
          </p:cNvPr>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Google Shape;281;g104476d1465_1_17">
            <a:extLst>
              <a:ext uri="{FF2B5EF4-FFF2-40B4-BE49-F238E27FC236}">
                <a16:creationId xmlns:a16="http://schemas.microsoft.com/office/drawing/2014/main" id="{D915A027-4791-D04E-90A8-9E6239ED88EB}"/>
              </a:ext>
            </a:extLst>
          </p:cNvPr>
          <p:cNvPicPr preferRelativeResize="0"/>
          <p:nvPr/>
        </p:nvPicPr>
        <p:blipFill>
          <a:blip r:embed="rId2">
            <a:alphaModFix/>
          </a:blip>
          <a:stretch>
            <a:fillRect/>
          </a:stretch>
        </p:blipFill>
        <p:spPr>
          <a:xfrm>
            <a:off x="840471" y="372300"/>
            <a:ext cx="747300" cy="747300"/>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id="{73A67FE7-C13F-C24F-85E9-A4B96A1F42A8}"/>
              </a:ext>
            </a:extLst>
          </p:cNvPr>
          <p:cNvSpPr txBox="1">
            <a:spLocks/>
          </p:cNvSpPr>
          <p:nvPr/>
        </p:nvSpPr>
        <p:spPr>
          <a:xfrm>
            <a:off x="1665121"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7" name="Google Shape;296;g103996e1364_0_10">
            <a:extLst>
              <a:ext uri="{FF2B5EF4-FFF2-40B4-BE49-F238E27FC236}">
                <a16:creationId xmlns:a16="http://schemas.microsoft.com/office/drawing/2014/main" id="{5BB4D65A-27E8-4F4F-9348-5380FE318E8D}"/>
              </a:ext>
            </a:extLst>
          </p:cNvPr>
          <p:cNvSpPr txBox="1">
            <a:spLocks/>
          </p:cNvSpPr>
          <p:nvPr/>
        </p:nvSpPr>
        <p:spPr>
          <a:xfrm>
            <a:off x="1665121" y="1455367"/>
            <a:ext cx="8861758" cy="47452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p>
        </p:txBody>
      </p:sp>
      <p:sp>
        <p:nvSpPr>
          <p:cNvPr id="8"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146</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523886"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741724" y="28920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523886" y="1600200"/>
            <a:ext cx="914422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determine if a sample is representative of the population. </a:t>
            </a:r>
          </a:p>
        </p:txBody>
      </p:sp>
      <p:sp>
        <p:nvSpPr>
          <p:cNvPr id="8"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47872" y="59174"/>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10.8.1 Warm-Up: Electric Vehicle Technician</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600572" y="286487"/>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1347872" y="1493368"/>
            <a:ext cx="9589184" cy="3785652"/>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Ben Grandy is an electrical vehicle technician for City Car Share. When Ben was considering what to do with his life, he knew he wanted to do something that would bring him happiness. Now he uses the skills he has gained from his study of landscape architecture and work as an electrical engineer to maintain the fleet of electric vehicles and electric bikes used by City Car Share.</a:t>
            </a:r>
            <a:br>
              <a:rPr lang="en-US" sz="2400" dirty="0">
                <a:latin typeface="Verdana" panose="020B0604030504040204" pitchFamily="34" charset="0"/>
                <a:ea typeface="Verdana" panose="020B0604030504040204" pitchFamily="34" charset="0"/>
                <a:cs typeface="Verdana" panose="020B0604030504040204" pitchFamily="34" charset="0"/>
              </a:rPr>
            </a:br>
            <a:br>
              <a:rPr lang="en-US" sz="2400" dirty="0">
                <a:latin typeface="Verdana" panose="020B0604030504040204" pitchFamily="34" charset="0"/>
                <a:ea typeface="Verdana" panose="020B0604030504040204" pitchFamily="34" charset="0"/>
                <a:cs typeface="Verdana" panose="020B0604030504040204" pitchFamily="34" charset="0"/>
              </a:rPr>
            </a:br>
            <a:r>
              <a:rPr lang="en-US" sz="2400" dirty="0">
                <a:latin typeface="Verdana" panose="020B0604030504040204" pitchFamily="34" charset="0"/>
                <a:ea typeface="Verdana" panose="020B0604030504040204" pitchFamily="34" charset="0"/>
                <a:cs typeface="Verdana" panose="020B0604030504040204" pitchFamily="34" charset="0"/>
              </a:rPr>
              <a:t>Ben found that dedicating himself to a cause that is bigger than himself brings him happiness.</a:t>
            </a:r>
          </a:p>
        </p:txBody>
      </p:sp>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146</a:t>
            </a:r>
            <a:endParaRPr i="1" dirty="0">
              <a:latin typeface="Calibri"/>
              <a:ea typeface="Calibri"/>
              <a:cs typeface="Calibri"/>
              <a:sym typeface="Calibri"/>
            </a:endParaRPr>
          </a:p>
        </p:txBody>
      </p:sp>
      <p:pic>
        <p:nvPicPr>
          <p:cNvPr id="14"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TextBox 1">
            <a:extLst>
              <a:ext uri="{FF2B5EF4-FFF2-40B4-BE49-F238E27FC236}">
                <a16:creationId xmlns:a16="http://schemas.microsoft.com/office/drawing/2014/main" id="{E1D7562E-134F-D14B-AF1A-DF40E11EF758}"/>
              </a:ext>
            </a:extLst>
          </p:cNvPr>
          <p:cNvSpPr txBox="1"/>
          <p:nvPr/>
        </p:nvSpPr>
        <p:spPr>
          <a:xfrm>
            <a:off x="1184856" y="605261"/>
            <a:ext cx="9915216" cy="5170646"/>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Think about what you would like to do with your life. What kind of work would make you happy?</a:t>
            </a: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r>
              <a:rPr lang="en-US" sz="2200" dirty="0">
                <a:latin typeface="Verdana" panose="020B0604030504040204" pitchFamily="34" charset="0"/>
                <a:ea typeface="Verdana" panose="020B0604030504040204" pitchFamily="34" charset="0"/>
                <a:cs typeface="Verdana" panose="020B0604030504040204" pitchFamily="34" charset="0"/>
              </a:rPr>
              <a:t>In talking about his work, Ben said, “That’s how engineering and design is. You never get to a point where you think, ‘Oh, that’s perfect! That’s done.’ You start asking questions like, ‘Now that we’ve gotten this far, what’s the next step? How can we improve this?’” </a:t>
            </a:r>
          </a:p>
          <a:p>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How do you think having this mentality is helpful? </a:t>
            </a:r>
          </a:p>
        </p:txBody>
      </p:sp>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146</a:t>
            </a:r>
            <a:endParaRPr i="1" dirty="0">
              <a:latin typeface="Calibri"/>
              <a:ea typeface="Calibri"/>
              <a:cs typeface="Calibri"/>
              <a:sym typeface="Calibri"/>
            </a:endParaRPr>
          </a:p>
        </p:txBody>
      </p:sp>
      <p:pic>
        <p:nvPicPr>
          <p:cNvPr id="11"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509178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image6.png" descr="Icon&#10;&#10;Description automatically generated">
            <a:extLst>
              <a:ext uri="{FF2B5EF4-FFF2-40B4-BE49-F238E27FC236}">
                <a16:creationId xmlns:a16="http://schemas.microsoft.com/office/drawing/2014/main" id="{893078A3-C5AD-EC41-8D1C-35C1FBA72382}"/>
              </a:ext>
            </a:extLst>
          </p:cNvPr>
          <p:cNvPicPr/>
          <p:nvPr/>
        </p:nvPicPr>
        <p:blipFill>
          <a:blip r:embed="rId3"/>
          <a:srcRect/>
          <a:stretch>
            <a:fillRect/>
          </a:stretch>
        </p:blipFill>
        <p:spPr>
          <a:xfrm>
            <a:off x="4601428" y="2829169"/>
            <a:ext cx="1148148" cy="1148148"/>
          </a:xfrm>
          <a:prstGeom prst="rect">
            <a:avLst/>
          </a:prstGeom>
          <a:ln/>
        </p:spPr>
      </p:pic>
      <p:sp>
        <p:nvSpPr>
          <p:cNvPr id="9"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146</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96879" y="83248"/>
            <a:ext cx="967215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10.8.2 Guided Instruction: Is the Sample Representative of the Population?</a:t>
            </a:r>
          </a:p>
        </p:txBody>
      </p:sp>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1396880" y="2060681"/>
            <a:ext cx="94151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Many organizations want to know how large groups of people think and behave. This helps businesses make decisions regarding what to sell, when to be open, and whom to target with advertisements. Research is also used to make predictions about events like elections, and to help doctors provide appropriate healthcare to their patients. </a:t>
            </a:r>
            <a:b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b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To gather this information, companies and organizations often collect data </a:t>
            </a:r>
            <a:r>
              <a:rPr lang="en-US" altLang="en-US" sz="2400" b="1" i="1"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samples</a:t>
            </a: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from a </a:t>
            </a:r>
            <a:r>
              <a:rPr lang="en-US" altLang="en-US" sz="2400" b="1" i="1"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population</a:t>
            </a: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they are studying.</a:t>
            </a:r>
          </a:p>
        </p:txBody>
      </p:sp>
      <p:pic>
        <p:nvPicPr>
          <p:cNvPr id="11" name="image6.png" descr="Icon&#10;&#10;Description automatically generated">
            <a:extLst>
              <a:ext uri="{FF2B5EF4-FFF2-40B4-BE49-F238E27FC236}">
                <a16:creationId xmlns:a16="http://schemas.microsoft.com/office/drawing/2014/main" id="{797A3092-3E73-EA40-89DD-C952113E9EA5}"/>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649580" y="372448"/>
            <a:ext cx="747299" cy="747299"/>
          </a:xfrm>
          <a:prstGeom prst="rect">
            <a:avLst/>
          </a:prstGeom>
          <a:ln/>
        </p:spPr>
      </p:pic>
      <p:sp>
        <p:nvSpPr>
          <p:cNvPr id="8"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18" name="Group 17">
            <a:extLst>
              <a:ext uri="{FF2B5EF4-FFF2-40B4-BE49-F238E27FC236}">
                <a16:creationId xmlns:a16="http://schemas.microsoft.com/office/drawing/2014/main" id="{E506B962-F95C-D846-BD28-596048E4DC16}"/>
              </a:ext>
            </a:extLst>
          </p:cNvPr>
          <p:cNvGrpSpPr/>
          <p:nvPr/>
        </p:nvGrpSpPr>
        <p:grpSpPr>
          <a:xfrm>
            <a:off x="2785110" y="1672080"/>
            <a:ext cx="7020005" cy="1424860"/>
            <a:chOff x="2031299" y="3262288"/>
            <a:chExt cx="7020005" cy="1399615"/>
          </a:xfrm>
        </p:grpSpPr>
        <p:grpSp>
          <p:nvGrpSpPr>
            <p:cNvPr id="26" name="Group 25">
              <a:extLst>
                <a:ext uri="{FF2B5EF4-FFF2-40B4-BE49-F238E27FC236}">
                  <a16:creationId xmlns:a16="http://schemas.microsoft.com/office/drawing/2014/main" id="{7A9E0015-4745-A541-A438-0AB629ED43CB}"/>
                </a:ext>
              </a:extLst>
            </p:cNvPr>
            <p:cNvGrpSpPr/>
            <p:nvPr/>
          </p:nvGrpSpPr>
          <p:grpSpPr>
            <a:xfrm>
              <a:off x="2031299" y="3262288"/>
              <a:ext cx="7020005" cy="1399615"/>
              <a:chOff x="2031299" y="3373600"/>
              <a:chExt cx="7020005" cy="1399615"/>
            </a:xfrm>
          </p:grpSpPr>
          <p:sp>
            <p:nvSpPr>
              <p:cNvPr id="27" name="Rectangle 26">
                <a:extLst>
                  <a:ext uri="{FF2B5EF4-FFF2-40B4-BE49-F238E27FC236}">
                    <a16:creationId xmlns:a16="http://schemas.microsoft.com/office/drawing/2014/main" id="{ECC3DAA7-D07F-E04C-9F8C-B006AFC28F55}"/>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grpSp>
            <p:nvGrpSpPr>
              <p:cNvPr id="28" name="Group 27">
                <a:extLst>
                  <a:ext uri="{FF2B5EF4-FFF2-40B4-BE49-F238E27FC236}">
                    <a16:creationId xmlns:a16="http://schemas.microsoft.com/office/drawing/2014/main" id="{E3B76FC0-90D2-4D4D-BABF-17CF454F1388}"/>
                  </a:ext>
                </a:extLst>
              </p:cNvPr>
              <p:cNvGrpSpPr/>
              <p:nvPr/>
            </p:nvGrpSpPr>
            <p:grpSpPr>
              <a:xfrm>
                <a:off x="2031299" y="3373600"/>
                <a:ext cx="7020005" cy="1399615"/>
                <a:chOff x="2031299" y="3373600"/>
                <a:chExt cx="7020005" cy="1399615"/>
              </a:xfrm>
            </p:grpSpPr>
            <p:sp>
              <p:nvSpPr>
                <p:cNvPr id="29" name="Rectangle 28">
                  <a:extLst>
                    <a:ext uri="{FF2B5EF4-FFF2-40B4-BE49-F238E27FC236}">
                      <a16:creationId xmlns:a16="http://schemas.microsoft.com/office/drawing/2014/main" id="{3B2FECB0-988C-974A-906C-F0AB51404597}"/>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grpSp>
              <p:nvGrpSpPr>
                <p:cNvPr id="30" name="Group 29">
                  <a:extLst>
                    <a:ext uri="{FF2B5EF4-FFF2-40B4-BE49-F238E27FC236}">
                      <a16:creationId xmlns:a16="http://schemas.microsoft.com/office/drawing/2014/main" id="{1B7DAAA1-F41E-D04C-B952-FD282B049AB9}"/>
                    </a:ext>
                  </a:extLst>
                </p:cNvPr>
                <p:cNvGrpSpPr/>
                <p:nvPr/>
              </p:nvGrpSpPr>
              <p:grpSpPr>
                <a:xfrm>
                  <a:off x="2031299" y="3373600"/>
                  <a:ext cx="7020005" cy="1399615"/>
                  <a:chOff x="-1" y="0"/>
                  <a:chExt cx="7020005" cy="1399615"/>
                </a:xfrm>
              </p:grpSpPr>
              <p:sp>
                <p:nvSpPr>
                  <p:cNvPr id="31" name="Rectangle 30">
                    <a:extLst>
                      <a:ext uri="{FF2B5EF4-FFF2-40B4-BE49-F238E27FC236}">
                        <a16:creationId xmlns:a16="http://schemas.microsoft.com/office/drawing/2014/main" id="{84CFF84D-F473-794F-BB6E-E018363DBEDB}"/>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
                <p:nvSpPr>
                  <p:cNvPr id="32" name="Rounded Rectangle 31">
                    <a:extLst>
                      <a:ext uri="{FF2B5EF4-FFF2-40B4-BE49-F238E27FC236}">
                        <a16:creationId xmlns:a16="http://schemas.microsoft.com/office/drawing/2014/main" id="{238743C0-95CE-A043-81BD-0949604E0797}"/>
                      </a:ext>
                    </a:extLst>
                  </p:cNvPr>
                  <p:cNvSpPr/>
                  <p:nvPr/>
                </p:nvSpPr>
                <p:spPr>
                  <a:xfrm>
                    <a:off x="-1" y="0"/>
                    <a:ext cx="7020005" cy="1399615"/>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a:spcAft>
                        <a:spcPts val="1000"/>
                      </a:spcAft>
                    </a:pPr>
                    <a:r>
                      <a:rPr lang="en-US" sz="2000" dirty="0">
                        <a:solidFill>
                          <a:srgbClr val="6C993D"/>
                        </a:solidFill>
                        <a:latin typeface="Verdana" panose="020B0604030504040204" pitchFamily="34" charset="0"/>
                        <a:ea typeface="Times New Roman" panose="02020603050405020304" pitchFamily="18" charset="0"/>
                        <a:cs typeface="Cambria" panose="02040503050406030204" pitchFamily="18" charset="0"/>
                      </a:rPr>
                      <a:t>A </a:t>
                    </a:r>
                    <a:r>
                      <a:rPr lang="en-US" sz="2000" b="1" i="1" dirty="0">
                        <a:solidFill>
                          <a:srgbClr val="6C993D"/>
                        </a:solidFill>
                        <a:latin typeface="Verdana" panose="020B0604030504040204" pitchFamily="34" charset="0"/>
                        <a:ea typeface="Times New Roman" panose="02020603050405020304" pitchFamily="18" charset="0"/>
                        <a:cs typeface="Cambria" panose="02040503050406030204" pitchFamily="18" charset="0"/>
                      </a:rPr>
                      <a:t>population</a:t>
                    </a:r>
                    <a:r>
                      <a:rPr lang="en-US" sz="2000" dirty="0">
                        <a:solidFill>
                          <a:srgbClr val="6C993D"/>
                        </a:solidFill>
                        <a:latin typeface="Verdana" panose="020B0604030504040204" pitchFamily="34" charset="0"/>
                        <a:ea typeface="Times New Roman" panose="02020603050405020304" pitchFamily="18" charset="0"/>
                        <a:cs typeface="Cambria" panose="02040503050406030204" pitchFamily="18" charset="0"/>
                      </a:rPr>
                      <a:t> is the entire set of cases or individuals under consideration in a statistical analysis.</a:t>
                    </a:r>
                    <a:r>
                      <a:rPr lang="en-US" dirty="0">
                        <a:latin typeface="Cambria" panose="02040503050406030204" pitchFamily="18" charset="0"/>
                        <a:ea typeface="Times New Roman" panose="02020603050405020304" pitchFamily="18" charset="0"/>
                        <a:cs typeface="Cambria" panose="02040503050406030204" pitchFamily="18" charset="0"/>
                      </a:rPr>
                      <a:t> </a:t>
                    </a:r>
                    <a:endParaRPr lang="x-none" dirty="0">
                      <a:latin typeface="Cambria" panose="02040503050406030204" pitchFamily="18" charset="0"/>
                      <a:ea typeface="Times New Roman" panose="02020603050405020304" pitchFamily="18" charset="0"/>
                      <a:cs typeface="Cambria" panose="02040503050406030204" pitchFamily="18" charset="0"/>
                    </a:endParaRPr>
                  </a:p>
                </p:txBody>
              </p:sp>
              <p:pic>
                <p:nvPicPr>
                  <p:cNvPr id="33" name="Shape 9" descr="Icon&#10;&#10;Description automatically generated">
                    <a:extLst>
                      <a:ext uri="{FF2B5EF4-FFF2-40B4-BE49-F238E27FC236}">
                        <a16:creationId xmlns:a16="http://schemas.microsoft.com/office/drawing/2014/main" id="{F0F25364-5D9F-0C47-B883-F3BF825FCD84}"/>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77182" y="168272"/>
                    <a:ext cx="548640" cy="539750"/>
                  </a:xfrm>
                  <a:prstGeom prst="rect">
                    <a:avLst/>
                  </a:prstGeom>
                  <a:noFill/>
                  <a:ln>
                    <a:noFill/>
                  </a:ln>
                  <a:effectLst>
                    <a:outerShdw blurRad="50800" dist="38100" dir="2700000" algn="tl" rotWithShape="0">
                      <a:prstClr val="black">
                        <a:alpha val="40000"/>
                      </a:prstClr>
                    </a:outerShdw>
                  </a:effectLst>
                </p:spPr>
              </p:pic>
            </p:grpSp>
          </p:grpSp>
        </p:grpSp>
      </p:grpSp>
      <p:grpSp>
        <p:nvGrpSpPr>
          <p:cNvPr id="19" name="Group 18">
            <a:extLst>
              <a:ext uri="{FF2B5EF4-FFF2-40B4-BE49-F238E27FC236}">
                <a16:creationId xmlns:a16="http://schemas.microsoft.com/office/drawing/2014/main" id="{4D8C21C4-B728-A242-AA70-37568ECD1091}"/>
              </a:ext>
            </a:extLst>
          </p:cNvPr>
          <p:cNvGrpSpPr/>
          <p:nvPr/>
        </p:nvGrpSpPr>
        <p:grpSpPr>
          <a:xfrm>
            <a:off x="2785110" y="3353057"/>
            <a:ext cx="7020004" cy="1053466"/>
            <a:chOff x="2031300" y="3373599"/>
            <a:chExt cx="7020004" cy="1035401"/>
          </a:xfrm>
        </p:grpSpPr>
        <p:sp>
          <p:nvSpPr>
            <p:cNvPr id="20" name="Rectangle 19">
              <a:extLst>
                <a:ext uri="{FF2B5EF4-FFF2-40B4-BE49-F238E27FC236}">
                  <a16:creationId xmlns:a16="http://schemas.microsoft.com/office/drawing/2014/main" id="{BA508364-E0A6-734C-BE35-0770F84B2C22}"/>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grpSp>
          <p:nvGrpSpPr>
            <p:cNvPr id="21" name="Group 20">
              <a:extLst>
                <a:ext uri="{FF2B5EF4-FFF2-40B4-BE49-F238E27FC236}">
                  <a16:creationId xmlns:a16="http://schemas.microsoft.com/office/drawing/2014/main" id="{CD1B3928-C840-0943-BE97-D15E47D0C72D}"/>
                </a:ext>
              </a:extLst>
            </p:cNvPr>
            <p:cNvGrpSpPr/>
            <p:nvPr/>
          </p:nvGrpSpPr>
          <p:grpSpPr>
            <a:xfrm>
              <a:off x="2031300" y="3373599"/>
              <a:ext cx="7020004" cy="812801"/>
              <a:chOff x="2031300" y="3373599"/>
              <a:chExt cx="7020004" cy="812801"/>
            </a:xfrm>
          </p:grpSpPr>
          <p:sp>
            <p:nvSpPr>
              <p:cNvPr id="22" name="Rectangle 21">
                <a:extLst>
                  <a:ext uri="{FF2B5EF4-FFF2-40B4-BE49-F238E27FC236}">
                    <a16:creationId xmlns:a16="http://schemas.microsoft.com/office/drawing/2014/main" id="{E6BE72D2-23A7-A142-A46E-1252A5024F10}"/>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grpSp>
            <p:nvGrpSpPr>
              <p:cNvPr id="23" name="Group 22">
                <a:extLst>
                  <a:ext uri="{FF2B5EF4-FFF2-40B4-BE49-F238E27FC236}">
                    <a16:creationId xmlns:a16="http://schemas.microsoft.com/office/drawing/2014/main" id="{BF6404DC-B472-DB4B-9445-A3796F011A07}"/>
                  </a:ext>
                </a:extLst>
              </p:cNvPr>
              <p:cNvGrpSpPr/>
              <p:nvPr/>
            </p:nvGrpSpPr>
            <p:grpSpPr>
              <a:xfrm>
                <a:off x="2031300" y="3373599"/>
                <a:ext cx="7020004" cy="812801"/>
                <a:chOff x="0" y="-1"/>
                <a:chExt cx="7020004" cy="812801"/>
              </a:xfrm>
            </p:grpSpPr>
            <p:sp>
              <p:nvSpPr>
                <p:cNvPr id="24" name="Rectangle 23">
                  <a:extLst>
                    <a:ext uri="{FF2B5EF4-FFF2-40B4-BE49-F238E27FC236}">
                      <a16:creationId xmlns:a16="http://schemas.microsoft.com/office/drawing/2014/main" id="{38625C04-30F7-3D4D-AF88-BFCD0B99EB22}"/>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
              <p:nvSpPr>
                <p:cNvPr id="25" name="Rounded Rectangle 24">
                  <a:extLst>
                    <a:ext uri="{FF2B5EF4-FFF2-40B4-BE49-F238E27FC236}">
                      <a16:creationId xmlns:a16="http://schemas.microsoft.com/office/drawing/2014/main" id="{18DF3029-118B-5040-9A12-4416FB563E1A}"/>
                    </a:ext>
                  </a:extLst>
                </p:cNvPr>
                <p:cNvSpPr/>
                <p:nvPr/>
              </p:nvSpPr>
              <p:spPr>
                <a:xfrm>
                  <a:off x="0" y="-1"/>
                  <a:ext cx="7020004" cy="812800"/>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a:spcBef>
                      <a:spcPts val="1010"/>
                    </a:spcBef>
                    <a:spcAft>
                      <a:spcPts val="1000"/>
                    </a:spcAft>
                  </a:pPr>
                  <a:r>
                    <a:rPr lang="en-US" sz="2000" dirty="0">
                      <a:solidFill>
                        <a:srgbClr val="6C993D"/>
                      </a:solidFill>
                      <a:latin typeface="Verdana" panose="020B0604030504040204" pitchFamily="34" charset="0"/>
                      <a:ea typeface="Times New Roman" panose="02020603050405020304" pitchFamily="18" charset="0"/>
                      <a:cs typeface="Cambria" panose="02040503050406030204" pitchFamily="18" charset="0"/>
                    </a:rPr>
                    <a:t>A </a:t>
                  </a:r>
                  <a:r>
                    <a:rPr lang="en-US" sz="2000" b="1" i="1" dirty="0">
                      <a:solidFill>
                        <a:srgbClr val="6C993D"/>
                      </a:solidFill>
                      <a:latin typeface="Verdana" panose="020B0604030504040204" pitchFamily="34" charset="0"/>
                      <a:ea typeface="Times New Roman" panose="02020603050405020304" pitchFamily="18" charset="0"/>
                      <a:cs typeface="Cambria" panose="02040503050406030204" pitchFamily="18" charset="0"/>
                    </a:rPr>
                    <a:t>sample</a:t>
                  </a:r>
                  <a:r>
                    <a:rPr lang="en-US" sz="2000" dirty="0">
                      <a:solidFill>
                        <a:srgbClr val="6C993D"/>
                      </a:solidFill>
                      <a:latin typeface="Verdana" panose="020B0604030504040204" pitchFamily="34" charset="0"/>
                      <a:ea typeface="Times New Roman" panose="02020603050405020304" pitchFamily="18" charset="0"/>
                      <a:cs typeface="Cambria" panose="02040503050406030204" pitchFamily="18" charset="0"/>
                    </a:rPr>
                    <a:t> is a subset, or part, of a population.</a:t>
                  </a:r>
                  <a:r>
                    <a:rPr lang="en-US" dirty="0">
                      <a:latin typeface="Cambria" panose="02040503050406030204" pitchFamily="18" charset="0"/>
                      <a:ea typeface="Times New Roman" panose="02020603050405020304" pitchFamily="18" charset="0"/>
                      <a:cs typeface="Cambria" panose="02040503050406030204" pitchFamily="18" charset="0"/>
                    </a:rPr>
                    <a:t> </a:t>
                  </a:r>
                  <a:endParaRPr lang="x-none" dirty="0">
                    <a:latin typeface="Cambria" panose="02040503050406030204" pitchFamily="18" charset="0"/>
                    <a:ea typeface="Times New Roman" panose="02020603050405020304" pitchFamily="18" charset="0"/>
                    <a:cs typeface="Cambria" panose="02040503050406030204" pitchFamily="18" charset="0"/>
                  </a:endParaRPr>
                </a:p>
              </p:txBody>
            </p:sp>
          </p:grpSp>
        </p:grpSp>
      </p:grpSp>
      <p:sp>
        <p:nvSpPr>
          <p:cNvPr id="34"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146</a:t>
            </a:r>
            <a:endParaRPr i="1" dirty="0">
              <a:latin typeface="Calibri"/>
              <a:ea typeface="Calibri"/>
              <a:cs typeface="Calibri"/>
              <a:sym typeface="Calibri"/>
            </a:endParaRPr>
          </a:p>
        </p:txBody>
      </p:sp>
      <p:pic>
        <p:nvPicPr>
          <p:cNvPr id="35"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93813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34" name="Rectangle 33">
            <a:extLst>
              <a:ext uri="{FF2B5EF4-FFF2-40B4-BE49-F238E27FC236}">
                <a16:creationId xmlns:a16="http://schemas.microsoft.com/office/drawing/2014/main" id="{CD330F31-6BC7-B146-B595-34E7025365DB}"/>
              </a:ext>
            </a:extLst>
          </p:cNvPr>
          <p:cNvSpPr>
            <a:spLocks noChangeArrowheads="1"/>
          </p:cNvSpPr>
          <p:nvPr/>
        </p:nvSpPr>
        <p:spPr bwMode="auto">
          <a:xfrm>
            <a:off x="2155882" y="352398"/>
            <a:ext cx="8438546"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Imagine a group of researchers want to gather information about which candidate for sheriff all registered voters in Glades County, Florida plan to vote for in an upcoming election.</a:t>
            </a:r>
          </a:p>
          <a:p>
            <a:pPr lvl="0"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p>
          <a:p>
            <a:pPr marL="447675"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Use the definitions to complete the statements.</a:t>
            </a:r>
          </a:p>
          <a:p>
            <a:pPr marL="447675" eaLnBrk="0" fontAlgn="base" hangingPunct="0">
              <a:spcBef>
                <a:spcPct val="0"/>
              </a:spcBef>
              <a:spcAft>
                <a:spcPct val="0"/>
              </a:spcAft>
              <a:buClrTx/>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47675"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In this scenario, the                      being studied is </a:t>
            </a:r>
          </a:p>
          <a:p>
            <a:pPr marL="447675"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p>
          <a:p>
            <a:pPr marL="447675"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all registered voters in Glades County, Florida. It is not </a:t>
            </a:r>
          </a:p>
          <a:p>
            <a:pPr marL="447675"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p>
          <a:p>
            <a:pPr marL="447675"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realistic for researchers to ask every single registered </a:t>
            </a:r>
          </a:p>
          <a:p>
            <a:pPr marL="447675"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p>
          <a:p>
            <a:pPr marL="447675"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voter, so researchers would collect data from a </a:t>
            </a:r>
          </a:p>
          <a:p>
            <a:pPr marL="447675" eaLnBrk="0" fontAlgn="base" hangingPunct="0">
              <a:spcBef>
                <a:spcPct val="0"/>
              </a:spcBef>
              <a:spcAft>
                <a:spcPct val="0"/>
              </a:spcAft>
              <a:buClrTx/>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47675"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of registered voters in Glades County, Florida </a:t>
            </a:r>
          </a:p>
          <a:p>
            <a:pPr marL="447675" eaLnBrk="0" fontAlgn="base" hangingPunct="0">
              <a:spcBef>
                <a:spcPct val="0"/>
              </a:spcBef>
              <a:spcAft>
                <a:spcPct val="0"/>
              </a:spcAft>
              <a:buClrTx/>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47675"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to make predictions.</a:t>
            </a:r>
          </a:p>
          <a:p>
            <a:pPr lvl="0" eaLnBrk="0" fontAlgn="base" hangingPunct="0">
              <a:spcBef>
                <a:spcPct val="0"/>
              </a:spcBef>
              <a:spcAft>
                <a:spcPct val="0"/>
              </a:spcAft>
              <a:buClrTx/>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p:txBody>
      </p:sp>
      <p:pic>
        <p:nvPicPr>
          <p:cNvPr id="3" name="Picture 2" descr="A picture containing shape&#10;&#10;Description automatically generated">
            <a:extLst>
              <a:ext uri="{FF2B5EF4-FFF2-40B4-BE49-F238E27FC236}">
                <a16:creationId xmlns:a16="http://schemas.microsoft.com/office/drawing/2014/main" id="{EC02DC9B-9059-9443-97B1-83F377CDDB7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390615" y="2337604"/>
            <a:ext cx="1709939" cy="754666"/>
          </a:xfrm>
          <a:prstGeom prst="rect">
            <a:avLst/>
          </a:prstGeom>
        </p:spPr>
      </p:pic>
      <p:pic>
        <p:nvPicPr>
          <p:cNvPr id="35" name="Picture 34" descr="A picture containing shape&#10;&#10;Description automatically generated">
            <a:extLst>
              <a:ext uri="{FF2B5EF4-FFF2-40B4-BE49-F238E27FC236}">
                <a16:creationId xmlns:a16="http://schemas.microsoft.com/office/drawing/2014/main" id="{F957F104-4CED-7E46-96C6-E181F0B2A9D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634536" y="4784590"/>
            <a:ext cx="1709939" cy="754666"/>
          </a:xfrm>
          <a:prstGeom prst="rect">
            <a:avLst/>
          </a:prstGeom>
        </p:spPr>
      </p:pic>
      <p:sp>
        <p:nvSpPr>
          <p:cNvPr id="8"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12686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CD330F31-6BC7-B146-B595-34E7025365DB}"/>
                  </a:ext>
                </a:extLst>
              </p:cNvPr>
              <p:cNvSpPr>
                <a:spLocks noChangeArrowheads="1"/>
              </p:cNvSpPr>
              <p:nvPr/>
            </p:nvSpPr>
            <p:spPr bwMode="auto">
              <a:xfrm>
                <a:off x="1197735" y="650672"/>
                <a:ext cx="9556123" cy="449353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startAt="2"/>
                </a:pPr>
                <a:r>
                  <a:rPr lang="en-US" altLang="en-US" sz="22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Volusia County School District wants to find out more about which mode of transportation students take to school, so they decide to conduct a survey. The entire school district has a population of </a:t>
                </a:r>
                <a14:m>
                  <m:oMath xmlns:m="http://schemas.openxmlformats.org/officeDocument/2006/math">
                    <m:r>
                      <a:rPr lang="en-US" altLang="en-US" sz="22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63,223</m:t>
                    </m:r>
                  </m:oMath>
                </a14:m>
                <a:r>
                  <a:rPr lang="en-US" altLang="en-US" sz="22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students. Since the number of students is so large, the district will only survey some of the students.</a:t>
                </a:r>
              </a:p>
              <a:p>
                <a:pPr lvl="0" eaLnBrk="0" fontAlgn="base" hangingPunct="0">
                  <a:spcBef>
                    <a:spcPct val="0"/>
                  </a:spcBef>
                  <a:spcAft>
                    <a:spcPct val="0"/>
                  </a:spcAft>
                  <a:buClrTx/>
                </a:pPr>
                <a:endParaRPr lang="en-US" altLang="en-US" sz="22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87425" indent="-539750" eaLnBrk="0" fontAlgn="base" hangingPunct="0">
                  <a:spcBef>
                    <a:spcPct val="0"/>
                  </a:spcBef>
                  <a:spcAft>
                    <a:spcPct val="0"/>
                  </a:spcAft>
                  <a:buClrTx/>
                  <a:buFont typeface="+mj-lt"/>
                  <a:buAutoNum type="alphaLcPeriod"/>
                </a:pPr>
                <a:r>
                  <a:rPr lang="en-US" altLang="en-US" sz="22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In this scenario, what is the population being studied?</a:t>
                </a:r>
              </a:p>
              <a:p>
                <a:pPr marL="987425" indent="-539750" eaLnBrk="0" fontAlgn="base" hangingPunct="0">
                  <a:spcBef>
                    <a:spcPct val="0"/>
                  </a:spcBef>
                  <a:spcAft>
                    <a:spcPct val="0"/>
                  </a:spcAft>
                  <a:buClrTx/>
                  <a:buFont typeface="+mj-lt"/>
                  <a:buAutoNum type="alphaLcPeriod"/>
                </a:pPr>
                <a:endParaRPr lang="en-US" altLang="en-US" sz="22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87425" indent="-539750" eaLnBrk="0" fontAlgn="base" hangingPunct="0">
                  <a:spcBef>
                    <a:spcPct val="0"/>
                  </a:spcBef>
                  <a:spcAft>
                    <a:spcPct val="0"/>
                  </a:spcAft>
                  <a:buClrTx/>
                  <a:buFont typeface="+mj-lt"/>
                  <a:buAutoNum type="alphaLcPeriod"/>
                </a:pPr>
                <a:endParaRPr lang="en-US" altLang="en-US" sz="22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87425" indent="-539750" eaLnBrk="0" fontAlgn="base" hangingPunct="0">
                  <a:spcBef>
                    <a:spcPct val="0"/>
                  </a:spcBef>
                  <a:spcAft>
                    <a:spcPct val="0"/>
                  </a:spcAft>
                  <a:buClrTx/>
                  <a:buFont typeface="+mj-lt"/>
                  <a:buAutoNum type="alphaLcPeriod"/>
                </a:pPr>
                <a:endParaRPr lang="en-US" altLang="en-US" sz="22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87425" indent="-539750" eaLnBrk="0" fontAlgn="base" hangingPunct="0">
                  <a:spcBef>
                    <a:spcPct val="0"/>
                  </a:spcBef>
                  <a:spcAft>
                    <a:spcPct val="0"/>
                  </a:spcAft>
                  <a:buClrTx/>
                  <a:buFont typeface="+mj-lt"/>
                  <a:buAutoNum type="alphaLcPeriod"/>
                </a:pPr>
                <a:endParaRPr lang="en-US" altLang="en-US" sz="22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87425" indent="-539750" eaLnBrk="0" fontAlgn="base" hangingPunct="0">
                  <a:spcBef>
                    <a:spcPct val="0"/>
                  </a:spcBef>
                  <a:spcAft>
                    <a:spcPct val="0"/>
                  </a:spcAft>
                  <a:buClrTx/>
                  <a:buFont typeface="+mj-lt"/>
                  <a:buAutoNum type="alphaLcPeriod"/>
                </a:pPr>
                <a:r>
                  <a:rPr lang="en-US" altLang="en-US" sz="22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What is the sample being used?</a:t>
                </a:r>
              </a:p>
              <a:p>
                <a:pPr marL="457200" indent="-457200" eaLnBrk="0" fontAlgn="base" hangingPunct="0">
                  <a:spcBef>
                    <a:spcPct val="0"/>
                  </a:spcBef>
                  <a:spcAft>
                    <a:spcPct val="0"/>
                  </a:spcAft>
                  <a:buClrTx/>
                  <a:buFont typeface="+mj-lt"/>
                  <a:buAutoNum type="alphaLcPeriod"/>
                </a:pPr>
                <a:endParaRPr lang="en-US" altLang="en-US" sz="22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34" name="Rectangle 33">
                <a:extLst>
                  <a:ext uri="{FF2B5EF4-FFF2-40B4-BE49-F238E27FC236}">
                    <a16:creationId xmlns:a16="http://schemas.microsoft.com/office/drawing/2014/main" xmlns:a14="http://schemas.microsoft.com/office/drawing/2010/main" xmlns="" id="{CD330F31-6BC7-B146-B595-34E7025365DB}"/>
                  </a:ext>
                </a:extLst>
              </p:cNvPr>
              <p:cNvSpPr>
                <a:spLocks noRot="1" noChangeAspect="1" noMove="1" noResize="1" noEditPoints="1" noAdjustHandles="1" noChangeArrowheads="1" noChangeShapeType="1" noTextEdit="1"/>
              </p:cNvSpPr>
              <p:nvPr/>
            </p:nvSpPr>
            <p:spPr bwMode="auto">
              <a:xfrm>
                <a:off x="1197735" y="650672"/>
                <a:ext cx="9556123" cy="4493538"/>
              </a:xfrm>
              <a:prstGeom prst="rect">
                <a:avLst/>
              </a:prstGeom>
              <a:blipFill rotWithShape="0">
                <a:blip r:embed="rId3"/>
                <a:stretch>
                  <a:fillRect l="-829" t="-543" r="-6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6"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147</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39402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34" name="Rectangle 33">
            <a:extLst>
              <a:ext uri="{FF2B5EF4-FFF2-40B4-BE49-F238E27FC236}">
                <a16:creationId xmlns:a16="http://schemas.microsoft.com/office/drawing/2014/main" id="{CD330F31-6BC7-B146-B595-34E7025365DB}"/>
              </a:ext>
            </a:extLst>
          </p:cNvPr>
          <p:cNvSpPr>
            <a:spLocks noChangeArrowheads="1"/>
          </p:cNvSpPr>
          <p:nvPr/>
        </p:nvSpPr>
        <p:spPr bwMode="auto">
          <a:xfrm>
            <a:off x="1236373" y="610144"/>
            <a:ext cx="973611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To ensure the students surveyed are representative of all students in Volusia County, a system is used to select who is surveyed.</a:t>
            </a:r>
          </a:p>
        </p:txBody>
      </p:sp>
      <p:grpSp>
        <p:nvGrpSpPr>
          <p:cNvPr id="6" name="Group 5">
            <a:extLst>
              <a:ext uri="{FF2B5EF4-FFF2-40B4-BE49-F238E27FC236}">
                <a16:creationId xmlns:a16="http://schemas.microsoft.com/office/drawing/2014/main" id="{964EBD70-63E2-BB43-A6C8-5C6C6839E4E5}"/>
              </a:ext>
            </a:extLst>
          </p:cNvPr>
          <p:cNvGrpSpPr/>
          <p:nvPr/>
        </p:nvGrpSpPr>
        <p:grpSpPr>
          <a:xfrm>
            <a:off x="2781300" y="2665098"/>
            <a:ext cx="6629400" cy="1527811"/>
            <a:chOff x="2031300" y="3275734"/>
            <a:chExt cx="6629400" cy="1527859"/>
          </a:xfrm>
        </p:grpSpPr>
        <p:grpSp>
          <p:nvGrpSpPr>
            <p:cNvPr id="7" name="Group 6">
              <a:extLst>
                <a:ext uri="{FF2B5EF4-FFF2-40B4-BE49-F238E27FC236}">
                  <a16:creationId xmlns:a16="http://schemas.microsoft.com/office/drawing/2014/main" id="{010003B5-96CD-5343-8A29-CBCE13E510EF}"/>
                </a:ext>
              </a:extLst>
            </p:cNvPr>
            <p:cNvGrpSpPr/>
            <p:nvPr/>
          </p:nvGrpSpPr>
          <p:grpSpPr>
            <a:xfrm>
              <a:off x="2031300" y="3275734"/>
              <a:ext cx="6629400" cy="1527859"/>
              <a:chOff x="0" y="-1"/>
              <a:chExt cx="6629400" cy="1527859"/>
            </a:xfrm>
          </p:grpSpPr>
          <p:sp>
            <p:nvSpPr>
              <p:cNvPr id="8" name="Rectangle 7">
                <a:extLst>
                  <a:ext uri="{FF2B5EF4-FFF2-40B4-BE49-F238E27FC236}">
                    <a16:creationId xmlns:a16="http://schemas.microsoft.com/office/drawing/2014/main" id="{C30C6F97-940E-C648-9490-310626C8AC49}"/>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grpSp>
            <p:nvGrpSpPr>
              <p:cNvPr id="9" name="Group 8">
                <a:extLst>
                  <a:ext uri="{FF2B5EF4-FFF2-40B4-BE49-F238E27FC236}">
                    <a16:creationId xmlns:a16="http://schemas.microsoft.com/office/drawing/2014/main" id="{48E47D14-E16E-FE4F-A973-C56369BE9DC0}"/>
                  </a:ext>
                </a:extLst>
              </p:cNvPr>
              <p:cNvGrpSpPr/>
              <p:nvPr/>
            </p:nvGrpSpPr>
            <p:grpSpPr>
              <a:xfrm>
                <a:off x="0" y="-1"/>
                <a:ext cx="6629400" cy="1527859"/>
                <a:chOff x="0" y="-1"/>
                <a:chExt cx="6629400" cy="1527859"/>
              </a:xfrm>
            </p:grpSpPr>
            <p:sp>
              <p:nvSpPr>
                <p:cNvPr id="11" name="Rectangle 10">
                  <a:extLst>
                    <a:ext uri="{FF2B5EF4-FFF2-40B4-BE49-F238E27FC236}">
                      <a16:creationId xmlns:a16="http://schemas.microsoft.com/office/drawing/2014/main" id="{0002ACFC-D485-BC44-BEDA-9CB72B7FB55A}"/>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
              <p:nvSpPr>
                <p:cNvPr id="13" name="Rectangle 12">
                  <a:extLst>
                    <a:ext uri="{FF2B5EF4-FFF2-40B4-BE49-F238E27FC236}">
                      <a16:creationId xmlns:a16="http://schemas.microsoft.com/office/drawing/2014/main" id="{798B97CF-69D8-5F45-83E4-4CFD90B1FC92}"/>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
              <p:nvSpPr>
                <p:cNvPr id="14" name="Rounded Rectangle 13">
                  <a:extLst>
                    <a:ext uri="{FF2B5EF4-FFF2-40B4-BE49-F238E27FC236}">
                      <a16:creationId xmlns:a16="http://schemas.microsoft.com/office/drawing/2014/main" id="{00644F10-95E2-CC45-85DE-2D11B41B1214}"/>
                    </a:ext>
                  </a:extLst>
                </p:cNvPr>
                <p:cNvSpPr/>
                <p:nvPr/>
              </p:nvSpPr>
              <p:spPr>
                <a:xfrm>
                  <a:off x="0" y="-1"/>
                  <a:ext cx="6629400" cy="1527859"/>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marR="34290">
                    <a:spcBef>
                      <a:spcPts val="900"/>
                    </a:spcBef>
                    <a:spcAft>
                      <a:spcPts val="900"/>
                    </a:spcAft>
                  </a:pPr>
                  <a:r>
                    <a:rPr lang="en-US" sz="1800" dirty="0">
                      <a:solidFill>
                        <a:srgbClr val="2475BF"/>
                      </a:solidFill>
                      <a:latin typeface="Verdana" panose="020B0604030504040204" pitchFamily="34" charset="0"/>
                      <a:ea typeface="Times New Roman" panose="02020603050405020304" pitchFamily="18" charset="0"/>
                      <a:cs typeface="Cambria" panose="02040503050406030204" pitchFamily="18" charset="0"/>
                    </a:rPr>
                    <a:t>A sample that is </a:t>
                  </a:r>
                  <a:r>
                    <a:rPr lang="en-US" sz="1800" b="1" dirty="0">
                      <a:solidFill>
                        <a:srgbClr val="2475BF"/>
                      </a:solidFill>
                      <a:latin typeface="Verdana" panose="020B0604030504040204" pitchFamily="34" charset="0"/>
                      <a:ea typeface="Times New Roman" panose="02020603050405020304" pitchFamily="18" charset="0"/>
                      <a:cs typeface="Cambria" panose="02040503050406030204" pitchFamily="18" charset="0"/>
                    </a:rPr>
                    <a:t>representative</a:t>
                  </a:r>
                  <a:r>
                    <a:rPr lang="en-US" sz="1800" dirty="0">
                      <a:solidFill>
                        <a:srgbClr val="2475BF"/>
                      </a:solidFill>
                      <a:latin typeface="Verdana" panose="020B0604030504040204" pitchFamily="34" charset="0"/>
                      <a:ea typeface="Times New Roman" panose="02020603050405020304" pitchFamily="18" charset="0"/>
                      <a:cs typeface="Cambria" panose="02040503050406030204" pitchFamily="18" charset="0"/>
                    </a:rPr>
                    <a:t> of a population resembles the population and can be used to make accurate predictions about the population.</a:t>
                  </a:r>
                  <a:endParaRPr lang="x-none" sz="1200" dirty="0">
                    <a:latin typeface="Cambria" panose="02040503050406030204" pitchFamily="18" charset="0"/>
                    <a:ea typeface="Times New Roman" panose="02020603050405020304" pitchFamily="18" charset="0"/>
                    <a:cs typeface="Cambria" panose="02040503050406030204" pitchFamily="18" charset="0"/>
                  </a:endParaRPr>
                </a:p>
              </p:txBody>
            </p:sp>
          </p:grpSp>
          <p:pic>
            <p:nvPicPr>
              <p:cNvPr id="10" name="Shape 15" descr="Icon&#10;&#10;Description automatically generated">
                <a:extLst>
                  <a:ext uri="{FF2B5EF4-FFF2-40B4-BE49-F238E27FC236}">
                    <a16:creationId xmlns:a16="http://schemas.microsoft.com/office/drawing/2014/main" id="{E2F3FC0E-3C63-F640-A7E4-3E7535586F8E}"/>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83914" y="246592"/>
                <a:ext cx="539750" cy="539750"/>
              </a:xfrm>
              <a:prstGeom prst="rect">
                <a:avLst/>
              </a:prstGeom>
              <a:noFill/>
              <a:ln>
                <a:noFill/>
              </a:ln>
              <a:effectLst>
                <a:outerShdw blurRad="50800" dist="38100" dir="2700000" algn="tl" rotWithShape="0">
                  <a:prstClr val="black">
                    <a:alpha val="40000"/>
                  </a:prstClr>
                </a:outerShdw>
              </a:effectLst>
            </p:spPr>
          </p:pic>
        </p:grpSp>
      </p:grpSp>
      <p:sp>
        <p:nvSpPr>
          <p:cNvPr id="15"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147</a:t>
            </a:r>
            <a:endParaRPr i="1" dirty="0">
              <a:latin typeface="Calibri"/>
              <a:ea typeface="Calibri"/>
              <a:cs typeface="Calibri"/>
              <a:sym typeface="Calibri"/>
            </a:endParaRPr>
          </a:p>
        </p:txBody>
      </p:sp>
      <p:pic>
        <p:nvPicPr>
          <p:cNvPr id="16"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039280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34" name="Rectangle 33">
            <a:extLst>
              <a:ext uri="{FF2B5EF4-FFF2-40B4-BE49-F238E27FC236}">
                <a16:creationId xmlns:a16="http://schemas.microsoft.com/office/drawing/2014/main" id="{CD330F31-6BC7-B146-B595-34E7025365DB}"/>
              </a:ext>
            </a:extLst>
          </p:cNvPr>
          <p:cNvSpPr>
            <a:spLocks noChangeArrowheads="1"/>
          </p:cNvSpPr>
          <p:nvPr/>
        </p:nvSpPr>
        <p:spPr bwMode="auto">
          <a:xfrm>
            <a:off x="1275009" y="537026"/>
            <a:ext cx="9658842"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startAt="3"/>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Twenty-five students from each grade level will be chosen at random to participate in the survey.</a:t>
            </a:r>
          </a:p>
          <a:p>
            <a:pPr marL="447675"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With your partner, discuss how you think this method will help ensure the sample is representative of the population. </a:t>
            </a:r>
          </a:p>
        </p:txBody>
      </p:sp>
      <p:sp>
        <p:nvSpPr>
          <p:cNvPr id="6"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147</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42041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34" name="Rectangle 33">
            <a:extLst>
              <a:ext uri="{FF2B5EF4-FFF2-40B4-BE49-F238E27FC236}">
                <a16:creationId xmlns:a16="http://schemas.microsoft.com/office/drawing/2014/main" id="{CD330F31-6BC7-B146-B595-34E7025365DB}"/>
              </a:ext>
            </a:extLst>
          </p:cNvPr>
          <p:cNvSpPr>
            <a:spLocks noChangeArrowheads="1"/>
          </p:cNvSpPr>
          <p:nvPr/>
        </p:nvSpPr>
        <p:spPr bwMode="auto">
          <a:xfrm>
            <a:off x="1159100" y="596648"/>
            <a:ext cx="989066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startAt="4"/>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Claire wants to collect data on the highest education level achieved by adults in Jacksonville, Florida. She decides to go to the University of North Florida campus and ask the first person who comes into the library every 𝟑𝟎 minutes about their education level. </a:t>
            </a: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896938" indent="-449263" eaLnBrk="0" fontAlgn="base" hangingPunct="0">
              <a:spcBef>
                <a:spcPct val="0"/>
              </a:spcBef>
              <a:spcAft>
                <a:spcPct val="0"/>
              </a:spcAft>
              <a:buClrTx/>
              <a:buFont typeface="+mj-lt"/>
              <a:buAutoNum type="alphaL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What is the population? </a:t>
            </a:r>
          </a:p>
          <a:p>
            <a:pPr marL="896938" indent="-449263"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896938" indent="-449263"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896938" indent="-449263"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896938" indent="-449263"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896938" indent="-449263" eaLnBrk="0" fontAlgn="base" hangingPunct="0">
              <a:spcBef>
                <a:spcPct val="0"/>
              </a:spcBef>
              <a:spcAft>
                <a:spcPct val="0"/>
              </a:spcAft>
              <a:buClrTx/>
              <a:buFont typeface="+mj-lt"/>
              <a:buAutoNum type="alphaL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What is the sample? </a:t>
            </a:r>
          </a:p>
        </p:txBody>
      </p:sp>
      <p:sp>
        <p:nvSpPr>
          <p:cNvPr id="6"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147</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830285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34" name="Rectangle 33">
            <a:extLst>
              <a:ext uri="{FF2B5EF4-FFF2-40B4-BE49-F238E27FC236}">
                <a16:creationId xmlns:a16="http://schemas.microsoft.com/office/drawing/2014/main" id="{CD330F31-6BC7-B146-B595-34E7025365DB}"/>
              </a:ext>
            </a:extLst>
          </p:cNvPr>
          <p:cNvSpPr>
            <a:spLocks noChangeArrowheads="1"/>
          </p:cNvSpPr>
          <p:nvPr/>
        </p:nvSpPr>
        <p:spPr bwMode="auto">
          <a:xfrm>
            <a:off x="1390919" y="537234"/>
            <a:ext cx="942702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lphaLcPeriod" startAt="3"/>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Explain why a sample chosen in this way may </a:t>
            </a:r>
            <a:r>
              <a:rPr lang="en-US" altLang="en-US" sz="2400" b="1"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not</a:t>
            </a: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be representative of the population.</a:t>
            </a:r>
          </a:p>
        </p:txBody>
      </p:sp>
      <p:grpSp>
        <p:nvGrpSpPr>
          <p:cNvPr id="6" name="Group 5">
            <a:extLst>
              <a:ext uri="{FF2B5EF4-FFF2-40B4-BE49-F238E27FC236}">
                <a16:creationId xmlns:a16="http://schemas.microsoft.com/office/drawing/2014/main" id="{8C6F7D88-1CA8-4B43-B0E5-3EC42FDC0C3E}"/>
              </a:ext>
            </a:extLst>
          </p:cNvPr>
          <p:cNvGrpSpPr/>
          <p:nvPr/>
        </p:nvGrpSpPr>
        <p:grpSpPr>
          <a:xfrm>
            <a:off x="2781300" y="3971200"/>
            <a:ext cx="6629400" cy="1645920"/>
            <a:chOff x="2031300" y="3373600"/>
            <a:chExt cx="6629400" cy="1645920"/>
          </a:xfrm>
        </p:grpSpPr>
        <p:grpSp>
          <p:nvGrpSpPr>
            <p:cNvPr id="7" name="Group 6">
              <a:extLst>
                <a:ext uri="{FF2B5EF4-FFF2-40B4-BE49-F238E27FC236}">
                  <a16:creationId xmlns:a16="http://schemas.microsoft.com/office/drawing/2014/main" id="{6E32EF40-67DC-B54D-BE42-BB15A9BD7CCC}"/>
                </a:ext>
              </a:extLst>
            </p:cNvPr>
            <p:cNvGrpSpPr/>
            <p:nvPr/>
          </p:nvGrpSpPr>
          <p:grpSpPr>
            <a:xfrm>
              <a:off x="2031300" y="3373600"/>
              <a:ext cx="6629400" cy="1645920"/>
              <a:chOff x="2031300" y="3373600"/>
              <a:chExt cx="6629400" cy="1645920"/>
            </a:xfrm>
          </p:grpSpPr>
          <p:sp>
            <p:nvSpPr>
              <p:cNvPr id="8" name="Rectangle 7">
                <a:extLst>
                  <a:ext uri="{FF2B5EF4-FFF2-40B4-BE49-F238E27FC236}">
                    <a16:creationId xmlns:a16="http://schemas.microsoft.com/office/drawing/2014/main" id="{F53A9B8B-2F34-F744-BD44-73484A99EF7C}"/>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grpSp>
            <p:nvGrpSpPr>
              <p:cNvPr id="9" name="Group 8">
                <a:extLst>
                  <a:ext uri="{FF2B5EF4-FFF2-40B4-BE49-F238E27FC236}">
                    <a16:creationId xmlns:a16="http://schemas.microsoft.com/office/drawing/2014/main" id="{225C4474-7A5C-8342-9235-B83E5AF9F80A}"/>
                  </a:ext>
                </a:extLst>
              </p:cNvPr>
              <p:cNvGrpSpPr/>
              <p:nvPr/>
            </p:nvGrpSpPr>
            <p:grpSpPr>
              <a:xfrm>
                <a:off x="2031300" y="3373600"/>
                <a:ext cx="6629400" cy="1645920"/>
                <a:chOff x="0" y="0"/>
                <a:chExt cx="6629400" cy="1645920"/>
              </a:xfrm>
            </p:grpSpPr>
            <p:sp>
              <p:nvSpPr>
                <p:cNvPr id="10" name="Rectangle 9">
                  <a:extLst>
                    <a:ext uri="{FF2B5EF4-FFF2-40B4-BE49-F238E27FC236}">
                      <a16:creationId xmlns:a16="http://schemas.microsoft.com/office/drawing/2014/main" id="{F38C849E-DEAC-3E47-A196-A583ABBD7C90}"/>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
              <p:nvSpPr>
                <p:cNvPr id="11" name="Rounded Rectangle 10">
                  <a:extLst>
                    <a:ext uri="{FF2B5EF4-FFF2-40B4-BE49-F238E27FC236}">
                      <a16:creationId xmlns:a16="http://schemas.microsoft.com/office/drawing/2014/main" id="{7DD761B6-88FC-7D48-90F7-28A9F19C4860}"/>
                    </a:ext>
                  </a:extLst>
                </p:cNvPr>
                <p:cNvSpPr/>
                <p:nvPr/>
              </p:nvSpPr>
              <p:spPr>
                <a:xfrm>
                  <a:off x="0" y="0"/>
                  <a:ext cx="6629400" cy="1645920"/>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spcAft>
                      <a:spcPts val="1000"/>
                    </a:spcAft>
                  </a:pPr>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1800" b="1" i="1" dirty="0">
                      <a:solidFill>
                        <a:srgbClr val="6C993D"/>
                      </a:solidFill>
                      <a:latin typeface="Verdana" panose="020B0604030504040204" pitchFamily="34" charset="0"/>
                      <a:ea typeface="Verdana" panose="020B0604030504040204" pitchFamily="34" charset="0"/>
                      <a:cs typeface="Verdana" panose="020B0604030504040204" pitchFamily="34" charset="0"/>
                    </a:rPr>
                    <a:t>random sampling</a:t>
                  </a:r>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 is a smaller group of people or objects chosen from a larger group or population by a process giving equal chance of selection to all possible people or objects, and all possible subsets of the same size.</a:t>
                  </a:r>
                  <a:endParaRPr lang="x-none" sz="1200" dirty="0">
                    <a:latin typeface="Cambria" panose="02040503050406030204" pitchFamily="18" charset="0"/>
                    <a:ea typeface="Times New Roman" panose="02020603050405020304" pitchFamily="18" charset="0"/>
                    <a:cs typeface="Cambria" panose="02040503050406030204" pitchFamily="18" charset="0"/>
                  </a:endParaRPr>
                </a:p>
              </p:txBody>
            </p:sp>
            <p:pic>
              <p:nvPicPr>
                <p:cNvPr id="13" name="Shape 7" descr="Icon&#10;&#10;Description automatically generated">
                  <a:extLst>
                    <a:ext uri="{FF2B5EF4-FFF2-40B4-BE49-F238E27FC236}">
                      <a16:creationId xmlns:a16="http://schemas.microsoft.com/office/drawing/2014/main" id="{304CD762-3DBE-5641-A748-40AE52A88334}"/>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15819" y="92367"/>
                  <a:ext cx="539750" cy="539750"/>
                </a:xfrm>
                <a:prstGeom prst="rect">
                  <a:avLst/>
                </a:prstGeom>
                <a:noFill/>
                <a:ln>
                  <a:noFill/>
                </a:ln>
                <a:effectLst>
                  <a:outerShdw blurRad="50800" dist="38100" dir="2700000" algn="tl" rotWithShape="0">
                    <a:prstClr val="black">
                      <a:alpha val="40000"/>
                    </a:prstClr>
                  </a:outerShdw>
                </a:effectLst>
              </p:spPr>
            </p:pic>
          </p:grpSp>
        </p:grpSp>
      </p:grpSp>
      <p:sp>
        <p:nvSpPr>
          <p:cNvPr id="14"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147</a:t>
            </a:r>
            <a:endParaRPr i="1" dirty="0">
              <a:latin typeface="Calibri"/>
              <a:ea typeface="Calibri"/>
              <a:cs typeface="Calibri"/>
              <a:sym typeface="Calibri"/>
            </a:endParaRPr>
          </a:p>
        </p:txBody>
      </p:sp>
      <p:pic>
        <p:nvPicPr>
          <p:cNvPr id="15"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652493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14084" y="2766144"/>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8" name="image4.png">
            <a:extLst>
              <a:ext uri="{FF2B5EF4-FFF2-40B4-BE49-F238E27FC236}">
                <a16:creationId xmlns:a16="http://schemas.microsoft.com/office/drawing/2014/main" id="{195C22C1-EC6C-D340-912B-99FCAEED0E7F}"/>
              </a:ext>
            </a:extLst>
          </p:cNvPr>
          <p:cNvPicPr/>
          <p:nvPr/>
        </p:nvPicPr>
        <p:blipFill>
          <a:blip r:embed="rId3"/>
          <a:srcRect/>
          <a:stretch>
            <a:fillRect/>
          </a:stretch>
        </p:blipFill>
        <p:spPr>
          <a:xfrm>
            <a:off x="4470921" y="2852920"/>
            <a:ext cx="1152149" cy="1152149"/>
          </a:xfrm>
          <a:prstGeom prst="rect">
            <a:avLst/>
          </a:prstGeom>
          <a:ln/>
          <a:effectLst>
            <a:outerShdw blurRad="50800" dist="38100" dir="2700000" algn="tl" rotWithShape="0">
              <a:prstClr val="black">
                <a:alpha val="40000"/>
              </a:prstClr>
            </a:outerShdw>
          </a:effectLst>
        </p:spPr>
      </p:pic>
      <p:sp>
        <p:nvSpPr>
          <p:cNvPr id="9"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148</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605450"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33BEA6"/>
                </a:solidFill>
                <a:latin typeface="Verdana"/>
                <a:ea typeface="Verdana"/>
                <a:cs typeface="Verdana"/>
                <a:sym typeface="Verdana"/>
              </a:rPr>
              <a:t>10.8.3 Collaboration: Comparing Methods for Selecting Samples</a:t>
            </a:r>
          </a:p>
        </p:txBody>
      </p:sp>
      <p:sp>
        <p:nvSpPr>
          <p:cNvPr id="10" name="TextBox 9">
            <a:extLst>
              <a:ext uri="{FF2B5EF4-FFF2-40B4-BE49-F238E27FC236}">
                <a16:creationId xmlns:a16="http://schemas.microsoft.com/office/drawing/2014/main" id="{E44DF7DE-9172-3E4E-B74A-7A51585FB6EA}"/>
              </a:ext>
            </a:extLst>
          </p:cNvPr>
          <p:cNvSpPr txBox="1"/>
          <p:nvPr/>
        </p:nvSpPr>
        <p:spPr>
          <a:xfrm>
            <a:off x="1605450" y="1466433"/>
            <a:ext cx="9263636" cy="2677656"/>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For each scenario below, read the information about the study and answer the questions that follow. </a:t>
            </a:r>
          </a:p>
          <a:p>
            <a:pPr lvl="0"/>
            <a:br>
              <a:rPr lang="en-US" sz="2400" dirty="0">
                <a:latin typeface="Verdana" panose="020B0604030504040204" pitchFamily="34" charset="0"/>
                <a:ea typeface="Verdana" panose="020B0604030504040204" pitchFamily="34" charset="0"/>
                <a:cs typeface="Verdana" panose="020B0604030504040204" pitchFamily="34" charset="0"/>
              </a:rPr>
            </a:br>
            <a:r>
              <a:rPr lang="en-US" sz="2400" b="1" dirty="0">
                <a:latin typeface="Verdana" panose="020B0604030504040204" pitchFamily="34" charset="0"/>
                <a:ea typeface="Verdana" panose="020B0604030504040204" pitchFamily="34" charset="0"/>
                <a:cs typeface="Verdana" panose="020B0604030504040204" pitchFamily="34" charset="0"/>
              </a:rPr>
              <a:t>Scenario 1: </a:t>
            </a:r>
            <a:r>
              <a:rPr lang="en-US" sz="2400" dirty="0">
                <a:latin typeface="Verdana" panose="020B0604030504040204" pitchFamily="34" charset="0"/>
                <a:ea typeface="Verdana" panose="020B0604030504040204" pitchFamily="34" charset="0"/>
                <a:cs typeface="Verdana" panose="020B0604030504040204" pitchFamily="34" charset="0"/>
              </a:rPr>
              <a:t>Lin is running for president of the seventh grade. She wants to predict her chances of winning the election. She is considering three different methods for surveying a sample of the students.</a:t>
            </a:r>
          </a:p>
        </p:txBody>
      </p:sp>
      <p:pic>
        <p:nvPicPr>
          <p:cNvPr id="27" name="image4.png">
            <a:extLst>
              <a:ext uri="{FF2B5EF4-FFF2-40B4-BE49-F238E27FC236}">
                <a16:creationId xmlns:a16="http://schemas.microsoft.com/office/drawing/2014/main" id="{354AA297-7339-884E-8C2A-ACD88DFD90DD}"/>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851921" y="286085"/>
            <a:ext cx="753529" cy="753529"/>
          </a:xfrm>
          <a:prstGeom prst="rect">
            <a:avLst/>
          </a:prstGeom>
          <a:ln/>
        </p:spPr>
      </p:pic>
      <p:sp>
        <p:nvSpPr>
          <p:cNvPr id="9"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148</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287887" y="417101"/>
            <a:ext cx="9457532" cy="769441"/>
          </a:xfrm>
          <a:prstGeom prst="rect">
            <a:avLst/>
          </a:prstGeom>
        </p:spPr>
        <p:txBody>
          <a:bodyPr wrap="square">
            <a:spAutoFit/>
          </a:bodyPr>
          <a:lstStyle/>
          <a:p>
            <a:pPr marL="457200" indent="-457200">
              <a:buFont typeface="+mj-lt"/>
              <a:buAutoNum type="arabicPeriod"/>
            </a:pPr>
            <a:r>
              <a:rPr lang="en-US" sz="2200" dirty="0">
                <a:latin typeface="Verdana" panose="020B0604030504040204" pitchFamily="34" charset="0"/>
                <a:ea typeface="Times New Roman" panose="02020603050405020304" pitchFamily="18" charset="0"/>
                <a:cs typeface="Times New Roman" panose="02020603050405020304" pitchFamily="18" charset="0"/>
              </a:rPr>
              <a:t>Complete the table to describe the benefits and problems with each of the possible survey methods described.</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C96C3A05-9B2F-1B48-8144-5FB9A909C310}"/>
                  </a:ext>
                </a:extLst>
              </p:cNvPr>
              <p:cNvGraphicFramePr>
                <a:graphicFrameLocks noGrp="1"/>
              </p:cNvGraphicFramePr>
              <p:nvPr>
                <p:extLst>
                  <p:ext uri="{D42A27DB-BD31-4B8C-83A1-F6EECF244321}">
                    <p14:modId xmlns:p14="http://schemas.microsoft.com/office/powerpoint/2010/main" val="3024889320"/>
                  </p:ext>
                </p:extLst>
              </p:nvPr>
            </p:nvGraphicFramePr>
            <p:xfrm>
              <a:off x="2895601" y="1658199"/>
              <a:ext cx="6400799" cy="4717713"/>
            </p:xfrm>
            <a:graphic>
              <a:graphicData uri="http://schemas.openxmlformats.org/drawingml/2006/table">
                <a:tbl>
                  <a:tblPr firstRow="1" firstCol="1" bandRow="1"/>
                  <a:tblGrid>
                    <a:gridCol w="2158242">
                      <a:extLst>
                        <a:ext uri="{9D8B030D-6E8A-4147-A177-3AD203B41FA5}">
                          <a16:colId xmlns:a16="http://schemas.microsoft.com/office/drawing/2014/main" val="4118432939"/>
                        </a:ext>
                      </a:extLst>
                    </a:gridCol>
                    <a:gridCol w="2157646">
                      <a:extLst>
                        <a:ext uri="{9D8B030D-6E8A-4147-A177-3AD203B41FA5}">
                          <a16:colId xmlns:a16="http://schemas.microsoft.com/office/drawing/2014/main" val="4014313074"/>
                        </a:ext>
                      </a:extLst>
                    </a:gridCol>
                    <a:gridCol w="2084911">
                      <a:extLst>
                        <a:ext uri="{9D8B030D-6E8A-4147-A177-3AD203B41FA5}">
                          <a16:colId xmlns:a16="http://schemas.microsoft.com/office/drawing/2014/main" val="3953908479"/>
                        </a:ext>
                      </a:extLst>
                    </a:gridCol>
                  </a:tblGrid>
                  <a:tr h="463205">
                    <a:tc>
                      <a:txBody>
                        <a:bodyPr/>
                        <a:lstStyle/>
                        <a:p>
                          <a:pPr marL="0" marR="34290" algn="ctr">
                            <a:spcBef>
                              <a:spcPts val="0"/>
                            </a:spcBef>
                            <a:spcAft>
                              <a:spcPts val="0"/>
                            </a:spcAft>
                          </a:pPr>
                          <a:r>
                            <a:rPr lang="en-US" sz="1600" b="1">
                              <a:effectLst/>
                              <a:latin typeface="Verdana" panose="020B0604030504040204" pitchFamily="34" charset="0"/>
                              <a:ea typeface="Times New Roman" panose="02020603050405020304" pitchFamily="18" charset="0"/>
                              <a:cs typeface="Cambria" panose="02040503050406030204" pitchFamily="18" charset="0"/>
                            </a:rPr>
                            <a:t>Sample Surveyed</a:t>
                          </a:r>
                          <a:endParaRPr lang="x-none" sz="1000">
                            <a:effectLst/>
                            <a:latin typeface="Cambria" panose="02040503050406030204" pitchFamily="18" charset="0"/>
                            <a:ea typeface="Times New Roman" panose="02020603050405020304" pitchFamily="18" charset="0"/>
                            <a:cs typeface="Cambria" panose="02040503050406030204" pitchFamily="18" charset="0"/>
                          </a:endParaRPr>
                        </a:p>
                      </a:txBody>
                      <a:tcPr marL="46350" marR="463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16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Benefits of this Method</a:t>
                          </a:r>
                          <a:endParaRPr lang="x-none" sz="1000">
                            <a:effectLst/>
                            <a:latin typeface="Cambria" panose="02040503050406030204" pitchFamily="18" charset="0"/>
                            <a:ea typeface="Times New Roman" panose="02020603050405020304" pitchFamily="18" charset="0"/>
                            <a:cs typeface="Cambria" panose="02040503050406030204" pitchFamily="18" charset="0"/>
                          </a:endParaRPr>
                        </a:p>
                      </a:txBody>
                      <a:tcPr marL="46350" marR="463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16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Problems with this Method</a:t>
                          </a:r>
                          <a:endParaRPr lang="x-none" sz="1000">
                            <a:effectLst/>
                            <a:latin typeface="Cambria" panose="02040503050406030204" pitchFamily="18" charset="0"/>
                            <a:ea typeface="Times New Roman" panose="02020603050405020304" pitchFamily="18" charset="0"/>
                            <a:cs typeface="Cambria" panose="02040503050406030204" pitchFamily="18" charset="0"/>
                          </a:endParaRPr>
                        </a:p>
                      </a:txBody>
                      <a:tcPr marL="46350" marR="463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713874822"/>
                      </a:ext>
                    </a:extLst>
                  </a:tr>
                  <a:tr h="1158013">
                    <a:tc>
                      <a:txBody>
                        <a:bodyPr/>
                        <a:lstStyle/>
                        <a:p>
                          <a:pPr marL="0" marR="34290">
                            <a:spcBef>
                              <a:spcPts val="0"/>
                            </a:spcBef>
                            <a:spcAft>
                              <a:spcPts val="0"/>
                            </a:spcAft>
                          </a:pPr>
                          <a:r>
                            <a:rPr lang="en-US" sz="1600" b="1">
                              <a:effectLst/>
                              <a:latin typeface="Verdana" panose="020B0604030504040204" pitchFamily="34" charset="0"/>
                              <a:ea typeface="Times New Roman" panose="02020603050405020304" pitchFamily="18" charset="0"/>
                              <a:cs typeface="Cambria" panose="02040503050406030204" pitchFamily="18" charset="0"/>
                            </a:rPr>
                            <a:t>Method 1: </a:t>
                          </a:r>
                          <a:endParaRPr lang="x-none" sz="1000">
                            <a:effectLst/>
                            <a:latin typeface="Cambria" panose="02040503050406030204" pitchFamily="18" charset="0"/>
                            <a:ea typeface="Times New Roman" panose="02020603050405020304" pitchFamily="18" charset="0"/>
                            <a:cs typeface="Cambria" panose="02040503050406030204" pitchFamily="18" charset="0"/>
                          </a:endParaRPr>
                        </a:p>
                        <a:p>
                          <a:pPr marL="0" marR="34290">
                            <a:spcBef>
                              <a:spcPts val="0"/>
                            </a:spcBef>
                            <a:spcAft>
                              <a:spcPts val="0"/>
                            </a:spcAft>
                          </a:pPr>
                          <a:r>
                            <a:rPr lang="en-US" sz="1600">
                              <a:effectLst/>
                              <a:latin typeface="Verdana" panose="020B0604030504040204" pitchFamily="34" charset="0"/>
                              <a:ea typeface="Times New Roman" panose="02020603050405020304" pitchFamily="18" charset="0"/>
                              <a:cs typeface="Cambria" panose="02040503050406030204" pitchFamily="18" charset="0"/>
                            </a:rPr>
                            <a:t>Ask everyone on her basketball team who they are voting for.</a:t>
                          </a:r>
                          <a:endParaRPr lang="x-none" sz="1000">
                            <a:effectLst/>
                            <a:latin typeface="Cambria" panose="02040503050406030204" pitchFamily="18" charset="0"/>
                            <a:ea typeface="Times New Roman" panose="02020603050405020304" pitchFamily="18" charset="0"/>
                            <a:cs typeface="Cambria" panose="02040503050406030204" pitchFamily="18" charset="0"/>
                          </a:endParaRPr>
                        </a:p>
                      </a:txBody>
                      <a:tcPr marL="46350" marR="4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spcBef>
                              <a:spcPts val="0"/>
                            </a:spcBef>
                            <a:spcAft>
                              <a:spcPts val="0"/>
                            </a:spcAft>
                          </a:pPr>
                          <a:r>
                            <a:rPr lang="en-US" sz="1600">
                              <a:effectLst/>
                              <a:latin typeface="Verdana" panose="020B0604030504040204" pitchFamily="34" charset="0"/>
                              <a:ea typeface="Times New Roman" panose="02020603050405020304" pitchFamily="18" charset="0"/>
                              <a:cs typeface="Cambria" panose="02040503050406030204" pitchFamily="18" charset="0"/>
                            </a:rPr>
                            <a:t> </a:t>
                          </a:r>
                          <a:endParaRPr lang="x-none" sz="1000">
                            <a:effectLst/>
                            <a:latin typeface="Cambria" panose="02040503050406030204" pitchFamily="18" charset="0"/>
                            <a:ea typeface="Times New Roman" panose="02020603050405020304" pitchFamily="18" charset="0"/>
                            <a:cs typeface="Cambria" panose="02040503050406030204" pitchFamily="18" charset="0"/>
                          </a:endParaRPr>
                        </a:p>
                      </a:txBody>
                      <a:tcPr marL="46350" marR="4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spcBef>
                              <a:spcPts val="0"/>
                            </a:spcBef>
                            <a:spcAft>
                              <a:spcPts val="0"/>
                            </a:spcAft>
                          </a:pPr>
                          <a:r>
                            <a:rPr lang="en-US" sz="1600">
                              <a:effectLst/>
                              <a:latin typeface="Verdana" panose="020B0604030504040204" pitchFamily="34" charset="0"/>
                              <a:ea typeface="Times New Roman" panose="02020603050405020304" pitchFamily="18" charset="0"/>
                              <a:cs typeface="Cambria" panose="02040503050406030204" pitchFamily="18" charset="0"/>
                            </a:rPr>
                            <a:t> </a:t>
                          </a:r>
                          <a:endParaRPr lang="x-none" sz="1000">
                            <a:effectLst/>
                            <a:latin typeface="Cambria" panose="02040503050406030204" pitchFamily="18" charset="0"/>
                            <a:ea typeface="Times New Roman" panose="02020603050405020304" pitchFamily="18" charset="0"/>
                            <a:cs typeface="Cambria" panose="02040503050406030204" pitchFamily="18" charset="0"/>
                          </a:endParaRPr>
                        </a:p>
                      </a:txBody>
                      <a:tcPr marL="46350" marR="4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8663714"/>
                      </a:ext>
                    </a:extLst>
                  </a:tr>
                  <a:tr h="1389615">
                    <a:tc>
                      <a:txBody>
                        <a:bodyPr/>
                        <a:lstStyle/>
                        <a:p>
                          <a:pPr marL="0" marR="34290">
                            <a:spcBef>
                              <a:spcPts val="0"/>
                            </a:spcBef>
                            <a:spcAft>
                              <a:spcPts val="0"/>
                            </a:spcAft>
                          </a:pPr>
                          <a:r>
                            <a:rPr lang="en-US" sz="1600" b="1">
                              <a:effectLst/>
                              <a:latin typeface="Verdana" panose="020B0604030504040204" pitchFamily="34" charset="0"/>
                              <a:ea typeface="Times New Roman" panose="02020603050405020304" pitchFamily="18" charset="0"/>
                              <a:cs typeface="Cambria" panose="02040503050406030204" pitchFamily="18" charset="0"/>
                            </a:rPr>
                            <a:t>Method 2: </a:t>
                          </a:r>
                          <a:endParaRPr lang="x-none" sz="1000">
                            <a:effectLst/>
                            <a:latin typeface="Cambria" panose="02040503050406030204" pitchFamily="18" charset="0"/>
                            <a:ea typeface="Times New Roman" panose="02020603050405020304" pitchFamily="18" charset="0"/>
                            <a:cs typeface="Cambria" panose="02040503050406030204" pitchFamily="18" charset="0"/>
                          </a:endParaRPr>
                        </a:p>
                        <a:p>
                          <a:pPr marL="0" marR="34290">
                            <a:spcBef>
                              <a:spcPts val="0"/>
                            </a:spcBef>
                            <a:spcAft>
                              <a:spcPts val="0"/>
                            </a:spcAft>
                          </a:pPr>
                          <a:r>
                            <a:rPr lang="en-US" sz="1600">
                              <a:effectLst/>
                              <a:latin typeface="Verdana" panose="020B0604030504040204" pitchFamily="34" charset="0"/>
                              <a:ea typeface="Times New Roman" panose="02020603050405020304" pitchFamily="18" charset="0"/>
                              <a:cs typeface="Cambria" panose="02040503050406030204" pitchFamily="18" charset="0"/>
                            </a:rPr>
                            <a:t>Ask every third girl waiting in the lunch line who they are voting for.</a:t>
                          </a:r>
                          <a:endParaRPr lang="x-none" sz="1000">
                            <a:effectLst/>
                            <a:latin typeface="Cambria" panose="02040503050406030204" pitchFamily="18" charset="0"/>
                            <a:ea typeface="Times New Roman" panose="02020603050405020304" pitchFamily="18" charset="0"/>
                            <a:cs typeface="Cambria" panose="02040503050406030204" pitchFamily="18" charset="0"/>
                          </a:endParaRPr>
                        </a:p>
                      </a:txBody>
                      <a:tcPr marL="46350" marR="4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spcBef>
                              <a:spcPts val="0"/>
                            </a:spcBef>
                            <a:spcAft>
                              <a:spcPts val="0"/>
                            </a:spcAft>
                          </a:pPr>
                          <a:r>
                            <a:rPr lang="en-US" sz="1600">
                              <a:effectLst/>
                              <a:latin typeface="Verdana" panose="020B0604030504040204" pitchFamily="34" charset="0"/>
                              <a:ea typeface="Times New Roman" panose="02020603050405020304" pitchFamily="18" charset="0"/>
                              <a:cs typeface="Cambria" panose="02040503050406030204" pitchFamily="18" charset="0"/>
                            </a:rPr>
                            <a:t> </a:t>
                          </a:r>
                          <a:endParaRPr lang="x-none" sz="1000">
                            <a:effectLst/>
                            <a:latin typeface="Cambria" panose="02040503050406030204" pitchFamily="18" charset="0"/>
                            <a:ea typeface="Times New Roman" panose="02020603050405020304" pitchFamily="18" charset="0"/>
                            <a:cs typeface="Cambria" panose="02040503050406030204" pitchFamily="18" charset="0"/>
                          </a:endParaRPr>
                        </a:p>
                      </a:txBody>
                      <a:tcPr marL="46350" marR="4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spcBef>
                              <a:spcPts val="0"/>
                            </a:spcBef>
                            <a:spcAft>
                              <a:spcPts val="0"/>
                            </a:spcAft>
                          </a:pPr>
                          <a:r>
                            <a:rPr lang="en-US" sz="1600">
                              <a:effectLst/>
                              <a:latin typeface="Verdana" panose="020B0604030504040204" pitchFamily="34" charset="0"/>
                              <a:ea typeface="Times New Roman" panose="02020603050405020304" pitchFamily="18" charset="0"/>
                              <a:cs typeface="Cambria" panose="02040503050406030204" pitchFamily="18" charset="0"/>
                            </a:rPr>
                            <a:t> </a:t>
                          </a:r>
                          <a:endParaRPr lang="x-none" sz="1000">
                            <a:effectLst/>
                            <a:latin typeface="Cambria" panose="02040503050406030204" pitchFamily="18" charset="0"/>
                            <a:ea typeface="Times New Roman" panose="02020603050405020304" pitchFamily="18" charset="0"/>
                            <a:cs typeface="Cambria" panose="02040503050406030204" pitchFamily="18" charset="0"/>
                          </a:endParaRPr>
                        </a:p>
                      </a:txBody>
                      <a:tcPr marL="46350" marR="4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39239283"/>
                      </a:ext>
                    </a:extLst>
                  </a:tr>
                  <a:tr h="1621218">
                    <a:tc>
                      <a:txBody>
                        <a:bodyPr/>
                        <a:lstStyle/>
                        <a:p>
                          <a:pPr marL="0" marR="34290">
                            <a:spcBef>
                              <a:spcPts val="0"/>
                            </a:spcBef>
                            <a:spcAft>
                              <a:spcPts val="0"/>
                            </a:spcAft>
                          </a:pPr>
                          <a:r>
                            <a:rPr lang="en-US" sz="1600" b="1">
                              <a:effectLst/>
                              <a:latin typeface="Verdana" panose="020B0604030504040204" pitchFamily="34" charset="0"/>
                              <a:ea typeface="Times New Roman" panose="02020603050405020304" pitchFamily="18" charset="0"/>
                              <a:cs typeface="Cambria" panose="02040503050406030204" pitchFamily="18" charset="0"/>
                            </a:rPr>
                            <a:t>Method 3: </a:t>
                          </a:r>
                          <a:endParaRPr lang="x-none" sz="1000">
                            <a:effectLst/>
                            <a:latin typeface="Cambria" panose="02040503050406030204" pitchFamily="18" charset="0"/>
                            <a:ea typeface="Times New Roman" panose="02020603050405020304" pitchFamily="18" charset="0"/>
                            <a:cs typeface="Cambria" panose="02040503050406030204" pitchFamily="18" charset="0"/>
                          </a:endParaRPr>
                        </a:p>
                        <a:p>
                          <a:pPr marL="0" marR="34290">
                            <a:spcBef>
                              <a:spcPts val="0"/>
                            </a:spcBef>
                            <a:spcAft>
                              <a:spcPts val="0"/>
                            </a:spcAft>
                          </a:pPr>
                          <a:r>
                            <a:rPr lang="en-US" sz="1600">
                              <a:effectLst/>
                              <a:latin typeface="Verdana" panose="020B0604030504040204" pitchFamily="34" charset="0"/>
                              <a:ea typeface="Times New Roman" panose="02020603050405020304" pitchFamily="18" charset="0"/>
                              <a:cs typeface="Cambria" panose="02040503050406030204" pitchFamily="18" charset="0"/>
                            </a:rPr>
                            <a:t>Ask the first </a:t>
                          </a:r>
                          <a14:m>
                            <m:oMath xmlns:m="http://schemas.openxmlformats.org/officeDocument/2006/math">
                              <m:r>
                                <a:rPr lang="en-US" sz="1600" i="1">
                                  <a:effectLst/>
                                  <a:latin typeface="Cambria Math" panose="02040503050406030204" pitchFamily="18" charset="0"/>
                                  <a:ea typeface="Times New Roman" panose="02020603050405020304" pitchFamily="18" charset="0"/>
                                  <a:cs typeface="Cambria" panose="02040503050406030204" pitchFamily="18" charset="0"/>
                                </a:rPr>
                                <m:t>15</m:t>
                              </m:r>
                            </m:oMath>
                          </a14:m>
                          <a:r>
                            <a:rPr lang="en-US" sz="1600">
                              <a:effectLst/>
                              <a:latin typeface="Verdana" panose="020B0604030504040204" pitchFamily="34" charset="0"/>
                              <a:ea typeface="Times New Roman" panose="02020603050405020304" pitchFamily="18" charset="0"/>
                              <a:cs typeface="Cambria" panose="02040503050406030204" pitchFamily="18" charset="0"/>
                            </a:rPr>
                            <a:t> seventh graders to arrive at school one morning who they are voting for.</a:t>
                          </a:r>
                          <a:endParaRPr lang="x-none" sz="1000">
                            <a:effectLst/>
                            <a:latin typeface="Cambria" panose="02040503050406030204" pitchFamily="18" charset="0"/>
                            <a:ea typeface="Times New Roman" panose="02020603050405020304" pitchFamily="18" charset="0"/>
                            <a:cs typeface="Cambria" panose="02040503050406030204" pitchFamily="18" charset="0"/>
                          </a:endParaRPr>
                        </a:p>
                      </a:txBody>
                      <a:tcPr marL="46350" marR="4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spcBef>
                              <a:spcPts val="0"/>
                            </a:spcBef>
                            <a:spcAft>
                              <a:spcPts val="0"/>
                            </a:spcAft>
                          </a:pPr>
                          <a:r>
                            <a:rPr lang="en-US" sz="1600">
                              <a:effectLst/>
                              <a:latin typeface="Verdana" panose="020B0604030504040204" pitchFamily="34" charset="0"/>
                              <a:ea typeface="Times New Roman" panose="02020603050405020304" pitchFamily="18" charset="0"/>
                              <a:cs typeface="Cambria" panose="02040503050406030204" pitchFamily="18" charset="0"/>
                            </a:rPr>
                            <a:t> </a:t>
                          </a:r>
                          <a:endParaRPr lang="x-none" sz="1000">
                            <a:effectLst/>
                            <a:latin typeface="Cambria" panose="02040503050406030204" pitchFamily="18" charset="0"/>
                            <a:ea typeface="Times New Roman" panose="02020603050405020304" pitchFamily="18" charset="0"/>
                            <a:cs typeface="Cambria" panose="02040503050406030204" pitchFamily="18" charset="0"/>
                          </a:endParaRPr>
                        </a:p>
                      </a:txBody>
                      <a:tcPr marL="46350" marR="4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spcBef>
                              <a:spcPts val="0"/>
                            </a:spcBef>
                            <a:spcAft>
                              <a:spcPts val="0"/>
                            </a:spcAft>
                          </a:pPr>
                          <a:r>
                            <a:rPr lang="en-US" sz="16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1000" dirty="0">
                            <a:effectLst/>
                            <a:latin typeface="Cambria" panose="02040503050406030204" pitchFamily="18" charset="0"/>
                            <a:ea typeface="Times New Roman" panose="02020603050405020304" pitchFamily="18" charset="0"/>
                            <a:cs typeface="Cambria" panose="02040503050406030204" pitchFamily="18" charset="0"/>
                          </a:endParaRPr>
                        </a:p>
                      </a:txBody>
                      <a:tcPr marL="46350" marR="4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74260786"/>
                      </a:ext>
                    </a:extLst>
                  </a:tr>
                </a:tbl>
              </a:graphicData>
            </a:graphic>
          </p:graphicFrame>
        </mc:Choice>
        <mc:Fallback xmlns="">
          <p:graphicFrame>
            <p:nvGraphicFramePr>
              <p:cNvPr id="4" name="Table 3">
                <a:extLst>
                  <a:ext uri="{FF2B5EF4-FFF2-40B4-BE49-F238E27FC236}">
                    <a16:creationId xmlns:a16="http://schemas.microsoft.com/office/drawing/2014/main" id="{C96C3A05-9B2F-1B48-8144-5FB9A909C310}"/>
                  </a:ext>
                </a:extLst>
              </p:cNvPr>
              <p:cNvGraphicFramePr>
                <a:graphicFrameLocks noGrp="1"/>
              </p:cNvGraphicFramePr>
              <p:nvPr>
                <p:extLst>
                  <p:ext uri="{D42A27DB-BD31-4B8C-83A1-F6EECF244321}">
                    <p14:modId xmlns:p14="http://schemas.microsoft.com/office/powerpoint/2010/main" val="3024889320"/>
                  </p:ext>
                </p:extLst>
              </p:nvPr>
            </p:nvGraphicFramePr>
            <p:xfrm>
              <a:off x="1371600" y="1658198"/>
              <a:ext cx="6400799" cy="4717713"/>
            </p:xfrm>
            <a:graphic>
              <a:graphicData uri="http://schemas.openxmlformats.org/drawingml/2006/table">
                <a:tbl>
                  <a:tblPr firstRow="1" firstCol="1" bandRow="1"/>
                  <a:tblGrid>
                    <a:gridCol w="2158242">
                      <a:extLst>
                        <a:ext uri="{9D8B030D-6E8A-4147-A177-3AD203B41FA5}">
                          <a16:colId xmlns:a16="http://schemas.microsoft.com/office/drawing/2014/main" val="4118432939"/>
                        </a:ext>
                      </a:extLst>
                    </a:gridCol>
                    <a:gridCol w="2157646">
                      <a:extLst>
                        <a:ext uri="{9D8B030D-6E8A-4147-A177-3AD203B41FA5}">
                          <a16:colId xmlns:a16="http://schemas.microsoft.com/office/drawing/2014/main" val="4014313074"/>
                        </a:ext>
                      </a:extLst>
                    </a:gridCol>
                    <a:gridCol w="2084911">
                      <a:extLst>
                        <a:ext uri="{9D8B030D-6E8A-4147-A177-3AD203B41FA5}">
                          <a16:colId xmlns:a16="http://schemas.microsoft.com/office/drawing/2014/main" val="3953908479"/>
                        </a:ext>
                      </a:extLst>
                    </a:gridCol>
                  </a:tblGrid>
                  <a:tr h="487680">
                    <a:tc>
                      <a:txBody>
                        <a:bodyPr/>
                        <a:lstStyle/>
                        <a:p>
                          <a:pPr marL="0" marR="34290" algn="ctr">
                            <a:spcBef>
                              <a:spcPts val="0"/>
                            </a:spcBef>
                            <a:spcAft>
                              <a:spcPts val="0"/>
                            </a:spcAft>
                          </a:pPr>
                          <a:r>
                            <a:rPr lang="en-US" sz="1600" b="1">
                              <a:effectLst/>
                              <a:latin typeface="Verdana" panose="020B0604030504040204" pitchFamily="34" charset="0"/>
                              <a:ea typeface="Times New Roman" panose="02020603050405020304" pitchFamily="18" charset="0"/>
                              <a:cs typeface="Cambria" panose="02040503050406030204" pitchFamily="18" charset="0"/>
                            </a:rPr>
                            <a:t>Sample Surveyed</a:t>
                          </a:r>
                          <a:endParaRPr lang="en-CO" sz="1000">
                            <a:effectLst/>
                            <a:latin typeface="Cambria" panose="02040503050406030204" pitchFamily="18" charset="0"/>
                            <a:ea typeface="Times New Roman" panose="02020603050405020304" pitchFamily="18" charset="0"/>
                            <a:cs typeface="Cambria" panose="02040503050406030204" pitchFamily="18" charset="0"/>
                          </a:endParaRPr>
                        </a:p>
                      </a:txBody>
                      <a:tcPr marL="46350" marR="463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16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Benefits of this Method</a:t>
                          </a:r>
                          <a:endParaRPr lang="en-CO" sz="1000">
                            <a:effectLst/>
                            <a:latin typeface="Cambria" panose="02040503050406030204" pitchFamily="18" charset="0"/>
                            <a:ea typeface="Times New Roman" panose="02020603050405020304" pitchFamily="18" charset="0"/>
                            <a:cs typeface="Cambria" panose="02040503050406030204" pitchFamily="18" charset="0"/>
                          </a:endParaRPr>
                        </a:p>
                      </a:txBody>
                      <a:tcPr marL="46350" marR="463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16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Problems with this Method</a:t>
                          </a:r>
                          <a:endParaRPr lang="en-CO" sz="1000">
                            <a:effectLst/>
                            <a:latin typeface="Cambria" panose="02040503050406030204" pitchFamily="18" charset="0"/>
                            <a:ea typeface="Times New Roman" panose="02020603050405020304" pitchFamily="18" charset="0"/>
                            <a:cs typeface="Cambria" panose="02040503050406030204" pitchFamily="18" charset="0"/>
                          </a:endParaRPr>
                        </a:p>
                      </a:txBody>
                      <a:tcPr marL="46350" marR="463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713874822"/>
                      </a:ext>
                    </a:extLst>
                  </a:tr>
                  <a:tr h="1219200">
                    <a:tc>
                      <a:txBody>
                        <a:bodyPr/>
                        <a:lstStyle/>
                        <a:p>
                          <a:pPr marL="0" marR="34290">
                            <a:spcBef>
                              <a:spcPts val="0"/>
                            </a:spcBef>
                            <a:spcAft>
                              <a:spcPts val="0"/>
                            </a:spcAft>
                          </a:pPr>
                          <a:r>
                            <a:rPr lang="en-US" sz="1600" b="1">
                              <a:effectLst/>
                              <a:latin typeface="Verdana" panose="020B0604030504040204" pitchFamily="34" charset="0"/>
                              <a:ea typeface="Times New Roman" panose="02020603050405020304" pitchFamily="18" charset="0"/>
                              <a:cs typeface="Cambria" panose="02040503050406030204" pitchFamily="18" charset="0"/>
                            </a:rPr>
                            <a:t>Method 1: </a:t>
                          </a:r>
                          <a:endParaRPr lang="en-CO" sz="1000">
                            <a:effectLst/>
                            <a:latin typeface="Cambria" panose="02040503050406030204" pitchFamily="18" charset="0"/>
                            <a:ea typeface="Times New Roman" panose="02020603050405020304" pitchFamily="18" charset="0"/>
                            <a:cs typeface="Cambria" panose="02040503050406030204" pitchFamily="18" charset="0"/>
                          </a:endParaRPr>
                        </a:p>
                        <a:p>
                          <a:pPr marL="0" marR="34290">
                            <a:spcBef>
                              <a:spcPts val="0"/>
                            </a:spcBef>
                            <a:spcAft>
                              <a:spcPts val="0"/>
                            </a:spcAft>
                          </a:pPr>
                          <a:r>
                            <a:rPr lang="en-US" sz="1600">
                              <a:effectLst/>
                              <a:latin typeface="Verdana" panose="020B0604030504040204" pitchFamily="34" charset="0"/>
                              <a:ea typeface="Times New Roman" panose="02020603050405020304" pitchFamily="18" charset="0"/>
                              <a:cs typeface="Cambria" panose="02040503050406030204" pitchFamily="18" charset="0"/>
                            </a:rPr>
                            <a:t>Ask everyone on her basketball team who they are voting for.</a:t>
                          </a:r>
                          <a:endParaRPr lang="en-CO" sz="1000">
                            <a:effectLst/>
                            <a:latin typeface="Cambria" panose="02040503050406030204" pitchFamily="18" charset="0"/>
                            <a:ea typeface="Times New Roman" panose="02020603050405020304" pitchFamily="18" charset="0"/>
                            <a:cs typeface="Cambria" panose="02040503050406030204" pitchFamily="18" charset="0"/>
                          </a:endParaRPr>
                        </a:p>
                      </a:txBody>
                      <a:tcPr marL="46350" marR="4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spcBef>
                              <a:spcPts val="0"/>
                            </a:spcBef>
                            <a:spcAft>
                              <a:spcPts val="0"/>
                            </a:spcAft>
                          </a:pPr>
                          <a:r>
                            <a:rPr lang="en-US" sz="1600">
                              <a:effectLst/>
                              <a:latin typeface="Verdana" panose="020B0604030504040204" pitchFamily="34" charset="0"/>
                              <a:ea typeface="Times New Roman" panose="02020603050405020304" pitchFamily="18" charset="0"/>
                              <a:cs typeface="Cambria" panose="02040503050406030204" pitchFamily="18" charset="0"/>
                            </a:rPr>
                            <a:t> </a:t>
                          </a:r>
                          <a:endParaRPr lang="en-CO" sz="1000">
                            <a:effectLst/>
                            <a:latin typeface="Cambria" panose="02040503050406030204" pitchFamily="18" charset="0"/>
                            <a:ea typeface="Times New Roman" panose="02020603050405020304" pitchFamily="18" charset="0"/>
                            <a:cs typeface="Cambria" panose="02040503050406030204" pitchFamily="18" charset="0"/>
                          </a:endParaRPr>
                        </a:p>
                      </a:txBody>
                      <a:tcPr marL="46350" marR="4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spcBef>
                              <a:spcPts val="0"/>
                            </a:spcBef>
                            <a:spcAft>
                              <a:spcPts val="0"/>
                            </a:spcAft>
                          </a:pPr>
                          <a:r>
                            <a:rPr lang="en-US" sz="1600">
                              <a:effectLst/>
                              <a:latin typeface="Verdana" panose="020B0604030504040204" pitchFamily="34" charset="0"/>
                              <a:ea typeface="Times New Roman" panose="02020603050405020304" pitchFamily="18" charset="0"/>
                              <a:cs typeface="Cambria" panose="02040503050406030204" pitchFamily="18" charset="0"/>
                            </a:rPr>
                            <a:t> </a:t>
                          </a:r>
                          <a:endParaRPr lang="en-CO" sz="1000">
                            <a:effectLst/>
                            <a:latin typeface="Cambria" panose="02040503050406030204" pitchFamily="18" charset="0"/>
                            <a:ea typeface="Times New Roman" panose="02020603050405020304" pitchFamily="18" charset="0"/>
                            <a:cs typeface="Cambria" panose="02040503050406030204" pitchFamily="18" charset="0"/>
                          </a:endParaRPr>
                        </a:p>
                      </a:txBody>
                      <a:tcPr marL="46350" marR="4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8663714"/>
                      </a:ext>
                    </a:extLst>
                  </a:tr>
                  <a:tr h="1389615">
                    <a:tc>
                      <a:txBody>
                        <a:bodyPr/>
                        <a:lstStyle/>
                        <a:p>
                          <a:pPr marL="0" marR="34290">
                            <a:spcBef>
                              <a:spcPts val="0"/>
                            </a:spcBef>
                            <a:spcAft>
                              <a:spcPts val="0"/>
                            </a:spcAft>
                          </a:pPr>
                          <a:r>
                            <a:rPr lang="en-US" sz="1600" b="1">
                              <a:effectLst/>
                              <a:latin typeface="Verdana" panose="020B0604030504040204" pitchFamily="34" charset="0"/>
                              <a:ea typeface="Times New Roman" panose="02020603050405020304" pitchFamily="18" charset="0"/>
                              <a:cs typeface="Cambria" panose="02040503050406030204" pitchFamily="18" charset="0"/>
                            </a:rPr>
                            <a:t>Method 2: </a:t>
                          </a:r>
                          <a:endParaRPr lang="en-CO" sz="1000">
                            <a:effectLst/>
                            <a:latin typeface="Cambria" panose="02040503050406030204" pitchFamily="18" charset="0"/>
                            <a:ea typeface="Times New Roman" panose="02020603050405020304" pitchFamily="18" charset="0"/>
                            <a:cs typeface="Cambria" panose="02040503050406030204" pitchFamily="18" charset="0"/>
                          </a:endParaRPr>
                        </a:p>
                        <a:p>
                          <a:pPr marL="0" marR="34290">
                            <a:spcBef>
                              <a:spcPts val="0"/>
                            </a:spcBef>
                            <a:spcAft>
                              <a:spcPts val="0"/>
                            </a:spcAft>
                          </a:pPr>
                          <a:r>
                            <a:rPr lang="en-US" sz="1600">
                              <a:effectLst/>
                              <a:latin typeface="Verdana" panose="020B0604030504040204" pitchFamily="34" charset="0"/>
                              <a:ea typeface="Times New Roman" panose="02020603050405020304" pitchFamily="18" charset="0"/>
                              <a:cs typeface="Cambria" panose="02040503050406030204" pitchFamily="18" charset="0"/>
                            </a:rPr>
                            <a:t>Ask every third girl waiting in the lunch line who they are voting for.</a:t>
                          </a:r>
                          <a:endParaRPr lang="en-CO" sz="1000">
                            <a:effectLst/>
                            <a:latin typeface="Cambria" panose="02040503050406030204" pitchFamily="18" charset="0"/>
                            <a:ea typeface="Times New Roman" panose="02020603050405020304" pitchFamily="18" charset="0"/>
                            <a:cs typeface="Cambria" panose="02040503050406030204" pitchFamily="18" charset="0"/>
                          </a:endParaRPr>
                        </a:p>
                      </a:txBody>
                      <a:tcPr marL="46350" marR="4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spcBef>
                              <a:spcPts val="0"/>
                            </a:spcBef>
                            <a:spcAft>
                              <a:spcPts val="0"/>
                            </a:spcAft>
                          </a:pPr>
                          <a:r>
                            <a:rPr lang="en-US" sz="1600">
                              <a:effectLst/>
                              <a:latin typeface="Verdana" panose="020B0604030504040204" pitchFamily="34" charset="0"/>
                              <a:ea typeface="Times New Roman" panose="02020603050405020304" pitchFamily="18" charset="0"/>
                              <a:cs typeface="Cambria" panose="02040503050406030204" pitchFamily="18" charset="0"/>
                            </a:rPr>
                            <a:t> </a:t>
                          </a:r>
                          <a:endParaRPr lang="en-CO" sz="1000">
                            <a:effectLst/>
                            <a:latin typeface="Cambria" panose="02040503050406030204" pitchFamily="18" charset="0"/>
                            <a:ea typeface="Times New Roman" panose="02020603050405020304" pitchFamily="18" charset="0"/>
                            <a:cs typeface="Cambria" panose="02040503050406030204" pitchFamily="18" charset="0"/>
                          </a:endParaRPr>
                        </a:p>
                      </a:txBody>
                      <a:tcPr marL="46350" marR="4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spcBef>
                              <a:spcPts val="0"/>
                            </a:spcBef>
                            <a:spcAft>
                              <a:spcPts val="0"/>
                            </a:spcAft>
                          </a:pPr>
                          <a:r>
                            <a:rPr lang="en-US" sz="1600">
                              <a:effectLst/>
                              <a:latin typeface="Verdana" panose="020B0604030504040204" pitchFamily="34" charset="0"/>
                              <a:ea typeface="Times New Roman" panose="02020603050405020304" pitchFamily="18" charset="0"/>
                              <a:cs typeface="Cambria" panose="02040503050406030204" pitchFamily="18" charset="0"/>
                            </a:rPr>
                            <a:t> </a:t>
                          </a:r>
                          <a:endParaRPr lang="en-CO" sz="1000">
                            <a:effectLst/>
                            <a:latin typeface="Cambria" panose="02040503050406030204" pitchFamily="18" charset="0"/>
                            <a:ea typeface="Times New Roman" panose="02020603050405020304" pitchFamily="18" charset="0"/>
                            <a:cs typeface="Cambria" panose="02040503050406030204" pitchFamily="18" charset="0"/>
                          </a:endParaRPr>
                        </a:p>
                      </a:txBody>
                      <a:tcPr marL="46350" marR="4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39239283"/>
                      </a:ext>
                    </a:extLst>
                  </a:tr>
                  <a:tr h="1621218">
                    <a:tc>
                      <a:txBody>
                        <a:bodyPr/>
                        <a:lstStyle/>
                        <a:p>
                          <a:endParaRPr lang="en-CO"/>
                        </a:p>
                      </a:txBody>
                      <a:tcPr marL="46350" marR="4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588" t="-195313" r="-197647" b="-781"/>
                          </a:stretch>
                        </a:blipFill>
                      </a:tcPr>
                    </a:tc>
                    <a:tc>
                      <a:txBody>
                        <a:bodyPr/>
                        <a:lstStyle/>
                        <a:p>
                          <a:pPr marL="0" marR="34290">
                            <a:spcBef>
                              <a:spcPts val="0"/>
                            </a:spcBef>
                            <a:spcAft>
                              <a:spcPts val="0"/>
                            </a:spcAft>
                          </a:pPr>
                          <a:r>
                            <a:rPr lang="en-US" sz="1600">
                              <a:effectLst/>
                              <a:latin typeface="Verdana" panose="020B0604030504040204" pitchFamily="34" charset="0"/>
                              <a:ea typeface="Times New Roman" panose="02020603050405020304" pitchFamily="18" charset="0"/>
                              <a:cs typeface="Cambria" panose="02040503050406030204" pitchFamily="18" charset="0"/>
                            </a:rPr>
                            <a:t> </a:t>
                          </a:r>
                          <a:endParaRPr lang="en-CO" sz="1000">
                            <a:effectLst/>
                            <a:latin typeface="Cambria" panose="02040503050406030204" pitchFamily="18" charset="0"/>
                            <a:ea typeface="Times New Roman" panose="02020603050405020304" pitchFamily="18" charset="0"/>
                            <a:cs typeface="Cambria" panose="02040503050406030204" pitchFamily="18" charset="0"/>
                          </a:endParaRPr>
                        </a:p>
                      </a:txBody>
                      <a:tcPr marL="46350" marR="4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spcBef>
                              <a:spcPts val="0"/>
                            </a:spcBef>
                            <a:spcAft>
                              <a:spcPts val="0"/>
                            </a:spcAft>
                          </a:pPr>
                          <a:r>
                            <a:rPr lang="en-US" sz="1600" dirty="0">
                              <a:effectLst/>
                              <a:latin typeface="Verdana" panose="020B0604030504040204" pitchFamily="34" charset="0"/>
                              <a:ea typeface="Times New Roman" panose="02020603050405020304" pitchFamily="18" charset="0"/>
                              <a:cs typeface="Cambria" panose="02040503050406030204" pitchFamily="18" charset="0"/>
                            </a:rPr>
                            <a:t> </a:t>
                          </a:r>
                          <a:endParaRPr lang="en-CO" sz="1000" dirty="0">
                            <a:effectLst/>
                            <a:latin typeface="Cambria" panose="02040503050406030204" pitchFamily="18" charset="0"/>
                            <a:ea typeface="Times New Roman" panose="02020603050405020304" pitchFamily="18" charset="0"/>
                            <a:cs typeface="Cambria" panose="02040503050406030204" pitchFamily="18" charset="0"/>
                          </a:endParaRPr>
                        </a:p>
                      </a:txBody>
                      <a:tcPr marL="46350" marR="4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74260786"/>
                      </a:ext>
                    </a:extLst>
                  </a:tr>
                </a:tbl>
              </a:graphicData>
            </a:graphic>
          </p:graphicFrame>
        </mc:Fallback>
      </mc:AlternateContent>
      <p:sp>
        <p:nvSpPr>
          <p:cNvPr id="7"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148</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518468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004552" y="298920"/>
            <a:ext cx="10181162" cy="3785652"/>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How could the different methods for selecting a sample in Scenario 1 lead to different conclusions about the population? </a:t>
            </a:r>
          </a:p>
          <a:p>
            <a:pPr marL="457200" indent="-457200">
              <a:buFont typeface="+mj-lt"/>
              <a:buAutoNum type="arabi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Explain which of the methods listed in the table would be the most likely to produce a sample that is representative of the population.</a:t>
            </a:r>
          </a:p>
        </p:txBody>
      </p:sp>
      <p:sp>
        <p:nvSpPr>
          <p:cNvPr id="6"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148</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3815530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339403" y="397920"/>
            <a:ext cx="9511460" cy="830997"/>
          </a:xfrm>
          <a:prstGeom prst="rect">
            <a:avLst/>
          </a:prstGeom>
        </p:spPr>
        <p:txBody>
          <a:bodyPr wrap="square">
            <a:spAutoFit/>
          </a:bodyPr>
          <a:lstStyle/>
          <a:p>
            <a:pPr marL="457200" indent="-457200">
              <a:buFont typeface="+mj-lt"/>
              <a:buAutoNum type="arabi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With your partner, determine a better way to select a sample for this study.</a:t>
            </a:r>
          </a:p>
        </p:txBody>
      </p:sp>
      <p:sp>
        <p:nvSpPr>
          <p:cNvPr id="6"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148</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427872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159099" y="411366"/>
            <a:ext cx="9710704" cy="1569660"/>
          </a:xfrm>
          <a:prstGeom prst="rect">
            <a:avLst/>
          </a:prstGeom>
        </p:spPr>
        <p:txBody>
          <a:bodyPr wrap="square">
            <a:spAutoFit/>
          </a:bodyPr>
          <a:lstStyle/>
          <a:p>
            <a:r>
              <a:rPr lang="en-US" sz="2400" b="1" dirty="0">
                <a:latin typeface="Verdana" panose="020B0604030504040204" pitchFamily="34" charset="0"/>
                <a:ea typeface="Times New Roman" panose="02020603050405020304" pitchFamily="18" charset="0"/>
                <a:cs typeface="Times New Roman" panose="02020603050405020304" pitchFamily="18" charset="0"/>
              </a:rPr>
              <a:t>Scenario 2: </a:t>
            </a:r>
            <a:r>
              <a:rPr lang="en-US" sz="2400" dirty="0" err="1">
                <a:latin typeface="Verdana" panose="020B0604030504040204" pitchFamily="34" charset="0"/>
                <a:ea typeface="Times New Roman" panose="02020603050405020304" pitchFamily="18" charset="0"/>
                <a:cs typeface="Times New Roman" panose="02020603050405020304" pitchFamily="18" charset="0"/>
              </a:rPr>
              <a:t>Maneet</a:t>
            </a:r>
            <a:r>
              <a:rPr lang="en-US" sz="2400" dirty="0">
                <a:latin typeface="Verdana" panose="020B0604030504040204" pitchFamily="34" charset="0"/>
                <a:ea typeface="Times New Roman" panose="02020603050405020304" pitchFamily="18" charset="0"/>
                <a:cs typeface="Times New Roman" panose="02020603050405020304" pitchFamily="18" charset="0"/>
              </a:rPr>
              <a:t>, a nutritionist, wants to collect data on how much caffeine the average American drinks per day. She works with three of her colleagues to decide how to survey a sample of the population. </a:t>
            </a: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3A11D43B-D1BC-764B-9DBE-82135D1CFE64}"/>
                  </a:ext>
                </a:extLst>
              </p:cNvPr>
              <p:cNvGraphicFramePr>
                <a:graphicFrameLocks noGrp="1"/>
              </p:cNvGraphicFramePr>
              <p:nvPr>
                <p:extLst>
                  <p:ext uri="{D42A27DB-BD31-4B8C-83A1-F6EECF244321}">
                    <p14:modId xmlns:p14="http://schemas.microsoft.com/office/powerpoint/2010/main" val="1073112639"/>
                  </p:ext>
                </p:extLst>
              </p:nvPr>
            </p:nvGraphicFramePr>
            <p:xfrm>
              <a:off x="2600691" y="2777967"/>
              <a:ext cx="6827520" cy="2446655"/>
            </p:xfrm>
            <a:graphic>
              <a:graphicData uri="http://schemas.openxmlformats.org/drawingml/2006/table">
                <a:tbl>
                  <a:tblPr firstRow="1" firstCol="1" bandRow="1"/>
                  <a:tblGrid>
                    <a:gridCol w="3537585">
                      <a:extLst>
                        <a:ext uri="{9D8B030D-6E8A-4147-A177-3AD203B41FA5}">
                          <a16:colId xmlns:a16="http://schemas.microsoft.com/office/drawing/2014/main" val="4081599354"/>
                        </a:ext>
                      </a:extLst>
                    </a:gridCol>
                    <a:gridCol w="3289935">
                      <a:extLst>
                        <a:ext uri="{9D8B030D-6E8A-4147-A177-3AD203B41FA5}">
                          <a16:colId xmlns:a16="http://schemas.microsoft.com/office/drawing/2014/main" val="2748075369"/>
                        </a:ext>
                      </a:extLst>
                    </a:gridCol>
                  </a:tblGrid>
                  <a:tr h="294640">
                    <a:tc>
                      <a:txBody>
                        <a:bodyPr/>
                        <a:lstStyle/>
                        <a:p>
                          <a:pPr marL="0" marR="34290" algn="ctr">
                            <a:spcBef>
                              <a:spcPts val="0"/>
                            </a:spcBef>
                            <a:spcAft>
                              <a:spcPts val="0"/>
                            </a:spcAft>
                          </a:pPr>
                          <a:r>
                            <a:rPr lang="en-US" sz="1800" b="1">
                              <a:effectLst/>
                              <a:latin typeface="Verdana" panose="020B0604030504040204" pitchFamily="34" charset="0"/>
                              <a:ea typeface="Times New Roman" panose="02020603050405020304" pitchFamily="18" charset="0"/>
                              <a:cs typeface="Cambria" panose="02040503050406030204" pitchFamily="18" charset="0"/>
                            </a:rPr>
                            <a:t>Method 1</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Method 2</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4237838958"/>
                      </a:ext>
                    </a:extLst>
                  </a:tr>
                  <a:tr h="2152015">
                    <a:tc>
                      <a:txBody>
                        <a:bodyPr/>
                        <a:lstStyle/>
                        <a:p>
                          <a:pPr marL="0" marR="34290">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Maneet and Diarmaid believe the best way to survey is to ask the first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Cambria" panose="02040503050406030204" pitchFamily="18" charset="0"/>
                                </a:rPr>
                                <m:t>20</m:t>
                              </m:r>
                            </m:oMath>
                          </a14:m>
                          <a:r>
                            <a:rPr lang="en-US" sz="1800">
                              <a:effectLst/>
                              <a:latin typeface="Verdana" panose="020B0604030504040204" pitchFamily="34" charset="0"/>
                              <a:ea typeface="Times New Roman" panose="02020603050405020304" pitchFamily="18" charset="0"/>
                              <a:cs typeface="Cambria" panose="02040503050406030204" pitchFamily="18" charset="0"/>
                            </a:rPr>
                            <a:t> adults who arrive at a grocery store after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Cambria" panose="02040503050406030204" pitchFamily="18" charset="0"/>
                                </a:rPr>
                                <m:t>10:00</m:t>
                              </m:r>
                            </m:oMath>
                          </a14:m>
                          <a:r>
                            <a:rPr lang="en-US" sz="1800">
                              <a:effectLst/>
                              <a:latin typeface="Verdana" panose="020B0604030504040204" pitchFamily="34" charset="0"/>
                              <a:ea typeface="Times New Roman" panose="02020603050405020304" pitchFamily="18" charset="0"/>
                              <a:cs typeface="Cambria" panose="02040503050406030204" pitchFamily="18" charset="0"/>
                            </a:rPr>
                            <a:t> A.M. about the average amount of caffeine they consume each day.</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spcBef>
                              <a:spcPts val="0"/>
                            </a:spcBef>
                            <a:spcAft>
                              <a:spcPts val="0"/>
                            </a:spcAft>
                          </a:pPr>
                          <a:r>
                            <a:rPr lang="en-US" sz="1800" dirty="0">
                              <a:effectLst/>
                              <a:latin typeface="Verdana" panose="020B0604030504040204" pitchFamily="34" charset="0"/>
                              <a:ea typeface="Times New Roman" panose="02020603050405020304" pitchFamily="18" charset="0"/>
                              <a:cs typeface="Cambria" panose="02040503050406030204" pitchFamily="18" charset="0"/>
                            </a:rPr>
                            <a:t>Faith and Santiago would rather ask the first adult who comes into a coffee shop every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Cambria" panose="02040503050406030204" pitchFamily="18" charset="0"/>
                                </a:rPr>
                                <m:t>30</m:t>
                              </m:r>
                            </m:oMath>
                          </a14:m>
                          <a:r>
                            <a:rPr lang="en-US" sz="1800" dirty="0">
                              <a:effectLst/>
                              <a:latin typeface="Verdana" panose="020B0604030504040204" pitchFamily="34" charset="0"/>
                              <a:ea typeface="Times New Roman" panose="02020603050405020304" pitchFamily="18" charset="0"/>
                              <a:cs typeface="Cambria" panose="02040503050406030204" pitchFamily="18" charset="0"/>
                            </a:rPr>
                            <a:t> minutes about the average amount of caffeine they consume each day.</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0655235"/>
                      </a:ext>
                    </a:extLst>
                  </a:tr>
                </a:tbl>
              </a:graphicData>
            </a:graphic>
          </p:graphicFrame>
        </mc:Choice>
        <mc:Fallback xmlns="">
          <p:graphicFrame>
            <p:nvGraphicFramePr>
              <p:cNvPr id="5" name="Table 4">
                <a:extLst>
                  <a:ext uri="{FF2B5EF4-FFF2-40B4-BE49-F238E27FC236}">
                    <a16:creationId xmlns:a16="http://schemas.microsoft.com/office/drawing/2014/main" id="{3A11D43B-D1BC-764B-9DBE-82135D1CFE64}"/>
                  </a:ext>
                </a:extLst>
              </p:cNvPr>
              <p:cNvGraphicFramePr>
                <a:graphicFrameLocks noGrp="1"/>
              </p:cNvGraphicFramePr>
              <p:nvPr>
                <p:extLst>
                  <p:ext uri="{D42A27DB-BD31-4B8C-83A1-F6EECF244321}">
                    <p14:modId xmlns:p14="http://schemas.microsoft.com/office/powerpoint/2010/main" val="1073112639"/>
                  </p:ext>
                </p:extLst>
              </p:nvPr>
            </p:nvGraphicFramePr>
            <p:xfrm>
              <a:off x="1076691" y="2777966"/>
              <a:ext cx="6827520" cy="2446655"/>
            </p:xfrm>
            <a:graphic>
              <a:graphicData uri="http://schemas.openxmlformats.org/drawingml/2006/table">
                <a:tbl>
                  <a:tblPr firstRow="1" firstCol="1" bandRow="1"/>
                  <a:tblGrid>
                    <a:gridCol w="3537585">
                      <a:extLst>
                        <a:ext uri="{9D8B030D-6E8A-4147-A177-3AD203B41FA5}">
                          <a16:colId xmlns:a16="http://schemas.microsoft.com/office/drawing/2014/main" val="4081599354"/>
                        </a:ext>
                      </a:extLst>
                    </a:gridCol>
                    <a:gridCol w="3289935">
                      <a:extLst>
                        <a:ext uri="{9D8B030D-6E8A-4147-A177-3AD203B41FA5}">
                          <a16:colId xmlns:a16="http://schemas.microsoft.com/office/drawing/2014/main" val="2748075369"/>
                        </a:ext>
                      </a:extLst>
                    </a:gridCol>
                  </a:tblGrid>
                  <a:tr h="294640">
                    <a:tc>
                      <a:txBody>
                        <a:bodyPr/>
                        <a:lstStyle/>
                        <a:p>
                          <a:pPr marL="0" marR="34290" algn="ctr">
                            <a:spcBef>
                              <a:spcPts val="0"/>
                            </a:spcBef>
                            <a:spcAft>
                              <a:spcPts val="0"/>
                            </a:spcAft>
                          </a:pPr>
                          <a:r>
                            <a:rPr lang="en-US" sz="1800" b="1">
                              <a:effectLst/>
                              <a:latin typeface="Verdana" panose="020B0604030504040204" pitchFamily="34" charset="0"/>
                              <a:ea typeface="Times New Roman" panose="02020603050405020304" pitchFamily="18" charset="0"/>
                              <a:cs typeface="Cambria" panose="02040503050406030204" pitchFamily="18" charset="0"/>
                            </a:rPr>
                            <a:t>Method 1</a:t>
                          </a:r>
                          <a:endParaRPr lang="en-CO"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Method 2</a:t>
                          </a:r>
                          <a:endParaRPr lang="en-CO"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4237838958"/>
                      </a:ext>
                    </a:extLst>
                  </a:tr>
                  <a:tr h="2152015">
                    <a:tc>
                      <a:txBody>
                        <a:bodyPr/>
                        <a:lstStyle/>
                        <a:p>
                          <a:endParaRPr lang="en-CO"/>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16374" r="-93548" b="-1170"/>
                          </a:stretch>
                        </a:blipFill>
                      </a:tcPr>
                    </a:tc>
                    <a:tc>
                      <a:txBody>
                        <a:bodyPr/>
                        <a:lstStyle/>
                        <a:p>
                          <a:endParaRPr lang="en-CO"/>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07308" t="-16374" r="-385" b="-1170"/>
                          </a:stretch>
                        </a:blipFill>
                      </a:tcPr>
                    </a:tc>
                    <a:extLst>
                      <a:ext uri="{0D108BD9-81ED-4DB2-BD59-A6C34878D82A}">
                        <a16:rowId xmlns:a16="http://schemas.microsoft.com/office/drawing/2014/main" val="2320655235"/>
                      </a:ext>
                    </a:extLst>
                  </a:tr>
                </a:tbl>
              </a:graphicData>
            </a:graphic>
          </p:graphicFrame>
        </mc:Fallback>
      </mc:AlternateContent>
      <p:sp>
        <p:nvSpPr>
          <p:cNvPr id="7"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149</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2529037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262130" y="411367"/>
            <a:ext cx="9504642" cy="1200329"/>
          </a:xfrm>
          <a:prstGeom prst="rect">
            <a:avLst/>
          </a:prstGeom>
        </p:spPr>
        <p:txBody>
          <a:bodyPr wrap="square">
            <a:spAutoFit/>
          </a:bodyPr>
          <a:lstStyle/>
          <a:p>
            <a:pPr marL="457200" indent="-457200">
              <a:buFont typeface="+mj-lt"/>
              <a:buAutoNum type="arabicPeriod" startAt="5"/>
            </a:pPr>
            <a:r>
              <a:rPr lang="en-US" sz="2400" dirty="0">
                <a:latin typeface="Verdana" panose="020B0604030504040204" pitchFamily="34" charset="0"/>
                <a:ea typeface="Times New Roman" panose="02020603050405020304" pitchFamily="18" charset="0"/>
                <a:cs typeface="Times New Roman" panose="02020603050405020304" pitchFamily="18" charset="0"/>
              </a:rPr>
              <a:t>What recommendation(s) would you give to this committee about how to select the most representative sample? </a:t>
            </a:r>
          </a:p>
        </p:txBody>
      </p:sp>
      <p:sp>
        <p:nvSpPr>
          <p:cNvPr id="6"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149</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398894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9" name="Google Shape;313;g104476d1465_1_39">
            <a:extLst>
              <a:ext uri="{FF2B5EF4-FFF2-40B4-BE49-F238E27FC236}">
                <a16:creationId xmlns:a16="http://schemas.microsoft.com/office/drawing/2014/main" id="{FBE81C39-C116-3E43-8FD2-10F6C7887F5E}"/>
              </a:ext>
            </a:extLst>
          </p:cNvPr>
          <p:cNvSpPr txBox="1">
            <a:spLocks/>
          </p:cNvSpPr>
          <p:nvPr/>
        </p:nvSpPr>
        <p:spPr>
          <a:xfrm>
            <a:off x="5597311" y="2766144"/>
            <a:ext cx="5002742"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buFont typeface="Cutive"/>
              <a:buNone/>
            </a:pPr>
            <a:r>
              <a:rPr lang="en-US" sz="5500" b="1" dirty="0">
                <a:solidFill>
                  <a:srgbClr val="33BEA6"/>
                </a:solidFill>
                <a:latin typeface="Verdana"/>
                <a:ea typeface="Verdana"/>
                <a:cs typeface="Verdana"/>
                <a:sym typeface="Verdana"/>
              </a:rPr>
              <a:t>Exploration</a:t>
            </a:r>
            <a:endParaRPr lang="en-US" sz="5100" b="1" dirty="0">
              <a:solidFill>
                <a:srgbClr val="33BEA6"/>
              </a:solidFill>
              <a:latin typeface="Verdana"/>
              <a:ea typeface="Verdana"/>
              <a:cs typeface="Verdana"/>
              <a:sym typeface="Verdana"/>
            </a:endParaRPr>
          </a:p>
        </p:txBody>
      </p:sp>
      <p:pic>
        <p:nvPicPr>
          <p:cNvPr id="8" name="image8.png" descr="Icon&#10;&#10;Description automatically generated">
            <a:extLst>
              <a:ext uri="{FF2B5EF4-FFF2-40B4-BE49-F238E27FC236}">
                <a16:creationId xmlns:a16="http://schemas.microsoft.com/office/drawing/2014/main" id="{B7CF1B7F-6D46-1F4D-AEAF-001F21A7F71B}"/>
              </a:ext>
            </a:extLst>
          </p:cNvPr>
          <p:cNvPicPr/>
          <p:nvPr/>
        </p:nvPicPr>
        <p:blipFill>
          <a:blip r:embed="rId3"/>
          <a:srcRect/>
          <a:stretch>
            <a:fillRect/>
          </a:stretch>
        </p:blipFill>
        <p:spPr>
          <a:xfrm>
            <a:off x="4445163" y="2852920"/>
            <a:ext cx="1152149" cy="1152149"/>
          </a:xfrm>
          <a:prstGeom prst="rect">
            <a:avLst/>
          </a:prstGeom>
          <a:ln/>
          <a:effectLst>
            <a:outerShdw blurRad="50800" dist="38100" dir="2700000" algn="tl" rotWithShape="0">
              <a:prstClr val="black">
                <a:alpha val="40000"/>
              </a:prstClr>
            </a:outerShdw>
          </a:effectLst>
        </p:spPr>
      </p:pic>
      <p:sp>
        <p:nvSpPr>
          <p:cNvPr id="10"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149</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990403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72894" y="-75184"/>
            <a:ext cx="938399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10.8.4 Exploration: Sample Size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1352282" y="1632182"/>
                <a:ext cx="9769972" cy="3785652"/>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Isabella is playing a computer game. Her challenge is to create a replica of a hidden spinner that she cannot see. Her score is based on two things: the accuracy of the spinner she creates and the number of spins she uses to create the spinner (the fewer spins she uses equals a higher score).</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r>
                  <a:rPr lang="en-US" sz="2400" dirty="0">
                    <a:latin typeface="Verdana" panose="020B0604030504040204" pitchFamily="34" charset="0"/>
                    <a:ea typeface="Verdana" panose="020B0604030504040204" pitchFamily="34" charset="0"/>
                    <a:cs typeface="Verdana" panose="020B0604030504040204" pitchFamily="34" charset="0"/>
                  </a:rPr>
                  <a:t>Isabella creates her first replica after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12</m:t>
                    </m:r>
                  </m:oMath>
                </a14:m>
                <a:r>
                  <a:rPr lang="en-US" sz="2400" dirty="0">
                    <a:latin typeface="Verdana" panose="020B0604030504040204" pitchFamily="34" charset="0"/>
                    <a:ea typeface="Verdana" panose="020B0604030504040204" pitchFamily="34" charset="0"/>
                    <a:cs typeface="Verdana" panose="020B0604030504040204" pitchFamily="34" charset="0"/>
                  </a:rPr>
                  <a:t> spins of the hidden spinner. Below is a table showing the outcomes of the first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12</m:t>
                    </m:r>
                  </m:oMath>
                </a14:m>
                <a:r>
                  <a:rPr lang="en-US" sz="2400" dirty="0">
                    <a:latin typeface="Verdana" panose="020B0604030504040204" pitchFamily="34" charset="0"/>
                    <a:ea typeface="Verdana" panose="020B0604030504040204" pitchFamily="34" charset="0"/>
                    <a:cs typeface="Verdana" panose="020B0604030504040204" pitchFamily="34" charset="0"/>
                  </a:rPr>
                  <a:t> spins.</a:t>
                </a:r>
              </a:p>
              <a:p>
                <a:pPr lvl="0"/>
                <a:r>
                  <a:rPr lang="en-US" sz="24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0" name="TextBox 9">
                <a:extLst>
                  <a:ext uri="{FF2B5EF4-FFF2-40B4-BE49-F238E27FC236}">
                    <a16:creationId xmlns:a16="http://schemas.microsoft.com/office/drawing/2014/main" xmlns:a14="http://schemas.microsoft.com/office/drawing/2010/main" xmlns="" id="{E44DF7DE-9172-3E4E-B74A-7A51585FB6EA}"/>
                  </a:ext>
                </a:extLst>
              </p:cNvPr>
              <p:cNvSpPr txBox="1">
                <a:spLocks noRot="1" noChangeAspect="1" noMove="1" noResize="1" noEditPoints="1" noAdjustHandles="1" noChangeArrowheads="1" noChangeShapeType="1" noTextEdit="1"/>
              </p:cNvSpPr>
              <p:nvPr/>
            </p:nvSpPr>
            <p:spPr>
              <a:xfrm>
                <a:off x="1352282" y="1632182"/>
                <a:ext cx="9769972" cy="3785652"/>
              </a:xfrm>
              <a:prstGeom prst="rect">
                <a:avLst/>
              </a:prstGeom>
              <a:blipFill rotWithShape="0">
                <a:blip r:embed="rId3"/>
                <a:stretch>
                  <a:fillRect l="-998" t="-1288" r="-686"/>
                </a:stretch>
              </a:blipFill>
            </p:spPr>
            <p:txBody>
              <a:bodyPr/>
              <a:lstStyle/>
              <a:p>
                <a:r>
                  <a:rPr lang="en-US">
                    <a:noFill/>
                  </a:rPr>
                  <a:t> </a:t>
                </a:r>
              </a:p>
            </p:txBody>
          </p:sp>
        </mc:Fallback>
      </mc:AlternateContent>
      <p:pic>
        <p:nvPicPr>
          <p:cNvPr id="23" name="image8.png" descr="Icon&#10;&#10;Description automatically generated">
            <a:extLst>
              <a:ext uri="{FF2B5EF4-FFF2-40B4-BE49-F238E27FC236}">
                <a16:creationId xmlns:a16="http://schemas.microsoft.com/office/drawing/2014/main" id="{BB23145B-E454-1E4E-8BFC-AE8BF7469E77}"/>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719375" y="208154"/>
            <a:ext cx="753520" cy="753520"/>
          </a:xfrm>
          <a:prstGeom prst="rect">
            <a:avLst/>
          </a:prstGeom>
          <a:ln/>
        </p:spPr>
      </p:pic>
      <p:sp>
        <p:nvSpPr>
          <p:cNvPr id="9"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149</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919977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F54A4596-5923-6342-9500-70E8F702680A}"/>
                  </a:ext>
                </a:extLst>
              </p:cNvPr>
              <p:cNvSpPr/>
              <p:nvPr/>
            </p:nvSpPr>
            <p:spPr>
              <a:xfrm>
                <a:off x="1249251" y="3314848"/>
                <a:ext cx="9534804" cy="830997"/>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Use the data from the first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12</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spins to draw a sketch of what you think the hidden spinner might look like. </a:t>
                </a:r>
              </a:p>
            </p:txBody>
          </p:sp>
        </mc:Choice>
        <mc:Fallback xmlns="">
          <p:sp>
            <p:nvSpPr>
              <p:cNvPr id="2" name="Rectangle 1">
                <a:extLst>
                  <a:ext uri="{FF2B5EF4-FFF2-40B4-BE49-F238E27FC236}">
                    <a16:creationId xmlns:a16="http://schemas.microsoft.com/office/drawing/2014/main" xmlns:a14="http://schemas.microsoft.com/office/drawing/2010/main" xmlns="" id="{F54A4596-5923-6342-9500-70E8F702680A}"/>
                  </a:ext>
                </a:extLst>
              </p:cNvPr>
              <p:cNvSpPr>
                <a:spLocks noRot="1" noChangeAspect="1" noMove="1" noResize="1" noEditPoints="1" noAdjustHandles="1" noChangeArrowheads="1" noChangeShapeType="1" noTextEdit="1"/>
              </p:cNvSpPr>
              <p:nvPr/>
            </p:nvSpPr>
            <p:spPr>
              <a:xfrm>
                <a:off x="1249251" y="3314848"/>
                <a:ext cx="9534804" cy="830997"/>
              </a:xfrm>
              <a:prstGeom prst="rect">
                <a:avLst/>
              </a:prstGeom>
              <a:blipFill rotWithShape="0">
                <a:blip r:embed="rId3"/>
                <a:stretch>
                  <a:fillRect l="-1023" t="-6618" b="-16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926BBC97-6962-7046-A7E9-1648593573BD}"/>
                  </a:ext>
                </a:extLst>
              </p:cNvPr>
              <p:cNvGraphicFramePr>
                <a:graphicFrameLocks noGrp="1"/>
              </p:cNvGraphicFramePr>
              <p:nvPr>
                <p:extLst>
                  <p:ext uri="{D42A27DB-BD31-4B8C-83A1-F6EECF244321}">
                    <p14:modId xmlns:p14="http://schemas.microsoft.com/office/powerpoint/2010/main" val="2009363893"/>
                  </p:ext>
                </p:extLst>
              </p:nvPr>
            </p:nvGraphicFramePr>
            <p:xfrm>
              <a:off x="3977345" y="722585"/>
              <a:ext cx="4237311" cy="2218740"/>
            </p:xfrm>
            <a:graphic>
              <a:graphicData uri="http://schemas.openxmlformats.org/drawingml/2006/table">
                <a:tbl>
                  <a:tblPr firstRow="1" firstCol="1" bandRow="1"/>
                  <a:tblGrid>
                    <a:gridCol w="1720521">
                      <a:extLst>
                        <a:ext uri="{9D8B030D-6E8A-4147-A177-3AD203B41FA5}">
                          <a16:colId xmlns:a16="http://schemas.microsoft.com/office/drawing/2014/main" val="1552893445"/>
                        </a:ext>
                      </a:extLst>
                    </a:gridCol>
                    <a:gridCol w="2516790">
                      <a:extLst>
                        <a:ext uri="{9D8B030D-6E8A-4147-A177-3AD203B41FA5}">
                          <a16:colId xmlns:a16="http://schemas.microsoft.com/office/drawing/2014/main" val="3683681050"/>
                        </a:ext>
                      </a:extLst>
                    </a:gridCol>
                  </a:tblGrid>
                  <a:tr h="397788">
                    <a:tc>
                      <a:txBody>
                        <a:bodyPr/>
                        <a:lstStyle/>
                        <a:p>
                          <a:pPr marL="0" marR="34290" algn="ctr">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Color</a:t>
                          </a:r>
                          <a:endParaRPr lang="x-none" sz="1300">
                            <a:effectLst/>
                            <a:latin typeface="Cambria" panose="02040503050406030204" pitchFamily="18" charset="0"/>
                            <a:ea typeface="Times New Roman" panose="02020603050405020304" pitchFamily="18" charset="0"/>
                            <a:cs typeface="Cambria" panose="02040503050406030204" pitchFamily="18" charset="0"/>
                          </a:endParaRPr>
                        </a:p>
                      </a:txBody>
                      <a:tcPr marL="74715" marR="747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Number of Spins</a:t>
                          </a:r>
                          <a:endParaRPr lang="x-none" sz="1300">
                            <a:effectLst/>
                            <a:latin typeface="Cambria" panose="02040503050406030204" pitchFamily="18" charset="0"/>
                            <a:ea typeface="Times New Roman" panose="02020603050405020304" pitchFamily="18" charset="0"/>
                            <a:cs typeface="Cambria" panose="02040503050406030204" pitchFamily="18" charset="0"/>
                          </a:endParaRPr>
                        </a:p>
                      </a:txBody>
                      <a:tcPr marL="74715" marR="747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942165001"/>
                      </a:ext>
                    </a:extLst>
                  </a:tr>
                  <a:tr h="416467">
                    <a:tc>
                      <a:txBody>
                        <a:bodyPr/>
                        <a:lstStyle/>
                        <a:p>
                          <a:pPr marL="0" marR="34290" algn="ctr">
                            <a:spcBef>
                              <a:spcPts val="0"/>
                            </a:spcBef>
                            <a:spcAft>
                              <a:spcPts val="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red</a:t>
                          </a:r>
                          <a:endParaRPr lang="x-none" sz="1300">
                            <a:effectLst/>
                            <a:latin typeface="Cambria" panose="02040503050406030204" pitchFamily="18" charset="0"/>
                            <a:ea typeface="Times New Roman" panose="02020603050405020304" pitchFamily="18" charset="0"/>
                            <a:cs typeface="Cambria" panose="02040503050406030204" pitchFamily="18" charset="0"/>
                          </a:endParaRPr>
                        </a:p>
                      </a:txBody>
                      <a:tcPr marL="74715" marR="747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2</m:t>
                                </m:r>
                              </m:oMath>
                            </m:oMathPara>
                          </a14:m>
                          <a:endParaRPr lang="x-none" sz="1300">
                            <a:effectLst/>
                            <a:latin typeface="Cambria" panose="02040503050406030204" pitchFamily="18" charset="0"/>
                            <a:ea typeface="Times New Roman" panose="02020603050405020304" pitchFamily="18" charset="0"/>
                            <a:cs typeface="Cambria" panose="02040503050406030204" pitchFamily="18" charset="0"/>
                          </a:endParaRPr>
                        </a:p>
                      </a:txBody>
                      <a:tcPr marL="74715" marR="747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38627294"/>
                      </a:ext>
                    </a:extLst>
                  </a:tr>
                  <a:tr h="397788">
                    <a:tc>
                      <a:txBody>
                        <a:bodyPr/>
                        <a:lstStyle/>
                        <a:p>
                          <a:pPr marL="0" marR="34290" algn="ctr">
                            <a:spcBef>
                              <a:spcPts val="0"/>
                            </a:spcBef>
                            <a:spcAft>
                              <a:spcPts val="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purple</a:t>
                          </a:r>
                          <a:endParaRPr lang="x-none" sz="1300">
                            <a:effectLst/>
                            <a:latin typeface="Cambria" panose="02040503050406030204" pitchFamily="18" charset="0"/>
                            <a:ea typeface="Times New Roman" panose="02020603050405020304" pitchFamily="18" charset="0"/>
                            <a:cs typeface="Cambria" panose="02040503050406030204" pitchFamily="18" charset="0"/>
                          </a:endParaRPr>
                        </a:p>
                      </a:txBody>
                      <a:tcPr marL="74715" marR="747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4</m:t>
                                </m:r>
                              </m:oMath>
                            </m:oMathPara>
                          </a14:m>
                          <a:endParaRPr lang="x-none" sz="1300">
                            <a:effectLst/>
                            <a:latin typeface="Cambria" panose="02040503050406030204" pitchFamily="18" charset="0"/>
                            <a:ea typeface="Times New Roman" panose="02020603050405020304" pitchFamily="18" charset="0"/>
                            <a:cs typeface="Cambria" panose="02040503050406030204" pitchFamily="18" charset="0"/>
                          </a:endParaRPr>
                        </a:p>
                      </a:txBody>
                      <a:tcPr marL="74715" marR="747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56855245"/>
                      </a:ext>
                    </a:extLst>
                  </a:tr>
                  <a:tr h="416467">
                    <a:tc>
                      <a:txBody>
                        <a:bodyPr/>
                        <a:lstStyle/>
                        <a:p>
                          <a:pPr marL="0" marR="34290" algn="ctr">
                            <a:spcBef>
                              <a:spcPts val="0"/>
                            </a:spcBef>
                            <a:spcAft>
                              <a:spcPts val="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blue</a:t>
                          </a:r>
                          <a:endParaRPr lang="x-none" sz="1300">
                            <a:effectLst/>
                            <a:latin typeface="Cambria" panose="02040503050406030204" pitchFamily="18" charset="0"/>
                            <a:ea typeface="Times New Roman" panose="02020603050405020304" pitchFamily="18" charset="0"/>
                            <a:cs typeface="Cambria" panose="02040503050406030204" pitchFamily="18" charset="0"/>
                          </a:endParaRPr>
                        </a:p>
                      </a:txBody>
                      <a:tcPr marL="74715" marR="747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3</m:t>
                                </m:r>
                              </m:oMath>
                            </m:oMathPara>
                          </a14:m>
                          <a:endParaRPr lang="x-none" sz="1300" dirty="0">
                            <a:effectLst/>
                            <a:latin typeface="Cambria" panose="02040503050406030204" pitchFamily="18" charset="0"/>
                            <a:ea typeface="Times New Roman" panose="02020603050405020304" pitchFamily="18" charset="0"/>
                            <a:cs typeface="Cambria" panose="02040503050406030204" pitchFamily="18" charset="0"/>
                          </a:endParaRPr>
                        </a:p>
                      </a:txBody>
                      <a:tcPr marL="74715" marR="747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8486768"/>
                      </a:ext>
                    </a:extLst>
                  </a:tr>
                  <a:tr h="378418">
                    <a:tc>
                      <a:txBody>
                        <a:bodyPr/>
                        <a:lstStyle/>
                        <a:p>
                          <a:pPr marL="0" marR="34290" algn="ctr">
                            <a:spcBef>
                              <a:spcPts val="0"/>
                            </a:spcBef>
                            <a:spcAft>
                              <a:spcPts val="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yellow</a:t>
                          </a:r>
                          <a:endParaRPr lang="x-none" sz="1300">
                            <a:effectLst/>
                            <a:latin typeface="Cambria" panose="02040503050406030204" pitchFamily="18" charset="0"/>
                            <a:ea typeface="Times New Roman" panose="02020603050405020304" pitchFamily="18" charset="0"/>
                            <a:cs typeface="Cambria" panose="02040503050406030204" pitchFamily="18" charset="0"/>
                          </a:endParaRPr>
                        </a:p>
                      </a:txBody>
                      <a:tcPr marL="74715" marR="747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3</m:t>
                                </m:r>
                              </m:oMath>
                            </m:oMathPara>
                          </a14:m>
                          <a:endParaRPr lang="x-none" sz="1300" dirty="0">
                            <a:effectLst/>
                            <a:latin typeface="Cambria" panose="02040503050406030204" pitchFamily="18" charset="0"/>
                            <a:ea typeface="Times New Roman" panose="02020603050405020304" pitchFamily="18" charset="0"/>
                            <a:cs typeface="Cambria" panose="02040503050406030204" pitchFamily="18" charset="0"/>
                          </a:endParaRPr>
                        </a:p>
                      </a:txBody>
                      <a:tcPr marL="74715" marR="747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8535941"/>
                      </a:ext>
                    </a:extLst>
                  </a:tr>
                </a:tbl>
              </a:graphicData>
            </a:graphic>
          </p:graphicFrame>
        </mc:Choice>
        <mc:Fallback xmlns="">
          <p:graphicFrame>
            <p:nvGraphicFramePr>
              <p:cNvPr id="4" name="Table 3">
                <a:extLst>
                  <a:ext uri="{FF2B5EF4-FFF2-40B4-BE49-F238E27FC236}">
                    <a16:creationId xmlns:a16="http://schemas.microsoft.com/office/drawing/2014/main" id="{926BBC97-6962-7046-A7E9-1648593573BD}"/>
                  </a:ext>
                </a:extLst>
              </p:cNvPr>
              <p:cNvGraphicFramePr>
                <a:graphicFrameLocks noGrp="1"/>
              </p:cNvGraphicFramePr>
              <p:nvPr>
                <p:extLst>
                  <p:ext uri="{D42A27DB-BD31-4B8C-83A1-F6EECF244321}">
                    <p14:modId xmlns:p14="http://schemas.microsoft.com/office/powerpoint/2010/main" val="2009363893"/>
                  </p:ext>
                </p:extLst>
              </p:nvPr>
            </p:nvGraphicFramePr>
            <p:xfrm>
              <a:off x="2453344" y="722585"/>
              <a:ext cx="4237311" cy="2218740"/>
            </p:xfrm>
            <a:graphic>
              <a:graphicData uri="http://schemas.openxmlformats.org/drawingml/2006/table">
                <a:tbl>
                  <a:tblPr firstRow="1" firstCol="1" bandRow="1"/>
                  <a:tblGrid>
                    <a:gridCol w="1720521">
                      <a:extLst>
                        <a:ext uri="{9D8B030D-6E8A-4147-A177-3AD203B41FA5}">
                          <a16:colId xmlns:a16="http://schemas.microsoft.com/office/drawing/2014/main" val="1552893445"/>
                        </a:ext>
                      </a:extLst>
                    </a:gridCol>
                    <a:gridCol w="2516790">
                      <a:extLst>
                        <a:ext uri="{9D8B030D-6E8A-4147-A177-3AD203B41FA5}">
                          <a16:colId xmlns:a16="http://schemas.microsoft.com/office/drawing/2014/main" val="3683681050"/>
                        </a:ext>
                      </a:extLst>
                    </a:gridCol>
                  </a:tblGrid>
                  <a:tr h="609600">
                    <a:tc>
                      <a:txBody>
                        <a:bodyPr/>
                        <a:lstStyle/>
                        <a:p>
                          <a:pPr marL="0" marR="34290" algn="ctr">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Color</a:t>
                          </a:r>
                          <a:endParaRPr lang="en-CO" sz="1300">
                            <a:effectLst/>
                            <a:latin typeface="Cambria" panose="02040503050406030204" pitchFamily="18" charset="0"/>
                            <a:ea typeface="Times New Roman" panose="02020603050405020304" pitchFamily="18" charset="0"/>
                            <a:cs typeface="Cambria" panose="02040503050406030204" pitchFamily="18" charset="0"/>
                          </a:endParaRPr>
                        </a:p>
                      </a:txBody>
                      <a:tcPr marL="74715" marR="747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Number of Spins</a:t>
                          </a:r>
                          <a:endParaRPr lang="en-CO" sz="1300">
                            <a:effectLst/>
                            <a:latin typeface="Cambria" panose="02040503050406030204" pitchFamily="18" charset="0"/>
                            <a:ea typeface="Times New Roman" panose="02020603050405020304" pitchFamily="18" charset="0"/>
                            <a:cs typeface="Cambria" panose="02040503050406030204" pitchFamily="18" charset="0"/>
                          </a:endParaRPr>
                        </a:p>
                      </a:txBody>
                      <a:tcPr marL="74715" marR="747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942165001"/>
                      </a:ext>
                    </a:extLst>
                  </a:tr>
                  <a:tr h="416467">
                    <a:tc>
                      <a:txBody>
                        <a:bodyPr/>
                        <a:lstStyle/>
                        <a:p>
                          <a:pPr marL="0" marR="34290" algn="ctr">
                            <a:spcBef>
                              <a:spcPts val="0"/>
                            </a:spcBef>
                            <a:spcAft>
                              <a:spcPts val="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red</a:t>
                          </a:r>
                          <a:endParaRPr lang="en-CO" sz="1300">
                            <a:effectLst/>
                            <a:latin typeface="Cambria" panose="02040503050406030204" pitchFamily="18" charset="0"/>
                            <a:ea typeface="Times New Roman" panose="02020603050405020304" pitchFamily="18" charset="0"/>
                            <a:cs typeface="Cambria" panose="02040503050406030204" pitchFamily="18" charset="0"/>
                          </a:endParaRPr>
                        </a:p>
                      </a:txBody>
                      <a:tcPr marL="74715" marR="747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CO"/>
                        </a:p>
                      </a:txBody>
                      <a:tcPr marL="74715" marR="747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69192" t="-163636" r="-505" b="-315152"/>
                          </a:stretch>
                        </a:blipFill>
                      </a:tcPr>
                    </a:tc>
                    <a:extLst>
                      <a:ext uri="{0D108BD9-81ED-4DB2-BD59-A6C34878D82A}">
                        <a16:rowId xmlns:a16="http://schemas.microsoft.com/office/drawing/2014/main" val="2438627294"/>
                      </a:ext>
                    </a:extLst>
                  </a:tr>
                  <a:tr h="397788">
                    <a:tc>
                      <a:txBody>
                        <a:bodyPr/>
                        <a:lstStyle/>
                        <a:p>
                          <a:pPr marL="0" marR="34290" algn="ctr">
                            <a:spcBef>
                              <a:spcPts val="0"/>
                            </a:spcBef>
                            <a:spcAft>
                              <a:spcPts val="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purple</a:t>
                          </a:r>
                          <a:endParaRPr lang="en-CO" sz="1300">
                            <a:effectLst/>
                            <a:latin typeface="Cambria" panose="02040503050406030204" pitchFamily="18" charset="0"/>
                            <a:ea typeface="Times New Roman" panose="02020603050405020304" pitchFamily="18" charset="0"/>
                            <a:cs typeface="Cambria" panose="02040503050406030204" pitchFamily="18" charset="0"/>
                          </a:endParaRPr>
                        </a:p>
                      </a:txBody>
                      <a:tcPr marL="74715" marR="747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CO"/>
                        </a:p>
                      </a:txBody>
                      <a:tcPr marL="74715" marR="747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69192" t="-271875" r="-505" b="-225000"/>
                          </a:stretch>
                        </a:blipFill>
                      </a:tcPr>
                    </a:tc>
                    <a:extLst>
                      <a:ext uri="{0D108BD9-81ED-4DB2-BD59-A6C34878D82A}">
                        <a16:rowId xmlns:a16="http://schemas.microsoft.com/office/drawing/2014/main" val="2856855245"/>
                      </a:ext>
                    </a:extLst>
                  </a:tr>
                  <a:tr h="416467">
                    <a:tc>
                      <a:txBody>
                        <a:bodyPr/>
                        <a:lstStyle/>
                        <a:p>
                          <a:pPr marL="0" marR="34290" algn="ctr">
                            <a:spcBef>
                              <a:spcPts val="0"/>
                            </a:spcBef>
                            <a:spcAft>
                              <a:spcPts val="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blue</a:t>
                          </a:r>
                          <a:endParaRPr lang="en-CO" sz="1300">
                            <a:effectLst/>
                            <a:latin typeface="Cambria" panose="02040503050406030204" pitchFamily="18" charset="0"/>
                            <a:ea typeface="Times New Roman" panose="02020603050405020304" pitchFamily="18" charset="0"/>
                            <a:cs typeface="Cambria" panose="02040503050406030204" pitchFamily="18" charset="0"/>
                          </a:endParaRPr>
                        </a:p>
                      </a:txBody>
                      <a:tcPr marL="74715" marR="747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CO"/>
                        </a:p>
                      </a:txBody>
                      <a:tcPr marL="74715" marR="747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69192" t="-360606" r="-505" b="-118182"/>
                          </a:stretch>
                        </a:blipFill>
                      </a:tcPr>
                    </a:tc>
                    <a:extLst>
                      <a:ext uri="{0D108BD9-81ED-4DB2-BD59-A6C34878D82A}">
                        <a16:rowId xmlns:a16="http://schemas.microsoft.com/office/drawing/2014/main" val="3018486768"/>
                      </a:ext>
                    </a:extLst>
                  </a:tr>
                  <a:tr h="378418">
                    <a:tc>
                      <a:txBody>
                        <a:bodyPr/>
                        <a:lstStyle/>
                        <a:p>
                          <a:pPr marL="0" marR="34290" algn="ctr">
                            <a:spcBef>
                              <a:spcPts val="0"/>
                            </a:spcBef>
                            <a:spcAft>
                              <a:spcPts val="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yellow</a:t>
                          </a:r>
                          <a:endParaRPr lang="en-CO" sz="1300">
                            <a:effectLst/>
                            <a:latin typeface="Cambria" panose="02040503050406030204" pitchFamily="18" charset="0"/>
                            <a:ea typeface="Times New Roman" panose="02020603050405020304" pitchFamily="18" charset="0"/>
                            <a:cs typeface="Cambria" panose="02040503050406030204" pitchFamily="18" charset="0"/>
                          </a:endParaRPr>
                        </a:p>
                      </a:txBody>
                      <a:tcPr marL="74715" marR="747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CO"/>
                        </a:p>
                      </a:txBody>
                      <a:tcPr marL="74715" marR="747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69192" t="-506667" r="-505" b="-30000"/>
                          </a:stretch>
                        </a:blipFill>
                      </a:tcPr>
                    </a:tc>
                    <a:extLst>
                      <a:ext uri="{0D108BD9-81ED-4DB2-BD59-A6C34878D82A}">
                        <a16:rowId xmlns:a16="http://schemas.microsoft.com/office/drawing/2014/main" val="188535941"/>
                      </a:ext>
                    </a:extLst>
                  </a:tr>
                </a:tbl>
              </a:graphicData>
            </a:graphic>
          </p:graphicFrame>
        </mc:Fallback>
      </mc:AlternateContent>
      <p:sp>
        <p:nvSpPr>
          <p:cNvPr id="7"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149</a:t>
            </a:r>
            <a:endParaRPr i="1" dirty="0">
              <a:latin typeface="Calibri"/>
              <a:ea typeface="Calibri"/>
              <a:cs typeface="Calibri"/>
              <a:sym typeface="Calibri"/>
            </a:endParaRPr>
          </a:p>
        </p:txBody>
      </p:sp>
      <p:pic>
        <p:nvPicPr>
          <p:cNvPr id="8"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698398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F54A4596-5923-6342-9500-70E8F702680A}"/>
                  </a:ext>
                </a:extLst>
              </p:cNvPr>
              <p:cNvSpPr/>
              <p:nvPr/>
            </p:nvSpPr>
            <p:spPr>
              <a:xfrm>
                <a:off x="1030310" y="404935"/>
                <a:ext cx="10129646" cy="1569660"/>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Isabella’s spinner was not accurate, so she had the computer generate additional data. The table below shows the data from the first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36</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spins of the spinner, including the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12</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shown in the previous table. </a:t>
                </a:r>
              </a:p>
            </p:txBody>
          </p:sp>
        </mc:Choice>
        <mc:Fallback xmlns="">
          <p:sp>
            <p:nvSpPr>
              <p:cNvPr id="2" name="Rectangle 1">
                <a:extLst>
                  <a:ext uri="{FF2B5EF4-FFF2-40B4-BE49-F238E27FC236}">
                    <a16:creationId xmlns:a16="http://schemas.microsoft.com/office/drawing/2014/main" xmlns:a14="http://schemas.microsoft.com/office/drawing/2010/main" xmlns="" id="{F54A4596-5923-6342-9500-70E8F702680A}"/>
                  </a:ext>
                </a:extLst>
              </p:cNvPr>
              <p:cNvSpPr>
                <a:spLocks noRot="1" noChangeAspect="1" noMove="1" noResize="1" noEditPoints="1" noAdjustHandles="1" noChangeArrowheads="1" noChangeShapeType="1" noTextEdit="1"/>
              </p:cNvSpPr>
              <p:nvPr/>
            </p:nvSpPr>
            <p:spPr>
              <a:xfrm>
                <a:off x="1030310" y="404935"/>
                <a:ext cx="10129646" cy="1569660"/>
              </a:xfrm>
              <a:prstGeom prst="rect">
                <a:avLst/>
              </a:prstGeom>
              <a:blipFill rotWithShape="0">
                <a:blip r:embed="rId3"/>
                <a:stretch>
                  <a:fillRect l="-903" t="-3101" b="-77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F5741555-F61D-DC40-9EC4-340430277FC3}"/>
                  </a:ext>
                </a:extLst>
              </p:cNvPr>
              <p:cNvGraphicFramePr>
                <a:graphicFrameLocks noGrp="1"/>
              </p:cNvGraphicFramePr>
              <p:nvPr>
                <p:extLst>
                  <p:ext uri="{D42A27DB-BD31-4B8C-83A1-F6EECF244321}">
                    <p14:modId xmlns:p14="http://schemas.microsoft.com/office/powerpoint/2010/main" val="398809799"/>
                  </p:ext>
                </p:extLst>
              </p:nvPr>
            </p:nvGraphicFramePr>
            <p:xfrm>
              <a:off x="3600305" y="2809354"/>
              <a:ext cx="4991391" cy="2346960"/>
            </p:xfrm>
            <a:graphic>
              <a:graphicData uri="http://schemas.openxmlformats.org/drawingml/2006/table">
                <a:tbl>
                  <a:tblPr firstRow="1" firstCol="1" bandRow="1"/>
                  <a:tblGrid>
                    <a:gridCol w="2149071">
                      <a:extLst>
                        <a:ext uri="{9D8B030D-6E8A-4147-A177-3AD203B41FA5}">
                          <a16:colId xmlns:a16="http://schemas.microsoft.com/office/drawing/2014/main" val="4218148993"/>
                        </a:ext>
                      </a:extLst>
                    </a:gridCol>
                    <a:gridCol w="2842320">
                      <a:extLst>
                        <a:ext uri="{9D8B030D-6E8A-4147-A177-3AD203B41FA5}">
                          <a16:colId xmlns:a16="http://schemas.microsoft.com/office/drawing/2014/main" val="1509441255"/>
                        </a:ext>
                      </a:extLst>
                    </a:gridCol>
                  </a:tblGrid>
                  <a:tr h="332759">
                    <a:tc>
                      <a:txBody>
                        <a:bodyPr/>
                        <a:lstStyle/>
                        <a:p>
                          <a:pPr marL="0" marR="34290" algn="ctr">
                            <a:spcBef>
                              <a:spcPts val="0"/>
                            </a:spcBef>
                            <a:spcAft>
                              <a:spcPts val="0"/>
                            </a:spcAft>
                          </a:pPr>
                          <a:r>
                            <a:rPr lang="en-US" sz="2200" b="1">
                              <a:solidFill>
                                <a:srgbClr val="000000"/>
                              </a:solidFill>
                              <a:effectLst/>
                              <a:latin typeface="Verdana" panose="020B0604030504040204" pitchFamily="34" charset="0"/>
                              <a:ea typeface="Verdana" panose="020B0604030504040204" pitchFamily="34" charset="0"/>
                              <a:cs typeface="Verdana" panose="020B0604030504040204" pitchFamily="34" charset="0"/>
                            </a:rPr>
                            <a:t>Color</a:t>
                          </a:r>
                          <a:endParaRPr lang="x-none" sz="1500">
                            <a:effectLst/>
                            <a:latin typeface="Cambria" panose="02040503050406030204" pitchFamily="18" charset="0"/>
                            <a:ea typeface="Times New Roman" panose="02020603050405020304" pitchFamily="18" charset="0"/>
                            <a:cs typeface="Cambria" panose="02040503050406030204" pitchFamily="18" charset="0"/>
                          </a:endParaRPr>
                        </a:p>
                      </a:txBody>
                      <a:tcPr marL="83190" marR="831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2200" b="1">
                              <a:solidFill>
                                <a:srgbClr val="000000"/>
                              </a:solidFill>
                              <a:effectLst/>
                              <a:latin typeface="Verdana" panose="020B0604030504040204" pitchFamily="34" charset="0"/>
                              <a:ea typeface="Verdana" panose="020B0604030504040204" pitchFamily="34" charset="0"/>
                              <a:cs typeface="Verdana" panose="020B0604030504040204" pitchFamily="34" charset="0"/>
                            </a:rPr>
                            <a:t>Number of Spins</a:t>
                          </a:r>
                          <a:endParaRPr lang="x-none" sz="1500">
                            <a:effectLst/>
                            <a:latin typeface="Cambria" panose="02040503050406030204" pitchFamily="18" charset="0"/>
                            <a:ea typeface="Times New Roman" panose="02020603050405020304" pitchFamily="18" charset="0"/>
                            <a:cs typeface="Cambria" panose="02040503050406030204" pitchFamily="18" charset="0"/>
                          </a:endParaRPr>
                        </a:p>
                      </a:txBody>
                      <a:tcPr marL="83190" marR="831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208184881"/>
                      </a:ext>
                    </a:extLst>
                  </a:tr>
                  <a:tr h="332759">
                    <a:tc>
                      <a:txBody>
                        <a:bodyPr/>
                        <a:lstStyle/>
                        <a:p>
                          <a:pPr marL="0" marR="34290" algn="ctr">
                            <a:spcBef>
                              <a:spcPts val="0"/>
                            </a:spcBef>
                            <a:spcAft>
                              <a:spcPts val="0"/>
                            </a:spcAft>
                          </a:pPr>
                          <a:r>
                            <a:rPr lang="en-US" sz="2200">
                              <a:solidFill>
                                <a:srgbClr val="000000"/>
                              </a:solidFill>
                              <a:effectLst/>
                              <a:latin typeface="Verdana" panose="020B0604030504040204" pitchFamily="34" charset="0"/>
                              <a:ea typeface="Verdana" panose="020B0604030504040204" pitchFamily="34" charset="0"/>
                              <a:cs typeface="Verdana" panose="020B0604030504040204" pitchFamily="34" charset="0"/>
                            </a:rPr>
                            <a:t>red</a:t>
                          </a:r>
                          <a:endParaRPr lang="x-none" sz="1500">
                            <a:effectLst/>
                            <a:latin typeface="Cambria" panose="02040503050406030204" pitchFamily="18" charset="0"/>
                            <a:ea typeface="Times New Roman" panose="02020603050405020304" pitchFamily="18" charset="0"/>
                            <a:cs typeface="Cambria" panose="02040503050406030204" pitchFamily="18" charset="0"/>
                          </a:endParaRPr>
                        </a:p>
                      </a:txBody>
                      <a:tcPr marL="83190" marR="831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2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3</m:t>
                                </m:r>
                              </m:oMath>
                            </m:oMathPara>
                          </a14:m>
                          <a:endParaRPr lang="x-none" sz="1500">
                            <a:effectLst/>
                            <a:latin typeface="Cambria" panose="02040503050406030204" pitchFamily="18" charset="0"/>
                            <a:ea typeface="Times New Roman" panose="02020603050405020304" pitchFamily="18" charset="0"/>
                            <a:cs typeface="Cambria" panose="02040503050406030204" pitchFamily="18" charset="0"/>
                          </a:endParaRPr>
                        </a:p>
                      </a:txBody>
                      <a:tcPr marL="83190" marR="831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77151709"/>
                      </a:ext>
                    </a:extLst>
                  </a:tr>
                  <a:tr h="332759">
                    <a:tc>
                      <a:txBody>
                        <a:bodyPr/>
                        <a:lstStyle/>
                        <a:p>
                          <a:pPr marL="0" marR="34290" algn="ctr">
                            <a:spcBef>
                              <a:spcPts val="0"/>
                            </a:spcBef>
                            <a:spcAft>
                              <a:spcPts val="0"/>
                            </a:spcAft>
                          </a:pPr>
                          <a:r>
                            <a:rPr lang="en-US" sz="2200">
                              <a:solidFill>
                                <a:srgbClr val="000000"/>
                              </a:solidFill>
                              <a:effectLst/>
                              <a:latin typeface="Verdana" panose="020B0604030504040204" pitchFamily="34" charset="0"/>
                              <a:ea typeface="Verdana" panose="020B0604030504040204" pitchFamily="34" charset="0"/>
                              <a:cs typeface="Verdana" panose="020B0604030504040204" pitchFamily="34" charset="0"/>
                            </a:rPr>
                            <a:t>purple</a:t>
                          </a:r>
                          <a:endParaRPr lang="x-none" sz="1500">
                            <a:effectLst/>
                            <a:latin typeface="Cambria" panose="02040503050406030204" pitchFamily="18" charset="0"/>
                            <a:ea typeface="Times New Roman" panose="02020603050405020304" pitchFamily="18" charset="0"/>
                            <a:cs typeface="Cambria" panose="02040503050406030204" pitchFamily="18" charset="0"/>
                          </a:endParaRPr>
                        </a:p>
                      </a:txBody>
                      <a:tcPr marL="83190" marR="831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2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10</m:t>
                                </m:r>
                              </m:oMath>
                            </m:oMathPara>
                          </a14:m>
                          <a:endParaRPr lang="x-none" sz="1500">
                            <a:effectLst/>
                            <a:latin typeface="Cambria" panose="02040503050406030204" pitchFamily="18" charset="0"/>
                            <a:ea typeface="Times New Roman" panose="02020603050405020304" pitchFamily="18" charset="0"/>
                            <a:cs typeface="Cambria" panose="02040503050406030204" pitchFamily="18" charset="0"/>
                          </a:endParaRPr>
                        </a:p>
                      </a:txBody>
                      <a:tcPr marL="83190" marR="831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1127821"/>
                      </a:ext>
                    </a:extLst>
                  </a:tr>
                  <a:tr h="332759">
                    <a:tc>
                      <a:txBody>
                        <a:bodyPr/>
                        <a:lstStyle/>
                        <a:p>
                          <a:pPr marL="0" marR="34290" algn="ctr">
                            <a:spcBef>
                              <a:spcPts val="0"/>
                            </a:spcBef>
                            <a:spcAft>
                              <a:spcPts val="0"/>
                            </a:spcAft>
                          </a:pPr>
                          <a:r>
                            <a:rPr lang="en-US" sz="2200">
                              <a:solidFill>
                                <a:srgbClr val="000000"/>
                              </a:solidFill>
                              <a:effectLst/>
                              <a:latin typeface="Verdana" panose="020B0604030504040204" pitchFamily="34" charset="0"/>
                              <a:ea typeface="Verdana" panose="020B0604030504040204" pitchFamily="34" charset="0"/>
                              <a:cs typeface="Verdana" panose="020B0604030504040204" pitchFamily="34" charset="0"/>
                            </a:rPr>
                            <a:t>blue</a:t>
                          </a:r>
                          <a:endParaRPr lang="x-none" sz="1500">
                            <a:effectLst/>
                            <a:latin typeface="Cambria" panose="02040503050406030204" pitchFamily="18" charset="0"/>
                            <a:ea typeface="Times New Roman" panose="02020603050405020304" pitchFamily="18" charset="0"/>
                            <a:cs typeface="Cambria" panose="02040503050406030204" pitchFamily="18" charset="0"/>
                          </a:endParaRPr>
                        </a:p>
                      </a:txBody>
                      <a:tcPr marL="83190" marR="831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2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8</m:t>
                                </m:r>
                              </m:oMath>
                            </m:oMathPara>
                          </a14:m>
                          <a:endParaRPr lang="x-none" sz="1500">
                            <a:effectLst/>
                            <a:latin typeface="Cambria" panose="02040503050406030204" pitchFamily="18" charset="0"/>
                            <a:ea typeface="Times New Roman" panose="02020603050405020304" pitchFamily="18" charset="0"/>
                            <a:cs typeface="Cambria" panose="02040503050406030204" pitchFamily="18" charset="0"/>
                          </a:endParaRPr>
                        </a:p>
                      </a:txBody>
                      <a:tcPr marL="83190" marR="831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0460292"/>
                      </a:ext>
                    </a:extLst>
                  </a:tr>
                  <a:tr h="332759">
                    <a:tc>
                      <a:txBody>
                        <a:bodyPr/>
                        <a:lstStyle/>
                        <a:p>
                          <a:pPr marL="0" marR="34290" algn="ctr">
                            <a:spcBef>
                              <a:spcPts val="0"/>
                            </a:spcBef>
                            <a:spcAft>
                              <a:spcPts val="0"/>
                            </a:spcAft>
                          </a:pPr>
                          <a:r>
                            <a:rPr lang="en-US" sz="2200">
                              <a:solidFill>
                                <a:srgbClr val="000000"/>
                              </a:solidFill>
                              <a:effectLst/>
                              <a:latin typeface="Verdana" panose="020B0604030504040204" pitchFamily="34" charset="0"/>
                              <a:ea typeface="Verdana" panose="020B0604030504040204" pitchFamily="34" charset="0"/>
                              <a:cs typeface="Verdana" panose="020B0604030504040204" pitchFamily="34" charset="0"/>
                            </a:rPr>
                            <a:t>yellow</a:t>
                          </a:r>
                          <a:endParaRPr lang="x-none" sz="1500">
                            <a:effectLst/>
                            <a:latin typeface="Cambria" panose="02040503050406030204" pitchFamily="18" charset="0"/>
                            <a:ea typeface="Times New Roman" panose="02020603050405020304" pitchFamily="18" charset="0"/>
                            <a:cs typeface="Cambria" panose="02040503050406030204" pitchFamily="18" charset="0"/>
                          </a:endParaRPr>
                        </a:p>
                      </a:txBody>
                      <a:tcPr marL="83190" marR="831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2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4</m:t>
                                </m:r>
                              </m:oMath>
                            </m:oMathPara>
                          </a14:m>
                          <a:endParaRPr lang="x-none" sz="1500">
                            <a:effectLst/>
                            <a:latin typeface="Cambria" panose="02040503050406030204" pitchFamily="18" charset="0"/>
                            <a:ea typeface="Times New Roman" panose="02020603050405020304" pitchFamily="18" charset="0"/>
                            <a:cs typeface="Cambria" panose="02040503050406030204" pitchFamily="18" charset="0"/>
                          </a:endParaRPr>
                        </a:p>
                      </a:txBody>
                      <a:tcPr marL="83190" marR="831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1019259"/>
                      </a:ext>
                    </a:extLst>
                  </a:tr>
                  <a:tr h="332759">
                    <a:tc>
                      <a:txBody>
                        <a:bodyPr/>
                        <a:lstStyle/>
                        <a:p>
                          <a:pPr marL="0" marR="34290" algn="ctr">
                            <a:spcBef>
                              <a:spcPts val="0"/>
                            </a:spcBef>
                            <a:spcAft>
                              <a:spcPts val="0"/>
                            </a:spcAft>
                          </a:pPr>
                          <a:r>
                            <a:rPr lang="en-US" sz="2200">
                              <a:solidFill>
                                <a:srgbClr val="000000"/>
                              </a:solidFill>
                              <a:effectLst/>
                              <a:latin typeface="Verdana" panose="020B0604030504040204" pitchFamily="34" charset="0"/>
                              <a:ea typeface="Verdana" panose="020B0604030504040204" pitchFamily="34" charset="0"/>
                              <a:cs typeface="Verdana" panose="020B0604030504040204" pitchFamily="34" charset="0"/>
                            </a:rPr>
                            <a:t>orange</a:t>
                          </a:r>
                          <a:endParaRPr lang="x-none" sz="1500">
                            <a:effectLst/>
                            <a:latin typeface="Cambria" panose="02040503050406030204" pitchFamily="18" charset="0"/>
                            <a:ea typeface="Times New Roman" panose="02020603050405020304" pitchFamily="18" charset="0"/>
                            <a:cs typeface="Cambria" panose="02040503050406030204" pitchFamily="18" charset="0"/>
                          </a:endParaRPr>
                        </a:p>
                      </a:txBody>
                      <a:tcPr marL="83190" marR="831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2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2</m:t>
                                </m:r>
                              </m:oMath>
                            </m:oMathPara>
                          </a14:m>
                          <a:endParaRPr lang="x-none" sz="1500">
                            <a:effectLst/>
                            <a:latin typeface="Cambria" panose="02040503050406030204" pitchFamily="18" charset="0"/>
                            <a:ea typeface="Times New Roman" panose="02020603050405020304" pitchFamily="18" charset="0"/>
                            <a:cs typeface="Cambria" panose="02040503050406030204" pitchFamily="18" charset="0"/>
                          </a:endParaRPr>
                        </a:p>
                      </a:txBody>
                      <a:tcPr marL="83190" marR="831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86785737"/>
                      </a:ext>
                    </a:extLst>
                  </a:tr>
                  <a:tr h="332759">
                    <a:tc>
                      <a:txBody>
                        <a:bodyPr/>
                        <a:lstStyle/>
                        <a:p>
                          <a:pPr marL="0" marR="34290" algn="ctr">
                            <a:spcBef>
                              <a:spcPts val="0"/>
                            </a:spcBef>
                            <a:spcAft>
                              <a:spcPts val="0"/>
                            </a:spcAft>
                          </a:pPr>
                          <a:r>
                            <a:rPr lang="en-US" sz="2200">
                              <a:solidFill>
                                <a:srgbClr val="000000"/>
                              </a:solidFill>
                              <a:effectLst/>
                              <a:latin typeface="Verdana" panose="020B0604030504040204" pitchFamily="34" charset="0"/>
                              <a:ea typeface="Verdana" panose="020B0604030504040204" pitchFamily="34" charset="0"/>
                              <a:cs typeface="Verdana" panose="020B0604030504040204" pitchFamily="34" charset="0"/>
                            </a:rPr>
                            <a:t>green </a:t>
                          </a:r>
                          <a:endParaRPr lang="x-none" sz="1500">
                            <a:effectLst/>
                            <a:latin typeface="Cambria" panose="02040503050406030204" pitchFamily="18" charset="0"/>
                            <a:ea typeface="Times New Roman" panose="02020603050405020304" pitchFamily="18" charset="0"/>
                            <a:cs typeface="Cambria" panose="02040503050406030204" pitchFamily="18" charset="0"/>
                          </a:endParaRPr>
                        </a:p>
                      </a:txBody>
                      <a:tcPr marL="83190" marR="831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2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9</m:t>
                                </m:r>
                              </m:oMath>
                            </m:oMathPara>
                          </a14:m>
                          <a:endParaRPr lang="x-none" sz="1500" dirty="0">
                            <a:effectLst/>
                            <a:latin typeface="Cambria" panose="02040503050406030204" pitchFamily="18" charset="0"/>
                            <a:ea typeface="Times New Roman" panose="02020603050405020304" pitchFamily="18" charset="0"/>
                            <a:cs typeface="Cambria" panose="02040503050406030204" pitchFamily="18" charset="0"/>
                          </a:endParaRPr>
                        </a:p>
                      </a:txBody>
                      <a:tcPr marL="83190" marR="831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52154220"/>
                      </a:ext>
                    </a:extLst>
                  </a:tr>
                </a:tbl>
              </a:graphicData>
            </a:graphic>
          </p:graphicFrame>
        </mc:Choice>
        <mc:Fallback xmlns="">
          <p:graphicFrame>
            <p:nvGraphicFramePr>
              <p:cNvPr id="4" name="Table 3">
                <a:extLst>
                  <a:ext uri="{FF2B5EF4-FFF2-40B4-BE49-F238E27FC236}">
                    <a16:creationId xmlns:a16="http://schemas.microsoft.com/office/drawing/2014/main" id="{F5741555-F61D-DC40-9EC4-340430277FC3}"/>
                  </a:ext>
                </a:extLst>
              </p:cNvPr>
              <p:cNvGraphicFramePr>
                <a:graphicFrameLocks noGrp="1"/>
              </p:cNvGraphicFramePr>
              <p:nvPr>
                <p:extLst>
                  <p:ext uri="{D42A27DB-BD31-4B8C-83A1-F6EECF244321}">
                    <p14:modId xmlns:p14="http://schemas.microsoft.com/office/powerpoint/2010/main" val="398809799"/>
                  </p:ext>
                </p:extLst>
              </p:nvPr>
            </p:nvGraphicFramePr>
            <p:xfrm>
              <a:off x="2076304" y="2809354"/>
              <a:ext cx="4991391" cy="2346960"/>
            </p:xfrm>
            <a:graphic>
              <a:graphicData uri="http://schemas.openxmlformats.org/drawingml/2006/table">
                <a:tbl>
                  <a:tblPr firstRow="1" firstCol="1" bandRow="1"/>
                  <a:tblGrid>
                    <a:gridCol w="2149071">
                      <a:extLst>
                        <a:ext uri="{9D8B030D-6E8A-4147-A177-3AD203B41FA5}">
                          <a16:colId xmlns:a16="http://schemas.microsoft.com/office/drawing/2014/main" val="4218148993"/>
                        </a:ext>
                      </a:extLst>
                    </a:gridCol>
                    <a:gridCol w="2842320">
                      <a:extLst>
                        <a:ext uri="{9D8B030D-6E8A-4147-A177-3AD203B41FA5}">
                          <a16:colId xmlns:a16="http://schemas.microsoft.com/office/drawing/2014/main" val="1509441255"/>
                        </a:ext>
                      </a:extLst>
                    </a:gridCol>
                  </a:tblGrid>
                  <a:tr h="335280">
                    <a:tc>
                      <a:txBody>
                        <a:bodyPr/>
                        <a:lstStyle/>
                        <a:p>
                          <a:pPr marL="0" marR="34290" algn="ctr">
                            <a:spcBef>
                              <a:spcPts val="0"/>
                            </a:spcBef>
                            <a:spcAft>
                              <a:spcPts val="0"/>
                            </a:spcAft>
                          </a:pPr>
                          <a:r>
                            <a:rPr lang="en-US" sz="2200" b="1">
                              <a:solidFill>
                                <a:srgbClr val="000000"/>
                              </a:solidFill>
                              <a:effectLst/>
                              <a:latin typeface="Verdana" panose="020B0604030504040204" pitchFamily="34" charset="0"/>
                              <a:ea typeface="Verdana" panose="020B0604030504040204" pitchFamily="34" charset="0"/>
                              <a:cs typeface="Verdana" panose="020B0604030504040204" pitchFamily="34" charset="0"/>
                            </a:rPr>
                            <a:t>Color</a:t>
                          </a:r>
                          <a:endParaRPr lang="en-CO" sz="1500">
                            <a:effectLst/>
                            <a:latin typeface="Cambria" panose="02040503050406030204" pitchFamily="18" charset="0"/>
                            <a:ea typeface="Times New Roman" panose="02020603050405020304" pitchFamily="18" charset="0"/>
                            <a:cs typeface="Cambria" panose="02040503050406030204" pitchFamily="18" charset="0"/>
                          </a:endParaRPr>
                        </a:p>
                      </a:txBody>
                      <a:tcPr marL="83190" marR="831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2200" b="1">
                              <a:solidFill>
                                <a:srgbClr val="000000"/>
                              </a:solidFill>
                              <a:effectLst/>
                              <a:latin typeface="Verdana" panose="020B0604030504040204" pitchFamily="34" charset="0"/>
                              <a:ea typeface="Verdana" panose="020B0604030504040204" pitchFamily="34" charset="0"/>
                              <a:cs typeface="Verdana" panose="020B0604030504040204" pitchFamily="34" charset="0"/>
                            </a:rPr>
                            <a:t>Number of Spins</a:t>
                          </a:r>
                          <a:endParaRPr lang="en-CO" sz="1500">
                            <a:effectLst/>
                            <a:latin typeface="Cambria" panose="02040503050406030204" pitchFamily="18" charset="0"/>
                            <a:ea typeface="Times New Roman" panose="02020603050405020304" pitchFamily="18" charset="0"/>
                            <a:cs typeface="Cambria" panose="02040503050406030204" pitchFamily="18" charset="0"/>
                          </a:endParaRPr>
                        </a:p>
                      </a:txBody>
                      <a:tcPr marL="83190" marR="831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208184881"/>
                      </a:ext>
                    </a:extLst>
                  </a:tr>
                  <a:tr h="335280">
                    <a:tc>
                      <a:txBody>
                        <a:bodyPr/>
                        <a:lstStyle/>
                        <a:p>
                          <a:pPr marL="0" marR="34290" algn="ctr">
                            <a:spcBef>
                              <a:spcPts val="0"/>
                            </a:spcBef>
                            <a:spcAft>
                              <a:spcPts val="0"/>
                            </a:spcAft>
                          </a:pPr>
                          <a:r>
                            <a:rPr lang="en-US" sz="2200">
                              <a:solidFill>
                                <a:srgbClr val="000000"/>
                              </a:solidFill>
                              <a:effectLst/>
                              <a:latin typeface="Verdana" panose="020B0604030504040204" pitchFamily="34" charset="0"/>
                              <a:ea typeface="Verdana" panose="020B0604030504040204" pitchFamily="34" charset="0"/>
                              <a:cs typeface="Verdana" panose="020B0604030504040204" pitchFamily="34" charset="0"/>
                            </a:rPr>
                            <a:t>red</a:t>
                          </a:r>
                          <a:endParaRPr lang="en-CO" sz="1500">
                            <a:effectLst/>
                            <a:latin typeface="Cambria" panose="02040503050406030204" pitchFamily="18" charset="0"/>
                            <a:ea typeface="Times New Roman" panose="02020603050405020304" pitchFamily="18" charset="0"/>
                            <a:cs typeface="Cambria" panose="02040503050406030204" pitchFamily="18" charset="0"/>
                          </a:endParaRPr>
                        </a:p>
                      </a:txBody>
                      <a:tcPr marL="83190" marR="831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CO"/>
                        </a:p>
                      </a:txBody>
                      <a:tcPr marL="83190" marR="831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76339" t="-134615" r="-446" b="-561538"/>
                          </a:stretch>
                        </a:blipFill>
                      </a:tcPr>
                    </a:tc>
                    <a:extLst>
                      <a:ext uri="{0D108BD9-81ED-4DB2-BD59-A6C34878D82A}">
                        <a16:rowId xmlns:a16="http://schemas.microsoft.com/office/drawing/2014/main" val="977151709"/>
                      </a:ext>
                    </a:extLst>
                  </a:tr>
                  <a:tr h="335280">
                    <a:tc>
                      <a:txBody>
                        <a:bodyPr/>
                        <a:lstStyle/>
                        <a:p>
                          <a:pPr marL="0" marR="34290" algn="ctr">
                            <a:spcBef>
                              <a:spcPts val="0"/>
                            </a:spcBef>
                            <a:spcAft>
                              <a:spcPts val="0"/>
                            </a:spcAft>
                          </a:pPr>
                          <a:r>
                            <a:rPr lang="en-US" sz="2200">
                              <a:solidFill>
                                <a:srgbClr val="000000"/>
                              </a:solidFill>
                              <a:effectLst/>
                              <a:latin typeface="Verdana" panose="020B0604030504040204" pitchFamily="34" charset="0"/>
                              <a:ea typeface="Verdana" panose="020B0604030504040204" pitchFamily="34" charset="0"/>
                              <a:cs typeface="Verdana" panose="020B0604030504040204" pitchFamily="34" charset="0"/>
                            </a:rPr>
                            <a:t>purple</a:t>
                          </a:r>
                          <a:endParaRPr lang="en-CO" sz="1500">
                            <a:effectLst/>
                            <a:latin typeface="Cambria" panose="02040503050406030204" pitchFamily="18" charset="0"/>
                            <a:ea typeface="Times New Roman" panose="02020603050405020304" pitchFamily="18" charset="0"/>
                            <a:cs typeface="Cambria" panose="02040503050406030204" pitchFamily="18" charset="0"/>
                          </a:endParaRPr>
                        </a:p>
                      </a:txBody>
                      <a:tcPr marL="83190" marR="831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CO"/>
                        </a:p>
                      </a:txBody>
                      <a:tcPr marL="83190" marR="831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76339" t="-225926" r="-446" b="-440741"/>
                          </a:stretch>
                        </a:blipFill>
                      </a:tcPr>
                    </a:tc>
                    <a:extLst>
                      <a:ext uri="{0D108BD9-81ED-4DB2-BD59-A6C34878D82A}">
                        <a16:rowId xmlns:a16="http://schemas.microsoft.com/office/drawing/2014/main" val="341127821"/>
                      </a:ext>
                    </a:extLst>
                  </a:tr>
                  <a:tr h="335280">
                    <a:tc>
                      <a:txBody>
                        <a:bodyPr/>
                        <a:lstStyle/>
                        <a:p>
                          <a:pPr marL="0" marR="34290" algn="ctr">
                            <a:spcBef>
                              <a:spcPts val="0"/>
                            </a:spcBef>
                            <a:spcAft>
                              <a:spcPts val="0"/>
                            </a:spcAft>
                          </a:pPr>
                          <a:r>
                            <a:rPr lang="en-US" sz="2200">
                              <a:solidFill>
                                <a:srgbClr val="000000"/>
                              </a:solidFill>
                              <a:effectLst/>
                              <a:latin typeface="Verdana" panose="020B0604030504040204" pitchFamily="34" charset="0"/>
                              <a:ea typeface="Verdana" panose="020B0604030504040204" pitchFamily="34" charset="0"/>
                              <a:cs typeface="Verdana" panose="020B0604030504040204" pitchFamily="34" charset="0"/>
                            </a:rPr>
                            <a:t>blue</a:t>
                          </a:r>
                          <a:endParaRPr lang="en-CO" sz="1500">
                            <a:effectLst/>
                            <a:latin typeface="Cambria" panose="02040503050406030204" pitchFamily="18" charset="0"/>
                            <a:ea typeface="Times New Roman" panose="02020603050405020304" pitchFamily="18" charset="0"/>
                            <a:cs typeface="Cambria" panose="02040503050406030204" pitchFamily="18" charset="0"/>
                          </a:endParaRPr>
                        </a:p>
                      </a:txBody>
                      <a:tcPr marL="83190" marR="831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CO"/>
                        </a:p>
                      </a:txBody>
                      <a:tcPr marL="83190" marR="831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76339" t="-338462" r="-446" b="-357692"/>
                          </a:stretch>
                        </a:blipFill>
                      </a:tcPr>
                    </a:tc>
                    <a:extLst>
                      <a:ext uri="{0D108BD9-81ED-4DB2-BD59-A6C34878D82A}">
                        <a16:rowId xmlns:a16="http://schemas.microsoft.com/office/drawing/2014/main" val="110460292"/>
                      </a:ext>
                    </a:extLst>
                  </a:tr>
                  <a:tr h="335280">
                    <a:tc>
                      <a:txBody>
                        <a:bodyPr/>
                        <a:lstStyle/>
                        <a:p>
                          <a:pPr marL="0" marR="34290" algn="ctr">
                            <a:spcBef>
                              <a:spcPts val="0"/>
                            </a:spcBef>
                            <a:spcAft>
                              <a:spcPts val="0"/>
                            </a:spcAft>
                          </a:pPr>
                          <a:r>
                            <a:rPr lang="en-US" sz="2200">
                              <a:solidFill>
                                <a:srgbClr val="000000"/>
                              </a:solidFill>
                              <a:effectLst/>
                              <a:latin typeface="Verdana" panose="020B0604030504040204" pitchFamily="34" charset="0"/>
                              <a:ea typeface="Verdana" panose="020B0604030504040204" pitchFamily="34" charset="0"/>
                              <a:cs typeface="Verdana" panose="020B0604030504040204" pitchFamily="34" charset="0"/>
                            </a:rPr>
                            <a:t>yellow</a:t>
                          </a:r>
                          <a:endParaRPr lang="en-CO" sz="1500">
                            <a:effectLst/>
                            <a:latin typeface="Cambria" panose="02040503050406030204" pitchFamily="18" charset="0"/>
                            <a:ea typeface="Times New Roman" panose="02020603050405020304" pitchFamily="18" charset="0"/>
                            <a:cs typeface="Cambria" panose="02040503050406030204" pitchFamily="18" charset="0"/>
                          </a:endParaRPr>
                        </a:p>
                      </a:txBody>
                      <a:tcPr marL="83190" marR="831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CO"/>
                        </a:p>
                      </a:txBody>
                      <a:tcPr marL="83190" marR="831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76339" t="-422222" r="-446" b="-244444"/>
                          </a:stretch>
                        </a:blipFill>
                      </a:tcPr>
                    </a:tc>
                    <a:extLst>
                      <a:ext uri="{0D108BD9-81ED-4DB2-BD59-A6C34878D82A}">
                        <a16:rowId xmlns:a16="http://schemas.microsoft.com/office/drawing/2014/main" val="2581019259"/>
                      </a:ext>
                    </a:extLst>
                  </a:tr>
                  <a:tr h="335280">
                    <a:tc>
                      <a:txBody>
                        <a:bodyPr/>
                        <a:lstStyle/>
                        <a:p>
                          <a:pPr marL="0" marR="34290" algn="ctr">
                            <a:spcBef>
                              <a:spcPts val="0"/>
                            </a:spcBef>
                            <a:spcAft>
                              <a:spcPts val="0"/>
                            </a:spcAft>
                          </a:pPr>
                          <a:r>
                            <a:rPr lang="en-US" sz="2200">
                              <a:solidFill>
                                <a:srgbClr val="000000"/>
                              </a:solidFill>
                              <a:effectLst/>
                              <a:latin typeface="Verdana" panose="020B0604030504040204" pitchFamily="34" charset="0"/>
                              <a:ea typeface="Verdana" panose="020B0604030504040204" pitchFamily="34" charset="0"/>
                              <a:cs typeface="Verdana" panose="020B0604030504040204" pitchFamily="34" charset="0"/>
                            </a:rPr>
                            <a:t>orange</a:t>
                          </a:r>
                          <a:endParaRPr lang="en-CO" sz="1500">
                            <a:effectLst/>
                            <a:latin typeface="Cambria" panose="02040503050406030204" pitchFamily="18" charset="0"/>
                            <a:ea typeface="Times New Roman" panose="02020603050405020304" pitchFamily="18" charset="0"/>
                            <a:cs typeface="Cambria" panose="02040503050406030204" pitchFamily="18" charset="0"/>
                          </a:endParaRPr>
                        </a:p>
                      </a:txBody>
                      <a:tcPr marL="83190" marR="831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CO"/>
                        </a:p>
                      </a:txBody>
                      <a:tcPr marL="83190" marR="831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76339" t="-542308" r="-446" b="-153846"/>
                          </a:stretch>
                        </a:blipFill>
                      </a:tcPr>
                    </a:tc>
                    <a:extLst>
                      <a:ext uri="{0D108BD9-81ED-4DB2-BD59-A6C34878D82A}">
                        <a16:rowId xmlns:a16="http://schemas.microsoft.com/office/drawing/2014/main" val="1986785737"/>
                      </a:ext>
                    </a:extLst>
                  </a:tr>
                  <a:tr h="335280">
                    <a:tc>
                      <a:txBody>
                        <a:bodyPr/>
                        <a:lstStyle/>
                        <a:p>
                          <a:pPr marL="0" marR="34290" algn="ctr">
                            <a:spcBef>
                              <a:spcPts val="0"/>
                            </a:spcBef>
                            <a:spcAft>
                              <a:spcPts val="0"/>
                            </a:spcAft>
                          </a:pPr>
                          <a:r>
                            <a:rPr lang="en-US" sz="2200">
                              <a:solidFill>
                                <a:srgbClr val="000000"/>
                              </a:solidFill>
                              <a:effectLst/>
                              <a:latin typeface="Verdana" panose="020B0604030504040204" pitchFamily="34" charset="0"/>
                              <a:ea typeface="Verdana" panose="020B0604030504040204" pitchFamily="34" charset="0"/>
                              <a:cs typeface="Verdana" panose="020B0604030504040204" pitchFamily="34" charset="0"/>
                            </a:rPr>
                            <a:t>green </a:t>
                          </a:r>
                          <a:endParaRPr lang="en-CO" sz="1500">
                            <a:effectLst/>
                            <a:latin typeface="Cambria" panose="02040503050406030204" pitchFamily="18" charset="0"/>
                            <a:ea typeface="Times New Roman" panose="02020603050405020304" pitchFamily="18" charset="0"/>
                            <a:cs typeface="Cambria" panose="02040503050406030204" pitchFamily="18" charset="0"/>
                          </a:endParaRPr>
                        </a:p>
                      </a:txBody>
                      <a:tcPr marL="83190" marR="831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CO"/>
                        </a:p>
                      </a:txBody>
                      <a:tcPr marL="83190" marR="831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76339" t="-618519" r="-446" b="-48148"/>
                          </a:stretch>
                        </a:blipFill>
                      </a:tcPr>
                    </a:tc>
                    <a:extLst>
                      <a:ext uri="{0D108BD9-81ED-4DB2-BD59-A6C34878D82A}">
                        <a16:rowId xmlns:a16="http://schemas.microsoft.com/office/drawing/2014/main" val="3552154220"/>
                      </a:ext>
                    </a:extLst>
                  </a:tr>
                </a:tbl>
              </a:graphicData>
            </a:graphic>
          </p:graphicFrame>
        </mc:Fallback>
      </mc:AlternateContent>
      <p:sp>
        <p:nvSpPr>
          <p:cNvPr id="7"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150</a:t>
            </a:r>
            <a:endParaRPr i="1" dirty="0">
              <a:latin typeface="Calibri"/>
              <a:ea typeface="Calibri"/>
              <a:cs typeface="Calibri"/>
              <a:sym typeface="Calibri"/>
            </a:endParaRPr>
          </a:p>
        </p:txBody>
      </p:sp>
      <p:pic>
        <p:nvPicPr>
          <p:cNvPr id="8"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670528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2667"/>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339403" y="397919"/>
            <a:ext cx="9511460" cy="4154984"/>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Revise your spinner based on this new data.</a:t>
            </a:r>
          </a:p>
          <a:p>
            <a:pPr marL="457200" indent="-457200">
              <a:buFont typeface="+mj-lt"/>
              <a:buAutoNum type="arabi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Explain which spinner you think is closest to what the hidden spinner looks like.  </a:t>
            </a:r>
            <a:br>
              <a:rPr lang="en-US" sz="2400" dirty="0">
                <a:latin typeface="Verdana" panose="020B0604030504040204" pitchFamily="34" charset="0"/>
                <a:ea typeface="Times New Roman" panose="02020603050405020304" pitchFamily="18" charset="0"/>
                <a:cs typeface="Times New Roman" panose="02020603050405020304" pitchFamily="18" charset="0"/>
              </a:rPr>
            </a:b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p:sp>
        <p:nvSpPr>
          <p:cNvPr id="6"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150</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468980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236372" y="411366"/>
            <a:ext cx="9556158" cy="1938992"/>
          </a:xfrm>
          <a:prstGeom prst="rect">
            <a:avLst/>
          </a:prstGeom>
        </p:spPr>
        <p:txBody>
          <a:bodyPr wrap="square">
            <a:spAutoFit/>
          </a:bodyPr>
          <a:lstStyle/>
          <a:p>
            <a:pPr marL="457200" indent="-457200">
              <a:buFont typeface="+mj-lt"/>
              <a:buAutoNum type="arabi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The second spinner Isabella drew was far more accurate than the first. Having additional spins gave a more accurate representation of what the spinner actually looked like. What can this simulation teach us about choosing the size of the sample in a population study?</a:t>
            </a:r>
          </a:p>
        </p:txBody>
      </p:sp>
      <p:sp>
        <p:nvSpPr>
          <p:cNvPr id="6"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150</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814053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767227"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image3.png" descr="Icon&#10;&#10;Description automatically generated">
            <a:extLst>
              <a:ext uri="{FF2B5EF4-FFF2-40B4-BE49-F238E27FC236}">
                <a16:creationId xmlns:a16="http://schemas.microsoft.com/office/drawing/2014/main" id="{A4D5EB06-DA35-D141-A559-7AC25258EF42}"/>
              </a:ext>
            </a:extLst>
          </p:cNvPr>
          <p:cNvPicPr/>
          <p:nvPr/>
        </p:nvPicPr>
        <p:blipFill>
          <a:blip r:embed="rId3"/>
          <a:srcRect/>
          <a:stretch>
            <a:fillRect/>
          </a:stretch>
        </p:blipFill>
        <p:spPr>
          <a:xfrm>
            <a:off x="4733062" y="2920744"/>
            <a:ext cx="1016513" cy="1016513"/>
          </a:xfrm>
          <a:prstGeom prst="rect">
            <a:avLst/>
          </a:prstGeom>
          <a:ln/>
          <a:effectLst>
            <a:outerShdw blurRad="50800" dist="38100" dir="2700000" algn="tl" rotWithShape="0">
              <a:prstClr val="black">
                <a:alpha val="40000"/>
              </a:prstClr>
            </a:outerShdw>
          </a:effectLst>
        </p:spPr>
      </p:pic>
      <p:sp>
        <p:nvSpPr>
          <p:cNvPr id="7"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755983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99526"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E24E5F"/>
                </a:solidFill>
                <a:latin typeface="Verdana"/>
                <a:ea typeface="Verdana"/>
                <a:cs typeface="Verdana"/>
                <a:sym typeface="Verdana"/>
              </a:rPr>
              <a:t>10.8.5 Your Turn!</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AE281112-0763-C941-9DB7-9B28C4EA4745}"/>
                  </a:ext>
                </a:extLst>
              </p:cNvPr>
              <p:cNvSpPr/>
              <p:nvPr/>
            </p:nvSpPr>
            <p:spPr>
              <a:xfrm>
                <a:off x="1499526" y="1346521"/>
                <a:ext cx="9016836" cy="4893647"/>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The meat department manager at a grocery store is worried some of the packages of ground beef labeled as having one pound of meat may be under-filled. He decides to take a sample of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packages from a shipment containing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100</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packages of ground beef. The packages were numbered as they were put in the box, so each one has a different number between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100</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br>
                  <a:rPr lang="en-US" sz="2400" dirty="0">
                    <a:latin typeface="Verdana" panose="020B0604030504040204" pitchFamily="34" charset="0"/>
                    <a:ea typeface="Times New Roman" panose="02020603050405020304" pitchFamily="18" charset="0"/>
                    <a:cs typeface="Times New Roman" panose="02020603050405020304" pitchFamily="18" charset="0"/>
                  </a:rPr>
                </a:b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47675"/>
                <a:r>
                  <a:rPr lang="en-US" sz="2400" dirty="0">
                    <a:latin typeface="Verdana" panose="020B0604030504040204" pitchFamily="34" charset="0"/>
                    <a:ea typeface="Times New Roman" panose="02020603050405020304" pitchFamily="18" charset="0"/>
                    <a:cs typeface="Times New Roman" panose="02020603050405020304" pitchFamily="18" charset="0"/>
                  </a:rPr>
                  <a:t>Describe how the manager can select a fair sample of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packages.</a:t>
                </a:r>
                <a:br>
                  <a:rPr lang="en-US" sz="2400" dirty="0">
                    <a:latin typeface="Verdana" panose="020B0604030504040204" pitchFamily="34" charset="0"/>
                    <a:ea typeface="Times New Roman" panose="02020603050405020304" pitchFamily="18" charset="0"/>
                    <a:cs typeface="Times New Roman" panose="02020603050405020304" pitchFamily="18" charset="0"/>
                  </a:rPr>
                </a:br>
                <a:br>
                  <a:rPr lang="en-US" sz="2400" dirty="0">
                    <a:latin typeface="Verdana" panose="020B0604030504040204" pitchFamily="34" charset="0"/>
                    <a:ea typeface="Times New Roman" panose="02020603050405020304" pitchFamily="18" charset="0"/>
                    <a:cs typeface="Times New Roman" panose="02020603050405020304" pitchFamily="18" charset="0"/>
                  </a:rPr>
                </a:b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xmlns:a14="http://schemas.microsoft.com/office/drawing/2010/main" xmlns="" id="{AE281112-0763-C941-9DB7-9B28C4EA4745}"/>
                  </a:ext>
                </a:extLst>
              </p:cNvPr>
              <p:cNvSpPr>
                <a:spLocks noRot="1" noChangeAspect="1" noMove="1" noResize="1" noEditPoints="1" noAdjustHandles="1" noChangeArrowheads="1" noChangeShapeType="1" noTextEdit="1"/>
              </p:cNvSpPr>
              <p:nvPr/>
            </p:nvSpPr>
            <p:spPr>
              <a:xfrm>
                <a:off x="1499526" y="1346521"/>
                <a:ext cx="9016836" cy="4893647"/>
              </a:xfrm>
              <a:prstGeom prst="rect">
                <a:avLst/>
              </a:prstGeom>
              <a:blipFill rotWithShape="0">
                <a:blip r:embed="rId3"/>
                <a:stretch>
                  <a:fillRect l="-1082" t="-996" r="-1285"/>
                </a:stretch>
              </a:blipFill>
            </p:spPr>
            <p:txBody>
              <a:bodyPr/>
              <a:lstStyle/>
              <a:p>
                <a:r>
                  <a:rPr lang="en-US">
                    <a:noFill/>
                  </a:rPr>
                  <a:t> </a:t>
                </a:r>
              </a:p>
            </p:txBody>
          </p:sp>
        </mc:Fallback>
      </mc:AlternateContent>
      <p:pic>
        <p:nvPicPr>
          <p:cNvPr id="10" name="image3.png" descr="Icon&#10;&#10;Description automatically generated">
            <a:extLst>
              <a:ext uri="{FF2B5EF4-FFF2-40B4-BE49-F238E27FC236}">
                <a16:creationId xmlns:a16="http://schemas.microsoft.com/office/drawing/2014/main" id="{8FB17DB4-5FBE-CC44-BC45-B0BA60AB96B6}"/>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696236" y="261205"/>
            <a:ext cx="751774" cy="751774"/>
          </a:xfrm>
          <a:prstGeom prst="rect">
            <a:avLst/>
          </a:prstGeom>
          <a:ln/>
        </p:spPr>
      </p:pic>
      <p:sp>
        <p:nvSpPr>
          <p:cNvPr id="8"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150</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4978067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AE281112-0763-C941-9DB7-9B28C4EA4745}"/>
                  </a:ext>
                </a:extLst>
              </p:cNvPr>
              <p:cNvSpPr/>
              <p:nvPr/>
            </p:nvSpPr>
            <p:spPr>
              <a:xfrm>
                <a:off x="1081825" y="341968"/>
                <a:ext cx="9852238" cy="3416320"/>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Diego wants to survey a sample of students at his school to learn about the percentage of students who are satisfied with the food in the cafeteria. He decides to go to the cafeteria on a Monday and ask the first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students who purchase a lunch at the cafeteria if they are satisfied with the food.</a:t>
                </a:r>
              </a:p>
              <a:p>
                <a:pPr marL="447675"/>
                <a:r>
                  <a:rPr lang="en-US" sz="2400" dirty="0">
                    <a:latin typeface="Verdana" panose="020B0604030504040204" pitchFamily="34" charset="0"/>
                    <a:ea typeface="Times New Roman" panose="02020603050405020304" pitchFamily="18" charset="0"/>
                    <a:cs typeface="Times New Roman" panose="02020603050405020304" pitchFamily="18" charset="0"/>
                  </a:rPr>
                  <a:t>Explain whether you think this is a good way for Diego to select his sample.</a:t>
                </a:r>
                <a:br>
                  <a:rPr lang="en-US" sz="2400" dirty="0">
                    <a:latin typeface="Verdana" panose="020B0604030504040204" pitchFamily="34" charset="0"/>
                    <a:ea typeface="Times New Roman" panose="02020603050405020304" pitchFamily="18" charset="0"/>
                    <a:cs typeface="Times New Roman" panose="02020603050405020304" pitchFamily="18" charset="0"/>
                  </a:rPr>
                </a:b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xmlns:a14="http://schemas.microsoft.com/office/drawing/2010/main" xmlns="" id="{AE281112-0763-C941-9DB7-9B28C4EA4745}"/>
                  </a:ext>
                </a:extLst>
              </p:cNvPr>
              <p:cNvSpPr>
                <a:spLocks noRot="1" noChangeAspect="1" noMove="1" noResize="1" noEditPoints="1" noAdjustHandles="1" noChangeArrowheads="1" noChangeShapeType="1" noTextEdit="1"/>
              </p:cNvSpPr>
              <p:nvPr/>
            </p:nvSpPr>
            <p:spPr>
              <a:xfrm>
                <a:off x="1081825" y="341968"/>
                <a:ext cx="9852238" cy="3416320"/>
              </a:xfrm>
              <a:prstGeom prst="rect">
                <a:avLst/>
              </a:prstGeom>
              <a:blipFill rotWithShape="0">
                <a:blip r:embed="rId3"/>
                <a:stretch>
                  <a:fillRect l="-928" t="-1426" r="-1917"/>
                </a:stretch>
              </a:blipFill>
            </p:spPr>
            <p:txBody>
              <a:bodyPr/>
              <a:lstStyle/>
              <a:p>
                <a:r>
                  <a:rPr lang="en-US">
                    <a:noFill/>
                  </a:rPr>
                  <a:t> </a:t>
                </a:r>
              </a:p>
            </p:txBody>
          </p:sp>
        </mc:Fallback>
      </mc:AlternateContent>
      <p:sp>
        <p:nvSpPr>
          <p:cNvPr id="6"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150</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3648074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AE281112-0763-C941-9DB7-9B28C4EA4745}"/>
                  </a:ext>
                </a:extLst>
              </p:cNvPr>
              <p:cNvSpPr/>
              <p:nvPr/>
            </p:nvSpPr>
            <p:spPr>
              <a:xfrm>
                <a:off x="1081825" y="341968"/>
                <a:ext cx="9852238" cy="1569660"/>
              </a:xfrm>
              <a:prstGeom prst="rect">
                <a:avLst/>
              </a:prstGeom>
            </p:spPr>
            <p:txBody>
              <a:bodyPr wrap="square">
                <a:spAutoFit/>
              </a:bodyPr>
              <a:lstStyle/>
              <a:p>
                <a:pPr marL="457200"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Eleanor wants to make the most accurate prediction about who will win the student council election.</a:t>
                </a:r>
              </a:p>
              <a:p>
                <a:pPr marL="447675"/>
                <a:r>
                  <a:rPr lang="en-US" sz="2400" dirty="0">
                    <a:latin typeface="Verdana" panose="020B0604030504040204" pitchFamily="34" charset="0"/>
                    <a:ea typeface="Times New Roman" panose="02020603050405020304" pitchFamily="18" charset="0"/>
                    <a:cs typeface="Times New Roman" panose="02020603050405020304" pitchFamily="18" charset="0"/>
                  </a:rPr>
                  <a:t>Explain whether it would be better for her to conduct a random sample of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10</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people or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50</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people.</a:t>
                </a:r>
              </a:p>
            </p:txBody>
          </p:sp>
        </mc:Choice>
        <mc:Fallback xmlns="">
          <p:sp>
            <p:nvSpPr>
              <p:cNvPr id="2" name="Rectangle 1">
                <a:extLst>
                  <a:ext uri="{FF2B5EF4-FFF2-40B4-BE49-F238E27FC236}">
                    <a16:creationId xmlns:a16="http://schemas.microsoft.com/office/drawing/2014/main" xmlns:a14="http://schemas.microsoft.com/office/drawing/2010/main" xmlns="" id="{AE281112-0763-C941-9DB7-9B28C4EA4745}"/>
                  </a:ext>
                </a:extLst>
              </p:cNvPr>
              <p:cNvSpPr>
                <a:spLocks noRot="1" noChangeAspect="1" noMove="1" noResize="1" noEditPoints="1" noAdjustHandles="1" noChangeArrowheads="1" noChangeShapeType="1" noTextEdit="1"/>
              </p:cNvSpPr>
              <p:nvPr/>
            </p:nvSpPr>
            <p:spPr>
              <a:xfrm>
                <a:off x="1081825" y="341968"/>
                <a:ext cx="9852238" cy="1569660"/>
              </a:xfrm>
              <a:prstGeom prst="rect">
                <a:avLst/>
              </a:prstGeom>
              <a:blipFill rotWithShape="0">
                <a:blip r:embed="rId3"/>
                <a:stretch>
                  <a:fillRect l="-928" t="-3101" r="-124" b="-7364"/>
                </a:stretch>
              </a:blipFill>
            </p:spPr>
            <p:txBody>
              <a:bodyPr/>
              <a:lstStyle/>
              <a:p>
                <a:r>
                  <a:rPr lang="en-US">
                    <a:noFill/>
                  </a:rPr>
                  <a:t> </a:t>
                </a:r>
              </a:p>
            </p:txBody>
          </p:sp>
        </mc:Fallback>
      </mc:AlternateContent>
      <p:sp>
        <p:nvSpPr>
          <p:cNvPr id="6"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150</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293587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618731" y="-9852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10.8.6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793755" y="111841"/>
            <a:ext cx="747300" cy="747300"/>
          </a:xfrm>
          <a:prstGeom prst="rect">
            <a:avLst/>
          </a:prstGeom>
          <a:noFill/>
          <a:ln>
            <a:noFill/>
          </a:ln>
        </p:spPr>
      </p:pic>
      <p:sp>
        <p:nvSpPr>
          <p:cNvPr id="2" name="Rectangle 1">
            <a:extLst>
              <a:ext uri="{FF2B5EF4-FFF2-40B4-BE49-F238E27FC236}">
                <a16:creationId xmlns:a16="http://schemas.microsoft.com/office/drawing/2014/main" id="{AE281112-0763-C941-9DB7-9B28C4EA4745}"/>
              </a:ext>
            </a:extLst>
          </p:cNvPr>
          <p:cNvSpPr/>
          <p:nvPr/>
        </p:nvSpPr>
        <p:spPr>
          <a:xfrm>
            <a:off x="1814273" y="1346520"/>
            <a:ext cx="8387342" cy="2308324"/>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Anthony is conducting research to determine how students at his school get to school each day (biking, walking, car, bus, etc.). Because there are many students in his school, he will be conducting a survey of a random sample of students to make predictions about the overall population.  </a:t>
            </a:r>
          </a:p>
        </p:txBody>
      </p:sp>
      <p:sp>
        <p:nvSpPr>
          <p:cNvPr id="8"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151</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AE281112-0763-C941-9DB7-9B28C4EA4745}"/>
                  </a:ext>
                </a:extLst>
              </p:cNvPr>
              <p:cNvSpPr/>
              <p:nvPr/>
            </p:nvSpPr>
            <p:spPr>
              <a:xfrm>
                <a:off x="1159099" y="316210"/>
                <a:ext cx="9697690" cy="4154984"/>
              </a:xfrm>
              <a:prstGeom prst="rect">
                <a:avLst/>
              </a:prstGeom>
            </p:spPr>
            <p:txBody>
              <a:bodyPr wrap="square">
                <a:spAutoFit/>
              </a:bodyPr>
              <a:lstStyle/>
              <a:p>
                <a:pPr marL="457200" indent="-457200">
                  <a:buFont typeface="+mj-lt"/>
                  <a:buAutoNum type="arabicPeriod"/>
                </a:pPr>
                <a:r>
                  <a:rPr lang="en-US" sz="2200" dirty="0">
                    <a:latin typeface="Verdana" panose="020B0604030504040204" pitchFamily="34" charset="0"/>
                    <a:ea typeface="Times New Roman" panose="02020603050405020304" pitchFamily="18" charset="0"/>
                    <a:cs typeface="Times New Roman" panose="02020603050405020304" pitchFamily="18" charset="0"/>
                  </a:rPr>
                  <a:t>Select all the options that would produce a random sample to represent the overall population of the school. </a:t>
                </a:r>
              </a:p>
              <a:p>
                <a:r>
                  <a:rPr lang="en-US" sz="2200" dirty="0">
                    <a:latin typeface="Verdana" panose="020B0604030504040204" pitchFamily="34" charset="0"/>
                    <a:ea typeface="Times New Roman" panose="02020603050405020304" pitchFamily="18" charset="0"/>
                    <a:cs typeface="Times New Roman" panose="02020603050405020304" pitchFamily="18" charset="0"/>
                  </a:rPr>
                  <a:t> </a:t>
                </a:r>
              </a:p>
              <a:p>
                <a:pPr marL="987425" indent="-539750">
                  <a:buFont typeface="Wingdings" pitchFamily="2" charset="2"/>
                  <a:buChar char="q"/>
                </a:pPr>
                <a:r>
                  <a:rPr lang="en-US" sz="2200" dirty="0">
                    <a:latin typeface="Verdana" panose="020B0604030504040204" pitchFamily="34" charset="0"/>
                    <a:ea typeface="Times New Roman" panose="02020603050405020304" pitchFamily="18" charset="0"/>
                    <a:cs typeface="Times New Roman" panose="02020603050405020304" pitchFamily="18" charset="0"/>
                  </a:rPr>
                  <a:t>Anthony will get to school before everyone else and survey the first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50</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people who walk in the doors.  </a:t>
                </a:r>
              </a:p>
              <a:p>
                <a:pPr marL="987425" indent="-539750">
                  <a:buFont typeface="Wingdings" pitchFamily="2" charset="2"/>
                  <a:buChar char="q"/>
                </a:pPr>
                <a:r>
                  <a:rPr lang="en-US" sz="2200" dirty="0">
                    <a:latin typeface="Verdana" panose="020B0604030504040204" pitchFamily="34" charset="0"/>
                    <a:ea typeface="Times New Roman" panose="02020603050405020304" pitchFamily="18" charset="0"/>
                    <a:cs typeface="Times New Roman" panose="02020603050405020304" pitchFamily="18" charset="0"/>
                  </a:rPr>
                  <a:t>Anthony will survey everyone at his jazz band practice.  </a:t>
                </a:r>
              </a:p>
              <a:p>
                <a:pPr marL="987425" indent="-539750">
                  <a:buFont typeface="Wingdings" pitchFamily="2" charset="2"/>
                  <a:buChar char="q"/>
                </a:pPr>
                <a:r>
                  <a:rPr lang="en-US" sz="2200" dirty="0">
                    <a:latin typeface="Verdana" panose="020B0604030504040204" pitchFamily="34" charset="0"/>
                    <a:ea typeface="Times New Roman" panose="02020603050405020304" pitchFamily="18" charset="0"/>
                    <a:cs typeface="Times New Roman" panose="02020603050405020304" pitchFamily="18" charset="0"/>
                  </a:rPr>
                  <a:t>Anthony will survey two randomly chosen students in every homeroom. </a:t>
                </a:r>
              </a:p>
              <a:p>
                <a:pPr marL="987425" indent="-539750">
                  <a:buFont typeface="Wingdings" pitchFamily="2" charset="2"/>
                  <a:buChar char="q"/>
                </a:pPr>
                <a:r>
                  <a:rPr lang="en-US" sz="2200" dirty="0">
                    <a:latin typeface="Verdana" panose="020B0604030504040204" pitchFamily="34" charset="0"/>
                    <a:ea typeface="Times New Roman" panose="02020603050405020304" pitchFamily="18" charset="0"/>
                    <a:cs typeface="Times New Roman" panose="02020603050405020304" pitchFamily="18" charset="0"/>
                  </a:rPr>
                  <a:t>Anthony will assign each student in the school a number, randomly choose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50</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numbers, and survey those students. </a:t>
                </a:r>
              </a:p>
              <a:p>
                <a:pPr marL="987425" indent="-539750">
                  <a:buFont typeface="Wingdings" pitchFamily="2" charset="2"/>
                  <a:buChar char="q"/>
                </a:pPr>
                <a:r>
                  <a:rPr lang="en-US" sz="2200" dirty="0">
                    <a:latin typeface="Verdana" panose="020B0604030504040204" pitchFamily="34" charset="0"/>
                    <a:ea typeface="Times New Roman" panose="02020603050405020304" pitchFamily="18" charset="0"/>
                    <a:cs typeface="Times New Roman" panose="02020603050405020304" pitchFamily="18" charset="0"/>
                  </a:rPr>
                  <a:t>Anthony will survey every third student he sees on his walk to school.</a:t>
                </a:r>
              </a:p>
            </p:txBody>
          </p:sp>
        </mc:Choice>
        <mc:Fallback xmlns="">
          <p:sp>
            <p:nvSpPr>
              <p:cNvPr id="2" name="Rectangle 1">
                <a:extLst>
                  <a:ext uri="{FF2B5EF4-FFF2-40B4-BE49-F238E27FC236}">
                    <a16:creationId xmlns:a16="http://schemas.microsoft.com/office/drawing/2014/main" xmlns:a14="http://schemas.microsoft.com/office/drawing/2010/main" xmlns="" id="{AE281112-0763-C941-9DB7-9B28C4EA4745}"/>
                  </a:ext>
                </a:extLst>
              </p:cNvPr>
              <p:cNvSpPr>
                <a:spLocks noRot="1" noChangeAspect="1" noMove="1" noResize="1" noEditPoints="1" noAdjustHandles="1" noChangeArrowheads="1" noChangeShapeType="1" noTextEdit="1"/>
              </p:cNvSpPr>
              <p:nvPr/>
            </p:nvSpPr>
            <p:spPr>
              <a:xfrm>
                <a:off x="1159099" y="316210"/>
                <a:ext cx="9697690" cy="4154984"/>
              </a:xfrm>
              <a:prstGeom prst="rect">
                <a:avLst/>
              </a:prstGeom>
              <a:blipFill rotWithShape="0">
                <a:blip r:embed="rId3"/>
                <a:stretch>
                  <a:fillRect l="-817" t="-1028" r="-440" b="-2203"/>
                </a:stretch>
              </a:blipFill>
            </p:spPr>
            <p:txBody>
              <a:bodyPr/>
              <a:lstStyle/>
              <a:p>
                <a:r>
                  <a:rPr lang="en-US">
                    <a:noFill/>
                  </a:rPr>
                  <a:t> </a:t>
                </a:r>
              </a:p>
            </p:txBody>
          </p:sp>
        </mc:Fallback>
      </mc:AlternateContent>
      <p:sp>
        <p:nvSpPr>
          <p:cNvPr id="6" name="Google Shape;282;g104476d1465_1_17"/>
          <p:cNvSpPr txBox="1"/>
          <p:nvPr/>
        </p:nvSpPr>
        <p:spPr>
          <a:xfrm>
            <a:off x="875718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151</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9541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84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3085</TotalTime>
  <Words>2053</Words>
  <Application>Microsoft Macintosh PowerPoint</Application>
  <PresentationFormat>Widescreen</PresentationFormat>
  <Paragraphs>245</Paragraphs>
  <Slides>36</Slides>
  <Notes>35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36</vt:i4>
      </vt:variant>
    </vt:vector>
  </HeadingPairs>
  <TitlesOfParts>
    <vt:vector size="46" baseType="lpstr">
      <vt:lpstr>Arial</vt:lpstr>
      <vt:lpstr>Arial Black</vt:lpstr>
      <vt:lpstr>Calibri</vt:lpstr>
      <vt:lpstr>Cambria</vt:lpstr>
      <vt:lpstr>Cambria Math</vt:lpstr>
      <vt:lpstr>Century Gothic</vt:lpstr>
      <vt:lpstr>Cutive</vt:lpstr>
      <vt:lpstr>Verdana</vt:lpstr>
      <vt:lpstr>Wingdings</vt:lpstr>
      <vt:lpstr>1_Office Theme</vt:lpstr>
      <vt:lpstr>6th Grade Accelerated Math  Unit 10, Lesson 8  Random Samples vs. Population  Volume 2, pg. 146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Your Turn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Diana Barnett</cp:lastModifiedBy>
  <cp:revision>32</cp:revision>
  <dcterms:created xsi:type="dcterms:W3CDTF">2015-03-17T18:51:18Z</dcterms:created>
  <dcterms:modified xsi:type="dcterms:W3CDTF">2023-01-27T16:58:28Z</dcterms:modified>
</cp:coreProperties>
</file>