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35"/>
  </p:notesMasterIdLst>
  <p:sldIdLst>
    <p:sldId id="256" r:id="rId5"/>
    <p:sldId id="257" r:id="rId6"/>
    <p:sldId id="345" r:id="rId7"/>
    <p:sldId id="286" r:id="rId8"/>
    <p:sldId id="261" r:id="rId9"/>
    <p:sldId id="287" r:id="rId10"/>
    <p:sldId id="383" r:id="rId11"/>
    <p:sldId id="289" r:id="rId12"/>
    <p:sldId id="290" r:id="rId13"/>
    <p:sldId id="389" r:id="rId14"/>
    <p:sldId id="390" r:id="rId15"/>
    <p:sldId id="391" r:id="rId16"/>
    <p:sldId id="392" r:id="rId17"/>
    <p:sldId id="393" r:id="rId18"/>
    <p:sldId id="371" r:id="rId19"/>
    <p:sldId id="372" r:id="rId20"/>
    <p:sldId id="373" r:id="rId21"/>
    <p:sldId id="374" r:id="rId22"/>
    <p:sldId id="314" r:id="rId23"/>
    <p:sldId id="315" r:id="rId24"/>
    <p:sldId id="316" r:id="rId25"/>
    <p:sldId id="339" r:id="rId26"/>
    <p:sldId id="340" r:id="rId27"/>
    <p:sldId id="341" r:id="rId28"/>
    <p:sldId id="384" r:id="rId29"/>
    <p:sldId id="398" r:id="rId30"/>
    <p:sldId id="399" r:id="rId31"/>
    <p:sldId id="400" r:id="rId32"/>
    <p:sldId id="306" r:id="rId33"/>
    <p:sldId id="307" r:id="rId3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9"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B6A"/>
    <a:srgbClr val="26B7D4"/>
    <a:srgbClr val="E24E5F"/>
    <a:srgbClr val="6ABC5E"/>
    <a:srgbClr val="BFBFBF"/>
    <a:srgbClr val="C9DF6F"/>
    <a:srgbClr val="417DBF"/>
    <a:srgbClr val="3F2A67"/>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132"/>
    <p:restoredTop sz="94695"/>
  </p:normalViewPr>
  <p:slideViewPr>
    <p:cSldViewPr snapToGrid="0">
      <p:cViewPr varScale="1">
        <p:scale>
          <a:sx n="52" d="100"/>
          <a:sy n="52" d="100"/>
        </p:scale>
        <p:origin x="90" y="49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63"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59" Type="http://customschemas.google.com/relationships/presentationmetadata" Target="meta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61"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oleObject" Target="Book2"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800" b="1">
                <a:solidFill>
                  <a:schemeClr val="tx1"/>
                </a:solidFill>
                <a:latin typeface="Verdana" panose="020B0604030504040204" pitchFamily="34" charset="0"/>
                <a:ea typeface="Verdana" panose="020B0604030504040204" pitchFamily="34" charset="0"/>
                <a:cs typeface="Verdana" panose="020B0604030504040204" pitchFamily="34" charset="0"/>
              </a:rPr>
              <a:t>Teen Views</a:t>
            </a:r>
            <a:r>
              <a:rPr lang="en-US" sz="1800" b="1" baseline="0">
                <a:solidFill>
                  <a:schemeClr val="tx1"/>
                </a:solidFill>
                <a:latin typeface="Verdana" panose="020B0604030504040204" pitchFamily="34" charset="0"/>
                <a:ea typeface="Verdana" panose="020B0604030504040204" pitchFamily="34" charset="0"/>
                <a:cs typeface="Verdana" panose="020B0604030504040204" pitchFamily="34" charset="0"/>
              </a:rPr>
              <a:t> on the Effect of Social Media on People Their Age</a:t>
            </a:r>
            <a:endParaRPr lang="en-US" sz="1800" b="1">
              <a:solidFill>
                <a:schemeClr val="tx1"/>
              </a:solidFill>
              <a:latin typeface="Verdana" panose="020B0604030504040204" pitchFamily="34" charset="0"/>
              <a:ea typeface="Verdana" panose="020B0604030504040204" pitchFamily="34" charset="0"/>
              <a:cs typeface="Verdana" panose="020B0604030504040204" pitchFamily="34" charset="0"/>
            </a:endParaRPr>
          </a:p>
        </c:rich>
      </c:tx>
      <c:layout>
        <c:manualLayout>
          <c:xMode val="edge"/>
          <c:yMode val="edge"/>
          <c:x val="0.130159667541557"/>
          <c:y val="4.6296296296296302E-3"/>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00E4-CB44-969B-2DD313058A0E}"/>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00E4-CB44-969B-2DD313058A0E}"/>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00E4-CB44-969B-2DD313058A0E}"/>
              </c:ext>
            </c:extLst>
          </c:dPt>
          <c:dLbls>
            <c:dLbl>
              <c:idx val="0"/>
              <c:layout>
                <c:manualLayout>
                  <c:x val="-0.17237853481867099"/>
                  <c:y val="0.10504542701393101"/>
                </c:manualLayout>
              </c:layout>
              <c:tx>
                <c:rich>
                  <a:bodyPr rot="0" spcFirstLastPara="1" vertOverflow="ellipsis" vert="horz" wrap="square" lIns="38100" tIns="19050" rIns="38100" bIns="19050" anchor="ctr" anchorCtr="1">
                    <a:spAutoFit/>
                  </a:bodyPr>
                  <a:lstStyle/>
                  <a:p>
                    <a:pPr>
                      <a:defRPr sz="1800" b="0" i="0" u="none" strike="noStrike" kern="1200" baseline="0">
                        <a:solidFill>
                          <a:schemeClr val="tx1"/>
                        </a:solidFill>
                        <a:latin typeface="Cambria" panose="02040503050406030204" pitchFamily="18" charset="0"/>
                        <a:ea typeface="Verdana" panose="020B0604030504040204" pitchFamily="34" charset="0"/>
                        <a:cs typeface="Verdana" panose="020B0604030504040204" pitchFamily="34" charset="0"/>
                      </a:defRPr>
                    </a:pPr>
                    <a:fld id="{AAD6FF0C-3853-774E-B1C2-A8349F8419BE}" type="PERCENTAGE">
                      <a:rPr lang="en-US" sz="1800" b="1">
                        <a:solidFill>
                          <a:schemeClr val="tx1"/>
                        </a:solidFill>
                        <a:latin typeface="Cambria" panose="02040503050406030204" pitchFamily="18" charset="0"/>
                      </a:rPr>
                      <a:pPr>
                        <a:defRPr sz="1800">
                          <a:solidFill>
                            <a:schemeClr val="tx1"/>
                          </a:solidFill>
                          <a:latin typeface="Cambria" panose="02040503050406030204" pitchFamily="18" charset="0"/>
                          <a:ea typeface="Verdana" panose="020B0604030504040204" pitchFamily="34" charset="0"/>
                          <a:cs typeface="Verdana" panose="020B0604030504040204" pitchFamily="34" charset="0"/>
                        </a:defRPr>
                      </a:pPr>
                      <a:t>[PERCENTAGE]</a:t>
                    </a:fld>
                    <a:endParaRPr lang="en-PH"/>
                  </a:p>
                </c:rich>
              </c:tx>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solidFill>
                      <a:latin typeface="Cambria" panose="02040503050406030204" pitchFamily="18" charset="0"/>
                      <a:ea typeface="Verdana" panose="020B0604030504040204" pitchFamily="34" charset="0"/>
                      <a:cs typeface="Verdana" panose="020B0604030504040204" pitchFamily="34" charset="0"/>
                    </a:defRPr>
                  </a:pPr>
                  <a:endParaRPr lang="en-US"/>
                </a:p>
              </c:txPr>
              <c:dLblPos val="bestFit"/>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00E4-CB44-969B-2DD313058A0E}"/>
                </c:ext>
              </c:extLst>
            </c:dLbl>
            <c:dLbl>
              <c:idx val="1"/>
              <c:layout>
                <c:manualLayout>
                  <c:x val="6.0204943132108397E-2"/>
                  <c:y val="-0.23297207640711601"/>
                </c:manualLayout>
              </c:layout>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tx1"/>
                      </a:solidFill>
                      <a:latin typeface="Cambria" panose="02040503050406030204" pitchFamily="18" charset="0"/>
                      <a:ea typeface="Verdana" panose="020B0604030504040204" pitchFamily="34" charset="0"/>
                      <a:cs typeface="Verdana" panose="020B0604030504040204" pitchFamily="34" charset="0"/>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00E4-CB44-969B-2DD313058A0E}"/>
                </c:ext>
              </c:extLst>
            </c:dLbl>
            <c:dLbl>
              <c:idx val="2"/>
              <c:layout>
                <c:manualLayout>
                  <c:x val="0.13840191433976301"/>
                  <c:y val="0.18705520784260901"/>
                </c:manualLayout>
              </c:layout>
              <c:tx>
                <c:rich>
                  <a:bodyPr rot="0" spcFirstLastPara="1" vertOverflow="ellipsis" vert="horz" wrap="square" lIns="38100" tIns="19050" rIns="38100" bIns="19050" anchor="ctr" anchorCtr="1">
                    <a:spAutoFit/>
                  </a:bodyPr>
                  <a:lstStyle/>
                  <a:p>
                    <a:pPr>
                      <a:defRPr sz="1800" b="0" i="0" u="none" strike="noStrike" kern="1200" baseline="0">
                        <a:solidFill>
                          <a:schemeClr val="tx1"/>
                        </a:solidFill>
                        <a:latin typeface="Cambria" panose="02040503050406030204" pitchFamily="18" charset="0"/>
                        <a:ea typeface="Verdana" panose="020B0604030504040204" pitchFamily="34" charset="0"/>
                        <a:cs typeface="Verdana" panose="020B0604030504040204" pitchFamily="34" charset="0"/>
                      </a:defRPr>
                    </a:pPr>
                    <a:fld id="{4FFB4C73-CCEE-0A4E-AE84-7CBC96A216C2}" type="PERCENTAGE">
                      <a:rPr lang="en-US" sz="1800" b="1">
                        <a:solidFill>
                          <a:schemeClr val="tx1"/>
                        </a:solidFill>
                        <a:latin typeface="Cambria" panose="02040503050406030204" pitchFamily="18" charset="0"/>
                      </a:rPr>
                      <a:pPr>
                        <a:defRPr sz="1800">
                          <a:solidFill>
                            <a:schemeClr val="tx1"/>
                          </a:solidFill>
                          <a:latin typeface="Cambria" panose="02040503050406030204" pitchFamily="18" charset="0"/>
                          <a:ea typeface="Verdana" panose="020B0604030504040204" pitchFamily="34" charset="0"/>
                          <a:cs typeface="Verdana" panose="020B0604030504040204" pitchFamily="34" charset="0"/>
                        </a:defRPr>
                      </a:pPr>
                      <a:t>[PERCENTAGE]</a:t>
                    </a:fld>
                    <a:endParaRPr lang="en-PH"/>
                  </a:p>
                </c:rich>
              </c:tx>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solidFill>
                      <a:latin typeface="Cambria" panose="02040503050406030204" pitchFamily="18" charset="0"/>
                      <a:ea typeface="Verdana" panose="020B0604030504040204" pitchFamily="34" charset="0"/>
                      <a:cs typeface="Verdana" panose="020B0604030504040204" pitchFamily="34" charset="0"/>
                    </a:defRPr>
                  </a:pPr>
                  <a:endParaRPr lang="en-US"/>
                </a:p>
              </c:txPr>
              <c:dLblPos val="bestFit"/>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00E4-CB44-969B-2DD313058A0E}"/>
                </c:ext>
              </c:extLst>
            </c:dLbl>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tx1"/>
                    </a:solidFill>
                    <a:latin typeface="Cambria" panose="02040503050406030204" pitchFamily="18" charset="0"/>
                    <a:ea typeface="+mn-ea"/>
                    <a:cs typeface="+mn-cs"/>
                  </a:defRPr>
                </a:pPr>
                <a:endParaRPr lang="en-US"/>
              </a:p>
            </c:txPr>
            <c:dLblPos val="inEnd"/>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Sheet1!$A$1:$A$3</c:f>
              <c:strCache>
                <c:ptCount val="3"/>
                <c:pt idx="0">
                  <c:v>Mostly positive effect</c:v>
                </c:pt>
                <c:pt idx="1">
                  <c:v>Neither positive nor negative effect</c:v>
                </c:pt>
                <c:pt idx="2">
                  <c:v>Mostly negative effect</c:v>
                </c:pt>
              </c:strCache>
            </c:strRef>
          </c:cat>
          <c:val>
            <c:numRef>
              <c:f>Sheet1!$B$1:$B$3</c:f>
              <c:numCache>
                <c:formatCode>0%</c:formatCode>
                <c:ptCount val="3"/>
                <c:pt idx="0">
                  <c:v>0.31</c:v>
                </c:pt>
                <c:pt idx="1">
                  <c:v>0.45</c:v>
                </c:pt>
                <c:pt idx="2">
                  <c:v>0.24</c:v>
                </c:pt>
              </c:numCache>
            </c:numRef>
          </c:val>
          <c:extLst>
            <c:ext xmlns:c16="http://schemas.microsoft.com/office/drawing/2014/chart" uri="{C3380CC4-5D6E-409C-BE32-E72D297353CC}">
              <c16:uniqueId val="{00000006-00E4-CB44-969B-2DD313058A0E}"/>
            </c:ext>
          </c:extLst>
        </c:ser>
        <c:dLbls>
          <c:dLblPos val="inEnd"/>
          <c:showLegendKey val="0"/>
          <c:showVal val="0"/>
          <c:showCatName val="0"/>
          <c:showSerName val="0"/>
          <c:showPercent val="1"/>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0.0502</cdr:x>
      <cdr:y>0.18803</cdr:y>
    </cdr:from>
    <cdr:to>
      <cdr:x>0.25091</cdr:x>
      <cdr:y>0.40456</cdr:y>
    </cdr:to>
    <cdr:sp macro="" textlink="">
      <cdr:nvSpPr>
        <cdr:cNvPr id="2" name="Text Box 8"/>
        <cdr:cNvSpPr txBox="1"/>
      </cdr:nvSpPr>
      <cdr:spPr>
        <a:xfrm xmlns:a="http://schemas.openxmlformats.org/drawingml/2006/main">
          <a:off x="317500" y="838200"/>
          <a:ext cx="1269426" cy="965200"/>
        </a:xfrm>
        <a:prstGeom xmlns:a="http://schemas.openxmlformats.org/drawingml/2006/main" prst="rect">
          <a:avLst/>
        </a:prstGeom>
        <a:solidFill xmlns:a="http://schemas.openxmlformats.org/drawingml/2006/main">
          <a:schemeClr val="lt1"/>
        </a:solidFill>
        <a:ln xmlns:a="http://schemas.openxmlformats.org/drawingml/2006/main" w="6350">
          <a:noFill/>
        </a:ln>
      </cdr:spPr>
      <cdr:txBody>
        <a:bodyPr xmlns:a="http://schemas.openxmlformats.org/drawingml/2006/main" rot="0" spcFirstLastPara="0" vert="horz" wrap="square" lIns="91440" tIns="45720" rIns="91440" bIns="45720" numCol="1" spcCol="0" rtlCol="0" fromWordArt="0" anchor="t" anchorCtr="0" forceAA="0" compatLnSpc="1">
          <a:prstTxWarp prst="textNoShape">
            <a:avLst/>
          </a:prstTxWarp>
          <a:noAutofit/>
        </a:bodyPr>
        <a:lstStyle xmlns:a="http://schemas.openxmlformats.org/drawingml/2006/main"/>
        <a:p xmlns:a="http://schemas.openxmlformats.org/drawingml/2006/main">
          <a:pPr marL="0" marR="0" algn="ctr">
            <a:spcBef>
              <a:spcPts val="0"/>
            </a:spcBef>
            <a:spcAft>
              <a:spcPts val="1000"/>
            </a:spcAft>
          </a:pPr>
          <a:r>
            <a:rPr lang="en-US" sz="1800" u="none">
              <a:solidFill>
                <a:schemeClr val="tx1"/>
              </a:solidFill>
              <a:effectLst/>
              <a:latin typeface="Verdana" panose="020B0604030504040204" pitchFamily="34" charset="0"/>
              <a:ea typeface="Times New Roman" panose="02020603050405020304" pitchFamily="18" charset="0"/>
              <a:cs typeface="Cambria" panose="02040503050406030204" pitchFamily="18" charset="0"/>
            </a:rPr>
            <a:t>mostly negative effect</a:t>
          </a:r>
          <a:endParaRPr lang="en-US" sz="1200" u="none">
            <a:solidFill>
              <a:schemeClr val="tx1"/>
            </a:solidFill>
            <a:effectLst/>
            <a:latin typeface="Cambria" panose="02040503050406030204" pitchFamily="18" charset="0"/>
            <a:ea typeface="Times New Roman" panose="02020603050405020304" pitchFamily="18" charset="0"/>
            <a:cs typeface="Cambria" panose="02040503050406030204" pitchFamily="18" charset="0"/>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23541589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91886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3538175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068433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5281033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6486372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8810594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19413163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1335488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42191853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7538053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25752346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26738162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23683785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6679637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29646841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5760679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3655594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30</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50.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70.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8.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1" y="2212773"/>
            <a:ext cx="5077650"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6</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Accelerated 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10, Lesson 9</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Making Population Predictions –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Part 1</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152</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202B6A"/>
          </a:solidFill>
          <a:ln w="9525" cap="flat" cmpd="sng">
            <a:solidFill>
              <a:srgbClr val="202B6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Logo&#10;&#10;Description automatically generated">
            <a:extLst>
              <a:ext uri="{FF2B5EF4-FFF2-40B4-BE49-F238E27FC236}">
                <a16:creationId xmlns:a16="http://schemas.microsoft.com/office/drawing/2014/main" id="{B5AEC099-06BC-2CEE-311F-FD3806FE020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76752" y="1829054"/>
            <a:ext cx="3126752" cy="364490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726460" y="12743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902960" y="36321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672495"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152</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0721"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842655" y="1307592"/>
            <a:ext cx="850669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400" dirty="0">
                <a:latin typeface="Verdana" panose="020B0604030504040204" pitchFamily="34" charset="0"/>
                <a:ea typeface="Verdana" panose="020B0604030504040204" pitchFamily="34" charset="0"/>
                <a:cs typeface="Verdana" panose="020B0604030504040204" pitchFamily="34" charset="0"/>
              </a:rPr>
              <a:t>MA.7.DP.1.3</a:t>
            </a:r>
          </a:p>
          <a:p>
            <a:pPr marL="552450" lvl="1" indent="0">
              <a:buNone/>
            </a:pPr>
            <a:r>
              <a:rPr lang="en-US" sz="2400" dirty="0">
                <a:latin typeface="Verdana" panose="020B0604030504040204" pitchFamily="34" charset="0"/>
                <a:ea typeface="Verdana" panose="020B0604030504040204" pitchFamily="34" charset="0"/>
                <a:cs typeface="Verdana" panose="020B0604030504040204" pitchFamily="34" charset="0"/>
              </a:rPr>
              <a:t>Given categorical data from a random sample, use proportional relationships to make predictions about a population.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78;g104476d1465_1_17">
            <a:extLst>
              <a:ext uri="{FF2B5EF4-FFF2-40B4-BE49-F238E27FC236}">
                <a16:creationId xmlns:a16="http://schemas.microsoft.com/office/drawing/2014/main" id="{78632872-3F42-3447-924A-20A16C6976F7}"/>
              </a:ext>
            </a:extLst>
          </p:cNvPr>
          <p:cNvSpPr/>
          <p:nvPr/>
        </p:nvSpPr>
        <p:spPr>
          <a:xfrm>
            <a:off x="0" y="0"/>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Google Shape;281;g104476d1465_1_17">
            <a:extLst>
              <a:ext uri="{FF2B5EF4-FFF2-40B4-BE49-F238E27FC236}">
                <a16:creationId xmlns:a16="http://schemas.microsoft.com/office/drawing/2014/main" id="{D915A027-4791-D04E-90A8-9E6239ED88EB}"/>
              </a:ext>
            </a:extLst>
          </p:cNvPr>
          <p:cNvPicPr preferRelativeResize="0"/>
          <p:nvPr/>
        </p:nvPicPr>
        <p:blipFill>
          <a:blip r:embed="rId2">
            <a:alphaModFix/>
          </a:blip>
          <a:stretch>
            <a:fillRect/>
          </a:stretch>
        </p:blipFill>
        <p:spPr>
          <a:xfrm>
            <a:off x="781279" y="372300"/>
            <a:ext cx="747300" cy="747300"/>
          </a:xfrm>
          <a:prstGeom prst="rect">
            <a:avLst/>
          </a:prstGeom>
          <a:noFill/>
          <a:ln>
            <a:noFill/>
          </a:ln>
          <a:effectLst>
            <a:outerShdw blurRad="57150" dist="19050" dir="5400000" algn="bl" rotWithShape="0">
              <a:srgbClr val="000000">
                <a:alpha val="50000"/>
              </a:srgbClr>
            </a:outerShdw>
          </a:effectLst>
        </p:spPr>
      </p:pic>
      <p:sp>
        <p:nvSpPr>
          <p:cNvPr id="5" name="Google Shape;295;g103996e1364_0_10">
            <a:extLst>
              <a:ext uri="{FF2B5EF4-FFF2-40B4-BE49-F238E27FC236}">
                <a16:creationId xmlns:a16="http://schemas.microsoft.com/office/drawing/2014/main" id="{73A67FE7-C13F-C24F-85E9-A4B96A1F42A8}"/>
              </a:ext>
            </a:extLst>
          </p:cNvPr>
          <p:cNvSpPr txBox="1">
            <a:spLocks/>
          </p:cNvSpPr>
          <p:nvPr/>
        </p:nvSpPr>
        <p:spPr>
          <a:xfrm>
            <a:off x="1605929"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7" name="Google Shape;296;g103996e1364_0_10">
            <a:extLst>
              <a:ext uri="{FF2B5EF4-FFF2-40B4-BE49-F238E27FC236}">
                <a16:creationId xmlns:a16="http://schemas.microsoft.com/office/drawing/2014/main" id="{5BB4D65A-27E8-4F4F-9348-5380FE318E8D}"/>
              </a:ext>
            </a:extLst>
          </p:cNvPr>
          <p:cNvSpPr txBox="1">
            <a:spLocks/>
          </p:cNvSpPr>
          <p:nvPr/>
        </p:nvSpPr>
        <p:spPr>
          <a:xfrm>
            <a:off x="1605929" y="1455367"/>
            <a:ext cx="8980142" cy="47452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Apply mathematics to real-world contexts.</a:t>
            </a:r>
          </a:p>
        </p:txBody>
      </p:sp>
      <p:sp>
        <p:nvSpPr>
          <p:cNvPr id="8" name="Google Shape;282;g104476d1465_1_17"/>
          <p:cNvSpPr txBox="1"/>
          <p:nvPr/>
        </p:nvSpPr>
        <p:spPr>
          <a:xfrm>
            <a:off x="8672495"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152</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10721"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34299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596902" y="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814740" y="28920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702160" y="1600200"/>
            <a:ext cx="878768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use proportional relationships to make predictions about a population. </a:t>
            </a:r>
            <a:br>
              <a:rPr lang="en-US" sz="2400" dirty="0">
                <a:latin typeface="Verdana" panose="020B0604030504040204" pitchFamily="34" charset="0"/>
                <a:ea typeface="Verdana" panose="020B0604030504040204" pitchFamily="34" charset="0"/>
                <a:cs typeface="Verdana" panose="020B0604030504040204" pitchFamily="34" charset="0"/>
              </a:rPr>
            </a:br>
            <a:r>
              <a:rPr lang="en-US" sz="2400" dirty="0">
                <a:latin typeface="Verdana" panose="020B0604030504040204" pitchFamily="34" charset="0"/>
                <a:ea typeface="Verdana" panose="020B0604030504040204" pitchFamily="34" charset="0"/>
                <a:cs typeface="Verdana" panose="020B0604030504040204" pitchFamily="34" charset="0"/>
              </a:rPr>
              <a:t> </a:t>
            </a:r>
          </a:p>
        </p:txBody>
      </p:sp>
      <p:sp>
        <p:nvSpPr>
          <p:cNvPr id="8" name="Google Shape;282;g104476d1465_1_17"/>
          <p:cNvSpPr txBox="1"/>
          <p:nvPr/>
        </p:nvSpPr>
        <p:spPr>
          <a:xfrm>
            <a:off x="8672495"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152</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0721"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672495"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152</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0721" y="6200599"/>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33659" y="-93229"/>
            <a:ext cx="997706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10.9.1 Warm-Up: Notice and Wonder</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686360" y="196334"/>
            <a:ext cx="747300" cy="747300"/>
          </a:xfrm>
          <a:prstGeom prst="rect">
            <a:avLst/>
          </a:prstGeom>
          <a:noFill/>
          <a:ln>
            <a:noFill/>
          </a:ln>
          <a:effectLst>
            <a:outerShdw blurRad="50800" dist="38100" dir="2700000" algn="tl" rotWithShape="0">
              <a:prstClr val="black">
                <a:alpha val="40000"/>
              </a:prstClr>
            </a:outerShdw>
          </a:effectLst>
        </p:spPr>
      </p:pic>
      <p:sp>
        <p:nvSpPr>
          <p:cNvPr id="19" name="Rectangle 13">
            <a:extLst>
              <a:ext uri="{FF2B5EF4-FFF2-40B4-BE49-F238E27FC236}">
                <a16:creationId xmlns:a16="http://schemas.microsoft.com/office/drawing/2014/main"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 name="Table 3">
            <a:extLst>
              <a:ext uri="{FF2B5EF4-FFF2-40B4-BE49-F238E27FC236}">
                <a16:creationId xmlns:a16="http://schemas.microsoft.com/office/drawing/2014/main" id="{0985A211-50B2-B246-800A-78A1888ADE88}"/>
              </a:ext>
            </a:extLst>
          </p:cNvPr>
          <p:cNvGraphicFramePr>
            <a:graphicFrameLocks noGrp="1"/>
          </p:cNvGraphicFramePr>
          <p:nvPr>
            <p:extLst>
              <p:ext uri="{D42A27DB-BD31-4B8C-83A1-F6EECF244321}">
                <p14:modId xmlns:p14="http://schemas.microsoft.com/office/powerpoint/2010/main" val="786382762"/>
              </p:ext>
            </p:extLst>
          </p:nvPr>
        </p:nvGraphicFramePr>
        <p:xfrm>
          <a:off x="3508375" y="1478100"/>
          <a:ext cx="5175250" cy="3474720"/>
        </p:xfrm>
        <a:graphic>
          <a:graphicData uri="http://schemas.openxmlformats.org/drawingml/2006/table">
            <a:tbl>
              <a:tblPr firstRow="1" firstCol="1" bandRow="1"/>
              <a:tblGrid>
                <a:gridCol w="2803525">
                  <a:extLst>
                    <a:ext uri="{9D8B030D-6E8A-4147-A177-3AD203B41FA5}">
                      <a16:colId xmlns:a16="http://schemas.microsoft.com/office/drawing/2014/main" val="468794775"/>
                    </a:ext>
                  </a:extLst>
                </a:gridCol>
                <a:gridCol w="1200150">
                  <a:extLst>
                    <a:ext uri="{9D8B030D-6E8A-4147-A177-3AD203B41FA5}">
                      <a16:colId xmlns:a16="http://schemas.microsoft.com/office/drawing/2014/main" val="783565760"/>
                    </a:ext>
                  </a:extLst>
                </a:gridCol>
                <a:gridCol w="1171575">
                  <a:extLst>
                    <a:ext uri="{9D8B030D-6E8A-4147-A177-3AD203B41FA5}">
                      <a16:colId xmlns:a16="http://schemas.microsoft.com/office/drawing/2014/main" val="999659075"/>
                    </a:ext>
                  </a:extLst>
                </a:gridCol>
              </a:tblGrid>
              <a:tr h="0">
                <a:tc>
                  <a:txBody>
                    <a:bodyPr/>
                    <a:lstStyle/>
                    <a:p>
                      <a:pPr marL="0" marR="0" algn="ctr">
                        <a:spcBef>
                          <a:spcPts val="0"/>
                        </a:spcBef>
                        <a:spcAft>
                          <a:spcPts val="0"/>
                        </a:spcAft>
                      </a:pPr>
                      <a:r>
                        <a:rPr lang="en-US" sz="1800" b="1">
                          <a:effectLst/>
                          <a:latin typeface="Verdana" panose="020B0604030504040204" pitchFamily="34" charset="0"/>
                          <a:ea typeface="Times New Roman" panose="02020603050405020304" pitchFamily="18" charset="0"/>
                          <a:cs typeface="Cambria" panose="02040503050406030204" pitchFamily="18" charset="0"/>
                        </a:rPr>
                        <a:t>Burgers</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8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Chips</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8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Fries</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4162035534"/>
                  </a:ext>
                </a:extLst>
              </a:tr>
              <a:tr h="0">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Deluxe Burger</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$6.90</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$7.70</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61231982"/>
                  </a:ext>
                </a:extLst>
              </a:tr>
              <a:tr h="0">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Deluxe Cheese</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$7.70</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$8.45</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97280682"/>
                  </a:ext>
                </a:extLst>
              </a:tr>
              <a:tr h="0">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Bacon Burger</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$7.95</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$8.65</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48606863"/>
                  </a:ext>
                </a:extLst>
              </a:tr>
              <a:tr h="0">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Bacon Cheese</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$8.25</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$8.95</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21013675"/>
                  </a:ext>
                </a:extLst>
              </a:tr>
              <a:tr h="0">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Double Burger</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$8.35</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$9.30</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01053354"/>
                  </a:ext>
                </a:extLst>
              </a:tr>
              <a:tr h="0">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Double Cheese</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$9.25</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$9.95</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79749191"/>
                  </a:ext>
                </a:extLst>
              </a:tr>
              <a:tr h="0">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Double Bacon Cheese</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$9.50</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$10.25</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94024860"/>
                  </a:ext>
                </a:extLst>
              </a:tr>
              <a:tr h="0">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Cheese Garden Burger</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$8.25</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$8.85</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52360947"/>
                  </a:ext>
                </a:extLst>
              </a:tr>
              <a:tr h="0">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Mushroom Swiss</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$8.25</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$8.95</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52532068"/>
                  </a:ext>
                </a:extLst>
              </a:tr>
              <a:tr h="0">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Jalapeno Pepper Jack</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$8.25</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$8.95</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99766558"/>
                  </a:ext>
                </a:extLst>
              </a:tr>
              <a:tr h="0">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BBQ Western Bacon</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$9.20</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$9.85</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88134558"/>
                  </a:ext>
                </a:extLst>
              </a:tr>
              <a:tr h="0">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Pastrami Burger</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$9.20</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$9.85</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33431807"/>
                  </a:ext>
                </a:extLst>
              </a:tr>
              <a:tr h="0">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Power Pac</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$10.45</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$11.05</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5357847"/>
                  </a:ext>
                </a:extLst>
              </a:tr>
              <a:tr h="0">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Cheese Power Pac</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a:effectLst/>
                          <a:latin typeface="Verdana" panose="020B0604030504040204" pitchFamily="34" charset="0"/>
                          <a:ea typeface="Times New Roman" panose="02020603050405020304" pitchFamily="18" charset="0"/>
                          <a:cs typeface="Cambria" panose="02040503050406030204" pitchFamily="18" charset="0"/>
                        </a:rPr>
                        <a:t>$11.25</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500" dirty="0">
                          <a:effectLst/>
                          <a:latin typeface="Verdana" panose="020B0604030504040204" pitchFamily="34" charset="0"/>
                          <a:ea typeface="Times New Roman" panose="02020603050405020304" pitchFamily="18" charset="0"/>
                          <a:cs typeface="Cambria" panose="02040503050406030204" pitchFamily="18" charset="0"/>
                        </a:rPr>
                        <a:t>$11.70</a:t>
                      </a: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40527422"/>
                  </a:ext>
                </a:extLst>
              </a:tr>
            </a:tbl>
          </a:graphicData>
        </a:graphic>
      </p:graphicFrame>
      <p:sp>
        <p:nvSpPr>
          <p:cNvPr id="14" name="TextBox 13">
            <a:extLst>
              <a:ext uri="{FF2B5EF4-FFF2-40B4-BE49-F238E27FC236}">
                <a16:creationId xmlns:a16="http://schemas.microsoft.com/office/drawing/2014/main" id="{A975A524-EE67-7045-A856-4623C0BF3F39}"/>
              </a:ext>
            </a:extLst>
          </p:cNvPr>
          <p:cNvSpPr txBox="1"/>
          <p:nvPr/>
        </p:nvSpPr>
        <p:spPr>
          <a:xfrm>
            <a:off x="1676401" y="5343862"/>
            <a:ext cx="8932126" cy="461665"/>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What are two things you notice about this menu?</a:t>
            </a:r>
          </a:p>
        </p:txBody>
      </p:sp>
      <p:sp>
        <p:nvSpPr>
          <p:cNvPr id="11" name="Google Shape;282;g104476d1465_1_17"/>
          <p:cNvSpPr txBox="1"/>
          <p:nvPr/>
        </p:nvSpPr>
        <p:spPr>
          <a:xfrm>
            <a:off x="8672495"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152</a:t>
            </a:r>
            <a:endParaRPr i="1" dirty="0">
              <a:latin typeface="Calibri"/>
              <a:ea typeface="Calibri"/>
              <a:cs typeface="Calibri"/>
              <a:sym typeface="Calibri"/>
            </a:endParaRPr>
          </a:p>
        </p:txBody>
      </p:sp>
      <p:pic>
        <p:nvPicPr>
          <p:cNvPr id="1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0721"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TextBox 1">
            <a:extLst>
              <a:ext uri="{FF2B5EF4-FFF2-40B4-BE49-F238E27FC236}">
                <a16:creationId xmlns:a16="http://schemas.microsoft.com/office/drawing/2014/main" id="{E1D7562E-134F-D14B-AF1A-DF40E11EF758}"/>
              </a:ext>
            </a:extLst>
          </p:cNvPr>
          <p:cNvSpPr txBox="1"/>
          <p:nvPr/>
        </p:nvSpPr>
        <p:spPr>
          <a:xfrm>
            <a:off x="1343891" y="605261"/>
            <a:ext cx="9597146" cy="3416320"/>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What is one thing you wonder?</a:t>
            </a: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What is a suggestion you could give to the owners about their pricing? </a:t>
            </a:r>
          </a:p>
        </p:txBody>
      </p:sp>
      <p:sp>
        <p:nvSpPr>
          <p:cNvPr id="19" name="Rectangle 13">
            <a:extLst>
              <a:ext uri="{FF2B5EF4-FFF2-40B4-BE49-F238E27FC236}">
                <a16:creationId xmlns:a16="http://schemas.microsoft.com/office/drawing/2014/main"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Google Shape;282;g104476d1465_1_17"/>
          <p:cNvSpPr txBox="1"/>
          <p:nvPr/>
        </p:nvSpPr>
        <p:spPr>
          <a:xfrm>
            <a:off x="8672495"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152</a:t>
            </a:r>
            <a:endParaRPr i="1" dirty="0">
              <a:latin typeface="Calibri"/>
              <a:ea typeface="Calibri"/>
              <a:cs typeface="Calibri"/>
              <a:sym typeface="Calibri"/>
            </a:endParaRPr>
          </a:p>
        </p:txBody>
      </p:sp>
      <p:pic>
        <p:nvPicPr>
          <p:cNvPr id="11"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10721"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509178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image6.png" descr="Icon&#10;&#10;Description automatically generated">
            <a:extLst>
              <a:ext uri="{FF2B5EF4-FFF2-40B4-BE49-F238E27FC236}">
                <a16:creationId xmlns:a16="http://schemas.microsoft.com/office/drawing/2014/main" id="{893078A3-C5AD-EC41-8D1C-35C1FBA72382}"/>
              </a:ext>
            </a:extLst>
          </p:cNvPr>
          <p:cNvPicPr/>
          <p:nvPr/>
        </p:nvPicPr>
        <p:blipFill>
          <a:blip r:embed="rId3"/>
          <a:srcRect/>
          <a:stretch>
            <a:fillRect/>
          </a:stretch>
        </p:blipFill>
        <p:spPr>
          <a:xfrm>
            <a:off x="4601428" y="2829169"/>
            <a:ext cx="1148148" cy="1148148"/>
          </a:xfrm>
          <a:prstGeom prst="rect">
            <a:avLst/>
          </a:prstGeom>
          <a:ln/>
        </p:spPr>
      </p:pic>
      <p:sp>
        <p:nvSpPr>
          <p:cNvPr id="9" name="Google Shape;282;g104476d1465_1_17"/>
          <p:cNvSpPr txBox="1"/>
          <p:nvPr/>
        </p:nvSpPr>
        <p:spPr>
          <a:xfrm>
            <a:off x="8672495"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152</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0721"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2612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633159" y="-7246"/>
            <a:ext cx="830664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54B5D1"/>
                </a:solidFill>
                <a:latin typeface="Verdana"/>
                <a:ea typeface="Verdana"/>
                <a:cs typeface="Verdana"/>
                <a:sym typeface="Verdana"/>
              </a:rPr>
              <a:t>10.9.2 Guided Instruction: Predicting How Many</a:t>
            </a:r>
          </a:p>
        </p:txBody>
      </p:sp>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1633160" y="1341763"/>
            <a:ext cx="894254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Results of a random sample can be used to make predictions. The results from a sample of 50 readers of each comic book are shown below.</a:t>
            </a:r>
          </a:p>
        </p:txBody>
      </p:sp>
      <p:pic>
        <p:nvPicPr>
          <p:cNvPr id="11" name="image6.png" descr="Icon&#10;&#10;Description automatically generated">
            <a:extLst>
              <a:ext uri="{FF2B5EF4-FFF2-40B4-BE49-F238E27FC236}">
                <a16:creationId xmlns:a16="http://schemas.microsoft.com/office/drawing/2014/main" id="{797A3092-3E73-EA40-89DD-C952113E9EA5}"/>
              </a:ext>
            </a:extLst>
          </p:cNvPr>
          <p:cNvPicPr/>
          <p:nvPr/>
        </p:nvPicPr>
        <p:blipFill>
          <a:blip r:embed="rId3" cstate="screen">
            <a:extLst>
              <a:ext uri="{28A0092B-C50C-407E-A947-70E740481C1C}">
                <a14:useLocalDpi xmlns:a14="http://schemas.microsoft.com/office/drawing/2010/main"/>
              </a:ext>
            </a:extLst>
          </a:blip>
          <a:srcRect/>
          <a:stretch>
            <a:fillRect/>
          </a:stretch>
        </p:blipFill>
        <p:spPr>
          <a:xfrm>
            <a:off x="885860" y="224290"/>
            <a:ext cx="747299" cy="747299"/>
          </a:xfrm>
          <a:prstGeom prst="rect">
            <a:avLst/>
          </a:prstGeom>
          <a:ln/>
        </p:spPr>
      </p:pic>
      <p:sp>
        <p:nvSpPr>
          <p:cNvPr id="9" name="Google Shape;282;g104476d1465_1_17"/>
          <p:cNvSpPr txBox="1"/>
          <p:nvPr/>
        </p:nvSpPr>
        <p:spPr>
          <a:xfrm>
            <a:off x="8672495"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152</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10721" y="6200599"/>
            <a:ext cx="563850" cy="657276"/>
          </a:xfrm>
          <a:prstGeom prst="rect">
            <a:avLst/>
          </a:prstGeom>
          <a:noFill/>
          <a:ln>
            <a:noFill/>
          </a:ln>
          <a:effectLst>
            <a:outerShdw blurRad="57150" dist="19050" dir="5400000" algn="bl" rotWithShape="0">
              <a:srgbClr val="000000">
                <a:alpha val="50000"/>
              </a:srgbClr>
            </a:outerShdw>
          </a:effectLst>
        </p:spPr>
      </p:pic>
      <p:pic>
        <p:nvPicPr>
          <p:cNvPr id="3" name="Picture 2">
            <a:extLst>
              <a:ext uri="{FF2B5EF4-FFF2-40B4-BE49-F238E27FC236}">
                <a16:creationId xmlns:a16="http://schemas.microsoft.com/office/drawing/2014/main" id="{0561FDD0-AA6D-CFF5-CE9C-EC6B931FFE22}"/>
              </a:ext>
            </a:extLst>
          </p:cNvPr>
          <p:cNvPicPr>
            <a:picLocks noChangeAspect="1"/>
          </p:cNvPicPr>
          <p:nvPr/>
        </p:nvPicPr>
        <p:blipFill>
          <a:blip r:embed="rId5"/>
          <a:stretch>
            <a:fillRect/>
          </a:stretch>
        </p:blipFill>
        <p:spPr>
          <a:xfrm>
            <a:off x="3173462" y="2653547"/>
            <a:ext cx="5659987" cy="3557706"/>
          </a:xfrm>
          <a:prstGeom prst="rect">
            <a:avLst/>
          </a:prstGeom>
        </p:spPr>
      </p:pic>
    </p:spTree>
    <p:extLst>
      <p:ext uri="{BB962C8B-B14F-4D97-AF65-F5344CB8AC3E}">
        <p14:creationId xmlns:p14="http://schemas.microsoft.com/office/powerpoint/2010/main" val="3902457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3666" y="0"/>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CD330F31-6BC7-B146-B595-34E7025365DB}"/>
                  </a:ext>
                </a:extLst>
              </p:cNvPr>
              <p:cNvSpPr>
                <a:spLocks noChangeArrowheads="1"/>
              </p:cNvSpPr>
              <p:nvPr/>
            </p:nvSpPr>
            <p:spPr bwMode="auto">
              <a:xfrm>
                <a:off x="1219201" y="634295"/>
                <a:ext cx="9770458" cy="3816429"/>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ClrTx/>
                </a:pPr>
                <a:r>
                  <a:rPr lang="en-US" altLang="en-US" sz="22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Suppose the author of </a:t>
                </a:r>
                <a:r>
                  <a:rPr lang="en-US" altLang="en-US" sz="2200" i="1"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 Probability Princess</a:t>
                </a:r>
                <a:r>
                  <a:rPr lang="en-US" altLang="en-US" sz="22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Ashley Grant, is trying to make decisions about the future of the series. She really wants the new hero to have the ability to fly, but she knows there is a larger percentage of readers who want the new hero to have freeze power. As long as the new series can sell at least </a:t>
                </a:r>
                <a14:m>
                  <m:oMath xmlns:m="http://schemas.openxmlformats.org/officeDocument/2006/math">
                    <m:r>
                      <a:rPr lang="en-US" altLang="en-US" sz="22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3,600</m:t>
                    </m:r>
                  </m:oMath>
                </a14:m>
                <a:r>
                  <a:rPr lang="en-US" altLang="en-US" sz="22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issues in the next five years, Ashley will be able to stay in business.</a:t>
                </a:r>
              </a:p>
              <a:p>
                <a:pPr lvl="0" eaLnBrk="0" fontAlgn="base" hangingPunct="0">
                  <a:spcBef>
                    <a:spcPct val="0"/>
                  </a:spcBef>
                  <a:spcAft>
                    <a:spcPct val="0"/>
                  </a:spcAft>
                  <a:buClrTx/>
                </a:pPr>
                <a:endParaRPr lang="en-US" altLang="en-US" sz="22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a:pPr>
                <a:r>
                  <a:rPr lang="en-US" altLang="en-US" sz="22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Ashley determines ____ readers of </a:t>
                </a:r>
                <a:r>
                  <a:rPr lang="en-US" altLang="en-US" sz="2200" i="1"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 Probability Princess</a:t>
                </a:r>
                <a:r>
                  <a:rPr lang="en-US" altLang="en-US" sz="22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responded to the survey. She then finds the percentage of the </a:t>
                </a:r>
                <a14:m>
                  <m:oMath xmlns:m="http://schemas.openxmlformats.org/officeDocument/2006/math">
                    <m:r>
                      <a:rPr lang="en-US" altLang="en-US" sz="22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50</m:t>
                    </m:r>
                  </m:oMath>
                </a14:m>
                <a:r>
                  <a:rPr lang="en-US" altLang="en-US" sz="22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readers surveyed who want the new hero to have the ability to fly. </a:t>
                </a:r>
              </a:p>
            </p:txBody>
          </p:sp>
        </mc:Choice>
        <mc:Fallback xmlns="">
          <p:sp>
            <p:nvSpPr>
              <p:cNvPr id="34" name="Rectangle 33">
                <a:extLst>
                  <a:ext uri="{FF2B5EF4-FFF2-40B4-BE49-F238E27FC236}">
                    <a16:creationId xmlns:a16="http://schemas.microsoft.com/office/drawing/2014/main" xmlns:a14="http://schemas.microsoft.com/office/drawing/2010/main" xmlns="" id="{CD330F31-6BC7-B146-B595-34E7025365DB}"/>
                  </a:ext>
                </a:extLst>
              </p:cNvPr>
              <p:cNvSpPr>
                <a:spLocks noRot="1" noChangeAspect="1" noMove="1" noResize="1" noEditPoints="1" noAdjustHandles="1" noChangeArrowheads="1" noChangeShapeType="1" noTextEdit="1"/>
              </p:cNvSpPr>
              <p:nvPr/>
            </p:nvSpPr>
            <p:spPr bwMode="auto">
              <a:xfrm>
                <a:off x="1219201" y="634295"/>
                <a:ext cx="9770458" cy="3816429"/>
              </a:xfrm>
              <a:prstGeom prst="rect">
                <a:avLst/>
              </a:prstGeom>
              <a:blipFill rotWithShape="0">
                <a:blip r:embed="rId3"/>
                <a:stretch>
                  <a:fillRect l="-811" t="-479" r="-686" b="-303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67540B2-F328-7246-B83D-7761B2CDF40C}"/>
                  </a:ext>
                </a:extLst>
              </p:cNvPr>
              <p:cNvSpPr txBox="1"/>
              <p:nvPr/>
            </p:nvSpPr>
            <p:spPr>
              <a:xfrm>
                <a:off x="3722594" y="5237112"/>
                <a:ext cx="4639234" cy="69711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x-none" sz="2000" i="1">
                              <a:solidFill>
                                <a:srgbClr val="836967"/>
                              </a:solidFill>
                              <a:latin typeface="Cambria Math" panose="02040503050406030204" pitchFamily="18" charset="0"/>
                            </a:rPr>
                          </m:ctrlPr>
                        </m:fPr>
                        <m:num/>
                        <m:den>
                          <m:r>
                            <a:rPr lang="x-none" sz="2000">
                              <a:latin typeface="Cambria Math" panose="02040503050406030204" pitchFamily="18" charset="0"/>
                            </a:rPr>
                            <m:t>50</m:t>
                          </m:r>
                        </m:den>
                      </m:f>
                      <m:r>
                        <a:rPr lang="x-none" sz="2000">
                          <a:latin typeface="Cambria Math" panose="02040503050406030204" pitchFamily="18" charset="0"/>
                        </a:rPr>
                        <m:t> = </m:t>
                      </m:r>
                      <m:f>
                        <m:fPr>
                          <m:ctrlPr>
                            <a:rPr lang="x-none" sz="2000" i="1">
                              <a:solidFill>
                                <a:srgbClr val="836967"/>
                              </a:solidFill>
                              <a:latin typeface="Cambria Math" panose="02040503050406030204" pitchFamily="18" charset="0"/>
                            </a:rPr>
                          </m:ctrlPr>
                        </m:fPr>
                        <m:num>
                          <m:r>
                            <a:rPr lang="x-none" sz="2000">
                              <a:latin typeface="Cambria Math" panose="02040503050406030204" pitchFamily="18" charset="0"/>
                            </a:rPr>
                            <m:t>40</m:t>
                          </m:r>
                        </m:num>
                        <m:den>
                          <m:r>
                            <a:rPr lang="x-none" sz="2000">
                              <a:latin typeface="Cambria Math" panose="02040503050406030204" pitchFamily="18" charset="0"/>
                            </a:rPr>
                            <m:t>100</m:t>
                          </m:r>
                        </m:den>
                      </m:f>
                      <m:r>
                        <a:rPr lang="x-none" sz="2000">
                          <a:latin typeface="Cambria Math" panose="02040503050406030204" pitchFamily="18" charset="0"/>
                        </a:rPr>
                        <m:t> =            = 40%</m:t>
                      </m:r>
                    </m:oMath>
                  </m:oMathPara>
                </a14:m>
                <a:endParaRPr lang="x-none" sz="2000" dirty="0"/>
              </a:p>
            </p:txBody>
          </p:sp>
        </mc:Choice>
        <mc:Fallback xmlns="">
          <p:sp>
            <p:nvSpPr>
              <p:cNvPr id="9" name="TextBox 8">
                <a:extLst>
                  <a:ext uri="{FF2B5EF4-FFF2-40B4-BE49-F238E27FC236}">
                    <a16:creationId xmlns:a16="http://schemas.microsoft.com/office/drawing/2014/main" id="{767540B2-F328-7246-B83D-7761B2CDF40C}"/>
                  </a:ext>
                </a:extLst>
              </p:cNvPr>
              <p:cNvSpPr txBox="1">
                <a:spLocks noRot="1" noChangeAspect="1" noMove="1" noResize="1" noEditPoints="1" noAdjustHandles="1" noChangeArrowheads="1" noChangeShapeType="1" noTextEdit="1"/>
              </p:cNvSpPr>
              <p:nvPr/>
            </p:nvSpPr>
            <p:spPr>
              <a:xfrm>
                <a:off x="2198594" y="5237112"/>
                <a:ext cx="4639234" cy="697114"/>
              </a:xfrm>
              <a:prstGeom prst="rect">
                <a:avLst/>
              </a:prstGeom>
              <a:blipFill>
                <a:blip r:embed="rId5"/>
                <a:stretch>
                  <a:fillRect b="-5357"/>
                </a:stretch>
              </a:blipFill>
            </p:spPr>
            <p:txBody>
              <a:bodyPr/>
              <a:lstStyle/>
              <a:p>
                <a:r>
                  <a:rPr lang="en-CO">
                    <a:noFill/>
                  </a:rPr>
                  <a:t> </a:t>
                </a:r>
              </a:p>
            </p:txBody>
          </p:sp>
        </mc:Fallback>
      </mc:AlternateContent>
      <p:sp>
        <p:nvSpPr>
          <p:cNvPr id="10" name="Rounded Rectangle 9">
            <a:extLst>
              <a:ext uri="{FF2B5EF4-FFF2-40B4-BE49-F238E27FC236}">
                <a16:creationId xmlns:a16="http://schemas.microsoft.com/office/drawing/2014/main" id="{1834CEBA-C5A8-1245-808F-A7B5754C13CD}"/>
              </a:ext>
            </a:extLst>
          </p:cNvPr>
          <p:cNvSpPr/>
          <p:nvPr/>
        </p:nvSpPr>
        <p:spPr>
          <a:xfrm>
            <a:off x="4455459" y="5128469"/>
            <a:ext cx="457200" cy="4572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1" name="Rounded Rectangle 10">
            <a:extLst>
              <a:ext uri="{FF2B5EF4-FFF2-40B4-BE49-F238E27FC236}">
                <a16:creationId xmlns:a16="http://schemas.microsoft.com/office/drawing/2014/main" id="{C9C353F3-46EF-FC47-8497-3A36897EE8A2}"/>
              </a:ext>
            </a:extLst>
          </p:cNvPr>
          <p:cNvSpPr/>
          <p:nvPr/>
        </p:nvSpPr>
        <p:spPr>
          <a:xfrm>
            <a:off x="6122894" y="5397410"/>
            <a:ext cx="457200" cy="457200"/>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 name="Google Shape;282;g104476d1465_1_17"/>
          <p:cNvSpPr txBox="1"/>
          <p:nvPr/>
        </p:nvSpPr>
        <p:spPr>
          <a:xfrm>
            <a:off x="8672495"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152</a:t>
            </a:r>
            <a:endParaRPr i="1" dirty="0">
              <a:latin typeface="Calibri"/>
              <a:ea typeface="Calibri"/>
              <a:cs typeface="Calibri"/>
              <a:sym typeface="Calibri"/>
            </a:endParaRPr>
          </a:p>
        </p:txBody>
      </p:sp>
      <p:pic>
        <p:nvPicPr>
          <p:cNvPr id="14"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10721"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12686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CD330F31-6BC7-B146-B595-34E7025365DB}"/>
                  </a:ext>
                </a:extLst>
              </p:cNvPr>
              <p:cNvSpPr>
                <a:spLocks noChangeArrowheads="1"/>
              </p:cNvSpPr>
              <p:nvPr/>
            </p:nvSpPr>
            <p:spPr bwMode="auto">
              <a:xfrm>
                <a:off x="1274619" y="600280"/>
                <a:ext cx="9659622" cy="2308324"/>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Over the past five years, </a:t>
                </a:r>
                <a:r>
                  <a:rPr lang="en-US" altLang="en-US" sz="2400" i="1"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 Probability Princess</a:t>
                </a: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has had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10,000</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loyal readers. Using three different strategies, Ashley uses the data to predict the number of those readers who want to see the new hero have the ability to fly. In each method, she predicts that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4,000</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of the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10,000</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readers want this. </a:t>
                </a:r>
              </a:p>
            </p:txBody>
          </p:sp>
        </mc:Choice>
        <mc:Fallback xmlns="">
          <p:sp>
            <p:nvSpPr>
              <p:cNvPr id="34" name="Rectangle 33">
                <a:extLst>
                  <a:ext uri="{FF2B5EF4-FFF2-40B4-BE49-F238E27FC236}">
                    <a16:creationId xmlns:a16="http://schemas.microsoft.com/office/drawing/2014/main" xmlns:a14="http://schemas.microsoft.com/office/drawing/2010/main" xmlns="" id="{CD330F31-6BC7-B146-B595-34E7025365DB}"/>
                  </a:ext>
                </a:extLst>
              </p:cNvPr>
              <p:cNvSpPr>
                <a:spLocks noRot="1" noChangeAspect="1" noMove="1" noResize="1" noEditPoints="1" noAdjustHandles="1" noChangeArrowheads="1" noChangeShapeType="1" noTextEdit="1"/>
              </p:cNvSpPr>
              <p:nvPr/>
            </p:nvSpPr>
            <p:spPr bwMode="auto">
              <a:xfrm>
                <a:off x="1274619" y="600280"/>
                <a:ext cx="9659622" cy="2308324"/>
              </a:xfrm>
              <a:prstGeom prst="rect">
                <a:avLst/>
              </a:prstGeom>
              <a:blipFill rotWithShape="0">
                <a:blip r:embed="rId3"/>
                <a:stretch>
                  <a:fillRect l="-946" t="-1583" b="-554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6" name="Google Shape;282;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153</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39402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FF140440-9E5C-3141-9112-6B4B6E562D5B}"/>
                  </a:ext>
                </a:extLst>
              </p:cNvPr>
              <p:cNvGraphicFramePr>
                <a:graphicFrameLocks noGrp="1"/>
              </p:cNvGraphicFramePr>
              <p:nvPr>
                <p:extLst>
                  <p:ext uri="{D42A27DB-BD31-4B8C-83A1-F6EECF244321}">
                    <p14:modId xmlns:p14="http://schemas.microsoft.com/office/powerpoint/2010/main" val="1520607379"/>
                  </p:ext>
                </p:extLst>
              </p:nvPr>
            </p:nvGraphicFramePr>
            <p:xfrm>
              <a:off x="1011382" y="203283"/>
              <a:ext cx="10169236" cy="6261890"/>
            </p:xfrm>
            <a:graphic>
              <a:graphicData uri="http://schemas.openxmlformats.org/drawingml/2006/table">
                <a:tbl>
                  <a:tblPr firstRow="1" firstCol="1" bandRow="1"/>
                  <a:tblGrid>
                    <a:gridCol w="3430869">
                      <a:extLst>
                        <a:ext uri="{9D8B030D-6E8A-4147-A177-3AD203B41FA5}">
                          <a16:colId xmlns:a16="http://schemas.microsoft.com/office/drawing/2014/main" val="1252442695"/>
                        </a:ext>
                      </a:extLst>
                    </a:gridCol>
                    <a:gridCol w="3345168">
                      <a:extLst>
                        <a:ext uri="{9D8B030D-6E8A-4147-A177-3AD203B41FA5}">
                          <a16:colId xmlns:a16="http://schemas.microsoft.com/office/drawing/2014/main" val="1164143812"/>
                        </a:ext>
                      </a:extLst>
                    </a:gridCol>
                    <a:gridCol w="3393199">
                      <a:extLst>
                        <a:ext uri="{9D8B030D-6E8A-4147-A177-3AD203B41FA5}">
                          <a16:colId xmlns:a16="http://schemas.microsoft.com/office/drawing/2014/main" val="633785019"/>
                        </a:ext>
                      </a:extLst>
                    </a:gridCol>
                  </a:tblGrid>
                  <a:tr h="452275">
                    <a:tc>
                      <a:txBody>
                        <a:bodyPr/>
                        <a:lstStyle/>
                        <a:p>
                          <a:pPr marL="0" marR="34290" algn="ctr">
                            <a:spcBef>
                              <a:spcPts val="0"/>
                            </a:spcBef>
                            <a:spcAft>
                              <a:spcPts val="0"/>
                            </a:spcAft>
                          </a:pPr>
                          <a:r>
                            <a:rPr lang="en-US" sz="1800" b="1">
                              <a:effectLst/>
                              <a:latin typeface="Verdana" panose="020B0604030504040204" pitchFamily="34" charset="0"/>
                              <a:ea typeface="Times New Roman" panose="02020603050405020304" pitchFamily="18" charset="0"/>
                              <a:cs typeface="Cambria" panose="02040503050406030204" pitchFamily="18" charset="0"/>
                            </a:rPr>
                            <a:t>Equivalent Fraction</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5350" marR="553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r>
                            <a:rPr lang="en-US" sz="18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Scale Factor</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5350" marR="553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r>
                            <a:rPr lang="en-US" sz="18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Percent</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5350" marR="553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896372856"/>
                      </a:ext>
                    </a:extLst>
                  </a:tr>
                  <a:tr h="5529144">
                    <a:tc>
                      <a:txBody>
                        <a:bodyPr/>
                        <a:lstStyle/>
                        <a:p>
                          <a:pPr marL="0" marR="34290" algn="ctr">
                            <a:spcBef>
                              <a:spcPts val="0"/>
                            </a:spcBef>
                            <a:spcAft>
                              <a:spcPts val="0"/>
                            </a:spcAft>
                          </a:pPr>
                          <a:r>
                            <a:rPr lang="en-US" sz="1800" dirty="0">
                              <a:effectLst/>
                              <a:latin typeface="Verdana" panose="020B0604030504040204" pitchFamily="34" charset="0"/>
                              <a:ea typeface="Times New Roman" panose="02020603050405020304" pitchFamily="18" charset="0"/>
                              <a:cs typeface="Cambria" panose="02040503050406030204" pitchFamily="18" charset="0"/>
                            </a:rPr>
                            <a:t>The fraction of readers who want the new hero to fly is</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Cambria" panose="02040503050406030204" pitchFamily="18" charset="0"/>
                                </a:rPr>
                                <m:t> </m:t>
                              </m:r>
                              <m:f>
                                <m:fPr>
                                  <m:ctrlPr>
                                    <a:rPr lang="x-none" sz="1800" i="1">
                                      <a:effectLst/>
                                      <a:latin typeface="Cambria Math" panose="02040503050406030204" pitchFamily="18" charset="0"/>
                                      <a:ea typeface="Times New Roman" panose="02020603050405020304" pitchFamily="18" charset="0"/>
                                      <a:cs typeface="Cambria" panose="02040503050406030204" pitchFamily="18" charset="0"/>
                                    </a:rPr>
                                  </m:ctrlPr>
                                </m:fPr>
                                <m:num>
                                  <m:r>
                                    <a:rPr lang="en-US" sz="1800" i="1">
                                      <a:effectLst/>
                                      <a:latin typeface="Cambria Math" panose="02040503050406030204" pitchFamily="18" charset="0"/>
                                      <a:ea typeface="Times New Roman" panose="02020603050405020304" pitchFamily="18" charset="0"/>
                                      <a:cs typeface="Cambria" panose="02040503050406030204" pitchFamily="18" charset="0"/>
                                    </a:rPr>
                                    <m:t>20</m:t>
                                  </m:r>
                                </m:num>
                                <m:den>
                                  <m:r>
                                    <a:rPr lang="en-US" sz="1800" i="1">
                                      <a:effectLst/>
                                      <a:latin typeface="Cambria Math" panose="02040503050406030204" pitchFamily="18" charset="0"/>
                                      <a:ea typeface="Times New Roman" panose="02020603050405020304" pitchFamily="18" charset="0"/>
                                      <a:cs typeface="Cambria" panose="02040503050406030204" pitchFamily="18" charset="0"/>
                                    </a:rPr>
                                    <m:t>50</m:t>
                                  </m:r>
                                </m:den>
                              </m:f>
                              <m:r>
                                <a:rPr lang="en-US" sz="1800" i="1">
                                  <a:effectLst/>
                                  <a:latin typeface="Cambria Math" panose="02040503050406030204" pitchFamily="18" charset="0"/>
                                  <a:ea typeface="Times New Roman" panose="02020603050405020304" pitchFamily="18" charset="0"/>
                                  <a:cs typeface="Cambria" panose="02040503050406030204" pitchFamily="18" charset="0"/>
                                </a:rPr>
                                <m:t> .</m:t>
                              </m:r>
                            </m:oMath>
                          </a14:m>
                          <a:endParaRPr lang="x-none" sz="1800" dirty="0">
                            <a:effectLst/>
                            <a:latin typeface="Cambria" panose="02040503050406030204" pitchFamily="18" charset="0"/>
                            <a:ea typeface="Times New Roman" panose="02020603050405020304" pitchFamily="18" charset="0"/>
                            <a:cs typeface="Cambria" panose="02040503050406030204" pitchFamily="18" charset="0"/>
                          </a:endParaRPr>
                        </a:p>
                        <a:p>
                          <a:pPr marL="0" marR="34290">
                            <a:spcBef>
                              <a:spcPts val="0"/>
                            </a:spcBef>
                            <a:spcAft>
                              <a:spcPts val="0"/>
                            </a:spcAft>
                          </a:pPr>
                          <a:r>
                            <a:rPr lang="en-US" sz="1800" dirty="0">
                              <a:effectLst/>
                              <a:latin typeface="Verdana" panose="020B0604030504040204" pitchFamily="34" charset="0"/>
                              <a:ea typeface="Times New Roman" panose="02020603050405020304" pitchFamily="18" charset="0"/>
                              <a:cs typeface="Cambria" panose="02040503050406030204" pitchFamily="18" charset="0"/>
                            </a:rPr>
                            <a:t> </a:t>
                          </a:r>
                          <a:endParaRPr lang="x-none" sz="1800" dirty="0">
                            <a:effectLst/>
                            <a:latin typeface="Cambria" panose="02040503050406030204" pitchFamily="18" charset="0"/>
                            <a:ea typeface="Times New Roman" panose="02020603050405020304" pitchFamily="18" charset="0"/>
                            <a:cs typeface="Cambria" panose="02040503050406030204" pitchFamily="18" charset="0"/>
                          </a:endParaRPr>
                        </a:p>
                        <a:p>
                          <a:pPr marL="0" marR="34290" algn="ctr">
                            <a:spcBef>
                              <a:spcPts val="0"/>
                            </a:spcBef>
                            <a:spcAft>
                              <a:spcPts val="0"/>
                            </a:spcAft>
                          </a:pPr>
                          <a:r>
                            <a:rPr lang="en-US" sz="1800" dirty="0">
                              <a:effectLst/>
                              <a:latin typeface="Verdana" panose="020B0604030504040204" pitchFamily="34" charset="0"/>
                              <a:ea typeface="Times New Roman" panose="02020603050405020304" pitchFamily="18" charset="0"/>
                              <a:cs typeface="Cambria" panose="02040503050406030204" pitchFamily="18" charset="0"/>
                            </a:rPr>
                            <a:t>Write equivalent fractions until the denominator shows the population total (in this case </a:t>
                          </a:r>
                          <a:r>
                            <a:rPr lang="en-US" sz="1800" dirty="0">
                              <a:effectLst/>
                              <a:latin typeface="Cambria Math" panose="02040503050406030204" pitchFamily="18" charset="0"/>
                              <a:ea typeface="Times New Roman" panose="02020603050405020304" pitchFamily="18" charset="0"/>
                              <a:cs typeface="Cambria" panose="02040503050406030204" pitchFamily="18" charset="0"/>
                            </a:rPr>
                            <a:t>10,000</a:t>
                          </a:r>
                          <a:r>
                            <a:rPr lang="en-US" sz="1800" dirty="0">
                              <a:effectLst/>
                              <a:latin typeface="Verdana" panose="020B0604030504040204" pitchFamily="34" charset="0"/>
                              <a:ea typeface="Times New Roman" panose="02020603050405020304" pitchFamily="18" charset="0"/>
                              <a:cs typeface="Cambria" panose="02040503050406030204" pitchFamily="18" charset="0"/>
                            </a:rPr>
                            <a:t>).</a:t>
                          </a:r>
                          <a:endParaRPr lang="x-none" sz="1800" dirty="0">
                            <a:effectLst/>
                            <a:latin typeface="Cambria" panose="02040503050406030204" pitchFamily="18" charset="0"/>
                            <a:ea typeface="Times New Roman" panose="02020603050405020304" pitchFamily="18" charset="0"/>
                            <a:cs typeface="Cambria" panose="02040503050406030204" pitchFamily="18" charset="0"/>
                          </a:endParaRPr>
                        </a:p>
                        <a:p>
                          <a:pPr marL="0" marR="34290" algn="ctr">
                            <a:spcBef>
                              <a:spcPts val="0"/>
                            </a:spcBef>
                            <a:spcAft>
                              <a:spcPts val="0"/>
                            </a:spcAft>
                          </a:pPr>
                          <a:r>
                            <a:rPr lang="en-US" sz="1800" dirty="0">
                              <a:effectLst/>
                              <a:latin typeface="Verdana" panose="020B0604030504040204" pitchFamily="34" charset="0"/>
                              <a:ea typeface="Times New Roman" panose="02020603050405020304" pitchFamily="18" charset="0"/>
                              <a:cs typeface="Cambria" panose="02040503050406030204" pitchFamily="18" charset="0"/>
                            </a:rPr>
                            <a:t> </a:t>
                          </a:r>
                          <a:endParaRPr lang="x-none" sz="1800" dirty="0">
                            <a:effectLst/>
                            <a:latin typeface="Cambria" panose="02040503050406030204" pitchFamily="18" charset="0"/>
                            <a:ea typeface="Times New Roman" panose="02020603050405020304" pitchFamily="18" charset="0"/>
                            <a:cs typeface="Cambria" panose="02040503050406030204" pitchFamily="18" charset="0"/>
                          </a:endParaRPr>
                        </a:p>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1800" i="1">
                                        <a:effectLst/>
                                        <a:latin typeface="Cambria Math" panose="02040503050406030204" pitchFamily="18" charset="0"/>
                                        <a:ea typeface="Times New Roman" panose="02020603050405020304" pitchFamily="18" charset="0"/>
                                        <a:cs typeface="Cambria" panose="02040503050406030204" pitchFamily="18" charset="0"/>
                                      </a:rPr>
                                    </m:ctrlPr>
                                  </m:fPr>
                                  <m:num>
                                    <m:r>
                                      <a:rPr lang="en-US" sz="1800" i="1">
                                        <a:effectLst/>
                                        <a:latin typeface="Cambria Math" panose="02040503050406030204" pitchFamily="18" charset="0"/>
                                        <a:ea typeface="Times New Roman" panose="02020603050405020304" pitchFamily="18" charset="0"/>
                                        <a:cs typeface="Cambria" panose="02040503050406030204" pitchFamily="18" charset="0"/>
                                      </a:rPr>
                                      <m:t>20</m:t>
                                    </m:r>
                                  </m:num>
                                  <m:den>
                                    <m:r>
                                      <a:rPr lang="en-US" sz="1800" i="1">
                                        <a:effectLst/>
                                        <a:latin typeface="Cambria Math" panose="02040503050406030204" pitchFamily="18" charset="0"/>
                                        <a:ea typeface="Times New Roman" panose="02020603050405020304" pitchFamily="18" charset="0"/>
                                        <a:cs typeface="Cambria" panose="02040503050406030204" pitchFamily="18" charset="0"/>
                                      </a:rPr>
                                      <m:t>50</m:t>
                                    </m:r>
                                  </m:den>
                                </m:f>
                                <m:r>
                                  <a:rPr lang="en-US" sz="1800" i="1">
                                    <a:effectLst/>
                                    <a:latin typeface="Cambria Math" panose="02040503050406030204" pitchFamily="18" charset="0"/>
                                    <a:ea typeface="Times New Roman" panose="02020603050405020304" pitchFamily="18" charset="0"/>
                                    <a:cs typeface="Cambria" panose="02040503050406030204" pitchFamily="18" charset="0"/>
                                  </a:rPr>
                                  <m:t> = </m:t>
                                </m:r>
                                <m:f>
                                  <m:fPr>
                                    <m:ctrlPr>
                                      <a:rPr lang="x-none" sz="1800" i="1">
                                        <a:effectLst/>
                                        <a:latin typeface="Cambria Math" panose="02040503050406030204" pitchFamily="18" charset="0"/>
                                        <a:ea typeface="Times New Roman" panose="02020603050405020304" pitchFamily="18" charset="0"/>
                                        <a:cs typeface="Cambria" panose="02040503050406030204" pitchFamily="18" charset="0"/>
                                      </a:rPr>
                                    </m:ctrlPr>
                                  </m:fPr>
                                  <m:num>
                                    <m:r>
                                      <a:rPr lang="en-US" sz="1800" i="1">
                                        <a:effectLst/>
                                        <a:latin typeface="Cambria Math" panose="02040503050406030204" pitchFamily="18" charset="0"/>
                                        <a:ea typeface="Times New Roman" panose="02020603050405020304" pitchFamily="18" charset="0"/>
                                        <a:cs typeface="Cambria" panose="02040503050406030204" pitchFamily="18" charset="0"/>
                                      </a:rPr>
                                      <m:t>40</m:t>
                                    </m:r>
                                  </m:num>
                                  <m:den>
                                    <m:r>
                                      <a:rPr lang="en-US" sz="1800" i="1">
                                        <a:effectLst/>
                                        <a:latin typeface="Cambria Math" panose="02040503050406030204" pitchFamily="18" charset="0"/>
                                        <a:ea typeface="Times New Roman" panose="02020603050405020304" pitchFamily="18" charset="0"/>
                                        <a:cs typeface="Cambria" panose="02040503050406030204" pitchFamily="18" charset="0"/>
                                      </a:rPr>
                                      <m:t>100</m:t>
                                    </m:r>
                                  </m:den>
                                </m:f>
                                <m:r>
                                  <a:rPr lang="en-US" sz="1800" i="1">
                                    <a:effectLst/>
                                    <a:latin typeface="Cambria Math" panose="02040503050406030204" pitchFamily="18" charset="0"/>
                                    <a:ea typeface="Times New Roman" panose="02020603050405020304" pitchFamily="18" charset="0"/>
                                    <a:cs typeface="Cambria" panose="02040503050406030204" pitchFamily="18" charset="0"/>
                                  </a:rPr>
                                  <m:t> = </m:t>
                                </m:r>
                              </m:oMath>
                            </m:oMathPara>
                          </a14:m>
                          <a:endParaRPr lang="x-none" sz="1800" dirty="0">
                            <a:effectLst/>
                            <a:latin typeface="Cambria" panose="02040503050406030204" pitchFamily="18" charset="0"/>
                            <a:ea typeface="Times New Roman" panose="02020603050405020304" pitchFamily="18" charset="0"/>
                            <a:cs typeface="Cambria" panose="02040503050406030204" pitchFamily="18" charset="0"/>
                          </a:endParaRPr>
                        </a:p>
                        <a:p>
                          <a:pPr marL="0" marR="34290" algn="ctr">
                            <a:spcBef>
                              <a:spcPts val="0"/>
                            </a:spcBef>
                            <a:spcAft>
                              <a:spcPts val="0"/>
                            </a:spcAft>
                          </a:pPr>
                          <a:br>
                            <a:rPr lang="x-none" sz="1800" dirty="0">
                              <a:effectLst/>
                              <a:latin typeface="Cambria Math" panose="02040503050406030204" pitchFamily="18" charset="0"/>
                              <a:ea typeface="Times New Roman" panose="02020603050405020304" pitchFamily="18" charset="0"/>
                              <a:cs typeface="Cambria" panose="02040503050406030204" pitchFamily="18" charset="0"/>
                            </a:rPr>
                          </a:b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Times New Roman" panose="02020603050405020304" pitchFamily="18" charset="0"/>
                                    <a:cs typeface="Cambria" panose="02040503050406030204" pitchFamily="18" charset="0"/>
                                  </a:rPr>
                                  <m:t> </m:t>
                                </m:r>
                                <m:f>
                                  <m:fPr>
                                    <m:ctrlPr>
                                      <a:rPr lang="x-none" sz="1800" i="1">
                                        <a:effectLst/>
                                        <a:latin typeface="Cambria Math" panose="02040503050406030204" pitchFamily="18" charset="0"/>
                                        <a:ea typeface="Times New Roman" panose="02020603050405020304" pitchFamily="18" charset="0"/>
                                        <a:cs typeface="Cambria" panose="02040503050406030204" pitchFamily="18" charset="0"/>
                                      </a:rPr>
                                    </m:ctrlPr>
                                  </m:fPr>
                                  <m:num>
                                    <m:r>
                                      <a:rPr lang="en-US" sz="1800" i="1">
                                        <a:effectLst/>
                                        <a:latin typeface="Cambria Math" panose="02040503050406030204" pitchFamily="18" charset="0"/>
                                        <a:ea typeface="Times New Roman" panose="02020603050405020304" pitchFamily="18" charset="0"/>
                                        <a:cs typeface="Cambria" panose="02040503050406030204" pitchFamily="18" charset="0"/>
                                      </a:rPr>
                                      <m:t>400</m:t>
                                    </m:r>
                                  </m:num>
                                  <m:den>
                                    <m:r>
                                      <a:rPr lang="en-US" sz="1800" i="1">
                                        <a:effectLst/>
                                        <a:latin typeface="Cambria Math" panose="02040503050406030204" pitchFamily="18" charset="0"/>
                                        <a:ea typeface="Times New Roman" panose="02020603050405020304" pitchFamily="18" charset="0"/>
                                        <a:cs typeface="Cambria" panose="02040503050406030204" pitchFamily="18" charset="0"/>
                                      </a:rPr>
                                      <m:t>1,000</m:t>
                                    </m:r>
                                  </m:den>
                                </m:f>
                                <m:r>
                                  <a:rPr lang="en-US" sz="1800" i="1">
                                    <a:effectLst/>
                                    <a:latin typeface="Cambria Math" panose="02040503050406030204" pitchFamily="18" charset="0"/>
                                    <a:ea typeface="Times New Roman" panose="02020603050405020304" pitchFamily="18" charset="0"/>
                                    <a:cs typeface="Cambria" panose="02040503050406030204" pitchFamily="18" charset="0"/>
                                  </a:rPr>
                                  <m:t>= </m:t>
                                </m:r>
                                <m:f>
                                  <m:fPr>
                                    <m:ctrlPr>
                                      <a:rPr lang="x-none" sz="1800" i="1">
                                        <a:effectLst/>
                                        <a:latin typeface="Cambria Math" panose="02040503050406030204" pitchFamily="18" charset="0"/>
                                        <a:ea typeface="Times New Roman" panose="02020603050405020304" pitchFamily="18" charset="0"/>
                                        <a:cs typeface="Cambria" panose="02040503050406030204" pitchFamily="18" charset="0"/>
                                      </a:rPr>
                                    </m:ctrlPr>
                                  </m:fPr>
                                  <m:num>
                                    <m:r>
                                      <a:rPr lang="en-US" sz="1800" i="1">
                                        <a:effectLst/>
                                        <a:latin typeface="Cambria Math" panose="02040503050406030204" pitchFamily="18" charset="0"/>
                                        <a:ea typeface="Times New Roman" panose="02020603050405020304" pitchFamily="18" charset="0"/>
                                        <a:cs typeface="Cambria" panose="02040503050406030204" pitchFamily="18" charset="0"/>
                                      </a:rPr>
                                      <m:t>4,000</m:t>
                                    </m:r>
                                  </m:num>
                                  <m:den>
                                    <m:r>
                                      <a:rPr lang="en-US" sz="1800" i="1">
                                        <a:effectLst/>
                                        <a:latin typeface="Cambria Math" panose="02040503050406030204" pitchFamily="18" charset="0"/>
                                        <a:ea typeface="Times New Roman" panose="02020603050405020304" pitchFamily="18" charset="0"/>
                                        <a:cs typeface="Cambria" panose="02040503050406030204" pitchFamily="18" charset="0"/>
                                      </a:rPr>
                                      <m:t>10,000</m:t>
                                    </m:r>
                                  </m:den>
                                </m:f>
                              </m:oMath>
                            </m:oMathPara>
                          </a14:m>
                          <a:endParaRPr lang="x-none" sz="1800" dirty="0">
                            <a:effectLst/>
                            <a:latin typeface="Cambria" panose="02040503050406030204" pitchFamily="18" charset="0"/>
                            <a:ea typeface="Times New Roman" panose="02020603050405020304" pitchFamily="18" charset="0"/>
                            <a:cs typeface="Cambria" panose="02040503050406030204" pitchFamily="18" charset="0"/>
                          </a:endParaRPr>
                        </a:p>
                      </a:txBody>
                      <a:tcPr marL="55350" marR="55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0"/>
                            </a:spcBef>
                            <a:spcAft>
                              <a:spcPts val="0"/>
                            </a:spcAft>
                          </a:pPr>
                          <a:r>
                            <a:rPr lang="en-US" sz="1800">
                              <a:effectLst/>
                              <a:latin typeface="Verdana" panose="020B0604030504040204" pitchFamily="34" charset="0"/>
                              <a:ea typeface="Times New Roman" panose="02020603050405020304" pitchFamily="18" charset="0"/>
                              <a:cs typeface="Cambria" panose="02040503050406030204" pitchFamily="18" charset="0"/>
                            </a:rPr>
                            <a:t>The fraction of readers who want the new hero to fly is </a:t>
                          </a:r>
                          <a14:m>
                            <m:oMath xmlns:m="http://schemas.openxmlformats.org/officeDocument/2006/math">
                              <m:f>
                                <m:fPr>
                                  <m:ctrlPr>
                                    <a:rPr lang="x-none" sz="1800" i="1">
                                      <a:effectLst/>
                                      <a:latin typeface="Cambria Math" panose="02040503050406030204" pitchFamily="18" charset="0"/>
                                      <a:ea typeface="Times New Roman" panose="02020603050405020304" pitchFamily="18" charset="0"/>
                                      <a:cs typeface="Cambria" panose="02040503050406030204" pitchFamily="18" charset="0"/>
                                    </a:rPr>
                                  </m:ctrlPr>
                                </m:fPr>
                                <m:num>
                                  <m:r>
                                    <a:rPr lang="en-US" sz="1800" i="1">
                                      <a:effectLst/>
                                      <a:latin typeface="Cambria Math" panose="02040503050406030204" pitchFamily="18" charset="0"/>
                                      <a:ea typeface="Times New Roman" panose="02020603050405020304" pitchFamily="18" charset="0"/>
                                      <a:cs typeface="Cambria" panose="02040503050406030204" pitchFamily="18" charset="0"/>
                                    </a:rPr>
                                    <m:t>20</m:t>
                                  </m:r>
                                </m:num>
                                <m:den>
                                  <m:r>
                                    <a:rPr lang="en-US" sz="1800" i="1">
                                      <a:effectLst/>
                                      <a:latin typeface="Cambria Math" panose="02040503050406030204" pitchFamily="18" charset="0"/>
                                      <a:ea typeface="Times New Roman" panose="02020603050405020304" pitchFamily="18" charset="0"/>
                                      <a:cs typeface="Cambria" panose="02040503050406030204" pitchFamily="18" charset="0"/>
                                    </a:rPr>
                                    <m:t>50</m:t>
                                  </m:r>
                                </m:den>
                              </m:f>
                              <m:r>
                                <a:rPr lang="en-US" sz="1800" i="1">
                                  <a:effectLst/>
                                  <a:latin typeface="Cambria Math" panose="02040503050406030204" pitchFamily="18" charset="0"/>
                                  <a:ea typeface="Times New Roman" panose="02020603050405020304" pitchFamily="18" charset="0"/>
                                  <a:cs typeface="Cambria" panose="02040503050406030204" pitchFamily="18" charset="0"/>
                                </a:rPr>
                                <m:t> .</m:t>
                              </m:r>
                            </m:oMath>
                          </a14:m>
                          <a:endParaRPr lang="x-none" sz="1800">
                            <a:effectLst/>
                            <a:latin typeface="Cambria" panose="02040503050406030204" pitchFamily="18" charset="0"/>
                            <a:ea typeface="Times New Roman" panose="02020603050405020304" pitchFamily="18" charset="0"/>
                            <a:cs typeface="Cambria" panose="02040503050406030204" pitchFamily="18" charset="0"/>
                          </a:endParaRPr>
                        </a:p>
                        <a:p>
                          <a:pPr marL="0" marR="34290" algn="ctr">
                            <a:spcBef>
                              <a:spcPts val="0"/>
                            </a:spcBef>
                            <a:spcAft>
                              <a:spcPts val="0"/>
                            </a:spcAft>
                          </a:pPr>
                          <a:r>
                            <a:rPr lang="en-US" sz="1800">
                              <a:effectLst/>
                              <a:latin typeface="Verdana" panose="020B0604030504040204" pitchFamily="34" charset="0"/>
                              <a:ea typeface="Times New Roman" panose="02020603050405020304" pitchFamily="18" charset="0"/>
                              <a:cs typeface="Cambria" panose="02040503050406030204" pitchFamily="18" charset="0"/>
                            </a:rPr>
                            <a:t>Divide the population by the sample to find the scale factor needed. Then, multiply both the numerator and denominator by this scale factor to write an equivalent fraction.</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p>
                          <a:pPr marL="0" marR="34290" algn="ctr">
                            <a:spcBef>
                              <a:spcPts val="0"/>
                            </a:spcBef>
                            <a:spcAft>
                              <a:spcPts val="0"/>
                            </a:spcAft>
                          </a:pPr>
                          <a:r>
                            <a:rPr lang="en-US" sz="1800">
                              <a:effectLst/>
                              <a:latin typeface="Verdana" panose="020B0604030504040204" pitchFamily="34" charset="0"/>
                              <a:ea typeface="Times New Roman" panose="02020603050405020304" pitchFamily="18" charset="0"/>
                              <a:cs typeface="Cambria" panose="02040503050406030204" pitchFamily="18" charset="0"/>
                            </a:rPr>
                            <a:t> </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p>
                          <a:pPr marL="0" marR="34290" algn="ctr">
                            <a:spcBef>
                              <a:spcPts val="0"/>
                            </a:spcBef>
                            <a:spcAft>
                              <a:spcPts val="0"/>
                            </a:spcAft>
                          </a:pPr>
                          <a14:m>
                            <m:oMath xmlns:m="http://schemas.openxmlformats.org/officeDocument/2006/math">
                              <m:r>
                                <a:rPr lang="en-US" sz="1800" i="1">
                                  <a:effectLst/>
                                  <a:latin typeface="Cambria Math" panose="02040503050406030204" pitchFamily="18" charset="0"/>
                                  <a:ea typeface="Times New Roman" panose="02020603050405020304" pitchFamily="18" charset="0"/>
                                  <a:cs typeface="Cambria" panose="02040503050406030204" pitchFamily="18" charset="0"/>
                                </a:rPr>
                                <m:t>10,000 ÷ 50 = 200</m:t>
                              </m:r>
                            </m:oMath>
                          </a14:m>
                          <a:r>
                            <a:rPr lang="en-US" sz="1800">
                              <a:effectLst/>
                              <a:latin typeface="Verdana" panose="020B0604030504040204" pitchFamily="34" charset="0"/>
                              <a:ea typeface="Times New Roman" panose="02020603050405020304" pitchFamily="18" charset="0"/>
                              <a:cs typeface="Cambria" panose="02040503050406030204" pitchFamily="18" charset="0"/>
                            </a:rPr>
                            <a:t> </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p>
                          <a:pPr marL="0" marR="34290" algn="ctr">
                            <a:spcBef>
                              <a:spcPts val="0"/>
                            </a:spcBef>
                            <a:spcAft>
                              <a:spcPts val="0"/>
                            </a:spcAft>
                          </a:pPr>
                          <a:br>
                            <a:rPr lang="en-US" sz="1800">
                              <a:effectLst/>
                              <a:latin typeface="Verdana" panose="020B0604030504040204" pitchFamily="34" charset="0"/>
                              <a:ea typeface="Times New Roman" panose="02020603050405020304" pitchFamily="18" charset="0"/>
                              <a:cs typeface="Cambria" panose="02040503050406030204" pitchFamily="18" charset="0"/>
                            </a:rPr>
                          </a:br>
                          <a14:m>
                            <m:oMathPara xmlns:m="http://schemas.openxmlformats.org/officeDocument/2006/math">
                              <m:oMathParaPr>
                                <m:jc m:val="centerGroup"/>
                              </m:oMathParaPr>
                              <m:oMath xmlns:m="http://schemas.openxmlformats.org/officeDocument/2006/math">
                                <m:f>
                                  <m:fPr>
                                    <m:ctrlPr>
                                      <a:rPr lang="x-none" sz="1800" i="1">
                                        <a:effectLst/>
                                        <a:latin typeface="Cambria Math" panose="02040503050406030204" pitchFamily="18" charset="0"/>
                                        <a:ea typeface="Times New Roman" panose="02020603050405020304" pitchFamily="18" charset="0"/>
                                        <a:cs typeface="Cambria" panose="02040503050406030204" pitchFamily="18" charset="0"/>
                                      </a:rPr>
                                    </m:ctrlPr>
                                  </m:fPr>
                                  <m:num>
                                    <m:r>
                                      <a:rPr lang="en-US" sz="1800" i="1">
                                        <a:effectLst/>
                                        <a:latin typeface="Cambria Math" panose="02040503050406030204" pitchFamily="18" charset="0"/>
                                        <a:ea typeface="Times New Roman" panose="02020603050405020304" pitchFamily="18" charset="0"/>
                                        <a:cs typeface="Cambria" panose="02040503050406030204" pitchFamily="18" charset="0"/>
                                      </a:rPr>
                                      <m:t>20</m:t>
                                    </m:r>
                                  </m:num>
                                  <m:den>
                                    <m:r>
                                      <a:rPr lang="en-US" sz="1800" i="1">
                                        <a:effectLst/>
                                        <a:latin typeface="Cambria Math" panose="02040503050406030204" pitchFamily="18" charset="0"/>
                                        <a:ea typeface="Times New Roman" panose="02020603050405020304" pitchFamily="18" charset="0"/>
                                        <a:cs typeface="Cambria" panose="02040503050406030204" pitchFamily="18" charset="0"/>
                                      </a:rPr>
                                      <m:t>50</m:t>
                                    </m:r>
                                  </m:den>
                                </m:f>
                                <m:r>
                                  <a:rPr lang="en-US" sz="1800" i="1">
                                    <a:effectLst/>
                                    <a:latin typeface="Cambria Math" panose="02040503050406030204" pitchFamily="18" charset="0"/>
                                    <a:ea typeface="Times New Roman" panose="02020603050405020304" pitchFamily="18" charset="0"/>
                                    <a:cs typeface="Cambria" panose="02040503050406030204" pitchFamily="18" charset="0"/>
                                  </a:rPr>
                                  <m:t> × </m:t>
                                </m:r>
                                <m:f>
                                  <m:fPr>
                                    <m:ctrlPr>
                                      <a:rPr lang="x-none" sz="1800" i="1">
                                        <a:effectLst/>
                                        <a:latin typeface="Cambria Math" panose="02040503050406030204" pitchFamily="18" charset="0"/>
                                        <a:ea typeface="Times New Roman" panose="02020603050405020304" pitchFamily="18" charset="0"/>
                                        <a:cs typeface="Cambria" panose="02040503050406030204" pitchFamily="18" charset="0"/>
                                      </a:rPr>
                                    </m:ctrlPr>
                                  </m:fPr>
                                  <m:num>
                                    <m:r>
                                      <a:rPr lang="en-US" sz="1800" i="1">
                                        <a:effectLst/>
                                        <a:latin typeface="Cambria Math" panose="02040503050406030204" pitchFamily="18" charset="0"/>
                                        <a:ea typeface="Times New Roman" panose="02020603050405020304" pitchFamily="18" charset="0"/>
                                        <a:cs typeface="Cambria" panose="02040503050406030204" pitchFamily="18" charset="0"/>
                                      </a:rPr>
                                      <m:t>200</m:t>
                                    </m:r>
                                  </m:num>
                                  <m:den>
                                    <m:r>
                                      <a:rPr lang="en-US" sz="1800" i="1">
                                        <a:effectLst/>
                                        <a:latin typeface="Cambria Math" panose="02040503050406030204" pitchFamily="18" charset="0"/>
                                        <a:ea typeface="Times New Roman" panose="02020603050405020304" pitchFamily="18" charset="0"/>
                                        <a:cs typeface="Cambria" panose="02040503050406030204" pitchFamily="18" charset="0"/>
                                      </a:rPr>
                                      <m:t>200</m:t>
                                    </m:r>
                                  </m:den>
                                </m:f>
                                <m:r>
                                  <a:rPr lang="en-US" sz="1800" i="1">
                                    <a:effectLst/>
                                    <a:latin typeface="Cambria Math" panose="02040503050406030204" pitchFamily="18" charset="0"/>
                                    <a:ea typeface="Times New Roman" panose="02020603050405020304" pitchFamily="18" charset="0"/>
                                    <a:cs typeface="Cambria" panose="02040503050406030204" pitchFamily="18" charset="0"/>
                                  </a:rPr>
                                  <m:t> = </m:t>
                                </m:r>
                                <m:f>
                                  <m:fPr>
                                    <m:ctrlPr>
                                      <a:rPr lang="x-none" sz="1800" i="1">
                                        <a:effectLst/>
                                        <a:latin typeface="Cambria Math" panose="02040503050406030204" pitchFamily="18" charset="0"/>
                                        <a:ea typeface="Times New Roman" panose="02020603050405020304" pitchFamily="18" charset="0"/>
                                        <a:cs typeface="Cambria" panose="02040503050406030204" pitchFamily="18" charset="0"/>
                                      </a:rPr>
                                    </m:ctrlPr>
                                  </m:fPr>
                                  <m:num>
                                    <m:r>
                                      <a:rPr lang="en-US" sz="1800" i="1">
                                        <a:effectLst/>
                                        <a:latin typeface="Cambria Math" panose="02040503050406030204" pitchFamily="18" charset="0"/>
                                        <a:ea typeface="Times New Roman" panose="02020603050405020304" pitchFamily="18" charset="0"/>
                                        <a:cs typeface="Cambria" panose="02040503050406030204" pitchFamily="18" charset="0"/>
                                      </a:rPr>
                                      <m:t>4,000</m:t>
                                    </m:r>
                                  </m:num>
                                  <m:den>
                                    <m:r>
                                      <a:rPr lang="en-US" sz="1800" i="1">
                                        <a:effectLst/>
                                        <a:latin typeface="Cambria Math" panose="02040503050406030204" pitchFamily="18" charset="0"/>
                                        <a:ea typeface="Times New Roman" panose="02020603050405020304" pitchFamily="18" charset="0"/>
                                        <a:cs typeface="Cambria" panose="02040503050406030204" pitchFamily="18" charset="0"/>
                                      </a:rPr>
                                      <m:t>10,000</m:t>
                                    </m:r>
                                  </m:den>
                                </m:f>
                              </m:oMath>
                            </m:oMathPara>
                          </a14:m>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5350" marR="55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0"/>
                            </a:spcBef>
                            <a:spcAft>
                              <a:spcPts val="0"/>
                            </a:spcAft>
                          </a:pPr>
                          <a:r>
                            <a:rPr lang="en-US" sz="1800" dirty="0">
                              <a:effectLst/>
                              <a:latin typeface="Verdana" panose="020B0604030504040204" pitchFamily="34" charset="0"/>
                              <a:ea typeface="Times New Roman" panose="02020603050405020304" pitchFamily="18" charset="0"/>
                              <a:cs typeface="Cambria" panose="02040503050406030204" pitchFamily="18" charset="0"/>
                            </a:rPr>
                            <a:t>The fraction of readers who want the new hero to fly is </a:t>
                          </a:r>
                          <a14:m>
                            <m:oMath xmlns:m="http://schemas.openxmlformats.org/officeDocument/2006/math">
                              <m:f>
                                <m:fPr>
                                  <m:ctrlPr>
                                    <a:rPr lang="x-none" sz="1800" i="1">
                                      <a:effectLst/>
                                      <a:latin typeface="Cambria Math" panose="02040503050406030204" pitchFamily="18" charset="0"/>
                                      <a:ea typeface="Times New Roman" panose="02020603050405020304" pitchFamily="18" charset="0"/>
                                      <a:cs typeface="Cambria" panose="02040503050406030204" pitchFamily="18" charset="0"/>
                                    </a:rPr>
                                  </m:ctrlPr>
                                </m:fPr>
                                <m:num>
                                  <m:r>
                                    <a:rPr lang="en-US" sz="1800" i="1">
                                      <a:effectLst/>
                                      <a:latin typeface="Cambria Math" panose="02040503050406030204" pitchFamily="18" charset="0"/>
                                      <a:ea typeface="Times New Roman" panose="02020603050405020304" pitchFamily="18" charset="0"/>
                                      <a:cs typeface="Cambria" panose="02040503050406030204" pitchFamily="18" charset="0"/>
                                    </a:rPr>
                                    <m:t>20</m:t>
                                  </m:r>
                                </m:num>
                                <m:den>
                                  <m:r>
                                    <a:rPr lang="en-US" sz="1800" i="1">
                                      <a:effectLst/>
                                      <a:latin typeface="Cambria Math" panose="02040503050406030204" pitchFamily="18" charset="0"/>
                                      <a:ea typeface="Times New Roman" panose="02020603050405020304" pitchFamily="18" charset="0"/>
                                      <a:cs typeface="Cambria" panose="02040503050406030204" pitchFamily="18" charset="0"/>
                                    </a:rPr>
                                    <m:t>50</m:t>
                                  </m:r>
                                </m:den>
                              </m:f>
                              <m:r>
                                <a:rPr lang="en-US" sz="1800" i="1">
                                  <a:effectLst/>
                                  <a:latin typeface="Cambria Math" panose="02040503050406030204" pitchFamily="18" charset="0"/>
                                  <a:ea typeface="Times New Roman" panose="02020603050405020304" pitchFamily="18" charset="0"/>
                                  <a:cs typeface="Cambria" panose="02040503050406030204" pitchFamily="18" charset="0"/>
                                </a:rPr>
                                <m:t> .</m:t>
                              </m:r>
                            </m:oMath>
                          </a14:m>
                          <a:br>
                            <a:rPr lang="en-US" sz="1800" dirty="0">
                              <a:effectLst/>
                              <a:latin typeface="Verdana" panose="020B0604030504040204" pitchFamily="34" charset="0"/>
                              <a:ea typeface="Times New Roman" panose="02020603050405020304" pitchFamily="18" charset="0"/>
                              <a:cs typeface="Cambria" panose="02040503050406030204" pitchFamily="18" charset="0"/>
                            </a:rPr>
                          </a:br>
                          <a:endParaRPr lang="x-none" sz="1800" dirty="0">
                            <a:effectLst/>
                            <a:latin typeface="Cambria" panose="02040503050406030204" pitchFamily="18" charset="0"/>
                            <a:ea typeface="Times New Roman" panose="02020603050405020304" pitchFamily="18" charset="0"/>
                            <a:cs typeface="Cambria" panose="02040503050406030204" pitchFamily="18" charset="0"/>
                          </a:endParaRPr>
                        </a:p>
                        <a:p>
                          <a:pPr marL="0" marR="34290" algn="ctr">
                            <a:spcBef>
                              <a:spcPts val="0"/>
                            </a:spcBef>
                            <a:spcAft>
                              <a:spcPts val="0"/>
                            </a:spcAft>
                          </a:pPr>
                          <a:r>
                            <a:rPr lang="en-US" sz="1800" dirty="0">
                              <a:effectLst/>
                              <a:latin typeface="Verdana" panose="020B0604030504040204" pitchFamily="34" charset="0"/>
                              <a:ea typeface="Times New Roman" panose="02020603050405020304" pitchFamily="18" charset="0"/>
                              <a:cs typeface="Cambria" panose="02040503050406030204" pitchFamily="18" charset="0"/>
                            </a:rPr>
                            <a:t>Find the percent of the sample for the given condition. Then multiply the population by the percent.</a:t>
                          </a:r>
                          <a:endParaRPr lang="x-none" sz="1800" dirty="0">
                            <a:effectLst/>
                            <a:latin typeface="Cambria" panose="02040503050406030204" pitchFamily="18" charset="0"/>
                            <a:ea typeface="Times New Roman" panose="02020603050405020304" pitchFamily="18" charset="0"/>
                            <a:cs typeface="Cambria" panose="02040503050406030204" pitchFamily="18" charset="0"/>
                          </a:endParaRPr>
                        </a:p>
                        <a:p>
                          <a:pPr marL="0" marR="34290" algn="ctr">
                            <a:spcBef>
                              <a:spcPts val="0"/>
                            </a:spcBef>
                            <a:spcAft>
                              <a:spcPts val="0"/>
                            </a:spcAft>
                          </a:pPr>
                          <a:r>
                            <a:rPr lang="en-US" sz="1800" dirty="0">
                              <a:effectLst/>
                              <a:latin typeface="Verdana" panose="020B0604030504040204" pitchFamily="34" charset="0"/>
                              <a:ea typeface="Times New Roman" panose="02020603050405020304" pitchFamily="18" charset="0"/>
                              <a:cs typeface="Cambria" panose="02040503050406030204" pitchFamily="18" charset="0"/>
                            </a:rPr>
                            <a:t> </a:t>
                          </a:r>
                          <a:endParaRPr lang="x-none" sz="1800" dirty="0">
                            <a:effectLst/>
                            <a:latin typeface="Cambria" panose="02040503050406030204" pitchFamily="18" charset="0"/>
                            <a:ea typeface="Times New Roman" panose="02020603050405020304" pitchFamily="18" charset="0"/>
                            <a:cs typeface="Cambria" panose="02040503050406030204" pitchFamily="18" charset="0"/>
                          </a:endParaRPr>
                        </a:p>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Times New Roman" panose="02020603050405020304" pitchFamily="18" charset="0"/>
                                    <a:cs typeface="Cambria" panose="02040503050406030204" pitchFamily="18" charset="0"/>
                                  </a:rPr>
                                  <m:t>20÷50=</m:t>
                                </m:r>
                              </m:oMath>
                            </m:oMathPara>
                          </a14:m>
                          <a:endParaRPr lang="x-none" sz="1800" dirty="0">
                            <a:effectLst/>
                            <a:latin typeface="Cambria" panose="02040503050406030204" pitchFamily="18" charset="0"/>
                            <a:ea typeface="Times New Roman" panose="02020603050405020304" pitchFamily="18" charset="0"/>
                            <a:cs typeface="Cambria" panose="02040503050406030204" pitchFamily="18" charset="0"/>
                          </a:endParaRPr>
                        </a:p>
                        <a:p>
                          <a:pPr marL="0" marR="34290" algn="ctr">
                            <a:spcBef>
                              <a:spcPts val="0"/>
                            </a:spcBef>
                            <a:spcAft>
                              <a:spcPts val="0"/>
                            </a:spcAft>
                          </a:pPr>
                          <a14:m>
                            <m:oMath xmlns:m="http://schemas.openxmlformats.org/officeDocument/2006/math">
                              <m:r>
                                <a:rPr lang="en-US" sz="1800" i="1">
                                  <a:effectLst/>
                                  <a:latin typeface="Cambria Math" panose="02040503050406030204" pitchFamily="18" charset="0"/>
                                  <a:ea typeface="Times New Roman" panose="02020603050405020304" pitchFamily="18" charset="0"/>
                                  <a:cs typeface="Cambria" panose="02040503050406030204" pitchFamily="18" charset="0"/>
                                </a:rPr>
                                <m:t>0.4</m:t>
                              </m:r>
                            </m:oMath>
                          </a14:m>
                          <a:r>
                            <a:rPr lang="en-US" sz="1800" dirty="0">
                              <a:effectLst/>
                              <a:latin typeface="Verdana" panose="020B0604030504040204" pitchFamily="34" charset="0"/>
                              <a:ea typeface="Times New Roman" panose="02020603050405020304" pitchFamily="18" charset="0"/>
                              <a:cs typeface="Cambria" panose="02040503050406030204" pitchFamily="18" charset="0"/>
                            </a:rPr>
                            <a:t> or </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Cambria" panose="02040503050406030204" pitchFamily="18" charset="0"/>
                                </a:rPr>
                                <m:t>40%</m:t>
                              </m:r>
                            </m:oMath>
                          </a14:m>
                          <a:endParaRPr lang="x-none" sz="1800" dirty="0">
                            <a:effectLst/>
                            <a:latin typeface="Cambria" panose="02040503050406030204" pitchFamily="18" charset="0"/>
                            <a:ea typeface="Times New Roman" panose="02020603050405020304" pitchFamily="18" charset="0"/>
                            <a:cs typeface="Cambria" panose="02040503050406030204" pitchFamily="18" charset="0"/>
                          </a:endParaRPr>
                        </a:p>
                        <a:p>
                          <a:pPr marL="0" marR="34290" algn="ctr">
                            <a:spcBef>
                              <a:spcPts val="0"/>
                            </a:spcBef>
                            <a:spcAft>
                              <a:spcPts val="0"/>
                            </a:spcAft>
                          </a:pPr>
                          <a:r>
                            <a:rPr lang="en-US" sz="1800" dirty="0">
                              <a:effectLst/>
                              <a:latin typeface="Verdana" panose="020B0604030504040204" pitchFamily="34" charset="0"/>
                              <a:ea typeface="Times New Roman" panose="02020603050405020304" pitchFamily="18" charset="0"/>
                              <a:cs typeface="Cambria" panose="02040503050406030204" pitchFamily="18" charset="0"/>
                            </a:rPr>
                            <a:t> </a:t>
                          </a:r>
                          <a:endParaRPr lang="x-none" sz="1800" dirty="0">
                            <a:effectLst/>
                            <a:latin typeface="Cambria" panose="02040503050406030204" pitchFamily="18" charset="0"/>
                            <a:ea typeface="Times New Roman" panose="02020603050405020304" pitchFamily="18" charset="0"/>
                            <a:cs typeface="Cambria" panose="02040503050406030204" pitchFamily="18" charset="0"/>
                          </a:endParaRPr>
                        </a:p>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Times New Roman" panose="02020603050405020304" pitchFamily="18" charset="0"/>
                                    <a:cs typeface="Cambria" panose="02040503050406030204" pitchFamily="18" charset="0"/>
                                  </a:rPr>
                                  <m:t>10,000×0.4=4,000</m:t>
                                </m:r>
                              </m:oMath>
                            </m:oMathPara>
                          </a14:m>
                          <a:endParaRPr lang="x-none" sz="1800" dirty="0">
                            <a:effectLst/>
                            <a:latin typeface="Cambria" panose="02040503050406030204" pitchFamily="18" charset="0"/>
                            <a:ea typeface="Times New Roman" panose="02020603050405020304" pitchFamily="18" charset="0"/>
                            <a:cs typeface="Cambria" panose="02040503050406030204" pitchFamily="18" charset="0"/>
                          </a:endParaRPr>
                        </a:p>
                        <a:p>
                          <a:pPr marL="0" marR="34290" algn="ctr">
                            <a:spcBef>
                              <a:spcPts val="0"/>
                            </a:spcBef>
                            <a:spcAft>
                              <a:spcPts val="0"/>
                            </a:spcAft>
                          </a:pPr>
                          <a:br>
                            <a:rPr lang="en-US" sz="1800" dirty="0">
                              <a:effectLst/>
                              <a:latin typeface="Verdana" panose="020B0604030504040204" pitchFamily="34" charset="0"/>
                              <a:ea typeface="Times New Roman" panose="02020603050405020304" pitchFamily="18" charset="0"/>
                              <a:cs typeface="Cambria" panose="02040503050406030204" pitchFamily="18" charset="0"/>
                            </a:rPr>
                          </a:br>
                          <a:r>
                            <a:rPr lang="en-US" sz="1800" dirty="0">
                              <a:effectLst/>
                              <a:latin typeface="Verdana" panose="020B0604030504040204" pitchFamily="34" charset="0"/>
                              <a:ea typeface="Times New Roman" panose="02020603050405020304" pitchFamily="18" charset="0"/>
                              <a:cs typeface="Cambria" panose="02040503050406030204" pitchFamily="18" charset="0"/>
                            </a:rPr>
                            <a:t>OR</a:t>
                          </a:r>
                          <a:br>
                            <a:rPr lang="en-US" sz="1800" dirty="0">
                              <a:effectLst/>
                              <a:latin typeface="Verdana" panose="020B0604030504040204" pitchFamily="34" charset="0"/>
                              <a:ea typeface="Times New Roman" panose="02020603050405020304" pitchFamily="18" charset="0"/>
                              <a:cs typeface="Cambria" panose="02040503050406030204" pitchFamily="18" charset="0"/>
                            </a:rPr>
                          </a:br>
                          <a:endParaRPr lang="x-none" sz="1800" dirty="0">
                            <a:effectLst/>
                            <a:latin typeface="Cambria" panose="02040503050406030204" pitchFamily="18" charset="0"/>
                            <a:ea typeface="Times New Roman" panose="02020603050405020304" pitchFamily="18" charset="0"/>
                            <a:cs typeface="Cambria" panose="02040503050406030204" pitchFamily="18" charset="0"/>
                          </a:endParaRPr>
                        </a:p>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Times New Roman" panose="02020603050405020304" pitchFamily="18" charset="0"/>
                                    <a:cs typeface="Cambria" panose="02040503050406030204" pitchFamily="18" charset="0"/>
                                  </a:rPr>
                                  <m:t>40% = </m:t>
                                </m:r>
                                <m:f>
                                  <m:fPr>
                                    <m:ctrlPr>
                                      <a:rPr lang="x-none" sz="1800" i="1">
                                        <a:effectLst/>
                                        <a:latin typeface="Cambria Math" panose="02040503050406030204" pitchFamily="18" charset="0"/>
                                        <a:ea typeface="Times New Roman" panose="02020603050405020304" pitchFamily="18" charset="0"/>
                                        <a:cs typeface="Cambria" panose="02040503050406030204" pitchFamily="18" charset="0"/>
                                      </a:rPr>
                                    </m:ctrlPr>
                                  </m:fPr>
                                  <m:num>
                                    <m:r>
                                      <a:rPr lang="en-US" sz="1800" i="1">
                                        <a:effectLst/>
                                        <a:latin typeface="Cambria Math" panose="02040503050406030204" pitchFamily="18" charset="0"/>
                                        <a:ea typeface="Times New Roman" panose="02020603050405020304" pitchFamily="18" charset="0"/>
                                        <a:cs typeface="Cambria" panose="02040503050406030204" pitchFamily="18" charset="0"/>
                                      </a:rPr>
                                      <m:t>40</m:t>
                                    </m:r>
                                  </m:num>
                                  <m:den>
                                    <m:r>
                                      <a:rPr lang="en-US" sz="1800" i="1">
                                        <a:effectLst/>
                                        <a:latin typeface="Cambria Math" panose="02040503050406030204" pitchFamily="18" charset="0"/>
                                        <a:ea typeface="Times New Roman" panose="02020603050405020304" pitchFamily="18" charset="0"/>
                                        <a:cs typeface="Cambria" panose="02040503050406030204" pitchFamily="18" charset="0"/>
                                      </a:rPr>
                                      <m:t>100</m:t>
                                    </m:r>
                                  </m:den>
                                </m:f>
                                <m:r>
                                  <a:rPr lang="en-US" sz="1800" i="1">
                                    <a:effectLst/>
                                    <a:latin typeface="Cambria Math" panose="02040503050406030204" pitchFamily="18" charset="0"/>
                                    <a:ea typeface="Times New Roman" panose="02020603050405020304" pitchFamily="18" charset="0"/>
                                    <a:cs typeface="Cambria" panose="02040503050406030204" pitchFamily="18" charset="0"/>
                                  </a:rPr>
                                  <m:t> = </m:t>
                                </m:r>
                                <m:f>
                                  <m:fPr>
                                    <m:ctrlPr>
                                      <a:rPr lang="x-none" sz="1800" i="1">
                                        <a:effectLst/>
                                        <a:latin typeface="Cambria Math" panose="02040503050406030204" pitchFamily="18" charset="0"/>
                                        <a:ea typeface="Times New Roman" panose="02020603050405020304" pitchFamily="18" charset="0"/>
                                        <a:cs typeface="Cambria" panose="02040503050406030204" pitchFamily="18" charset="0"/>
                                      </a:rPr>
                                    </m:ctrlPr>
                                  </m:fPr>
                                  <m:num>
                                    <m:r>
                                      <a:rPr lang="en-US" sz="1800" i="1">
                                        <a:effectLst/>
                                        <a:latin typeface="Cambria Math" panose="02040503050406030204" pitchFamily="18" charset="0"/>
                                        <a:ea typeface="Times New Roman" panose="02020603050405020304" pitchFamily="18" charset="0"/>
                                        <a:cs typeface="Cambria" panose="02040503050406030204" pitchFamily="18" charset="0"/>
                                      </a:rPr>
                                      <m:t>2</m:t>
                                    </m:r>
                                  </m:num>
                                  <m:den>
                                    <m:r>
                                      <a:rPr lang="en-US" sz="1800" i="1">
                                        <a:effectLst/>
                                        <a:latin typeface="Cambria Math" panose="02040503050406030204" pitchFamily="18" charset="0"/>
                                        <a:ea typeface="Times New Roman" panose="02020603050405020304" pitchFamily="18" charset="0"/>
                                        <a:cs typeface="Cambria" panose="02040503050406030204" pitchFamily="18" charset="0"/>
                                      </a:rPr>
                                      <m:t>5</m:t>
                                    </m:r>
                                  </m:den>
                                </m:f>
                              </m:oMath>
                            </m:oMathPara>
                          </a14:m>
                          <a:endParaRPr lang="x-none" sz="1800" dirty="0">
                            <a:effectLst/>
                            <a:latin typeface="Cambria" panose="02040503050406030204" pitchFamily="18" charset="0"/>
                            <a:ea typeface="Times New Roman" panose="02020603050405020304" pitchFamily="18" charset="0"/>
                            <a:cs typeface="Cambria" panose="02040503050406030204" pitchFamily="18" charset="0"/>
                          </a:endParaRPr>
                        </a:p>
                        <a:p>
                          <a:pPr marL="0" marR="34290" algn="ctr">
                            <a:spcBef>
                              <a:spcPts val="0"/>
                            </a:spcBef>
                            <a:spcAft>
                              <a:spcPts val="0"/>
                            </a:spcAft>
                          </a:pPr>
                          <a:r>
                            <a:rPr lang="en-US" sz="1800" dirty="0">
                              <a:effectLst/>
                              <a:latin typeface="Verdana" panose="020B0604030504040204" pitchFamily="34" charset="0"/>
                              <a:ea typeface="Times New Roman" panose="02020603050405020304" pitchFamily="18" charset="0"/>
                              <a:cs typeface="Cambria" panose="02040503050406030204" pitchFamily="18" charset="0"/>
                            </a:rPr>
                            <a:t> </a:t>
                          </a:r>
                          <a:endParaRPr lang="x-none" sz="1800" dirty="0">
                            <a:effectLst/>
                            <a:latin typeface="Cambria" panose="02040503050406030204" pitchFamily="18" charset="0"/>
                            <a:ea typeface="Times New Roman" panose="02020603050405020304" pitchFamily="18" charset="0"/>
                            <a:cs typeface="Cambria" panose="02040503050406030204" pitchFamily="18" charset="0"/>
                          </a:endParaRPr>
                        </a:p>
                        <a:p>
                          <a:pPr marL="0" marR="3429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panose="02040503050406030204" pitchFamily="18" charset="0"/>
                                    <a:ea typeface="Times New Roman" panose="02020603050405020304" pitchFamily="18" charset="0"/>
                                    <a:cs typeface="Cambria" panose="02040503050406030204" pitchFamily="18" charset="0"/>
                                  </a:rPr>
                                  <m:t>10,000×</m:t>
                                </m:r>
                                <m:f>
                                  <m:fPr>
                                    <m:ctrlPr>
                                      <a:rPr lang="x-none" sz="1800" i="1">
                                        <a:effectLst/>
                                        <a:latin typeface="Cambria Math" panose="02040503050406030204" pitchFamily="18" charset="0"/>
                                        <a:ea typeface="Times New Roman" panose="02020603050405020304" pitchFamily="18" charset="0"/>
                                        <a:cs typeface="Cambria" panose="02040503050406030204" pitchFamily="18" charset="0"/>
                                      </a:rPr>
                                    </m:ctrlPr>
                                  </m:fPr>
                                  <m:num>
                                    <m:r>
                                      <a:rPr lang="en-US" sz="1800" i="1">
                                        <a:effectLst/>
                                        <a:latin typeface="Cambria Math" panose="02040503050406030204" pitchFamily="18" charset="0"/>
                                        <a:ea typeface="Times New Roman" panose="02020603050405020304" pitchFamily="18" charset="0"/>
                                        <a:cs typeface="Cambria" panose="02040503050406030204" pitchFamily="18" charset="0"/>
                                      </a:rPr>
                                      <m:t>2</m:t>
                                    </m:r>
                                  </m:num>
                                  <m:den>
                                    <m:r>
                                      <a:rPr lang="en-US" sz="1800" i="1">
                                        <a:effectLst/>
                                        <a:latin typeface="Cambria Math" panose="02040503050406030204" pitchFamily="18" charset="0"/>
                                        <a:ea typeface="Times New Roman" panose="02020603050405020304" pitchFamily="18" charset="0"/>
                                        <a:cs typeface="Cambria" panose="02040503050406030204" pitchFamily="18" charset="0"/>
                                      </a:rPr>
                                      <m:t>5</m:t>
                                    </m:r>
                                  </m:den>
                                </m:f>
                                <m:r>
                                  <a:rPr lang="en-US" sz="1800" i="1">
                                    <a:effectLst/>
                                    <a:latin typeface="Cambria Math" panose="02040503050406030204" pitchFamily="18" charset="0"/>
                                    <a:ea typeface="Times New Roman" panose="02020603050405020304" pitchFamily="18" charset="0"/>
                                    <a:cs typeface="Cambria" panose="02040503050406030204" pitchFamily="18" charset="0"/>
                                  </a:rPr>
                                  <m:t>=4,000</m:t>
                                </m:r>
                              </m:oMath>
                            </m:oMathPara>
                          </a14:m>
                          <a:endParaRPr lang="x-none" sz="1800" dirty="0">
                            <a:effectLst/>
                            <a:latin typeface="Cambria" panose="02040503050406030204" pitchFamily="18" charset="0"/>
                            <a:ea typeface="Times New Roman" panose="02020603050405020304" pitchFamily="18" charset="0"/>
                            <a:cs typeface="Cambria" panose="02040503050406030204" pitchFamily="18" charset="0"/>
                          </a:endParaRPr>
                        </a:p>
                      </a:txBody>
                      <a:tcPr marL="55350" marR="55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51813357"/>
                      </a:ext>
                    </a:extLst>
                  </a:tr>
                </a:tbl>
              </a:graphicData>
            </a:graphic>
          </p:graphicFrame>
        </mc:Choice>
        <mc:Fallback xmlns="">
          <p:graphicFrame>
            <p:nvGraphicFramePr>
              <p:cNvPr id="3" name="Table 2">
                <a:extLst>
                  <a:ext uri="{FF2B5EF4-FFF2-40B4-BE49-F238E27FC236}">
                    <a16:creationId xmlns:a16="http://schemas.microsoft.com/office/drawing/2014/main" xmlns:a14="http://schemas.microsoft.com/office/drawing/2010/main" xmlns="" id="{FF140440-9E5C-3141-9112-6B4B6E562D5B}"/>
                  </a:ext>
                </a:extLst>
              </p:cNvPr>
              <p:cNvGraphicFramePr>
                <a:graphicFrameLocks noGrp="1"/>
              </p:cNvGraphicFramePr>
              <p:nvPr>
                <p:extLst>
                  <p:ext uri="{D42A27DB-BD31-4B8C-83A1-F6EECF244321}">
                    <p14:modId xmlns:p14="http://schemas.microsoft.com/office/powerpoint/2010/main" val="1520607379"/>
                  </p:ext>
                </p:extLst>
              </p:nvPr>
            </p:nvGraphicFramePr>
            <p:xfrm>
              <a:off x="1011382" y="203283"/>
              <a:ext cx="10169236" cy="6261890"/>
            </p:xfrm>
            <a:graphic>
              <a:graphicData uri="http://schemas.openxmlformats.org/drawingml/2006/table">
                <a:tbl>
                  <a:tblPr firstRow="1" firstCol="1" bandRow="1"/>
                  <a:tblGrid>
                    <a:gridCol w="3430869">
                      <a:extLst>
                        <a:ext uri="{9D8B030D-6E8A-4147-A177-3AD203B41FA5}">
                          <a16:colId xmlns:a16="http://schemas.microsoft.com/office/drawing/2014/main" xmlns:a14="http://schemas.microsoft.com/office/drawing/2010/main" xmlns="" val="1252442695"/>
                        </a:ext>
                      </a:extLst>
                    </a:gridCol>
                    <a:gridCol w="3345168">
                      <a:extLst>
                        <a:ext uri="{9D8B030D-6E8A-4147-A177-3AD203B41FA5}">
                          <a16:colId xmlns:a16="http://schemas.microsoft.com/office/drawing/2014/main" xmlns:a14="http://schemas.microsoft.com/office/drawing/2010/main" xmlns="" val="1164143812"/>
                        </a:ext>
                      </a:extLst>
                    </a:gridCol>
                    <a:gridCol w="3393199">
                      <a:extLst>
                        <a:ext uri="{9D8B030D-6E8A-4147-A177-3AD203B41FA5}">
                          <a16:colId xmlns:a16="http://schemas.microsoft.com/office/drawing/2014/main" xmlns:a14="http://schemas.microsoft.com/office/drawing/2010/main" xmlns="" val="633785019"/>
                        </a:ext>
                      </a:extLst>
                    </a:gridCol>
                  </a:tblGrid>
                  <a:tr h="452275">
                    <a:tc>
                      <a:txBody>
                        <a:bodyPr/>
                        <a:lstStyle/>
                        <a:p>
                          <a:pPr marL="0" marR="34290" algn="ctr">
                            <a:spcBef>
                              <a:spcPts val="0"/>
                            </a:spcBef>
                            <a:spcAft>
                              <a:spcPts val="0"/>
                            </a:spcAft>
                          </a:pPr>
                          <a:r>
                            <a:rPr lang="en-US" sz="1800" b="1">
                              <a:effectLst/>
                              <a:latin typeface="Verdana" panose="020B0604030504040204" pitchFamily="34" charset="0"/>
                              <a:ea typeface="Times New Roman" panose="02020603050405020304" pitchFamily="18" charset="0"/>
                              <a:cs typeface="Cambria" panose="02040503050406030204" pitchFamily="18" charset="0"/>
                            </a:rPr>
                            <a:t>Equivalent Fraction</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5350" marR="553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r>
                            <a:rPr lang="en-US" sz="18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Scale Factor</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5350" marR="553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r>
                            <a:rPr lang="en-US" sz="18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Percent</a:t>
                          </a:r>
                          <a:endParaRPr lang="x-none" sz="1800">
                            <a:effectLst/>
                            <a:latin typeface="Cambria" panose="02040503050406030204" pitchFamily="18" charset="0"/>
                            <a:ea typeface="Times New Roman" panose="02020603050405020304" pitchFamily="18" charset="0"/>
                            <a:cs typeface="Cambria" panose="02040503050406030204" pitchFamily="18" charset="0"/>
                          </a:endParaRPr>
                        </a:p>
                      </a:txBody>
                      <a:tcPr marL="55350" marR="553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896372856"/>
                      </a:ext>
                    </a:extLst>
                  </a:tr>
                  <a:tr h="5809615">
                    <a:tc>
                      <a:txBody>
                        <a:bodyPr/>
                        <a:lstStyle/>
                        <a:p>
                          <a:endParaRPr lang="en-US"/>
                        </a:p>
                      </a:txBody>
                      <a:tcPr marL="55350" marR="55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3"/>
                          <a:stretch>
                            <a:fillRect l="-178" t="-7862" r="-196980" b="-210"/>
                          </a:stretch>
                        </a:blipFill>
                      </a:tcPr>
                    </a:tc>
                    <a:tc>
                      <a:txBody>
                        <a:bodyPr/>
                        <a:lstStyle/>
                        <a:p>
                          <a:endParaRPr lang="en-US"/>
                        </a:p>
                      </a:txBody>
                      <a:tcPr marL="55350" marR="55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3"/>
                          <a:stretch>
                            <a:fillRect l="-102545" t="-7862" r="-101636" b="-210"/>
                          </a:stretch>
                        </a:blipFill>
                      </a:tcPr>
                    </a:tc>
                    <a:tc>
                      <a:txBody>
                        <a:bodyPr/>
                        <a:lstStyle/>
                        <a:p>
                          <a:endParaRPr lang="en-US"/>
                        </a:p>
                      </a:txBody>
                      <a:tcPr marL="55350" marR="553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3"/>
                          <a:stretch>
                            <a:fillRect l="-200000" t="-7862" r="-359" b="-210"/>
                          </a:stretch>
                        </a:blipFill>
                      </a:tcPr>
                    </a:tc>
                    <a:extLst>
                      <a:ext uri="{0D108BD9-81ED-4DB2-BD59-A6C34878D82A}">
                        <a16:rowId xmlns:a16="http://schemas.microsoft.com/office/drawing/2014/main" xmlns:a14="http://schemas.microsoft.com/office/drawing/2010/main" xmlns="" val="3551813357"/>
                      </a:ext>
                    </a:extLst>
                  </a:tr>
                </a:tbl>
              </a:graphicData>
            </a:graphic>
          </p:graphicFrame>
        </mc:Fallback>
      </mc:AlternateContent>
      <p:sp>
        <p:nvSpPr>
          <p:cNvPr id="6" name="Google Shape;282;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153</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1039280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CD330F31-6BC7-B146-B595-34E7025365DB}"/>
                  </a:ext>
                </a:extLst>
              </p:cNvPr>
              <p:cNvSpPr>
                <a:spLocks noChangeArrowheads="1"/>
              </p:cNvSpPr>
              <p:nvPr/>
            </p:nvSpPr>
            <p:spPr bwMode="auto">
              <a:xfrm>
                <a:off x="1191492" y="729801"/>
                <a:ext cx="9825876" cy="378565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startAt="2"/>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Explain whether one of Ashley’s strategies seems to be better than the others for solving this particular problem. </a:t>
                </a:r>
              </a:p>
              <a:p>
                <a:pPr marL="457200" indent="-457200" eaLnBrk="0" fontAlgn="base" hangingPunct="0">
                  <a:spcBef>
                    <a:spcPct val="0"/>
                  </a:spcBef>
                  <a:spcAft>
                    <a:spcPct val="0"/>
                  </a:spcAft>
                  <a:buClrTx/>
                  <a:buFont typeface="+mj-lt"/>
                  <a:buAutoNum type="arabicPeriod" startAt="2"/>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What is the benefit of solving a problem using two different strategies? </a:t>
                </a:r>
              </a:p>
              <a:p>
                <a:pPr marL="457200" indent="-457200" eaLnBrk="0" fontAlgn="base" hangingPunct="0">
                  <a:spcBef>
                    <a:spcPct val="0"/>
                  </a:spcBef>
                  <a:spcAft>
                    <a:spcPct val="0"/>
                  </a:spcAft>
                  <a:buClrTx/>
                  <a:buFont typeface="+mj-lt"/>
                  <a:buAutoNum type="arabicPeriod" startAt="2"/>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endPar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2"/>
                </a:pPr>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Next, Ashley finds the percent of the </a:t>
                </a:r>
                <a14:m>
                  <m:oMath xmlns:m="http://schemas.openxmlformats.org/officeDocument/2006/math">
                    <m:r>
                      <a:rPr lang="en-US" altLang="en-US" sz="20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10,000</m:t>
                    </m:r>
                  </m:oMath>
                </a14:m>
                <a:r>
                  <a:rPr lang="en-US" altLang="en-US" sz="20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issues they need to sell in the next five years. Complete the work shown below.   </a:t>
                </a:r>
              </a:p>
            </p:txBody>
          </p:sp>
        </mc:Choice>
        <mc:Fallback xmlns="">
          <p:sp>
            <p:nvSpPr>
              <p:cNvPr id="34" name="Rectangle 33">
                <a:extLst>
                  <a:ext uri="{FF2B5EF4-FFF2-40B4-BE49-F238E27FC236}">
                    <a16:creationId xmlns:a16="http://schemas.microsoft.com/office/drawing/2014/main" xmlns:a14="http://schemas.microsoft.com/office/drawing/2010/main" xmlns="" id="{CD330F31-6BC7-B146-B595-34E7025365DB}"/>
                  </a:ext>
                </a:extLst>
              </p:cNvPr>
              <p:cNvSpPr>
                <a:spLocks noRot="1" noChangeAspect="1" noMove="1" noResize="1" noEditPoints="1" noAdjustHandles="1" noChangeArrowheads="1" noChangeShapeType="1" noTextEdit="1"/>
              </p:cNvSpPr>
              <p:nvPr/>
            </p:nvSpPr>
            <p:spPr bwMode="auto">
              <a:xfrm>
                <a:off x="1191492" y="729801"/>
                <a:ext cx="9825876" cy="3785652"/>
              </a:xfrm>
              <a:prstGeom prst="rect">
                <a:avLst/>
              </a:prstGeom>
              <a:blipFill rotWithShape="0">
                <a:blip r:embed="rId3"/>
                <a:stretch>
                  <a:fillRect l="-682" t="-644" r="-558" b="-241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680C08B-2389-1243-91E8-F908D4FAD367}"/>
                  </a:ext>
                </a:extLst>
              </p:cNvPr>
              <p:cNvSpPr txBox="1"/>
              <p:nvPr/>
            </p:nvSpPr>
            <p:spPr>
              <a:xfrm>
                <a:off x="3722594" y="5365857"/>
                <a:ext cx="4639234" cy="70307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x-none" sz="2000" i="1">
                              <a:solidFill>
                                <a:srgbClr val="836967"/>
                              </a:solidFill>
                              <a:latin typeface="Cambria Math" panose="02040503050406030204" pitchFamily="18" charset="0"/>
                            </a:rPr>
                          </m:ctrlPr>
                        </m:fPr>
                        <m:num>
                          <m:r>
                            <a:rPr lang="x-none" sz="2000">
                              <a:latin typeface="Cambria Math" panose="02040503050406030204" pitchFamily="18" charset="0"/>
                            </a:rPr>
                            <m:t>3,600</m:t>
                          </m:r>
                        </m:num>
                        <m:den>
                          <m:r>
                            <a:rPr lang="x-none" sz="2000">
                              <a:latin typeface="Cambria Math" panose="02040503050406030204" pitchFamily="18" charset="0"/>
                            </a:rPr>
                            <m:t>10,000</m:t>
                          </m:r>
                        </m:den>
                      </m:f>
                      <m:r>
                        <a:rPr lang="x-none" sz="2000">
                          <a:latin typeface="Cambria Math" panose="02040503050406030204" pitchFamily="18" charset="0"/>
                        </a:rPr>
                        <m:t> = </m:t>
                      </m:r>
                      <m:f>
                        <m:fPr>
                          <m:ctrlPr>
                            <a:rPr lang="x-none" sz="2000" i="1">
                              <a:solidFill>
                                <a:srgbClr val="836967"/>
                              </a:solidFill>
                              <a:latin typeface="Cambria Math" panose="02040503050406030204" pitchFamily="18" charset="0"/>
                            </a:rPr>
                          </m:ctrlPr>
                        </m:fPr>
                        <m:num>
                          <m:r>
                            <a:rPr lang="x-none" sz="2000">
                              <a:latin typeface="Cambria Math" panose="02040503050406030204" pitchFamily="18" charset="0"/>
                            </a:rPr>
                            <m:t> </m:t>
                          </m:r>
                        </m:num>
                        <m:den>
                          <m:r>
                            <a:rPr lang="x-none" sz="2000">
                              <a:latin typeface="Cambria Math" panose="02040503050406030204" pitchFamily="18" charset="0"/>
                            </a:rPr>
                            <m:t>100</m:t>
                          </m:r>
                        </m:den>
                      </m:f>
                      <m:r>
                        <a:rPr lang="x-none" sz="2000">
                          <a:latin typeface="Cambria Math" panose="02040503050406030204" pitchFamily="18" charset="0"/>
                        </a:rPr>
                        <m:t> = 0.36 =          %</m:t>
                      </m:r>
                    </m:oMath>
                  </m:oMathPara>
                </a14:m>
                <a:endParaRPr lang="x-none" sz="2000" dirty="0"/>
              </a:p>
            </p:txBody>
          </p:sp>
        </mc:Choice>
        <mc:Fallback xmlns="">
          <p:sp>
            <p:nvSpPr>
              <p:cNvPr id="7" name="TextBox 6">
                <a:extLst>
                  <a:ext uri="{FF2B5EF4-FFF2-40B4-BE49-F238E27FC236}">
                    <a16:creationId xmlns:a16="http://schemas.microsoft.com/office/drawing/2014/main" id="{E680C08B-2389-1243-91E8-F908D4FAD367}"/>
                  </a:ext>
                </a:extLst>
              </p:cNvPr>
              <p:cNvSpPr txBox="1">
                <a:spLocks noRot="1" noChangeAspect="1" noMove="1" noResize="1" noEditPoints="1" noAdjustHandles="1" noChangeArrowheads="1" noChangeShapeType="1" noTextEdit="1"/>
              </p:cNvSpPr>
              <p:nvPr/>
            </p:nvSpPr>
            <p:spPr>
              <a:xfrm>
                <a:off x="2198594" y="5365857"/>
                <a:ext cx="4639234" cy="703078"/>
              </a:xfrm>
              <a:prstGeom prst="rect">
                <a:avLst/>
              </a:prstGeom>
              <a:blipFill>
                <a:blip r:embed="rId5"/>
                <a:stretch>
                  <a:fillRect/>
                </a:stretch>
              </a:blipFill>
            </p:spPr>
            <p:txBody>
              <a:bodyPr/>
              <a:lstStyle/>
              <a:p>
                <a:r>
                  <a:rPr lang="en-CO">
                    <a:noFill/>
                  </a:rPr>
                  <a:t> </a:t>
                </a:r>
              </a:p>
            </p:txBody>
          </p:sp>
        </mc:Fallback>
      </mc:AlternateContent>
      <p:sp>
        <p:nvSpPr>
          <p:cNvPr id="8" name="Rectangle: Rounded Corners 2">
            <a:extLst>
              <a:ext uri="{FF2B5EF4-FFF2-40B4-BE49-F238E27FC236}">
                <a16:creationId xmlns:a16="http://schemas.microsoft.com/office/drawing/2014/main" id="{3B5B9598-E440-DD42-AD09-7935EC4F3DB4}"/>
              </a:ext>
            </a:extLst>
          </p:cNvPr>
          <p:cNvSpPr/>
          <p:nvPr/>
        </p:nvSpPr>
        <p:spPr>
          <a:xfrm>
            <a:off x="5360700" y="5171999"/>
            <a:ext cx="457200" cy="45720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 name="Rectangle: Rounded Corners 2">
            <a:extLst>
              <a:ext uri="{FF2B5EF4-FFF2-40B4-BE49-F238E27FC236}">
                <a16:creationId xmlns:a16="http://schemas.microsoft.com/office/drawing/2014/main" id="{366F3F8D-734D-484F-8F47-F672796BA22D}"/>
              </a:ext>
            </a:extLst>
          </p:cNvPr>
          <p:cNvSpPr/>
          <p:nvPr/>
        </p:nvSpPr>
        <p:spPr>
          <a:xfrm>
            <a:off x="7122265" y="5494729"/>
            <a:ext cx="457200" cy="45720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 name="Google Shape;282;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153</a:t>
            </a:r>
            <a:endParaRPr i="1" dirty="0">
              <a:latin typeface="Calibri"/>
              <a:ea typeface="Calibri"/>
              <a:cs typeface="Calibri"/>
              <a:sym typeface="Calibri"/>
            </a:endParaRPr>
          </a:p>
        </p:txBody>
      </p:sp>
      <p:pic>
        <p:nvPicPr>
          <p:cNvPr id="11"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245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9420410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CD330F31-6BC7-B146-B595-34E7025365DB}"/>
                  </a:ext>
                </a:extLst>
              </p:cNvPr>
              <p:cNvSpPr>
                <a:spLocks noChangeArrowheads="1"/>
              </p:cNvSpPr>
              <p:nvPr/>
            </p:nvSpPr>
            <p:spPr bwMode="auto">
              <a:xfrm>
                <a:off x="1177637" y="902336"/>
                <a:ext cx="9853586" cy="4154984"/>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Ashley estimates that if the new hero has the ability to fly, at least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4,000</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readers will continue to read and purchase </a:t>
                </a:r>
                <a:r>
                  <a:rPr lang="en-US" altLang="en-US" sz="2400" i="1"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 Probability Princess</a:t>
                </a: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She estimates that this will lead to each of those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4,000</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readers purchasing at least one comic. She also thinks it’s likely that readers who did not want the new hero to have the ability to fly may still buy issues in the next five years. Because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4,000</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is greater than the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3,600</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issues they need to sell to stay in business, Ashley decides to give the next hero the ability to fly. </a:t>
                </a:r>
              </a:p>
              <a:p>
                <a:pPr lvl="0"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rabicPeriod" startAt="5"/>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Explain why you agree or disagree with Ashley’s decision. </a:t>
                </a:r>
              </a:p>
            </p:txBody>
          </p:sp>
        </mc:Choice>
        <mc:Fallback xmlns="">
          <p:sp>
            <p:nvSpPr>
              <p:cNvPr id="34" name="Rectangle 33">
                <a:extLst>
                  <a:ext uri="{FF2B5EF4-FFF2-40B4-BE49-F238E27FC236}">
                    <a16:creationId xmlns:a16="http://schemas.microsoft.com/office/drawing/2014/main" xmlns:a14="http://schemas.microsoft.com/office/drawing/2010/main" xmlns="" id="{CD330F31-6BC7-B146-B595-34E7025365DB}"/>
                  </a:ext>
                </a:extLst>
              </p:cNvPr>
              <p:cNvSpPr>
                <a:spLocks noRot="1" noChangeAspect="1" noMove="1" noResize="1" noEditPoints="1" noAdjustHandles="1" noChangeArrowheads="1" noChangeShapeType="1" noTextEdit="1"/>
              </p:cNvSpPr>
              <p:nvPr/>
            </p:nvSpPr>
            <p:spPr bwMode="auto">
              <a:xfrm>
                <a:off x="1177637" y="902336"/>
                <a:ext cx="9853586" cy="4154984"/>
              </a:xfrm>
              <a:prstGeom prst="rect">
                <a:avLst/>
              </a:prstGeom>
              <a:blipFill rotWithShape="0">
                <a:blip r:embed="rId3"/>
                <a:stretch>
                  <a:fillRect l="-928" t="-733" r="-1979" b="-278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6" name="Google Shape;282;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153</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830285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9" name="Google Shape;313;g104476d1465_1_39">
            <a:extLst>
              <a:ext uri="{FF2B5EF4-FFF2-40B4-BE49-F238E27FC236}">
                <a16:creationId xmlns:a16="http://schemas.microsoft.com/office/drawing/2014/main" id="{FBE81C39-C116-3E43-8FD2-10F6C7887F5E}"/>
              </a:ext>
            </a:extLst>
          </p:cNvPr>
          <p:cNvSpPr txBox="1">
            <a:spLocks/>
          </p:cNvSpPr>
          <p:nvPr/>
        </p:nvSpPr>
        <p:spPr>
          <a:xfrm>
            <a:off x="5597311" y="2766144"/>
            <a:ext cx="5002742"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buFont typeface="Cutive"/>
              <a:buNone/>
            </a:pPr>
            <a:r>
              <a:rPr lang="en-US" sz="5500" b="1" dirty="0">
                <a:solidFill>
                  <a:srgbClr val="33BEA6"/>
                </a:solidFill>
                <a:latin typeface="Verdana"/>
                <a:ea typeface="Verdana"/>
                <a:cs typeface="Verdana"/>
                <a:sym typeface="Verdana"/>
              </a:rPr>
              <a:t>Exploration</a:t>
            </a:r>
            <a:endParaRPr lang="en-US" sz="5100" b="1" dirty="0">
              <a:solidFill>
                <a:srgbClr val="33BEA6"/>
              </a:solidFill>
              <a:latin typeface="Verdana"/>
              <a:ea typeface="Verdana"/>
              <a:cs typeface="Verdana"/>
              <a:sym typeface="Verdana"/>
            </a:endParaRPr>
          </a:p>
        </p:txBody>
      </p:sp>
      <p:pic>
        <p:nvPicPr>
          <p:cNvPr id="8" name="image8.png" descr="Icon&#10;&#10;Description automatically generated">
            <a:extLst>
              <a:ext uri="{FF2B5EF4-FFF2-40B4-BE49-F238E27FC236}">
                <a16:creationId xmlns:a16="http://schemas.microsoft.com/office/drawing/2014/main" id="{B7CF1B7F-6D46-1F4D-AEAF-001F21A7F71B}"/>
              </a:ext>
            </a:extLst>
          </p:cNvPr>
          <p:cNvPicPr/>
          <p:nvPr/>
        </p:nvPicPr>
        <p:blipFill>
          <a:blip r:embed="rId3"/>
          <a:srcRect/>
          <a:stretch>
            <a:fillRect/>
          </a:stretch>
        </p:blipFill>
        <p:spPr>
          <a:xfrm>
            <a:off x="4445163" y="2852920"/>
            <a:ext cx="1152149" cy="1152149"/>
          </a:xfrm>
          <a:prstGeom prst="rect">
            <a:avLst/>
          </a:prstGeom>
          <a:ln/>
          <a:effectLst>
            <a:outerShdw blurRad="50800" dist="38100" dir="2700000" algn="tl" rotWithShape="0">
              <a:prstClr val="black">
                <a:alpha val="40000"/>
              </a:prstClr>
            </a:outerShdw>
          </a:effectLst>
        </p:spPr>
      </p:pic>
      <p:sp>
        <p:nvSpPr>
          <p:cNvPr id="10" name="Google Shape;282;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154</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990403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69923" y="36063"/>
            <a:ext cx="927036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33BEA6"/>
                </a:solidFill>
                <a:latin typeface="Verdana"/>
                <a:ea typeface="Verdana"/>
                <a:cs typeface="Verdana"/>
                <a:sym typeface="Verdana"/>
              </a:rPr>
              <a:t>10.9.3 Exploration: Reaction Times</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1369923" y="1632182"/>
                <a:ext cx="9734690" cy="2677656"/>
              </a:xfrm>
              <a:prstGeom prst="rect">
                <a:avLst/>
              </a:prstGeom>
              <a:noFill/>
            </p:spPr>
            <p:txBody>
              <a:bodyPr wrap="square" rtlCol="0">
                <a:spAutoFit/>
              </a:bodyPr>
              <a:lstStyle/>
              <a:p>
                <a:pPr lvl="0"/>
                <a:r>
                  <a:rPr lang="en-US" sz="2400" dirty="0">
                    <a:latin typeface="Verdana" panose="020B0604030504040204" pitchFamily="34" charset="0"/>
                    <a:ea typeface="Verdana" panose="020B0604030504040204" pitchFamily="34" charset="0"/>
                    <a:cs typeface="Verdana" panose="020B0604030504040204" pitchFamily="34" charset="0"/>
                  </a:rPr>
                  <a:t>The track coach at a Yulee High School in Nassau County, FL needs a student whose reaction time is less than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0.4</m:t>
                    </m:r>
                  </m:oMath>
                </a14:m>
                <a:r>
                  <a:rPr lang="en-US" sz="2400" dirty="0">
                    <a:latin typeface="Verdana" panose="020B0604030504040204" pitchFamily="34" charset="0"/>
                    <a:ea typeface="Verdana" panose="020B0604030504040204" pitchFamily="34" charset="0"/>
                    <a:cs typeface="Verdana" panose="020B0604030504040204" pitchFamily="34" charset="0"/>
                  </a:rPr>
                  <a:t> seconds to help out with timers at track meets. All the twelfth graders in the school measured their reaction times.</a:t>
                </a:r>
              </a:p>
              <a:p>
                <a:pPr lvl="0"/>
                <a:r>
                  <a:rPr lang="en-US" sz="2400" dirty="0">
                    <a:latin typeface="Verdana" panose="020B0604030504040204" pitchFamily="34" charset="0"/>
                    <a:ea typeface="Verdana" panose="020B0604030504040204" pitchFamily="34" charset="0"/>
                    <a:cs typeface="Verdana" panose="020B0604030504040204" pitchFamily="34" charset="0"/>
                  </a:rPr>
                  <a:t> </a:t>
                </a:r>
              </a:p>
              <a:p>
                <a:pPr lvl="0"/>
                <a:r>
                  <a:rPr lang="en-US" sz="2400" dirty="0">
                    <a:latin typeface="Verdana" panose="020B0604030504040204" pitchFamily="34" charset="0"/>
                    <a:ea typeface="Verdana" panose="020B0604030504040204" pitchFamily="34" charset="0"/>
                    <a:cs typeface="Verdana" panose="020B0604030504040204" pitchFamily="34" charset="0"/>
                  </a:rPr>
                  <a:t>A random sample of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32</m:t>
                    </m:r>
                  </m:oMath>
                </a14:m>
                <a:r>
                  <a:rPr lang="en-US" sz="2400" dirty="0">
                    <a:latin typeface="Verdana" panose="020B0604030504040204" pitchFamily="34" charset="0"/>
                    <a:ea typeface="Verdana" panose="020B0604030504040204" pitchFamily="34" charset="0"/>
                    <a:cs typeface="Verdana" panose="020B0604030504040204" pitchFamily="34" charset="0"/>
                  </a:rPr>
                  <a:t> students’ reaction times has been recorded in the table.</a:t>
                </a:r>
              </a:p>
            </p:txBody>
          </p:sp>
        </mc:Choice>
        <mc:Fallback xmlns="">
          <p:sp>
            <p:nvSpPr>
              <p:cNvPr id="10" name="TextBox 9">
                <a:extLst>
                  <a:ext uri="{FF2B5EF4-FFF2-40B4-BE49-F238E27FC236}">
                    <a16:creationId xmlns:a16="http://schemas.microsoft.com/office/drawing/2014/main" xmlns:a14="http://schemas.microsoft.com/office/drawing/2010/main" xmlns="" id="{E44DF7DE-9172-3E4E-B74A-7A51585FB6EA}"/>
                  </a:ext>
                </a:extLst>
              </p:cNvPr>
              <p:cNvSpPr txBox="1">
                <a:spLocks noRot="1" noChangeAspect="1" noMove="1" noResize="1" noEditPoints="1" noAdjustHandles="1" noChangeArrowheads="1" noChangeShapeType="1" noTextEdit="1"/>
              </p:cNvSpPr>
              <p:nvPr/>
            </p:nvSpPr>
            <p:spPr>
              <a:xfrm>
                <a:off x="1369923" y="1632182"/>
                <a:ext cx="9734690" cy="2677656"/>
              </a:xfrm>
              <a:prstGeom prst="rect">
                <a:avLst/>
              </a:prstGeom>
              <a:blipFill rotWithShape="0">
                <a:blip r:embed="rId3"/>
                <a:stretch>
                  <a:fillRect l="-1002" t="-1822" r="-1315" b="-4328"/>
                </a:stretch>
              </a:blipFill>
            </p:spPr>
            <p:txBody>
              <a:bodyPr/>
              <a:lstStyle/>
              <a:p>
                <a:r>
                  <a:rPr lang="en-US">
                    <a:noFill/>
                  </a:rPr>
                  <a:t> </a:t>
                </a:r>
              </a:p>
            </p:txBody>
          </p:sp>
        </mc:Fallback>
      </mc:AlternateContent>
      <p:pic>
        <p:nvPicPr>
          <p:cNvPr id="23" name="image8.png" descr="Icon&#10;&#10;Description automatically generated">
            <a:extLst>
              <a:ext uri="{FF2B5EF4-FFF2-40B4-BE49-F238E27FC236}">
                <a16:creationId xmlns:a16="http://schemas.microsoft.com/office/drawing/2014/main" id="{BB23145B-E454-1E4E-8BFC-AE8BF7469E77}"/>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547013" y="321432"/>
            <a:ext cx="753520" cy="753520"/>
          </a:xfrm>
          <a:prstGeom prst="rect">
            <a:avLst/>
          </a:prstGeom>
          <a:ln/>
        </p:spPr>
      </p:pic>
      <p:graphicFrame>
        <p:nvGraphicFramePr>
          <p:cNvPr id="3" name="Table 2">
            <a:extLst>
              <a:ext uri="{FF2B5EF4-FFF2-40B4-BE49-F238E27FC236}">
                <a16:creationId xmlns:a16="http://schemas.microsoft.com/office/drawing/2014/main" id="{35D037AA-60F4-EE4A-BB1F-80D8EA27D4A1}"/>
              </a:ext>
            </a:extLst>
          </p:cNvPr>
          <p:cNvGraphicFramePr>
            <a:graphicFrameLocks noGrp="1"/>
          </p:cNvGraphicFramePr>
          <p:nvPr>
            <p:extLst>
              <p:ext uri="{D42A27DB-BD31-4B8C-83A1-F6EECF244321}">
                <p14:modId xmlns:p14="http://schemas.microsoft.com/office/powerpoint/2010/main" val="1387631189"/>
              </p:ext>
            </p:extLst>
          </p:nvPr>
        </p:nvGraphicFramePr>
        <p:xfrm>
          <a:off x="3108518" y="4827745"/>
          <a:ext cx="5974964" cy="1224280"/>
        </p:xfrm>
        <a:graphic>
          <a:graphicData uri="http://schemas.openxmlformats.org/drawingml/2006/table">
            <a:tbl>
              <a:tblPr firstRow="1" firstCol="1" bandRow="1"/>
              <a:tblGrid>
                <a:gridCol w="2987160">
                  <a:extLst>
                    <a:ext uri="{9D8B030D-6E8A-4147-A177-3AD203B41FA5}">
                      <a16:colId xmlns:a16="http://schemas.microsoft.com/office/drawing/2014/main" val="971241690"/>
                    </a:ext>
                  </a:extLst>
                </a:gridCol>
                <a:gridCol w="2987804">
                  <a:extLst>
                    <a:ext uri="{9D8B030D-6E8A-4147-A177-3AD203B41FA5}">
                      <a16:colId xmlns:a16="http://schemas.microsoft.com/office/drawing/2014/main" val="3424364214"/>
                    </a:ext>
                  </a:extLst>
                </a:gridCol>
              </a:tblGrid>
              <a:tr h="612140">
                <a:tc>
                  <a:txBody>
                    <a:bodyPr/>
                    <a:lstStyle/>
                    <a:p>
                      <a:pPr marL="0" marR="0" algn="ctr">
                        <a:spcBef>
                          <a:spcPts val="0"/>
                        </a:spcBef>
                        <a:spcAft>
                          <a:spcPts val="0"/>
                        </a:spcAft>
                      </a:pPr>
                      <a:r>
                        <a:rPr lang="en-US" sz="1800" b="1">
                          <a:effectLst/>
                          <a:latin typeface="Verdana" panose="020B0604030504040204" pitchFamily="34" charset="0"/>
                          <a:ea typeface="Times New Roman" panose="02020603050405020304" pitchFamily="18" charset="0"/>
                          <a:cs typeface="Cambria" panose="02040503050406030204" pitchFamily="18" charset="0"/>
                        </a:rPr>
                        <a:t>Reaction </a:t>
                      </a:r>
                      <a:r>
                        <a:rPr lang="en-US" sz="18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Times of Less Than </a:t>
                      </a:r>
                      <a:r>
                        <a:rPr lang="en-US" sz="1800" b="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a:t>0.4</a:t>
                      </a:r>
                      <a:r>
                        <a:rPr lang="en-US" sz="18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Seconds</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8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Reaction Times of </a:t>
                      </a:r>
                      <a:r>
                        <a:rPr lang="en-US" sz="1800" b="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a:t>0.4</a:t>
                      </a:r>
                      <a:r>
                        <a:rPr lang="en-US" sz="18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Seconds or More</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350394245"/>
                  </a:ext>
                </a:extLst>
              </a:tr>
              <a:tr h="612140">
                <a:tc>
                  <a:txBody>
                    <a:bodyPr/>
                    <a:lstStyle/>
                    <a:p>
                      <a:pPr marL="0" marR="0" algn="ctr">
                        <a:spcBef>
                          <a:spcPts val="0"/>
                        </a:spcBef>
                        <a:spcAft>
                          <a:spcPts val="0"/>
                        </a:spcAft>
                      </a:pPr>
                      <a:r>
                        <a:rPr lang="en-US" sz="1800">
                          <a:effectLst/>
                          <a:latin typeface="Cambria Math" panose="02040503050406030204" pitchFamily="18" charset="0"/>
                          <a:ea typeface="Times New Roman" panose="02020603050405020304" pitchFamily="18" charset="0"/>
                          <a:cs typeface="Cambria" panose="02040503050406030204" pitchFamily="18" charset="0"/>
                        </a:rPr>
                        <a:t>22</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Cambria Math" panose="02040503050406030204" pitchFamily="18" charset="0"/>
                          <a:ea typeface="Times New Roman" panose="02020603050405020304" pitchFamily="18" charset="0"/>
                          <a:cs typeface="Cambria" panose="02040503050406030204" pitchFamily="18" charset="0"/>
                        </a:rPr>
                        <a:t>10</a:t>
                      </a: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60804459"/>
                  </a:ext>
                </a:extLst>
              </a:tr>
            </a:tbl>
          </a:graphicData>
        </a:graphic>
      </p:graphicFrame>
      <p:sp>
        <p:nvSpPr>
          <p:cNvPr id="9" name="Google Shape;282;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154</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245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919977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F54A4596-5923-6342-9500-70E8F702680A}"/>
                  </a:ext>
                </a:extLst>
              </p:cNvPr>
              <p:cNvSpPr/>
              <p:nvPr/>
            </p:nvSpPr>
            <p:spPr>
              <a:xfrm>
                <a:off x="1149927" y="356494"/>
                <a:ext cx="9733452" cy="3416320"/>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What fraction of the students in the random sample have a reaction time less than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0.4</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seconds?</a:t>
                </a: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Explain or show how to estimate the percentage of selected twelfth-graders from this school who had a reaction time of less than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0.4</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seconds. </a:t>
                </a:r>
              </a:p>
            </p:txBody>
          </p:sp>
        </mc:Choice>
        <mc:Fallback xmlns="">
          <p:sp>
            <p:nvSpPr>
              <p:cNvPr id="2" name="Rectangle 1">
                <a:extLst>
                  <a:ext uri="{FF2B5EF4-FFF2-40B4-BE49-F238E27FC236}">
                    <a16:creationId xmlns:a16="http://schemas.microsoft.com/office/drawing/2014/main" id="{F54A4596-5923-6342-9500-70E8F702680A}"/>
                  </a:ext>
                </a:extLst>
              </p:cNvPr>
              <p:cNvSpPr>
                <a:spLocks noRot="1" noChangeAspect="1" noMove="1" noResize="1" noEditPoints="1" noAdjustHandles="1" noChangeArrowheads="1" noChangeShapeType="1" noTextEdit="1"/>
              </p:cNvSpPr>
              <p:nvPr/>
            </p:nvSpPr>
            <p:spPr>
              <a:xfrm>
                <a:off x="1149927" y="356494"/>
                <a:ext cx="9733452" cy="3416320"/>
              </a:xfrm>
              <a:prstGeom prst="rect">
                <a:avLst/>
              </a:prstGeom>
              <a:blipFill>
                <a:blip r:embed="rId3"/>
                <a:stretch>
                  <a:fillRect l="-1003" t="-1426" b="-2852"/>
                </a:stretch>
              </a:blipFill>
            </p:spPr>
            <p:txBody>
              <a:bodyPr/>
              <a:lstStyle/>
              <a:p>
                <a:r>
                  <a:rPr lang="en-US">
                    <a:noFill/>
                  </a:rPr>
                  <a:t> </a:t>
                </a:r>
              </a:p>
            </p:txBody>
          </p:sp>
        </mc:Fallback>
      </mc:AlternateContent>
      <p:sp>
        <p:nvSpPr>
          <p:cNvPr id="6" name="Google Shape;282;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154</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698398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F54A4596-5923-6342-9500-70E8F702680A}"/>
                  </a:ext>
                </a:extLst>
              </p:cNvPr>
              <p:cNvSpPr/>
              <p:nvPr/>
            </p:nvSpPr>
            <p:spPr>
              <a:xfrm>
                <a:off x="1330036" y="404935"/>
                <a:ext cx="9530194" cy="5016758"/>
              </a:xfrm>
              <a:prstGeom prst="rect">
                <a:avLst/>
              </a:prstGeom>
            </p:spPr>
            <p:txBody>
              <a:bodyPr wrap="square">
                <a:spAutoFit/>
              </a:bodyPr>
              <a:lstStyle/>
              <a:p>
                <a:pPr marL="457200" indent="-457200">
                  <a:buFont typeface="+mj-lt"/>
                  <a:buAutoNum type="arabi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There are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125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twelfth graders at this school. How many of the twelfth graders are expected to have a reaction time of less than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0.4</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seconds?</a:t>
                </a:r>
              </a:p>
              <a:p>
                <a:pPr marL="457200" indent="-457200">
                  <a:buFont typeface="+mj-lt"/>
                  <a:buAutoNum type="arabi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Suppose another group in your class comes up with a different estimate than yours for the previous question. What is another estimate that would be </a:t>
                </a:r>
                <a:r>
                  <a:rPr lang="en-US" sz="2000" b="1" dirty="0">
                    <a:latin typeface="Verdana" panose="020B0604030504040204" pitchFamily="34" charset="0"/>
                    <a:ea typeface="Times New Roman" panose="02020603050405020304" pitchFamily="18" charset="0"/>
                    <a:cs typeface="Times New Roman" panose="02020603050405020304" pitchFamily="18" charset="0"/>
                  </a:rPr>
                  <a:t>reasonable</a:t>
                </a:r>
                <a:r>
                  <a:rPr lang="en-US" sz="2000" dirty="0">
                    <a:latin typeface="Verdana" panose="020B0604030504040204" pitchFamily="34" charset="0"/>
                    <a:ea typeface="Times New Roman" panose="02020603050405020304" pitchFamily="18" charset="0"/>
                    <a:cs typeface="Times New Roman" panose="02020603050405020304" pitchFamily="18" charset="0"/>
                  </a:rPr>
                  <a:t>?</a:t>
                </a:r>
              </a:p>
              <a:p>
                <a:pPr marL="457200" indent="-457200">
                  <a:buFont typeface="+mj-lt"/>
                  <a:buAutoNum type="arabi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3"/>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Explain what kind of an estimate would be considered </a:t>
                </a:r>
                <a:r>
                  <a:rPr lang="en-US" sz="2000" b="1" dirty="0">
                    <a:latin typeface="Verdana" panose="020B0604030504040204" pitchFamily="34" charset="0"/>
                    <a:ea typeface="Times New Roman" panose="02020603050405020304" pitchFamily="18" charset="0"/>
                    <a:cs typeface="Times New Roman" panose="02020603050405020304" pitchFamily="18" charset="0"/>
                  </a:rPr>
                  <a:t>unreasonable.</a:t>
                </a:r>
              </a:p>
            </p:txBody>
          </p:sp>
        </mc:Choice>
        <mc:Fallback xmlns="">
          <p:sp>
            <p:nvSpPr>
              <p:cNvPr id="2" name="Rectangle 1">
                <a:extLst>
                  <a:ext uri="{FF2B5EF4-FFF2-40B4-BE49-F238E27FC236}">
                    <a16:creationId xmlns:a16="http://schemas.microsoft.com/office/drawing/2014/main" xmlns:a14="http://schemas.microsoft.com/office/drawing/2010/main" xmlns="" id="{F54A4596-5923-6342-9500-70E8F702680A}"/>
                  </a:ext>
                </a:extLst>
              </p:cNvPr>
              <p:cNvSpPr>
                <a:spLocks noRot="1" noChangeAspect="1" noMove="1" noResize="1" noEditPoints="1" noAdjustHandles="1" noChangeArrowheads="1" noChangeShapeType="1" noTextEdit="1"/>
              </p:cNvSpPr>
              <p:nvPr/>
            </p:nvSpPr>
            <p:spPr>
              <a:xfrm>
                <a:off x="1330036" y="404935"/>
                <a:ext cx="9530194" cy="5016758"/>
              </a:xfrm>
              <a:prstGeom prst="rect">
                <a:avLst/>
              </a:prstGeom>
              <a:blipFill rotWithShape="0">
                <a:blip r:embed="rId3"/>
                <a:stretch>
                  <a:fillRect l="-703" t="-729" r="-1407" b="-1215"/>
                </a:stretch>
              </a:blipFill>
            </p:spPr>
            <p:txBody>
              <a:bodyPr/>
              <a:lstStyle/>
              <a:p>
                <a:r>
                  <a:rPr lang="en-US">
                    <a:noFill/>
                  </a:rPr>
                  <a:t> </a:t>
                </a:r>
              </a:p>
            </p:txBody>
          </p:sp>
        </mc:Fallback>
      </mc:AlternateContent>
      <p:sp>
        <p:nvSpPr>
          <p:cNvPr id="6" name="Google Shape;282;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154</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670528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050234" y="2766144"/>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Guided Practice</a:t>
            </a:r>
            <a:endParaRPr sz="5100" b="1" dirty="0">
              <a:solidFill>
                <a:srgbClr val="26B7D4"/>
              </a:solidFill>
              <a:latin typeface="Verdana"/>
              <a:ea typeface="Verdana"/>
              <a:cs typeface="Verdana"/>
              <a:sym typeface="Verdana"/>
            </a:endParaRPr>
          </a:p>
        </p:txBody>
      </p:sp>
      <p:pic>
        <p:nvPicPr>
          <p:cNvPr id="9" name="image12.png" descr="Icon&#10;&#10;Description automatically generated">
            <a:extLst>
              <a:ext uri="{FF2B5EF4-FFF2-40B4-BE49-F238E27FC236}">
                <a16:creationId xmlns:a16="http://schemas.microsoft.com/office/drawing/2014/main" id="{256A4E89-A035-FA41-B48F-90F5C9B5878D}"/>
              </a:ext>
            </a:extLst>
          </p:cNvPr>
          <p:cNvPicPr/>
          <p:nvPr/>
        </p:nvPicPr>
        <p:blipFill>
          <a:blip r:embed="rId3"/>
          <a:srcRect/>
          <a:stretch>
            <a:fillRect/>
          </a:stretch>
        </p:blipFill>
        <p:spPr>
          <a:xfrm>
            <a:off x="4632826" y="2852920"/>
            <a:ext cx="1152149" cy="1152149"/>
          </a:xfrm>
          <a:prstGeom prst="rect">
            <a:avLst/>
          </a:prstGeom>
          <a:ln/>
          <a:effectLst>
            <a:outerShdw blurRad="50800" dist="38100" dir="2700000" algn="tl" rotWithShape="0">
              <a:prstClr val="black">
                <a:alpha val="40000"/>
              </a:prstClr>
            </a:outerShdw>
          </a:effectLst>
        </p:spPr>
      </p:pic>
      <p:sp>
        <p:nvSpPr>
          <p:cNvPr id="8" name="Google Shape;282;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155</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30927" y="-822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26B7D4"/>
                </a:solidFill>
                <a:latin typeface="Verdana"/>
                <a:ea typeface="Verdana"/>
                <a:cs typeface="Verdana"/>
                <a:sym typeface="Verdana"/>
              </a:rPr>
              <a:t>10.9.4 Guided Practice: Making Population Predictions</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1430927" y="1466433"/>
                <a:ext cx="9612682" cy="3046988"/>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Taylor attends Murdock Middle School in Port Charlotte, Florida. She wonders how many students at her school would dye their hair blue if their parents would let them. She surveyed a random sample of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10</m:t>
                    </m:r>
                  </m:oMath>
                </a14:m>
                <a:r>
                  <a:rPr lang="en-US" sz="2400" dirty="0">
                    <a:latin typeface="Verdana" panose="020B0604030504040204" pitchFamily="34" charset="0"/>
                    <a:ea typeface="Verdana" panose="020B0604030504040204" pitchFamily="34" charset="0"/>
                    <a:cs typeface="Verdana" panose="020B0604030504040204" pitchFamily="34" charset="0"/>
                  </a:rPr>
                  <a:t> students at her school, and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2</m:t>
                    </m:r>
                  </m:oMath>
                </a14:m>
                <a:r>
                  <a:rPr lang="en-US" sz="2400" dirty="0">
                    <a:latin typeface="Verdana" panose="020B0604030504040204" pitchFamily="34" charset="0"/>
                    <a:ea typeface="Verdana" panose="020B0604030504040204" pitchFamily="34" charset="0"/>
                    <a:cs typeface="Verdana" panose="020B0604030504040204" pitchFamily="34" charset="0"/>
                  </a:rPr>
                  <a:t> of them said they would. Kiran didn’t think Taylor’s estimate was very accurate, so he surveyed a random sample of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100</m:t>
                    </m:r>
                  </m:oMath>
                </a14:m>
                <a:r>
                  <a:rPr lang="en-US" sz="2400" dirty="0">
                    <a:latin typeface="Verdana" panose="020B0604030504040204" pitchFamily="34" charset="0"/>
                    <a:ea typeface="Verdana" panose="020B0604030504040204" pitchFamily="34" charset="0"/>
                    <a:cs typeface="Verdana" panose="020B0604030504040204" pitchFamily="34" charset="0"/>
                  </a:rPr>
                  <a:t> students, and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17</m:t>
                    </m:r>
                  </m:oMath>
                </a14:m>
                <a:r>
                  <a:rPr lang="en-US" sz="2400" dirty="0">
                    <a:latin typeface="Verdana" panose="020B0604030504040204" pitchFamily="34" charset="0"/>
                    <a:ea typeface="Verdana" panose="020B0604030504040204" pitchFamily="34" charset="0"/>
                    <a:cs typeface="Verdana" panose="020B0604030504040204" pitchFamily="34" charset="0"/>
                  </a:rPr>
                  <a:t> of them said they would.</a:t>
                </a:r>
              </a:p>
            </p:txBody>
          </p:sp>
        </mc:Choice>
        <mc:Fallback xmlns="">
          <p:sp>
            <p:nvSpPr>
              <p:cNvPr id="10" name="TextBox 9">
                <a:extLst>
                  <a:ext uri="{FF2B5EF4-FFF2-40B4-BE49-F238E27FC236}">
                    <a16:creationId xmlns:a16="http://schemas.microsoft.com/office/drawing/2014/main" xmlns:a14="http://schemas.microsoft.com/office/drawing/2010/main" xmlns="" id="{E44DF7DE-9172-3E4E-B74A-7A51585FB6EA}"/>
                  </a:ext>
                </a:extLst>
              </p:cNvPr>
              <p:cNvSpPr txBox="1">
                <a:spLocks noRot="1" noChangeAspect="1" noMove="1" noResize="1" noEditPoints="1" noAdjustHandles="1" noChangeArrowheads="1" noChangeShapeType="1" noTextEdit="1"/>
              </p:cNvSpPr>
              <p:nvPr/>
            </p:nvSpPr>
            <p:spPr>
              <a:xfrm>
                <a:off x="1430927" y="1466433"/>
                <a:ext cx="9612682" cy="3046988"/>
              </a:xfrm>
              <a:prstGeom prst="rect">
                <a:avLst/>
              </a:prstGeom>
              <a:blipFill rotWithShape="0">
                <a:blip r:embed="rId3"/>
                <a:stretch>
                  <a:fillRect l="-1015" t="-1603" r="-888" b="-3808"/>
                </a:stretch>
              </a:blipFill>
            </p:spPr>
            <p:txBody>
              <a:bodyPr/>
              <a:lstStyle/>
              <a:p>
                <a:r>
                  <a:rPr lang="en-US">
                    <a:noFill/>
                  </a:rPr>
                  <a:t> </a:t>
                </a:r>
              </a:p>
            </p:txBody>
          </p:sp>
        </mc:Fallback>
      </mc:AlternateContent>
      <p:pic>
        <p:nvPicPr>
          <p:cNvPr id="9" name="image12.png" descr="Icon&#10;&#10;Description automatically generated">
            <a:extLst>
              <a:ext uri="{FF2B5EF4-FFF2-40B4-BE49-F238E27FC236}">
                <a16:creationId xmlns:a16="http://schemas.microsoft.com/office/drawing/2014/main" id="{18CEC9FF-8A04-2B47-8B2F-0CEB50F420E8}"/>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690491" y="161234"/>
            <a:ext cx="753529" cy="753529"/>
          </a:xfrm>
          <a:prstGeom prst="rect">
            <a:avLst/>
          </a:prstGeom>
          <a:ln/>
        </p:spPr>
      </p:pic>
      <p:sp>
        <p:nvSpPr>
          <p:cNvPr id="11" name="Google Shape;282;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155</a:t>
            </a:r>
            <a:endParaRPr i="1" dirty="0">
              <a:latin typeface="Calibri"/>
              <a:ea typeface="Calibri"/>
              <a:cs typeface="Calibri"/>
              <a:sym typeface="Calibri"/>
            </a:endParaRPr>
          </a:p>
        </p:txBody>
      </p:sp>
      <p:pic>
        <p:nvPicPr>
          <p:cNvPr id="12"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245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744370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022"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F54A4596-5923-6342-9500-70E8F702680A}"/>
              </a:ext>
            </a:extLst>
          </p:cNvPr>
          <p:cNvSpPr/>
          <p:nvPr/>
        </p:nvSpPr>
        <p:spPr>
          <a:xfrm>
            <a:off x="1246909" y="417101"/>
            <a:ext cx="9539488" cy="1200329"/>
          </a:xfrm>
          <a:prstGeom prst="rect">
            <a:avLst/>
          </a:prstGeom>
        </p:spPr>
        <p:txBody>
          <a:bodyPr wrap="square">
            <a:spAutoFit/>
          </a:bodyPr>
          <a:lstStyle/>
          <a:p>
            <a:pPr marL="457200"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table below to compare the accuracy of Taylor and Kiran’s random samples. Be sure to show your work or explain your thinking. </a:t>
            </a:r>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93126076-6830-3940-84D9-517700EBE86B}"/>
                  </a:ext>
                </a:extLst>
              </p:cNvPr>
              <p:cNvGraphicFramePr>
                <a:graphicFrameLocks noGrp="1"/>
              </p:cNvGraphicFramePr>
              <p:nvPr>
                <p:extLst>
                  <p:ext uri="{D42A27DB-BD31-4B8C-83A1-F6EECF244321}">
                    <p14:modId xmlns:p14="http://schemas.microsoft.com/office/powerpoint/2010/main" val="2083513227"/>
                  </p:ext>
                </p:extLst>
              </p:nvPr>
            </p:nvGraphicFramePr>
            <p:xfrm>
              <a:off x="2638176" y="2233916"/>
              <a:ext cx="6915648" cy="3996690"/>
            </p:xfrm>
            <a:graphic>
              <a:graphicData uri="http://schemas.openxmlformats.org/drawingml/2006/table">
                <a:tbl>
                  <a:tblPr firstRow="1" firstCol="1" bandRow="1"/>
                  <a:tblGrid>
                    <a:gridCol w="93980">
                      <a:extLst>
                        <a:ext uri="{9D8B030D-6E8A-4147-A177-3AD203B41FA5}">
                          <a16:colId xmlns:a16="http://schemas.microsoft.com/office/drawing/2014/main" val="1678081939"/>
                        </a:ext>
                      </a:extLst>
                    </a:gridCol>
                    <a:gridCol w="3581376">
                      <a:extLst>
                        <a:ext uri="{9D8B030D-6E8A-4147-A177-3AD203B41FA5}">
                          <a16:colId xmlns:a16="http://schemas.microsoft.com/office/drawing/2014/main" val="2026288602"/>
                        </a:ext>
                      </a:extLst>
                    </a:gridCol>
                    <a:gridCol w="1646675">
                      <a:extLst>
                        <a:ext uri="{9D8B030D-6E8A-4147-A177-3AD203B41FA5}">
                          <a16:colId xmlns:a16="http://schemas.microsoft.com/office/drawing/2014/main" val="4168994142"/>
                        </a:ext>
                      </a:extLst>
                    </a:gridCol>
                    <a:gridCol w="1593617">
                      <a:extLst>
                        <a:ext uri="{9D8B030D-6E8A-4147-A177-3AD203B41FA5}">
                          <a16:colId xmlns:a16="http://schemas.microsoft.com/office/drawing/2014/main" val="1079090672"/>
                        </a:ext>
                      </a:extLst>
                    </a:gridCol>
                  </a:tblGrid>
                  <a:tr h="0">
                    <a:tc gridSpan="2">
                      <a:txBody>
                        <a:bodyPr/>
                        <a:lstStyle/>
                        <a:p>
                          <a:pPr marL="0" marR="0">
                            <a:spcBef>
                              <a:spcPts val="0"/>
                            </a:spcBef>
                            <a:spcAft>
                              <a:spcPts val="0"/>
                            </a:spcAft>
                          </a:pPr>
                          <a:r>
                            <a:rPr lang="en-US" sz="1800">
                              <a:effectLst/>
                              <a:latin typeface="Verdana" panose="020B0604030504040204" pitchFamily="34" charset="0"/>
                              <a:ea typeface="Times New Roman" panose="02020603050405020304" pitchFamily="18" charset="0"/>
                              <a:cs typeface="Cambria" panose="02040503050406030204" pitchFamily="18" charset="0"/>
                            </a:rPr>
                            <a:t>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hMerge="1">
                      <a:txBody>
                        <a:bodyPr/>
                        <a:lstStyle/>
                        <a:p>
                          <a:endParaRPr lang="x-none"/>
                        </a:p>
                      </a:txBody>
                      <a:tcPr/>
                    </a:tc>
                    <a:tc>
                      <a:txBody>
                        <a:bodyPr/>
                        <a:lstStyle/>
                        <a:p>
                          <a:pPr marL="0" marR="0" algn="ctr">
                            <a:spcBef>
                              <a:spcPts val="0"/>
                            </a:spcBef>
                            <a:spcAft>
                              <a:spcPts val="0"/>
                            </a:spcAft>
                          </a:pPr>
                          <a:r>
                            <a:rPr lang="en-US" sz="18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Taylor</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8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Kiran</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514467928"/>
                      </a:ext>
                    </a:extLst>
                  </a:tr>
                  <a:tr h="1240790">
                    <a:tc>
                      <a:txBody>
                        <a:bodyPr/>
                        <a:lstStyle/>
                        <a:p>
                          <a:pPr marL="0" marR="0">
                            <a:spcBef>
                              <a:spcPts val="0"/>
                            </a:spcBef>
                            <a:spcAft>
                              <a:spcPts val="1000"/>
                            </a:spcAft>
                          </a:pPr>
                          <a:r>
                            <a:rPr lang="x-none" sz="1200">
                              <a:effectLst/>
                              <a:latin typeface="Cambria" panose="02040503050406030204" pitchFamily="18" charset="0"/>
                              <a:ea typeface="Times New Roman" panose="02020603050405020304" pitchFamily="18" charset="0"/>
                              <a:cs typeface="Cambria" panose="02040503050406030204" pitchFamily="18" charset="0"/>
                            </a:rPr>
                            <a:t> </a:t>
                          </a:r>
                        </a:p>
                      </a:txBody>
                      <a:tcPr marL="0" marR="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spcBef>
                              <a:spcPts val="0"/>
                            </a:spcBef>
                            <a:spcAft>
                              <a:spcPts val="0"/>
                            </a:spcAft>
                          </a:pPr>
                          <a:r>
                            <a:rPr lang="en-US" sz="1800" b="1" u="sng">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Fraction</a:t>
                          </a:r>
                          <a:r>
                            <a:rPr lang="en-US" sz="18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of students surveyed who would dye their hair blue</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spcBef>
                              <a:spcPts val="0"/>
                            </a:spcBef>
                            <a:spcAft>
                              <a:spcPts val="0"/>
                            </a:spcAft>
                          </a:pPr>
                          <a:r>
                            <a:rPr lang="en-US" sz="1800">
                              <a:effectLst/>
                              <a:latin typeface="Verdana" panose="020B0604030504040204" pitchFamily="34" charset="0"/>
                              <a:ea typeface="Times New Roman" panose="02020603050405020304" pitchFamily="18" charset="0"/>
                              <a:cs typeface="Cambria" panose="02040503050406030204" pitchFamily="18" charset="0"/>
                            </a:rPr>
                            <a:t>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Times New Roman" panose="02020603050405020304" pitchFamily="18" charset="0"/>
                              <a:cs typeface="Cambria" panose="02040503050406030204" pitchFamily="18" charset="0"/>
                            </a:rPr>
                            <a:t>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98405972"/>
                      </a:ext>
                    </a:extLst>
                  </a:tr>
                  <a:tr h="1240790">
                    <a:tc>
                      <a:txBody>
                        <a:bodyPr/>
                        <a:lstStyle/>
                        <a:p>
                          <a:pPr marL="0" marR="0">
                            <a:spcBef>
                              <a:spcPts val="0"/>
                            </a:spcBef>
                            <a:spcAft>
                              <a:spcPts val="1000"/>
                            </a:spcAft>
                          </a:pPr>
                          <a:r>
                            <a:rPr lang="x-none" sz="1200">
                              <a:effectLst/>
                              <a:latin typeface="Cambria" panose="02040503050406030204" pitchFamily="18" charset="0"/>
                              <a:ea typeface="Times New Roman" panose="02020603050405020304" pitchFamily="18" charset="0"/>
                              <a:cs typeface="Cambria" panose="02040503050406030204" pitchFamily="18" charset="0"/>
                            </a:rPr>
                            <a:t> </a:t>
                          </a:r>
                        </a:p>
                      </a:txBody>
                      <a:tcPr marL="0" marR="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spcBef>
                              <a:spcPts val="0"/>
                            </a:spcBef>
                            <a:spcAft>
                              <a:spcPts val="0"/>
                            </a:spcAft>
                          </a:pPr>
                          <a:r>
                            <a:rPr lang="en-US" sz="1800" b="1" u="sng">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Percentage</a:t>
                          </a:r>
                          <a:r>
                            <a:rPr lang="en-US" sz="18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of students surveyed who would dye their hair blue</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spcBef>
                              <a:spcPts val="0"/>
                            </a:spcBef>
                            <a:spcAft>
                              <a:spcPts val="0"/>
                            </a:spcAft>
                          </a:pPr>
                          <a:r>
                            <a:rPr lang="en-US" sz="1800">
                              <a:effectLst/>
                              <a:latin typeface="Verdana" panose="020B0604030504040204" pitchFamily="34" charset="0"/>
                              <a:ea typeface="Times New Roman" panose="02020603050405020304" pitchFamily="18" charset="0"/>
                              <a:cs typeface="Cambria" panose="02040503050406030204" pitchFamily="18" charset="0"/>
                            </a:rPr>
                            <a:t>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Times New Roman" panose="02020603050405020304" pitchFamily="18" charset="0"/>
                              <a:cs typeface="Cambria" panose="02040503050406030204" pitchFamily="18" charset="0"/>
                            </a:rPr>
                            <a:t>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97368440"/>
                      </a:ext>
                    </a:extLst>
                  </a:tr>
                  <a:tr h="1240790">
                    <a:tc>
                      <a:txBody>
                        <a:bodyPr/>
                        <a:lstStyle/>
                        <a:p>
                          <a:pPr marL="0" marR="0">
                            <a:spcBef>
                              <a:spcPts val="0"/>
                            </a:spcBef>
                            <a:spcAft>
                              <a:spcPts val="1000"/>
                            </a:spcAft>
                          </a:pPr>
                          <a:r>
                            <a:rPr lang="x-none" sz="1200">
                              <a:effectLst/>
                              <a:latin typeface="Cambria" panose="02040503050406030204" pitchFamily="18" charset="0"/>
                              <a:ea typeface="Times New Roman" panose="02020603050405020304" pitchFamily="18" charset="0"/>
                              <a:cs typeface="Cambria" panose="02040503050406030204" pitchFamily="18" charset="0"/>
                            </a:rPr>
                            <a:t> </a:t>
                          </a:r>
                        </a:p>
                      </a:txBody>
                      <a:tcPr marL="0" marR="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spcBef>
                              <a:spcPts val="0"/>
                            </a:spcBef>
                            <a:spcAft>
                              <a:spcPts val="0"/>
                            </a:spcAft>
                          </a:pPr>
                          <a:r>
                            <a:rPr lang="en-US" sz="1800" b="1" u="sng">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Predicted number</a:t>
                          </a:r>
                          <a:r>
                            <a:rPr lang="en-US" sz="18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of the </a:t>
                          </a:r>
                          <a14:m>
                            <m:oMath xmlns:m="http://schemas.openxmlformats.org/officeDocument/2006/math">
                              <m:r>
                                <a:rPr lang="en-US" sz="1800" b="1"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𝟓𝟎𝟎</m:t>
                              </m:r>
                            </m:oMath>
                          </a14:m>
                          <a:r>
                            <a:rPr lang="en-US" sz="18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students in the school who would dye their hair blue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spcBef>
                              <a:spcPts val="0"/>
                            </a:spcBef>
                            <a:spcAft>
                              <a:spcPts val="0"/>
                            </a:spcAft>
                          </a:pPr>
                          <a:r>
                            <a:rPr lang="en-US" sz="1800">
                              <a:effectLst/>
                              <a:latin typeface="Verdana" panose="020B0604030504040204" pitchFamily="34" charset="0"/>
                              <a:ea typeface="Times New Roman" panose="02020603050405020304" pitchFamily="18" charset="0"/>
                              <a:cs typeface="Cambria" panose="02040503050406030204" pitchFamily="18" charset="0"/>
                            </a:rPr>
                            <a:t> </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dirty="0">
                              <a:effectLst/>
                              <a:latin typeface="Verdana" panose="020B0604030504040204" pitchFamily="34" charset="0"/>
                              <a:ea typeface="Times New Roman" panose="02020603050405020304" pitchFamily="18" charset="0"/>
                              <a:cs typeface="Cambria" panose="02040503050406030204" pitchFamily="18" charset="0"/>
                            </a:rPr>
                            <a:t> </a:t>
                          </a: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79919608"/>
                      </a:ext>
                    </a:extLst>
                  </a:tr>
                </a:tbl>
              </a:graphicData>
            </a:graphic>
          </p:graphicFrame>
        </mc:Choice>
        <mc:Fallback xmlns="">
          <p:graphicFrame>
            <p:nvGraphicFramePr>
              <p:cNvPr id="5" name="Table 4">
                <a:extLst>
                  <a:ext uri="{FF2B5EF4-FFF2-40B4-BE49-F238E27FC236}">
                    <a16:creationId xmlns:a16="http://schemas.microsoft.com/office/drawing/2014/main" id="{93126076-6830-3940-84D9-517700EBE86B}"/>
                  </a:ext>
                </a:extLst>
              </p:cNvPr>
              <p:cNvGraphicFramePr>
                <a:graphicFrameLocks noGrp="1"/>
              </p:cNvGraphicFramePr>
              <p:nvPr>
                <p:extLst>
                  <p:ext uri="{D42A27DB-BD31-4B8C-83A1-F6EECF244321}">
                    <p14:modId xmlns:p14="http://schemas.microsoft.com/office/powerpoint/2010/main" val="2083513227"/>
                  </p:ext>
                </p:extLst>
              </p:nvPr>
            </p:nvGraphicFramePr>
            <p:xfrm>
              <a:off x="1114176" y="2233916"/>
              <a:ext cx="6915648" cy="3996690"/>
            </p:xfrm>
            <a:graphic>
              <a:graphicData uri="http://schemas.openxmlformats.org/drawingml/2006/table">
                <a:tbl>
                  <a:tblPr firstRow="1" firstCol="1" bandRow="1"/>
                  <a:tblGrid>
                    <a:gridCol w="93980">
                      <a:extLst>
                        <a:ext uri="{9D8B030D-6E8A-4147-A177-3AD203B41FA5}">
                          <a16:colId xmlns:a16="http://schemas.microsoft.com/office/drawing/2014/main" val="1678081939"/>
                        </a:ext>
                      </a:extLst>
                    </a:gridCol>
                    <a:gridCol w="3581376">
                      <a:extLst>
                        <a:ext uri="{9D8B030D-6E8A-4147-A177-3AD203B41FA5}">
                          <a16:colId xmlns:a16="http://schemas.microsoft.com/office/drawing/2014/main" val="2026288602"/>
                        </a:ext>
                      </a:extLst>
                    </a:gridCol>
                    <a:gridCol w="1646675">
                      <a:extLst>
                        <a:ext uri="{9D8B030D-6E8A-4147-A177-3AD203B41FA5}">
                          <a16:colId xmlns:a16="http://schemas.microsoft.com/office/drawing/2014/main" val="4168994142"/>
                        </a:ext>
                      </a:extLst>
                    </a:gridCol>
                    <a:gridCol w="1593617">
                      <a:extLst>
                        <a:ext uri="{9D8B030D-6E8A-4147-A177-3AD203B41FA5}">
                          <a16:colId xmlns:a16="http://schemas.microsoft.com/office/drawing/2014/main" val="1079090672"/>
                        </a:ext>
                      </a:extLst>
                    </a:gridCol>
                  </a:tblGrid>
                  <a:tr h="274320">
                    <a:tc gridSpan="2">
                      <a:txBody>
                        <a:bodyPr/>
                        <a:lstStyle/>
                        <a:p>
                          <a:pPr marL="0" marR="0">
                            <a:spcBef>
                              <a:spcPts val="0"/>
                            </a:spcBef>
                            <a:spcAft>
                              <a:spcPts val="0"/>
                            </a:spcAft>
                          </a:pPr>
                          <a:r>
                            <a:rPr lang="en-US" sz="1800">
                              <a:effectLst/>
                              <a:latin typeface="Verdana" panose="020B0604030504040204" pitchFamily="34" charset="0"/>
                              <a:ea typeface="Times New Roman" panose="02020603050405020304" pitchFamily="18" charset="0"/>
                              <a:cs typeface="Cambria" panose="02040503050406030204" pitchFamily="18" charset="0"/>
                            </a:rPr>
                            <a:t> </a:t>
                          </a:r>
                          <a:endParaRPr lang="en-CO"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hMerge="1">
                      <a:txBody>
                        <a:bodyPr/>
                        <a:lstStyle/>
                        <a:p>
                          <a:endParaRPr lang="en-CO"/>
                        </a:p>
                      </a:txBody>
                      <a:tcPr/>
                    </a:tc>
                    <a:tc>
                      <a:txBody>
                        <a:bodyPr/>
                        <a:lstStyle/>
                        <a:p>
                          <a:pPr marL="0" marR="0" algn="ctr">
                            <a:spcBef>
                              <a:spcPts val="0"/>
                            </a:spcBef>
                            <a:spcAft>
                              <a:spcPts val="0"/>
                            </a:spcAft>
                          </a:pPr>
                          <a:r>
                            <a:rPr lang="en-US" sz="18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Taylor</a:t>
                          </a:r>
                          <a:endParaRPr lang="en-CO"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8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Kiran</a:t>
                          </a:r>
                          <a:endParaRPr lang="en-CO"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514467928"/>
                      </a:ext>
                    </a:extLst>
                  </a:tr>
                  <a:tr h="1240790">
                    <a:tc>
                      <a:txBody>
                        <a:bodyPr/>
                        <a:lstStyle/>
                        <a:p>
                          <a:pPr marL="0" marR="0">
                            <a:spcBef>
                              <a:spcPts val="0"/>
                            </a:spcBef>
                            <a:spcAft>
                              <a:spcPts val="1000"/>
                            </a:spcAft>
                          </a:pPr>
                          <a:r>
                            <a:rPr lang="en-CO" sz="1200">
                              <a:effectLst/>
                              <a:latin typeface="Cambria" panose="02040503050406030204" pitchFamily="18" charset="0"/>
                              <a:ea typeface="Times New Roman" panose="02020603050405020304" pitchFamily="18" charset="0"/>
                              <a:cs typeface="Cambria" panose="02040503050406030204" pitchFamily="18" charset="0"/>
                            </a:rPr>
                            <a:t> </a:t>
                          </a:r>
                        </a:p>
                      </a:txBody>
                      <a:tcPr marL="0" marR="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spcBef>
                              <a:spcPts val="0"/>
                            </a:spcBef>
                            <a:spcAft>
                              <a:spcPts val="0"/>
                            </a:spcAft>
                          </a:pPr>
                          <a:r>
                            <a:rPr lang="en-US" sz="1800" b="1" u="sng">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Fraction</a:t>
                          </a:r>
                          <a:r>
                            <a:rPr lang="en-US" sz="18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of students surveyed who would dye their hair blue</a:t>
                          </a:r>
                          <a:endParaRPr lang="en-CO"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spcBef>
                              <a:spcPts val="0"/>
                            </a:spcBef>
                            <a:spcAft>
                              <a:spcPts val="0"/>
                            </a:spcAft>
                          </a:pPr>
                          <a:r>
                            <a:rPr lang="en-US" sz="1800">
                              <a:effectLst/>
                              <a:latin typeface="Verdana" panose="020B0604030504040204" pitchFamily="34" charset="0"/>
                              <a:ea typeface="Times New Roman" panose="02020603050405020304" pitchFamily="18" charset="0"/>
                              <a:cs typeface="Cambria" panose="02040503050406030204" pitchFamily="18" charset="0"/>
                            </a:rPr>
                            <a:t> </a:t>
                          </a:r>
                          <a:endParaRPr lang="en-CO"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Times New Roman" panose="02020603050405020304" pitchFamily="18" charset="0"/>
                              <a:cs typeface="Cambria" panose="02040503050406030204" pitchFamily="18" charset="0"/>
                            </a:rPr>
                            <a:t> </a:t>
                          </a:r>
                          <a:endParaRPr lang="en-CO"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98405972"/>
                      </a:ext>
                    </a:extLst>
                  </a:tr>
                  <a:tr h="1240790">
                    <a:tc>
                      <a:txBody>
                        <a:bodyPr/>
                        <a:lstStyle/>
                        <a:p>
                          <a:pPr marL="0" marR="0">
                            <a:spcBef>
                              <a:spcPts val="0"/>
                            </a:spcBef>
                            <a:spcAft>
                              <a:spcPts val="1000"/>
                            </a:spcAft>
                          </a:pPr>
                          <a:r>
                            <a:rPr lang="en-CO" sz="1200">
                              <a:effectLst/>
                              <a:latin typeface="Cambria" panose="02040503050406030204" pitchFamily="18" charset="0"/>
                              <a:ea typeface="Times New Roman" panose="02020603050405020304" pitchFamily="18" charset="0"/>
                              <a:cs typeface="Cambria" panose="02040503050406030204" pitchFamily="18" charset="0"/>
                            </a:rPr>
                            <a:t> </a:t>
                          </a:r>
                        </a:p>
                      </a:txBody>
                      <a:tcPr marL="0" marR="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spcBef>
                              <a:spcPts val="0"/>
                            </a:spcBef>
                            <a:spcAft>
                              <a:spcPts val="0"/>
                            </a:spcAft>
                          </a:pPr>
                          <a:r>
                            <a:rPr lang="en-US" sz="1800" b="1" u="sng">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Percentage</a:t>
                          </a:r>
                          <a:r>
                            <a:rPr lang="en-US" sz="18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of students surveyed who would dye their hair blue</a:t>
                          </a:r>
                          <a:endParaRPr lang="en-CO"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spcBef>
                              <a:spcPts val="0"/>
                            </a:spcBef>
                            <a:spcAft>
                              <a:spcPts val="0"/>
                            </a:spcAft>
                          </a:pPr>
                          <a:r>
                            <a:rPr lang="en-US" sz="1800">
                              <a:effectLst/>
                              <a:latin typeface="Verdana" panose="020B0604030504040204" pitchFamily="34" charset="0"/>
                              <a:ea typeface="Times New Roman" panose="02020603050405020304" pitchFamily="18" charset="0"/>
                              <a:cs typeface="Cambria" panose="02040503050406030204" pitchFamily="18" charset="0"/>
                            </a:rPr>
                            <a:t> </a:t>
                          </a:r>
                          <a:endParaRPr lang="en-CO"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effectLst/>
                              <a:latin typeface="Verdana" panose="020B0604030504040204" pitchFamily="34" charset="0"/>
                              <a:ea typeface="Times New Roman" panose="02020603050405020304" pitchFamily="18" charset="0"/>
                              <a:cs typeface="Cambria" panose="02040503050406030204" pitchFamily="18" charset="0"/>
                            </a:rPr>
                            <a:t> </a:t>
                          </a:r>
                          <a:endParaRPr lang="en-CO"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97368440"/>
                      </a:ext>
                    </a:extLst>
                  </a:tr>
                  <a:tr h="1240790">
                    <a:tc>
                      <a:txBody>
                        <a:bodyPr/>
                        <a:lstStyle/>
                        <a:p>
                          <a:pPr marL="0" marR="0">
                            <a:spcBef>
                              <a:spcPts val="0"/>
                            </a:spcBef>
                            <a:spcAft>
                              <a:spcPts val="1000"/>
                            </a:spcAft>
                          </a:pPr>
                          <a:r>
                            <a:rPr lang="en-CO" sz="1200">
                              <a:effectLst/>
                              <a:latin typeface="Cambria" panose="02040503050406030204" pitchFamily="18" charset="0"/>
                              <a:ea typeface="Times New Roman" panose="02020603050405020304" pitchFamily="18" charset="0"/>
                              <a:cs typeface="Cambria" panose="02040503050406030204" pitchFamily="18" charset="0"/>
                            </a:rPr>
                            <a:t> </a:t>
                          </a:r>
                        </a:p>
                      </a:txBody>
                      <a:tcPr marL="0" marR="0" marT="0" marB="0" anchor="ctr">
                        <a:lnL>
                          <a:noFill/>
                        </a:lnL>
                        <a:lnR w="12700" cap="flat" cmpd="sng" algn="ctr">
                          <a:solidFill>
                            <a:srgbClr val="000000"/>
                          </a:solidFill>
                          <a:prstDash val="solid"/>
                          <a:round/>
                          <a:headEnd type="none" w="med" len="med"/>
                          <a:tailEnd type="none" w="med" len="med"/>
                        </a:lnR>
                        <a:lnT>
                          <a:noFill/>
                        </a:lnT>
                        <a:lnB>
                          <a:noFill/>
                        </a:lnB>
                      </a:tcPr>
                    </a:tc>
                    <a:tc>
                      <a:txBody>
                        <a:bodyPr/>
                        <a:lstStyle/>
                        <a:p>
                          <a:endParaRPr lang="en-CO"/>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2473" t="-228571" r="-90813" b="-5102"/>
                          </a:stretch>
                        </a:blipFill>
                      </a:tcPr>
                    </a:tc>
                    <a:tc>
                      <a:txBody>
                        <a:bodyPr/>
                        <a:lstStyle/>
                        <a:p>
                          <a:pPr marL="0" marR="0">
                            <a:spcBef>
                              <a:spcPts val="0"/>
                            </a:spcBef>
                            <a:spcAft>
                              <a:spcPts val="0"/>
                            </a:spcAft>
                          </a:pPr>
                          <a:r>
                            <a:rPr lang="en-US" sz="1800">
                              <a:effectLst/>
                              <a:latin typeface="Verdana" panose="020B0604030504040204" pitchFamily="34" charset="0"/>
                              <a:ea typeface="Times New Roman" panose="02020603050405020304" pitchFamily="18" charset="0"/>
                              <a:cs typeface="Cambria" panose="02040503050406030204" pitchFamily="18" charset="0"/>
                            </a:rPr>
                            <a:t> </a:t>
                          </a:r>
                          <a:endParaRPr lang="en-CO"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dirty="0">
                              <a:effectLst/>
                              <a:latin typeface="Verdana" panose="020B0604030504040204" pitchFamily="34" charset="0"/>
                              <a:ea typeface="Times New Roman" panose="02020603050405020304" pitchFamily="18" charset="0"/>
                              <a:cs typeface="Cambria" panose="02040503050406030204" pitchFamily="18" charset="0"/>
                            </a:rPr>
                            <a:t> </a:t>
                          </a:r>
                          <a:endParaRPr lang="en-CO"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79919608"/>
                      </a:ext>
                    </a:extLst>
                  </a:tr>
                </a:tbl>
              </a:graphicData>
            </a:graphic>
          </p:graphicFrame>
        </mc:Fallback>
      </mc:AlternateContent>
      <p:sp>
        <p:nvSpPr>
          <p:cNvPr id="7" name="Google Shape;282;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155</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245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518468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F54A4596-5923-6342-9500-70E8F702680A}"/>
              </a:ext>
            </a:extLst>
          </p:cNvPr>
          <p:cNvSpPr/>
          <p:nvPr/>
        </p:nvSpPr>
        <p:spPr>
          <a:xfrm>
            <a:off x="1343891" y="473732"/>
            <a:ext cx="9502484" cy="830997"/>
          </a:xfrm>
          <a:prstGeom prst="rect">
            <a:avLst/>
          </a:prstGeom>
        </p:spPr>
        <p:txBody>
          <a:bodyPr wrap="square">
            <a:spAutoFit/>
          </a:bodyPr>
          <a:lstStyle/>
          <a:p>
            <a:pPr marL="4572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Explain whose random sample likely produced the most accurate estimate.</a:t>
            </a:r>
          </a:p>
        </p:txBody>
      </p:sp>
      <p:sp>
        <p:nvSpPr>
          <p:cNvPr id="6" name="Google Shape;282;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155</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245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3815530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F54A4596-5923-6342-9500-70E8F702680A}"/>
              </a:ext>
            </a:extLst>
          </p:cNvPr>
          <p:cNvSpPr/>
          <p:nvPr/>
        </p:nvSpPr>
        <p:spPr>
          <a:xfrm>
            <a:off x="1039091" y="397920"/>
            <a:ext cx="10112084" cy="1938992"/>
          </a:xfrm>
          <a:prstGeom prst="rect">
            <a:avLst/>
          </a:prstGeom>
        </p:spPr>
        <p:txBody>
          <a:bodyPr wrap="square">
            <a:spAutoFit/>
          </a:bodyPr>
          <a:lstStyle/>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Ms. Jeffrey teaches seventh grade in Miami, Florida. She noticed many of her students talked about social media and wondered about what her students considered to be the impact of all their online activity. She conducted a random survey of 30 seventh-grade students asking them how they describe the effect of social media use on people their own age. The results are shown in the line plot below.   </a:t>
            </a:r>
          </a:p>
        </p:txBody>
      </p:sp>
      <p:pic>
        <p:nvPicPr>
          <p:cNvPr id="4" name="Picture 3" descr="A picture containing text, opener&#10;&#10;Description automatically generated">
            <a:extLst>
              <a:ext uri="{FF2B5EF4-FFF2-40B4-BE49-F238E27FC236}">
                <a16:creationId xmlns:a16="http://schemas.microsoft.com/office/drawing/2014/main" id="{4A487BDC-C8EC-A24E-A3C5-F10A31995BB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73511" y="3064869"/>
            <a:ext cx="3843244" cy="3392807"/>
          </a:xfrm>
          <a:prstGeom prst="rect">
            <a:avLst/>
          </a:prstGeom>
        </p:spPr>
      </p:pic>
      <p:sp>
        <p:nvSpPr>
          <p:cNvPr id="7" name="Google Shape;282;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155</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427872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F54A4596-5923-6342-9500-70E8F702680A}"/>
                  </a:ext>
                </a:extLst>
              </p:cNvPr>
              <p:cNvSpPr/>
              <p:nvPr/>
            </p:nvSpPr>
            <p:spPr>
              <a:xfrm>
                <a:off x="1039091" y="411366"/>
                <a:ext cx="9950720" cy="2677656"/>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According to a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2018</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Pew Research Center study of American teenagers,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24%</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of teen respondents said they believed social media has a mostly negative effect on people their own age.</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Explain how this compares to the percentage of  Ms. Jeffrey’s seventh-grade students who described social media as having a mostly negative effect.  </a:t>
                </a:r>
              </a:p>
            </p:txBody>
          </p:sp>
        </mc:Choice>
        <mc:Fallback>
          <p:sp>
            <p:nvSpPr>
              <p:cNvPr id="2" name="Rectangle 1">
                <a:extLst>
                  <a:ext uri="{FF2B5EF4-FFF2-40B4-BE49-F238E27FC236}">
                    <a16:creationId xmlns:a16="http://schemas.microsoft.com/office/drawing/2014/main" id="{F54A4596-5923-6342-9500-70E8F702680A}"/>
                  </a:ext>
                </a:extLst>
              </p:cNvPr>
              <p:cNvSpPr>
                <a:spLocks noRot="1" noChangeAspect="1" noMove="1" noResize="1" noEditPoints="1" noAdjustHandles="1" noChangeArrowheads="1" noChangeShapeType="1" noTextEdit="1"/>
              </p:cNvSpPr>
              <p:nvPr/>
            </p:nvSpPr>
            <p:spPr>
              <a:xfrm>
                <a:off x="1039091" y="411366"/>
                <a:ext cx="9950720" cy="2677656"/>
              </a:xfrm>
              <a:prstGeom prst="rect">
                <a:avLst/>
              </a:prstGeom>
              <a:blipFill>
                <a:blip r:embed="rId3"/>
                <a:stretch>
                  <a:fillRect l="-919" t="-2045" b="-4091"/>
                </a:stretch>
              </a:blipFill>
            </p:spPr>
            <p:txBody>
              <a:bodyPr/>
              <a:lstStyle/>
              <a:p>
                <a:r>
                  <a:rPr lang="en-PH">
                    <a:noFill/>
                  </a:rPr>
                  <a:t> </a:t>
                </a:r>
              </a:p>
            </p:txBody>
          </p:sp>
        </mc:Fallback>
      </mc:AlternateContent>
      <p:sp>
        <p:nvSpPr>
          <p:cNvPr id="6" name="Google Shape;282;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155</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2529037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F54A4596-5923-6342-9500-70E8F702680A}"/>
                  </a:ext>
                </a:extLst>
              </p:cNvPr>
              <p:cNvSpPr/>
              <p:nvPr/>
            </p:nvSpPr>
            <p:spPr>
              <a:xfrm>
                <a:off x="1066800" y="411367"/>
                <a:ext cx="9895302" cy="4524315"/>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There were about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1,546,397</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teenagers living in the state of Florida in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2018</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Predict the number of teenagers in the state of Florida who considered the effect of social media as mostly positive based on the data Ms. Jeffrey collected. </a:t>
                </a:r>
                <a:br>
                  <a:rPr lang="en-US" sz="2400" dirty="0">
                    <a:latin typeface="Verdana" panose="020B0604030504040204" pitchFamily="34" charset="0"/>
                    <a:ea typeface="Times New Roman" panose="02020603050405020304" pitchFamily="18" charset="0"/>
                    <a:cs typeface="Times New Roman" panose="02020603050405020304" pitchFamily="18" charset="0"/>
                  </a:rPr>
                </a:br>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Predict the number of teenagers in the state of Florida who considered the effect of social media as neither positive nor negative based on the data Ms. Jeffrey collected. </a:t>
                </a:r>
              </a:p>
            </p:txBody>
          </p:sp>
        </mc:Choice>
        <mc:Fallback xmlns="">
          <p:sp>
            <p:nvSpPr>
              <p:cNvPr id="2" name="Rectangle 1">
                <a:extLst>
                  <a:ext uri="{FF2B5EF4-FFF2-40B4-BE49-F238E27FC236}">
                    <a16:creationId xmlns:a16="http://schemas.microsoft.com/office/drawing/2014/main" xmlns:a14="http://schemas.microsoft.com/office/drawing/2010/main" xmlns="" id="{F54A4596-5923-6342-9500-70E8F702680A}"/>
                  </a:ext>
                </a:extLst>
              </p:cNvPr>
              <p:cNvSpPr>
                <a:spLocks noRot="1" noChangeAspect="1" noMove="1" noResize="1" noEditPoints="1" noAdjustHandles="1" noChangeArrowheads="1" noChangeShapeType="1" noTextEdit="1"/>
              </p:cNvSpPr>
              <p:nvPr/>
            </p:nvSpPr>
            <p:spPr>
              <a:xfrm>
                <a:off x="1066800" y="411367"/>
                <a:ext cx="9895302" cy="4524315"/>
              </a:xfrm>
              <a:prstGeom prst="rect">
                <a:avLst/>
              </a:prstGeom>
              <a:blipFill rotWithShape="0">
                <a:blip r:embed="rId3"/>
                <a:stretch>
                  <a:fillRect l="-924" t="-1211" r="-1294" b="-2019"/>
                </a:stretch>
              </a:blipFill>
            </p:spPr>
            <p:txBody>
              <a:bodyPr/>
              <a:lstStyle/>
              <a:p>
                <a:r>
                  <a:rPr lang="en-US">
                    <a:noFill/>
                  </a:rPr>
                  <a:t> </a:t>
                </a:r>
              </a:p>
            </p:txBody>
          </p:sp>
        </mc:Fallback>
      </mc:AlternateContent>
      <p:sp>
        <p:nvSpPr>
          <p:cNvPr id="6" name="Google Shape;282;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156</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9398894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F54A4596-5923-6342-9500-70E8F702680A}"/>
              </a:ext>
            </a:extLst>
          </p:cNvPr>
          <p:cNvSpPr/>
          <p:nvPr/>
        </p:nvSpPr>
        <p:spPr>
          <a:xfrm>
            <a:off x="1385455" y="411366"/>
            <a:ext cx="9257992" cy="1569660"/>
          </a:xfrm>
          <a:prstGeom prst="rect">
            <a:avLst/>
          </a:prstGeom>
        </p:spPr>
        <p:txBody>
          <a:bodyPr wrap="square">
            <a:spAutoFit/>
          </a:bodyPr>
          <a:lstStyle/>
          <a:p>
            <a:pPr marL="457200" indent="-457200">
              <a:buFont typeface="+mj-lt"/>
              <a:buAutoNum type="alphaLcPeriod" startAt="4"/>
            </a:pPr>
            <a:r>
              <a:rPr lang="en-US" sz="2400" dirty="0">
                <a:latin typeface="Verdana" panose="020B0604030504040204" pitchFamily="34" charset="0"/>
                <a:ea typeface="Times New Roman" panose="02020603050405020304" pitchFamily="18" charset="0"/>
                <a:cs typeface="Times New Roman" panose="02020603050405020304" pitchFamily="18" charset="0"/>
              </a:rPr>
              <a:t>Explain at least two factors that could account for differences in these estimates from the actual number of students who would have described the effect of social media in these ways. </a:t>
            </a:r>
          </a:p>
        </p:txBody>
      </p:sp>
      <p:graphicFrame>
        <p:nvGraphicFramePr>
          <p:cNvPr id="4" name="Table 3">
            <a:extLst>
              <a:ext uri="{FF2B5EF4-FFF2-40B4-BE49-F238E27FC236}">
                <a16:creationId xmlns:a16="http://schemas.microsoft.com/office/drawing/2014/main" id="{1B51CE44-2EA9-6442-9154-0B46A21B3B28}"/>
              </a:ext>
            </a:extLst>
          </p:cNvPr>
          <p:cNvGraphicFramePr>
            <a:graphicFrameLocks noGrp="1"/>
          </p:cNvGraphicFramePr>
          <p:nvPr>
            <p:extLst>
              <p:ext uri="{D42A27DB-BD31-4B8C-83A1-F6EECF244321}">
                <p14:modId xmlns:p14="http://schemas.microsoft.com/office/powerpoint/2010/main" val="4007964927"/>
              </p:ext>
            </p:extLst>
          </p:nvPr>
        </p:nvGraphicFramePr>
        <p:xfrm>
          <a:off x="3455185" y="2441610"/>
          <a:ext cx="5281631" cy="3872136"/>
        </p:xfrm>
        <a:graphic>
          <a:graphicData uri="http://schemas.openxmlformats.org/drawingml/2006/table">
            <a:tbl>
              <a:tblPr firstRow="1" firstCol="1" bandRow="1"/>
              <a:tblGrid>
                <a:gridCol w="5281631">
                  <a:extLst>
                    <a:ext uri="{9D8B030D-6E8A-4147-A177-3AD203B41FA5}">
                      <a16:colId xmlns:a16="http://schemas.microsoft.com/office/drawing/2014/main" val="506219168"/>
                    </a:ext>
                  </a:extLst>
                </a:gridCol>
              </a:tblGrid>
              <a:tr h="494798">
                <a:tc>
                  <a:txBody>
                    <a:bodyPr/>
                    <a:lstStyle/>
                    <a:p>
                      <a:pPr marL="228600" marR="0" algn="ctr">
                        <a:spcBef>
                          <a:spcPts val="0"/>
                        </a:spcBef>
                        <a:spcAft>
                          <a:spcPts val="0"/>
                        </a:spcAft>
                      </a:pPr>
                      <a:r>
                        <a:rPr lang="en-US" sz="1600" b="1">
                          <a:effectLst/>
                          <a:latin typeface="Verdana" panose="020B0604030504040204" pitchFamily="34" charset="0"/>
                          <a:ea typeface="Times New Roman" panose="02020603050405020304" pitchFamily="18" charset="0"/>
                          <a:cs typeface="Cambria" panose="02040503050406030204" pitchFamily="18" charset="0"/>
                        </a:rPr>
                        <a:t>Why are they different?</a:t>
                      </a:r>
                      <a:endParaRPr lang="x-none" sz="1100">
                        <a:effectLst/>
                        <a:latin typeface="Cambria" panose="02040503050406030204" pitchFamily="18" charset="0"/>
                        <a:ea typeface="Times New Roman" panose="02020603050405020304" pitchFamily="18" charset="0"/>
                        <a:cs typeface="Cambria" panose="02040503050406030204" pitchFamily="18" charset="0"/>
                      </a:endParaRPr>
                    </a:p>
                  </a:txBody>
                  <a:tcPr marL="61282" marR="6128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998756832"/>
                  </a:ext>
                </a:extLst>
              </a:tr>
              <a:tr h="1683562">
                <a:tc>
                  <a:txBody>
                    <a:bodyPr/>
                    <a:lstStyle/>
                    <a:p>
                      <a:pPr marL="342900" marR="0" lvl="0" indent="-342900" algn="l">
                        <a:spcBef>
                          <a:spcPts val="0"/>
                        </a:spcBef>
                        <a:spcAft>
                          <a:spcPts val="0"/>
                        </a:spcAft>
                        <a:buFont typeface="+mj-lt"/>
                        <a:buAutoNum type="arabicPeriod"/>
                      </a:pPr>
                      <a:r>
                        <a:rPr lang="en-US" sz="1600">
                          <a:effectLst/>
                          <a:latin typeface="Verdana" panose="020B0604030504040204" pitchFamily="34" charset="0"/>
                          <a:ea typeface="Times New Roman" panose="02020603050405020304" pitchFamily="18" charset="0"/>
                          <a:cs typeface="Cambria" panose="02040503050406030204" pitchFamily="18" charset="0"/>
                        </a:rPr>
                        <a:t> </a:t>
                      </a:r>
                      <a:endParaRPr lang="x-none" sz="1100">
                        <a:effectLst/>
                        <a:latin typeface="Cambria" panose="02040503050406030204" pitchFamily="18" charset="0"/>
                        <a:ea typeface="Times New Roman" panose="02020603050405020304" pitchFamily="18" charset="0"/>
                        <a:cs typeface="Cambria" panose="02040503050406030204" pitchFamily="18" charset="0"/>
                      </a:endParaRPr>
                    </a:p>
                  </a:txBody>
                  <a:tcPr marL="61282" marR="612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21259475"/>
                  </a:ext>
                </a:extLst>
              </a:tr>
              <a:tr h="1693776">
                <a:tc>
                  <a:txBody>
                    <a:bodyPr/>
                    <a:lstStyle/>
                    <a:p>
                      <a:pPr marL="342900" marR="0" lvl="0" indent="-342900" algn="l">
                        <a:spcBef>
                          <a:spcPts val="0"/>
                        </a:spcBef>
                        <a:spcAft>
                          <a:spcPts val="0"/>
                        </a:spcAft>
                        <a:buFont typeface="+mj-lt"/>
                        <a:buAutoNum type="arabicPeriod" startAt="2"/>
                      </a:pPr>
                      <a:r>
                        <a:rPr lang="en-US" sz="1600" dirty="0">
                          <a:effectLst/>
                          <a:latin typeface="Verdana" panose="020B0604030504040204" pitchFamily="34" charset="0"/>
                          <a:ea typeface="Times New Roman" panose="02020603050405020304" pitchFamily="18" charset="0"/>
                          <a:cs typeface="Cambria" panose="02040503050406030204" pitchFamily="18" charset="0"/>
                        </a:rPr>
                        <a:t> </a:t>
                      </a:r>
                      <a:endParaRPr lang="x-none" sz="1100" dirty="0">
                        <a:effectLst/>
                        <a:latin typeface="Cambria" panose="02040503050406030204" pitchFamily="18" charset="0"/>
                        <a:ea typeface="Times New Roman" panose="02020603050405020304" pitchFamily="18" charset="0"/>
                        <a:cs typeface="Cambria" panose="02040503050406030204" pitchFamily="18" charset="0"/>
                      </a:endParaRPr>
                    </a:p>
                  </a:txBody>
                  <a:tcPr marL="61282" marR="612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32564855"/>
                  </a:ext>
                </a:extLst>
              </a:tr>
            </a:tbl>
          </a:graphicData>
        </a:graphic>
      </p:graphicFrame>
      <p:sp>
        <p:nvSpPr>
          <p:cNvPr id="7" name="Google Shape;282;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156</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245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0589193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37839"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F54A4596-5923-6342-9500-70E8F702680A}"/>
              </a:ext>
            </a:extLst>
          </p:cNvPr>
          <p:cNvSpPr/>
          <p:nvPr/>
        </p:nvSpPr>
        <p:spPr>
          <a:xfrm>
            <a:off x="1399309" y="411367"/>
            <a:ext cx="9230284" cy="830997"/>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The results of the 2018 Pew Research Study are shown in the circle graph.</a:t>
            </a:r>
          </a:p>
        </p:txBody>
      </p:sp>
      <p:graphicFrame>
        <p:nvGraphicFramePr>
          <p:cNvPr id="7" name="Chart 6">
            <a:extLst>
              <a:ext uri="{FF2B5EF4-FFF2-40B4-BE49-F238E27FC236}">
                <a16:creationId xmlns:a16="http://schemas.microsoft.com/office/drawing/2014/main" id="{BACC9F4C-551B-2048-AB74-1A9DAB687D84}"/>
              </a:ext>
            </a:extLst>
          </p:cNvPr>
          <p:cNvGraphicFramePr/>
          <p:nvPr>
            <p:extLst>
              <p:ext uri="{D42A27DB-BD31-4B8C-83A1-F6EECF244321}">
                <p14:modId xmlns:p14="http://schemas.microsoft.com/office/powerpoint/2010/main" val="1442958404"/>
              </p:ext>
            </p:extLst>
          </p:nvPr>
        </p:nvGraphicFramePr>
        <p:xfrm>
          <a:off x="2933700" y="1538206"/>
          <a:ext cx="6324600" cy="445770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Box 6">
            <a:extLst>
              <a:ext uri="{FF2B5EF4-FFF2-40B4-BE49-F238E27FC236}">
                <a16:creationId xmlns:a16="http://schemas.microsoft.com/office/drawing/2014/main" id="{D2D46DE7-8820-A449-AE79-B30BD28508FD}"/>
              </a:ext>
            </a:extLst>
          </p:cNvPr>
          <p:cNvSpPr txBox="1"/>
          <p:nvPr/>
        </p:nvSpPr>
        <p:spPr>
          <a:xfrm>
            <a:off x="2561845" y="5031465"/>
            <a:ext cx="1993900" cy="8890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1000"/>
              </a:spcAft>
            </a:pPr>
            <a:r>
              <a:rPr lang="en-US" sz="1800" dirty="0">
                <a:latin typeface="Verdana" panose="020B0604030504040204" pitchFamily="34" charset="0"/>
                <a:ea typeface="Times New Roman" panose="02020603050405020304" pitchFamily="18" charset="0"/>
                <a:cs typeface="Cambria" panose="02040503050406030204" pitchFamily="18" charset="0"/>
              </a:rPr>
              <a:t>neither positive nor negative effect</a:t>
            </a:r>
            <a:endParaRPr lang="x-none" sz="1200" dirty="0">
              <a:latin typeface="Cambria" panose="02040503050406030204" pitchFamily="18" charset="0"/>
              <a:ea typeface="Times New Roman" panose="02020603050405020304" pitchFamily="18" charset="0"/>
              <a:cs typeface="Cambria" panose="02040503050406030204" pitchFamily="18" charset="0"/>
            </a:endParaRPr>
          </a:p>
        </p:txBody>
      </p:sp>
      <p:sp>
        <p:nvSpPr>
          <p:cNvPr id="9" name="Text Box 8">
            <a:extLst>
              <a:ext uri="{FF2B5EF4-FFF2-40B4-BE49-F238E27FC236}">
                <a16:creationId xmlns:a16="http://schemas.microsoft.com/office/drawing/2014/main" id="{BE6050C4-D522-8842-A61F-7B8FC82C36CE}"/>
              </a:ext>
            </a:extLst>
          </p:cNvPr>
          <p:cNvSpPr txBox="1"/>
          <p:nvPr/>
        </p:nvSpPr>
        <p:spPr>
          <a:xfrm>
            <a:off x="7686668" y="2339065"/>
            <a:ext cx="1104900" cy="9652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1000"/>
              </a:spcAft>
            </a:pPr>
            <a:r>
              <a:rPr lang="en-US" sz="1800">
                <a:latin typeface="Verdana" panose="020B0604030504040204" pitchFamily="34" charset="0"/>
                <a:ea typeface="Times New Roman" panose="02020603050405020304" pitchFamily="18" charset="0"/>
                <a:cs typeface="Cambria" panose="02040503050406030204" pitchFamily="18" charset="0"/>
              </a:rPr>
              <a:t>mostly positive effect</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sp>
        <p:nvSpPr>
          <p:cNvPr id="10" name="Google Shape;282;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156</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0407972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6"/>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F54A4596-5923-6342-9500-70E8F702680A}"/>
              </a:ext>
            </a:extLst>
          </p:cNvPr>
          <p:cNvSpPr/>
          <p:nvPr/>
        </p:nvSpPr>
        <p:spPr>
          <a:xfrm>
            <a:off x="1975926" y="411367"/>
            <a:ext cx="8077050" cy="4524315"/>
          </a:xfrm>
          <a:prstGeom prst="rect">
            <a:avLst/>
          </a:prstGeom>
        </p:spPr>
        <p:txBody>
          <a:bodyPr wrap="square">
            <a:spAutoFit/>
          </a:bodyPr>
          <a:lstStyle/>
          <a:p>
            <a:pPr marL="457200" indent="-457200">
              <a:buFont typeface="+mj-lt"/>
              <a:buAutoNum type="alphaLcPeriod" startAt="5"/>
            </a:pPr>
            <a:r>
              <a:rPr lang="en-US" sz="2400" dirty="0">
                <a:latin typeface="Verdana" panose="020B0604030504040204" pitchFamily="34" charset="0"/>
                <a:ea typeface="Times New Roman" panose="02020603050405020304" pitchFamily="18" charset="0"/>
                <a:cs typeface="Times New Roman" panose="02020603050405020304" pitchFamily="18" charset="0"/>
              </a:rPr>
              <a:t>The percentage of teens who describe social </a:t>
            </a:r>
          </a:p>
          <a:p>
            <a:pPr marL="457200" indent="-457200">
              <a:buFont typeface="+mj-lt"/>
              <a:buAutoNum type="alphaLcPeriod" startAt="5"/>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4025"/>
            <a:r>
              <a:rPr lang="en-US" sz="2400" dirty="0">
                <a:latin typeface="Verdana" panose="020B0604030504040204" pitchFamily="34" charset="0"/>
                <a:ea typeface="Times New Roman" panose="02020603050405020304" pitchFamily="18" charset="0"/>
                <a:cs typeface="Times New Roman" panose="02020603050405020304" pitchFamily="18" charset="0"/>
              </a:rPr>
              <a:t>media as having a positive effect on people </a:t>
            </a:r>
          </a:p>
          <a:p>
            <a:pPr marL="454025"/>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4025"/>
            <a:r>
              <a:rPr lang="en-US" sz="2400" dirty="0">
                <a:latin typeface="Verdana" panose="020B0604030504040204" pitchFamily="34" charset="0"/>
                <a:ea typeface="Times New Roman" panose="02020603050405020304" pitchFamily="18" charset="0"/>
                <a:cs typeface="Times New Roman" panose="02020603050405020304" pitchFamily="18" charset="0"/>
              </a:rPr>
              <a:t>their age is                    the percent of </a:t>
            </a:r>
          </a:p>
          <a:p>
            <a:pPr marL="454025"/>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4025"/>
            <a:r>
              <a:rPr lang="en-US" sz="2400" dirty="0">
                <a:latin typeface="Verdana" panose="020B0604030504040204" pitchFamily="34" charset="0"/>
                <a:ea typeface="Times New Roman" panose="02020603050405020304" pitchFamily="18" charset="0"/>
                <a:cs typeface="Times New Roman" panose="02020603050405020304" pitchFamily="18" charset="0"/>
              </a:rPr>
              <a:t>students who responded the same in Ms. </a:t>
            </a:r>
          </a:p>
          <a:p>
            <a:pPr marL="454025"/>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4025"/>
            <a:r>
              <a:rPr lang="en-US" sz="2400" dirty="0">
                <a:latin typeface="Verdana" panose="020B0604030504040204" pitchFamily="34" charset="0"/>
                <a:ea typeface="Times New Roman" panose="02020603050405020304" pitchFamily="18" charset="0"/>
                <a:cs typeface="Times New Roman" panose="02020603050405020304" pitchFamily="18" charset="0"/>
              </a:rPr>
              <a:t>Jeffrey’s survey. </a:t>
            </a:r>
          </a:p>
          <a:p>
            <a:pPr marL="454025"/>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4025"/>
            <a:r>
              <a:rPr lang="en-US" sz="2400" dirty="0">
                <a:latin typeface="Verdana" panose="020B0604030504040204" pitchFamily="34" charset="0"/>
                <a:ea typeface="Times New Roman" panose="02020603050405020304" pitchFamily="18" charset="0"/>
                <a:cs typeface="Times New Roman" panose="02020603050405020304" pitchFamily="18" charset="0"/>
              </a:rPr>
              <a:t>Write an explanation of why this may have happened.</a:t>
            </a:r>
          </a:p>
        </p:txBody>
      </p:sp>
      <p:pic>
        <p:nvPicPr>
          <p:cNvPr id="4" name="Picture 3" descr="Text&#10;&#10;Description automatically generated with medium confidence">
            <a:extLst>
              <a:ext uri="{FF2B5EF4-FFF2-40B4-BE49-F238E27FC236}">
                <a16:creationId xmlns:a16="http://schemas.microsoft.com/office/drawing/2014/main" id="{047FDA8F-481D-5046-901E-BFFA0FC801E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329580" y="1615558"/>
            <a:ext cx="1954679" cy="1098307"/>
          </a:xfrm>
          <a:prstGeom prst="rect">
            <a:avLst/>
          </a:prstGeom>
        </p:spPr>
      </p:pic>
      <p:sp>
        <p:nvSpPr>
          <p:cNvPr id="7" name="Google Shape;282;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156</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9522385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157</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433744" y="0"/>
            <a:ext cx="93909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10.9.5 Wrap-Up: Growth Mindset</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608768" y="242879"/>
            <a:ext cx="747300" cy="747300"/>
          </a:xfrm>
          <a:prstGeom prst="rect">
            <a:avLst/>
          </a:prstGeom>
          <a:noFill/>
          <a:ln>
            <a:noFill/>
          </a:ln>
        </p:spPr>
      </p:pic>
      <p:sp>
        <p:nvSpPr>
          <p:cNvPr id="2" name="Rectangle 1">
            <a:extLst>
              <a:ext uri="{FF2B5EF4-FFF2-40B4-BE49-F238E27FC236}">
                <a16:creationId xmlns:a16="http://schemas.microsoft.com/office/drawing/2014/main" id="{AE281112-0763-C941-9DB7-9B28C4EA4745}"/>
              </a:ext>
            </a:extLst>
          </p:cNvPr>
          <p:cNvSpPr/>
          <p:nvPr/>
        </p:nvSpPr>
        <p:spPr>
          <a:xfrm>
            <a:off x="1537855" y="1346520"/>
            <a:ext cx="8940178" cy="3477875"/>
          </a:xfrm>
          <a:prstGeom prst="rect">
            <a:avLst/>
          </a:prstGeom>
        </p:spPr>
        <p:txBody>
          <a:bodyPr wrap="square">
            <a:spAutoFit/>
          </a:bodyPr>
          <a:lstStyle/>
          <a:p>
            <a:r>
              <a:rPr lang="en-US" sz="2000" dirty="0">
                <a:latin typeface="Verdana" panose="020B0604030504040204" pitchFamily="34" charset="0"/>
                <a:ea typeface="Times New Roman" panose="02020603050405020304" pitchFamily="18" charset="0"/>
                <a:cs typeface="Times New Roman" panose="02020603050405020304" pitchFamily="18" charset="0"/>
              </a:rPr>
              <a:t>Complete the following sentences based on today’s learning target:</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360363"/>
            <a:r>
              <a:rPr lang="en-US" sz="2000" dirty="0">
                <a:latin typeface="Verdana" panose="020B0604030504040204" pitchFamily="34" charset="0"/>
                <a:ea typeface="Times New Roman" panose="02020603050405020304" pitchFamily="18" charset="0"/>
                <a:cs typeface="Times New Roman" panose="02020603050405020304" pitchFamily="18" charset="0"/>
              </a:rPr>
              <a:t>I can use proportional relationships to make predictions about a population. </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A barrier to my learning today was …</a:t>
            </a:r>
          </a:p>
          <a:p>
            <a:pPr marL="457200" indent="-4572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I will try to overcome this by …</a:t>
            </a:r>
          </a:p>
        </p:txBody>
      </p:sp>
      <p:sp>
        <p:nvSpPr>
          <p:cNvPr id="8" name="Google Shape;282;g104476d1465_1_17"/>
          <p:cNvSpPr txBox="1"/>
          <p:nvPr/>
        </p:nvSpPr>
        <p:spPr>
          <a:xfrm>
            <a:off x="8686350"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157</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24576"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68DE03B-01F5-4C8A-8FF4-4A8C895DE5FB}">
  <ds:schemaRefs>
    <ds:schemaRef ds:uri="http://schemas.microsoft.com/office/2006/metadata/properties"/>
    <ds:schemaRef ds:uri="http://schemas.microsoft.com/office/infopath/2007/PartnerControls"/>
    <ds:schemaRef ds:uri="c8f36ed4-5234-49bf-a7f7-5f171c3a2f56"/>
    <ds:schemaRef ds:uri="aecc3118-db6a-47b0-8115-3eb3ee12f279"/>
  </ds:schemaRefs>
</ds:datastoreItem>
</file>

<file path=customXml/itemProps2.xml><?xml version="1.0" encoding="utf-8"?>
<ds:datastoreItem xmlns:ds="http://schemas.openxmlformats.org/officeDocument/2006/customXml" ds:itemID="{09B2D137-1DF9-45BF-8195-CA5223194330}">
  <ds:schemaRefs>
    <ds:schemaRef ds:uri="http://schemas.microsoft.com/sharepoint/v3/contenttype/forms"/>
  </ds:schemaRefs>
</ds:datastoreItem>
</file>

<file path=customXml/itemProps3.xml><?xml version="1.0" encoding="utf-8"?>
<ds:datastoreItem xmlns:ds="http://schemas.openxmlformats.org/officeDocument/2006/customXml" ds:itemID="{9073BE4A-6170-4A8B-8146-720CA2E095F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f36ed4-5234-49bf-a7f7-5f171c3a2f56"/>
    <ds:schemaRef ds:uri="aecc3118-db6a-47b0-8115-3eb3ee12f2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3144</TotalTime>
  <Words>1783</Words>
  <Application>Microsoft Office PowerPoint</Application>
  <PresentationFormat>Widescreen</PresentationFormat>
  <Paragraphs>265</Paragraphs>
  <Slides>30</Slides>
  <Notes>29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30</vt:i4>
      </vt:variant>
    </vt:vector>
  </HeadingPairs>
  <TitlesOfParts>
    <vt:vector size="40" baseType="lpstr">
      <vt:lpstr>Arial</vt:lpstr>
      <vt:lpstr>Arial Black</vt:lpstr>
      <vt:lpstr>Calibri</vt:lpstr>
      <vt:lpstr>Cambria</vt:lpstr>
      <vt:lpstr>Cambria Math</vt:lpstr>
      <vt:lpstr>Century Gothic</vt:lpstr>
      <vt:lpstr>Cutive</vt:lpstr>
      <vt:lpstr>Verdana</vt:lpstr>
      <vt:lpstr>Wingdings</vt:lpstr>
      <vt:lpstr>1_Office Theme</vt:lpstr>
      <vt:lpstr>6th Grade Accelerated Math  Unit 10, Lesson 9  Making Population Predictions –  Part 1  Volume 2, pg. 152  </vt:lpstr>
      <vt:lpstr>Benchmark</vt:lpstr>
      <vt:lpstr>PowerPoint Presentation</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vaanmx</cp:lastModifiedBy>
  <cp:revision>32</cp:revision>
  <dcterms:created xsi:type="dcterms:W3CDTF">2015-03-17T18:51:18Z</dcterms:created>
  <dcterms:modified xsi:type="dcterms:W3CDTF">2023-06-30T04:55:11Z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y fmtid="{D5CDD505-2E9C-101B-9397-08002B2CF9AE}" pid="3" name="MediaServiceImageTags">
    <vt:lpwstr/>
  </property>
</Properties>
</file>