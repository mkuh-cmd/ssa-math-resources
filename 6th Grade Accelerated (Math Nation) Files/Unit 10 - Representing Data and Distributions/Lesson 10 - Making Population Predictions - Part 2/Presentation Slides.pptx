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4"/>
  </p:sldMasterIdLst>
  <p:notesMasterIdLst>
    <p:notesMasterId r:id="rId30"/>
  </p:notesMasterIdLst>
  <p:sldIdLst>
    <p:sldId id="256" r:id="rId5"/>
    <p:sldId id="257" r:id="rId6"/>
    <p:sldId id="345" r:id="rId7"/>
    <p:sldId id="286" r:id="rId8"/>
    <p:sldId id="261" r:id="rId9"/>
    <p:sldId id="287" r:id="rId10"/>
    <p:sldId id="289" r:id="rId11"/>
    <p:sldId id="290" r:id="rId12"/>
    <p:sldId id="389" r:id="rId13"/>
    <p:sldId id="390" r:id="rId14"/>
    <p:sldId id="391" r:id="rId15"/>
    <p:sldId id="392" r:id="rId16"/>
    <p:sldId id="393" r:id="rId17"/>
    <p:sldId id="394" r:id="rId18"/>
    <p:sldId id="314" r:id="rId19"/>
    <p:sldId id="315" r:id="rId20"/>
    <p:sldId id="316" r:id="rId21"/>
    <p:sldId id="339" r:id="rId22"/>
    <p:sldId id="387" r:id="rId23"/>
    <p:sldId id="388" r:id="rId24"/>
    <p:sldId id="395" r:id="rId25"/>
    <p:sldId id="396" r:id="rId26"/>
    <p:sldId id="306" r:id="rId27"/>
    <p:sldId id="307" r:id="rId28"/>
    <p:sldId id="397"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9"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B6A"/>
    <a:srgbClr val="E24E5F"/>
    <a:srgbClr val="6ABC5E"/>
    <a:srgbClr val="BFBFBF"/>
    <a:srgbClr val="C9DF6F"/>
    <a:srgbClr val="417DBF"/>
    <a:srgbClr val="3F2A67"/>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30"/>
    <p:restoredTop sz="94695"/>
  </p:normalViewPr>
  <p:slideViewPr>
    <p:cSldViewPr snapToGrid="0">
      <p:cViewPr varScale="1">
        <p:scale>
          <a:sx n="53" d="100"/>
          <a:sy n="53" d="100"/>
        </p:scale>
        <p:origin x="84" y="48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63"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59"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61"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800" b="1">
                <a:solidFill>
                  <a:schemeClr val="tx1"/>
                </a:solidFill>
                <a:latin typeface="Verdana" panose="020B0604030504040204" pitchFamily="34" charset="0"/>
                <a:ea typeface="Verdana" panose="020B0604030504040204" pitchFamily="34" charset="0"/>
                <a:cs typeface="Verdana" panose="020B0604030504040204" pitchFamily="34" charset="0"/>
              </a:rPr>
              <a:t>Mode of Transportation to School</a:t>
            </a: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159435631207864"/>
          <c:y val="0.110105254574231"/>
          <c:w val="0.84056436879213603"/>
          <c:h val="0.810842493738965"/>
        </c:manualLayout>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Sheet1!$A$2:$A$5</c:f>
              <c:strCache>
                <c:ptCount val="4"/>
                <c:pt idx="0">
                  <c:v>Bus</c:v>
                </c:pt>
                <c:pt idx="1">
                  <c:v>Car</c:v>
                </c:pt>
                <c:pt idx="2">
                  <c:v>Bike</c:v>
                </c:pt>
                <c:pt idx="3">
                  <c:v>Walk</c:v>
                </c:pt>
              </c:strCache>
            </c:strRef>
          </c:cat>
          <c:val>
            <c:numRef>
              <c:f>Sheet1!$B$2:$B$5</c:f>
              <c:numCache>
                <c:formatCode>General</c:formatCode>
                <c:ptCount val="4"/>
                <c:pt idx="0">
                  <c:v>129</c:v>
                </c:pt>
                <c:pt idx="1">
                  <c:v>71</c:v>
                </c:pt>
                <c:pt idx="2">
                  <c:v>65</c:v>
                </c:pt>
                <c:pt idx="3">
                  <c:v>35</c:v>
                </c:pt>
              </c:numCache>
            </c:numRef>
          </c:val>
          <c:extLst>
            <c:ext xmlns:c16="http://schemas.microsoft.com/office/drawing/2014/chart" uri="{C3380CC4-5D6E-409C-BE32-E72D297353CC}">
              <c16:uniqueId val="{00000000-ABC0-B84B-B989-09A2F9022548}"/>
            </c:ext>
          </c:extLst>
        </c:ser>
        <c:ser>
          <c:idx val="1"/>
          <c:order val="1"/>
          <c:tx>
            <c:strRef>
              <c:f>Sheet1!$C$1</c:f>
              <c:strCache>
                <c:ptCount val="1"/>
                <c:pt idx="0">
                  <c:v>Column1</c:v>
                </c:pt>
              </c:strCache>
            </c:strRef>
          </c:tx>
          <c:spPr>
            <a:solidFill>
              <a:schemeClr val="accent2"/>
            </a:solidFill>
            <a:ln>
              <a:noFill/>
            </a:ln>
            <a:effectLst/>
          </c:spPr>
          <c:invertIfNegative val="0"/>
          <c:cat>
            <c:strRef>
              <c:f>Sheet1!$A$2:$A$5</c:f>
              <c:strCache>
                <c:ptCount val="4"/>
                <c:pt idx="0">
                  <c:v>Bus</c:v>
                </c:pt>
                <c:pt idx="1">
                  <c:v>Car</c:v>
                </c:pt>
                <c:pt idx="2">
                  <c:v>Bike</c:v>
                </c:pt>
                <c:pt idx="3">
                  <c:v>Walk</c:v>
                </c:pt>
              </c:strCache>
            </c:strRef>
          </c:cat>
          <c:val>
            <c:numRef>
              <c:f>Sheet1!$C$2:$C$5</c:f>
              <c:numCache>
                <c:formatCode>General</c:formatCode>
                <c:ptCount val="4"/>
              </c:numCache>
            </c:numRef>
          </c:val>
          <c:extLst>
            <c:ext xmlns:c16="http://schemas.microsoft.com/office/drawing/2014/chart" uri="{C3380CC4-5D6E-409C-BE32-E72D297353CC}">
              <c16:uniqueId val="{00000001-ABC0-B84B-B989-09A2F9022548}"/>
            </c:ext>
          </c:extLst>
        </c:ser>
        <c:ser>
          <c:idx val="2"/>
          <c:order val="2"/>
          <c:tx>
            <c:strRef>
              <c:f>Sheet1!$D$1</c:f>
              <c:strCache>
                <c:ptCount val="1"/>
                <c:pt idx="0">
                  <c:v>Column2</c:v>
                </c:pt>
              </c:strCache>
            </c:strRef>
          </c:tx>
          <c:spPr>
            <a:solidFill>
              <a:schemeClr val="accent3"/>
            </a:solidFill>
            <a:ln>
              <a:noFill/>
            </a:ln>
            <a:effectLst/>
          </c:spPr>
          <c:invertIfNegative val="0"/>
          <c:cat>
            <c:strRef>
              <c:f>Sheet1!$A$2:$A$5</c:f>
              <c:strCache>
                <c:ptCount val="4"/>
                <c:pt idx="0">
                  <c:v>Bus</c:v>
                </c:pt>
                <c:pt idx="1">
                  <c:v>Car</c:v>
                </c:pt>
                <c:pt idx="2">
                  <c:v>Bike</c:v>
                </c:pt>
                <c:pt idx="3">
                  <c:v>Walk</c:v>
                </c:pt>
              </c:strCache>
            </c:strRef>
          </c:cat>
          <c:val>
            <c:numRef>
              <c:f>Sheet1!$D$2:$D$5</c:f>
              <c:numCache>
                <c:formatCode>General</c:formatCode>
                <c:ptCount val="4"/>
              </c:numCache>
            </c:numRef>
          </c:val>
          <c:extLst>
            <c:ext xmlns:c16="http://schemas.microsoft.com/office/drawing/2014/chart" uri="{C3380CC4-5D6E-409C-BE32-E72D297353CC}">
              <c16:uniqueId val="{00000002-ABC0-B84B-B989-09A2F9022548}"/>
            </c:ext>
          </c:extLst>
        </c:ser>
        <c:dLbls>
          <c:showLegendKey val="0"/>
          <c:showVal val="0"/>
          <c:showCatName val="0"/>
          <c:showSerName val="0"/>
          <c:showPercent val="0"/>
          <c:showBubbleSize val="0"/>
        </c:dLbls>
        <c:gapWidth val="150"/>
        <c:overlap val="100"/>
        <c:axId val="1384513408"/>
        <c:axId val="1384357488"/>
      </c:barChart>
      <c:catAx>
        <c:axId val="13845134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t" anchorCtr="0"/>
          <a:lstStyle/>
          <a:p>
            <a:pPr>
              <a:defRPr sz="1800" b="0" i="0" u="none" strike="noStrike" kern="1200" baseline="0">
                <a:solidFill>
                  <a:schemeClr val="tx1"/>
                </a:solidFill>
                <a:latin typeface="Verdana" panose="020B0604030504040204" pitchFamily="34" charset="0"/>
                <a:ea typeface="Verdana" panose="020B0604030504040204" pitchFamily="34" charset="0"/>
                <a:cs typeface="Verdana" panose="020B0604030504040204" pitchFamily="34" charset="0"/>
              </a:defRPr>
            </a:pPr>
            <a:endParaRPr lang="en-US"/>
          </a:p>
        </c:txPr>
        <c:crossAx val="1384357488"/>
        <c:crosses val="autoZero"/>
        <c:auto val="1"/>
        <c:lblAlgn val="ctr"/>
        <c:lblOffset val="10"/>
        <c:noMultiLvlLbl val="0"/>
      </c:catAx>
      <c:valAx>
        <c:axId val="1384357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en-US"/>
          </a:p>
        </c:txPr>
        <c:crossAx val="1384513408"/>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353817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68433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5281033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648637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881059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9940645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575234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8685309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8694300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0248322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34141300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21317411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15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0.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60.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Accelerated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10, Lesson 10</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Making Population Predictions –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Part 2</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158</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Logo&#10;&#10;Description automatically generated">
            <a:extLst>
              <a:ext uri="{FF2B5EF4-FFF2-40B4-BE49-F238E27FC236}">
                <a16:creationId xmlns:a16="http://schemas.microsoft.com/office/drawing/2014/main" id="{6B55A7F8-D2A2-F47E-18DE-7494D941B82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76752" y="1829054"/>
            <a:ext cx="3126752" cy="3644900"/>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22608"/>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581316" y="12731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757816" y="36308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158</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581316" y="1307592"/>
            <a:ext cx="9029368"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panose="020B0604030504040204" pitchFamily="34" charset="0"/>
                <a:ea typeface="Verdana" panose="020B0604030504040204" pitchFamily="34" charset="0"/>
                <a:cs typeface="Verdana" panose="020B0604030504040204" pitchFamily="34" charset="0"/>
              </a:rPr>
              <a:t>MA.7.DP.1.3</a:t>
            </a:r>
          </a:p>
          <a:p>
            <a:pPr marL="552450" lvl="1" indent="0">
              <a:buNone/>
            </a:pPr>
            <a:r>
              <a:rPr lang="en-US" sz="2400" dirty="0">
                <a:latin typeface="Verdana" panose="020B0604030504040204" pitchFamily="34" charset="0"/>
                <a:ea typeface="Verdana" panose="020B0604030504040204" pitchFamily="34" charset="0"/>
                <a:cs typeface="Verdana" panose="020B0604030504040204" pitchFamily="34" charset="0"/>
              </a:rPr>
              <a:t>Given categorical data from a random sample, use proportional relationships to make predictions about a population.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815191" y="372300"/>
            <a:ext cx="747300" cy="747300"/>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639841"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1639841" y="1455367"/>
            <a:ext cx="8912318" cy="474523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MA.K12.MTR.6.1 Assess the reasonableness of solutions.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8"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158</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464585" y="126194"/>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682423" y="415394"/>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29723" y="1600200"/>
            <a:ext cx="933255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I can use proportional relationships to make predictions about a population.</a:t>
            </a:r>
          </a:p>
        </p:txBody>
      </p:sp>
      <p:sp>
        <p:nvSpPr>
          <p:cNvPr id="8"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416704" y="81108"/>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10.10.1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669404" y="292003"/>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1296537" y="1229415"/>
            <a:ext cx="9691854" cy="101566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Antonia and her aunt go fishing at Lake Okeechobee every Sunday. For the past four Sundays, Antonia has kept track of what kinds of fish they caught. </a:t>
            </a:r>
          </a:p>
        </p:txBody>
      </p:sp>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 name="Table 3">
            <a:extLst>
              <a:ext uri="{FF2B5EF4-FFF2-40B4-BE49-F238E27FC236}">
                <a16:creationId xmlns:a16="http://schemas.microsoft.com/office/drawing/2014/main" id="{86AFCAD7-E0E5-E94C-B041-BFCCE7E6483F}"/>
              </a:ext>
            </a:extLst>
          </p:cNvPr>
          <p:cNvGraphicFramePr>
            <a:graphicFrameLocks noGrp="1"/>
          </p:cNvGraphicFramePr>
          <p:nvPr>
            <p:extLst>
              <p:ext uri="{D42A27DB-BD31-4B8C-83A1-F6EECF244321}">
                <p14:modId xmlns:p14="http://schemas.microsoft.com/office/powerpoint/2010/main" val="1054351149"/>
              </p:ext>
            </p:extLst>
          </p:nvPr>
        </p:nvGraphicFramePr>
        <p:xfrm>
          <a:off x="2685857" y="2390492"/>
          <a:ext cx="6820287" cy="2672548"/>
        </p:xfrm>
        <a:graphic>
          <a:graphicData uri="http://schemas.openxmlformats.org/drawingml/2006/table">
            <a:tbl>
              <a:tblPr firstRow="1" firstCol="1" bandRow="1"/>
              <a:tblGrid>
                <a:gridCol w="1544610">
                  <a:extLst>
                    <a:ext uri="{9D8B030D-6E8A-4147-A177-3AD203B41FA5}">
                      <a16:colId xmlns:a16="http://schemas.microsoft.com/office/drawing/2014/main" val="1221102430"/>
                    </a:ext>
                  </a:extLst>
                </a:gridCol>
                <a:gridCol w="1196519">
                  <a:extLst>
                    <a:ext uri="{9D8B030D-6E8A-4147-A177-3AD203B41FA5}">
                      <a16:colId xmlns:a16="http://schemas.microsoft.com/office/drawing/2014/main" val="729352809"/>
                    </a:ext>
                  </a:extLst>
                </a:gridCol>
                <a:gridCol w="1137136">
                  <a:extLst>
                    <a:ext uri="{9D8B030D-6E8A-4147-A177-3AD203B41FA5}">
                      <a16:colId xmlns:a16="http://schemas.microsoft.com/office/drawing/2014/main" val="2606684050"/>
                    </a:ext>
                  </a:extLst>
                </a:gridCol>
                <a:gridCol w="1205364">
                  <a:extLst>
                    <a:ext uri="{9D8B030D-6E8A-4147-A177-3AD203B41FA5}">
                      <a16:colId xmlns:a16="http://schemas.microsoft.com/office/drawing/2014/main" val="3843374125"/>
                    </a:ext>
                  </a:extLst>
                </a:gridCol>
                <a:gridCol w="1736658">
                  <a:extLst>
                    <a:ext uri="{9D8B030D-6E8A-4147-A177-3AD203B41FA5}">
                      <a16:colId xmlns:a16="http://schemas.microsoft.com/office/drawing/2014/main" val="1234967352"/>
                    </a:ext>
                  </a:extLst>
                </a:gridCol>
              </a:tblGrid>
              <a:tr h="397662">
                <a:tc>
                  <a:txBody>
                    <a:bodyPr/>
                    <a:lstStyle/>
                    <a:p>
                      <a:pPr marL="0" marR="0" algn="ctr">
                        <a:spcBef>
                          <a:spcPts val="0"/>
                        </a:spcBef>
                        <a:spcAft>
                          <a:spcPts val="0"/>
                        </a:spcAft>
                      </a:pPr>
                      <a:r>
                        <a:rPr lang="en-US" sz="1600" b="1">
                          <a:effectLst/>
                          <a:latin typeface="Verdana" panose="020B0604030504040204" pitchFamily="34" charset="0"/>
                          <a:ea typeface="Times New Roman" panose="02020603050405020304" pitchFamily="18" charset="0"/>
                          <a:cs typeface="Cambria" panose="02040503050406030204" pitchFamily="18" charset="0"/>
                        </a:rPr>
                        <a:t> </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Bluegill</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Bream</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Crappie</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Largemouth Bass</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013920978"/>
                  </a:ext>
                </a:extLst>
              </a:tr>
              <a:tr h="965668">
                <a:tc>
                  <a:txBody>
                    <a:bodyPr/>
                    <a:lstStyle/>
                    <a:p>
                      <a:pPr marL="0" marR="0" algn="ctr">
                        <a:spcBef>
                          <a:spcPts val="0"/>
                        </a:spcBef>
                        <a:spcAft>
                          <a:spcPts val="0"/>
                        </a:spcAft>
                      </a:pPr>
                      <a:r>
                        <a:rPr lang="en-US" sz="16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Number of Fish Caught Last Month</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a:effectLst/>
                          <a:latin typeface="Cambria Math" panose="02040503050406030204" pitchFamily="18" charset="0"/>
                          <a:ea typeface="Times New Roman" panose="02020603050405020304" pitchFamily="18" charset="0"/>
                          <a:cs typeface="Cambria" panose="02040503050406030204" pitchFamily="18" charset="0"/>
                        </a:rPr>
                        <a:t>10</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a:effectLst/>
                          <a:latin typeface="Cambria Math" panose="02040503050406030204" pitchFamily="18" charset="0"/>
                          <a:ea typeface="Times New Roman" panose="02020603050405020304" pitchFamily="18" charset="0"/>
                          <a:cs typeface="Cambria" panose="02040503050406030204" pitchFamily="18" charset="0"/>
                        </a:rPr>
                        <a:t>12</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a:effectLst/>
                          <a:latin typeface="Cambria Math" panose="02040503050406030204" pitchFamily="18" charset="0"/>
                          <a:ea typeface="Times New Roman" panose="02020603050405020304" pitchFamily="18" charset="0"/>
                          <a:cs typeface="Cambria" panose="02040503050406030204" pitchFamily="18" charset="0"/>
                        </a:rPr>
                        <a:t>20</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a:effectLst/>
                          <a:latin typeface="Cambria Math" panose="02040503050406030204" pitchFamily="18" charset="0"/>
                          <a:ea typeface="Times New Roman" panose="02020603050405020304" pitchFamily="18" charset="0"/>
                          <a:cs typeface="Cambria" panose="02040503050406030204" pitchFamily="18" charset="0"/>
                        </a:rPr>
                        <a:t>8</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8444310"/>
                  </a:ext>
                </a:extLst>
              </a:tr>
              <a:tr h="1158803">
                <a:tc>
                  <a:txBody>
                    <a:bodyPr/>
                    <a:lstStyle/>
                    <a:p>
                      <a:pPr marL="0" marR="0" algn="ctr">
                        <a:spcBef>
                          <a:spcPts val="0"/>
                        </a:spcBef>
                        <a:spcAft>
                          <a:spcPts val="0"/>
                        </a:spcAft>
                      </a:pPr>
                      <a:r>
                        <a:rPr lang="en-US" sz="16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Expected Number of Fish to Be Caught Next Sunday</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a:effectLst/>
                          <a:latin typeface="Verdana" panose="020B0604030504040204" pitchFamily="34" charset="0"/>
                          <a:ea typeface="Times New Roman" panose="02020603050405020304" pitchFamily="18" charset="0"/>
                          <a:cs typeface="Cambria" panose="02040503050406030204" pitchFamily="18" charset="0"/>
                        </a:rPr>
                        <a:t> </a:t>
                      </a:r>
                      <a:endParaRPr lang="x-none" sz="100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600" dirty="0">
                          <a:effectLst/>
                          <a:latin typeface="Verdana" panose="020B0604030504040204" pitchFamily="34" charset="0"/>
                          <a:ea typeface="Times New Roman" panose="02020603050405020304" pitchFamily="18" charset="0"/>
                          <a:cs typeface="Cambria" panose="02040503050406030204" pitchFamily="18" charset="0"/>
                        </a:rPr>
                        <a:t> </a:t>
                      </a:r>
                      <a:endParaRPr lang="x-none" sz="1000" dirty="0">
                        <a:effectLst/>
                        <a:latin typeface="Cambria" panose="02040503050406030204" pitchFamily="18" charset="0"/>
                        <a:ea typeface="Times New Roman" panose="02020603050405020304" pitchFamily="18" charset="0"/>
                        <a:cs typeface="Cambria" panose="02040503050406030204" pitchFamily="18" charset="0"/>
                      </a:endParaRPr>
                    </a:p>
                  </a:txBody>
                  <a:tcPr marL="59213" marR="5921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18160819"/>
                  </a:ext>
                </a:extLst>
              </a:tr>
            </a:tbl>
          </a:graphicData>
        </a:graphic>
      </p:graphicFrame>
      <p:sp>
        <p:nvSpPr>
          <p:cNvPr id="14" name="TextBox 13">
            <a:extLst>
              <a:ext uri="{FF2B5EF4-FFF2-40B4-BE49-F238E27FC236}">
                <a16:creationId xmlns:a16="http://schemas.microsoft.com/office/drawing/2014/main" id="{CD34A9FE-268D-2E46-BE08-1D38DE22AF0E}"/>
              </a:ext>
            </a:extLst>
          </p:cNvPr>
          <p:cNvSpPr txBox="1"/>
          <p:nvPr/>
        </p:nvSpPr>
        <p:spPr>
          <a:xfrm>
            <a:off x="1296537" y="5297833"/>
            <a:ext cx="9691854"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the table to show what type and how many fish Antonia and her aunt are likely to catch next Sunday when they go fishing. </a:t>
            </a:r>
          </a:p>
        </p:txBody>
      </p:sp>
      <p:sp>
        <p:nvSpPr>
          <p:cNvPr id="16"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158</a:t>
            </a:r>
            <a:endParaRPr i="1" dirty="0">
              <a:latin typeface="Calibri"/>
              <a:ea typeface="Calibri"/>
              <a:cs typeface="Calibri"/>
              <a:sym typeface="Calibri"/>
            </a:endParaRPr>
          </a:p>
        </p:txBody>
      </p:sp>
      <p:pic>
        <p:nvPicPr>
          <p:cNvPr id="1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11" name="image12.png" descr="Icon&#10;&#10;Description automatically generated">
            <a:extLst>
              <a:ext uri="{FF2B5EF4-FFF2-40B4-BE49-F238E27FC236}">
                <a16:creationId xmlns:a16="http://schemas.microsoft.com/office/drawing/2014/main" id="{3501F1CE-D85A-CA4F-857E-3CE972828358}"/>
              </a:ext>
            </a:extLst>
          </p:cNvPr>
          <p:cNvPicPr/>
          <p:nvPr/>
        </p:nvPicPr>
        <p:blipFill>
          <a:blip r:embed="rId3"/>
          <a:srcRect/>
          <a:stretch>
            <a:fillRect/>
          </a:stretch>
        </p:blipFill>
        <p:spPr>
          <a:xfrm>
            <a:off x="4850808" y="2854921"/>
            <a:ext cx="1148148" cy="1148148"/>
          </a:xfrm>
          <a:prstGeom prst="rect">
            <a:avLst/>
          </a:prstGeom>
          <a:ln/>
          <a:effectLst>
            <a:outerShdw blurRad="50800" dist="38100" dir="2700000" algn="tl" rotWithShape="0">
              <a:prstClr val="black">
                <a:alpha val="40000"/>
              </a:prstClr>
            </a:outerShdw>
          </a:effectLst>
        </p:spPr>
      </p:pic>
      <p:sp>
        <p:nvSpPr>
          <p:cNvPr id="7"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158</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11738"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28028" y="-8101"/>
            <a:ext cx="83066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10.10.2 Guided Practice: Making Population Predictions</a:t>
            </a:r>
          </a:p>
        </p:txBody>
      </p:sp>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1519599" y="1514735"/>
            <a:ext cx="9169662"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Ella gathered data from a Rubber Duck Pool Game. The circle graph below shows the percentage of people who won a large prize, a small prize, and no prize. </a:t>
            </a:r>
          </a:p>
        </p:txBody>
      </p:sp>
      <p:sp>
        <p:nvSpPr>
          <p:cNvPr id="10" name="TextBox 9">
            <a:extLst>
              <a:ext uri="{FF2B5EF4-FFF2-40B4-BE49-F238E27FC236}">
                <a16:creationId xmlns:a16="http://schemas.microsoft.com/office/drawing/2014/main" id="{9CB1B9EA-9C51-1F4B-BD63-C510BF03AC79}"/>
              </a:ext>
            </a:extLst>
          </p:cNvPr>
          <p:cNvSpPr txBox="1"/>
          <p:nvPr/>
        </p:nvSpPr>
        <p:spPr>
          <a:xfrm>
            <a:off x="3760304" y="2973527"/>
            <a:ext cx="4711148" cy="338554"/>
          </a:xfrm>
          <a:prstGeom prst="rect">
            <a:avLst/>
          </a:prstGeom>
          <a:noFill/>
        </p:spPr>
        <p:txBody>
          <a:bodyPr wrap="square">
            <a:spAutoFit/>
          </a:bodyPr>
          <a:lstStyle/>
          <a:p>
            <a:pPr marL="12700" algn="ctr"/>
            <a:r>
              <a:rPr lang="en-US" sz="1600" b="1" dirty="0">
                <a:latin typeface="Verdana" panose="020B0604030504040204" pitchFamily="34" charset="0"/>
                <a:ea typeface="Times New Roman" panose="02020603050405020304" pitchFamily="18" charset="0"/>
              </a:rPr>
              <a:t>Prizes Won in Rubber Duck Game</a:t>
            </a:r>
            <a:endParaRPr lang="x-none" sz="1100" dirty="0">
              <a:latin typeface="Times New Roman" panose="02020603050405020304" pitchFamily="18" charset="0"/>
              <a:ea typeface="Times New Roman" panose="02020603050405020304" pitchFamily="18" charset="0"/>
            </a:endParaRPr>
          </a:p>
        </p:txBody>
      </p:sp>
      <p:pic>
        <p:nvPicPr>
          <p:cNvPr id="13" name="image12.png" descr="Icon&#10;&#10;Description automatically generated">
            <a:extLst>
              <a:ext uri="{FF2B5EF4-FFF2-40B4-BE49-F238E27FC236}">
                <a16:creationId xmlns:a16="http://schemas.microsoft.com/office/drawing/2014/main" id="{D8EA4452-7FB2-1E4C-9871-F82DF9D0C2E6}"/>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690411" y="216221"/>
            <a:ext cx="747299" cy="747299"/>
          </a:xfrm>
          <a:prstGeom prst="rect">
            <a:avLst/>
          </a:prstGeom>
          <a:ln/>
        </p:spPr>
      </p:pic>
      <p:sp>
        <p:nvSpPr>
          <p:cNvPr id="11"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158</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pic>
        <p:nvPicPr>
          <p:cNvPr id="8" name="Picture 7">
            <a:extLst>
              <a:ext uri="{FF2B5EF4-FFF2-40B4-BE49-F238E27FC236}">
                <a16:creationId xmlns:a16="http://schemas.microsoft.com/office/drawing/2014/main" id="{8F51FA6C-129D-6A9B-1D72-C79EBB826024}"/>
              </a:ext>
            </a:extLst>
          </p:cNvPr>
          <p:cNvPicPr>
            <a:picLocks noChangeAspect="1"/>
          </p:cNvPicPr>
          <p:nvPr/>
        </p:nvPicPr>
        <p:blipFill>
          <a:blip r:embed="rId5"/>
          <a:stretch>
            <a:fillRect/>
          </a:stretch>
        </p:blipFill>
        <p:spPr>
          <a:xfrm>
            <a:off x="3617681" y="3524159"/>
            <a:ext cx="4996394" cy="2775775"/>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282891" y="751161"/>
                <a:ext cx="9643078" cy="2677656"/>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There are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180</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rubber ducks floating in the pool. The person playing the game takes out one duck and looks for a mark on the bottom of it.</a:t>
                </a:r>
              </a:p>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a:t>
                </a:r>
              </a:p>
              <a:p>
                <a:pPr marL="941388" indent="-404813" eaLnBrk="0" fontAlgn="base" hangingPunct="0">
                  <a:spcBef>
                    <a:spcPct val="0"/>
                  </a:spcBef>
                  <a:spcAft>
                    <a:spcPct val="0"/>
                  </a:spcAft>
                  <a:buClrTx/>
                  <a:buFont typeface="Arial" panose="020B0604020202020204" pitchFamily="34" charset="0"/>
                  <a:buChar char="•"/>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If there is a blue mark, the person wins a small prize.</a:t>
                </a:r>
              </a:p>
              <a:p>
                <a:pPr marL="941388" indent="-404813" eaLnBrk="0" fontAlgn="base" hangingPunct="0">
                  <a:spcBef>
                    <a:spcPct val="0"/>
                  </a:spcBef>
                  <a:spcAft>
                    <a:spcPct val="0"/>
                  </a:spcAft>
                  <a:buClrTx/>
                  <a:buFont typeface="Arial" panose="020B0604020202020204" pitchFamily="34" charset="0"/>
                  <a:buChar char="•"/>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If there is a green mark, the person wins a large prize.</a:t>
                </a:r>
              </a:p>
              <a:p>
                <a:pPr marL="941388" indent="-404813" eaLnBrk="0" fontAlgn="base" hangingPunct="0">
                  <a:spcBef>
                    <a:spcPct val="0"/>
                  </a:spcBef>
                  <a:spcAft>
                    <a:spcPct val="0"/>
                  </a:spcAft>
                  <a:buClrTx/>
                  <a:buFont typeface="Arial" panose="020B0604020202020204" pitchFamily="34" charset="0"/>
                  <a:buChar char="•"/>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If there is no mark, the person does not win a prize.  </a:t>
                </a: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1282891" y="751161"/>
                <a:ext cx="9643078" cy="2677656"/>
              </a:xfrm>
              <a:prstGeom prst="rect">
                <a:avLst/>
              </a:prstGeom>
              <a:blipFill rotWithShape="0">
                <a:blip r:embed="rId3"/>
                <a:stretch>
                  <a:fillRect l="-948" t="-1595" r="-379" b="-478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6"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158</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12686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392073" y="362460"/>
            <a:ext cx="9424714"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Ella uses her data to predict how many of each kind of duck are in the pool using three different strategies. Her work is shown.</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DE9E3344-A6F7-C542-9B09-3A91E1C00E67}"/>
                  </a:ext>
                </a:extLst>
              </p:cNvPr>
              <p:cNvGraphicFramePr>
                <a:graphicFrameLocks noGrp="1"/>
              </p:cNvGraphicFramePr>
              <p:nvPr>
                <p:extLst>
                  <p:ext uri="{D42A27DB-BD31-4B8C-83A1-F6EECF244321}">
                    <p14:modId xmlns:p14="http://schemas.microsoft.com/office/powerpoint/2010/main" val="1764891222"/>
                  </p:ext>
                </p:extLst>
              </p:nvPr>
            </p:nvGraphicFramePr>
            <p:xfrm>
              <a:off x="2667000" y="1929908"/>
              <a:ext cx="6858000" cy="2989834"/>
            </p:xfrm>
            <a:graphic>
              <a:graphicData uri="http://schemas.openxmlformats.org/drawingml/2006/table">
                <a:tbl>
                  <a:tblPr firstRow="1" firstCol="1" bandRow="1"/>
                  <a:tblGrid>
                    <a:gridCol w="2313940">
                      <a:extLst>
                        <a:ext uri="{9D8B030D-6E8A-4147-A177-3AD203B41FA5}">
                          <a16:colId xmlns:a16="http://schemas.microsoft.com/office/drawing/2014/main" val="1942433666"/>
                        </a:ext>
                      </a:extLst>
                    </a:gridCol>
                    <a:gridCol w="2200910">
                      <a:extLst>
                        <a:ext uri="{9D8B030D-6E8A-4147-A177-3AD203B41FA5}">
                          <a16:colId xmlns:a16="http://schemas.microsoft.com/office/drawing/2014/main" val="3486758550"/>
                        </a:ext>
                      </a:extLst>
                    </a:gridCol>
                    <a:gridCol w="2343150">
                      <a:extLst>
                        <a:ext uri="{9D8B030D-6E8A-4147-A177-3AD203B41FA5}">
                          <a16:colId xmlns:a16="http://schemas.microsoft.com/office/drawing/2014/main" val="4278295420"/>
                        </a:ext>
                      </a:extLst>
                    </a:gridCol>
                  </a:tblGrid>
                  <a:tr h="0">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1</a:t>
                          </a:r>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2</a:t>
                          </a:r>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3</a:t>
                          </a:r>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887710902"/>
                      </a:ext>
                    </a:extLst>
                  </a:tr>
                  <a:tr h="0">
                    <a:tc>
                      <a:txBody>
                        <a:bodyPr/>
                        <a:lstStyle/>
                        <a:p>
                          <a:pPr marL="0" marR="0" algn="ctr">
                            <a:spcBef>
                              <a:spcPts val="0"/>
                            </a:spcBef>
                            <a:spcAft>
                              <a:spcPts val="0"/>
                            </a:spcAft>
                          </a:pPr>
                          <a14:m>
                            <m:oMath xmlns:m="http://schemas.openxmlformats.org/officeDocument/2006/math">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40%</m:t>
                              </m:r>
                            </m:oMath>
                          </a14:m>
                          <a:r>
                            <a:rPr lang="en-US" sz="180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all ducks</a:t>
                          </a:r>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180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40</m:t>
                                    </m:r>
                                  </m:num>
                                  <m:den>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100</m:t>
                                    </m:r>
                                  </m:den>
                                </m:f>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4</m:t>
                                    </m:r>
                                  </m:num>
                                  <m:den>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10</m:t>
                                    </m:r>
                                  </m:den>
                                </m:f>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72</m:t>
                                    </m:r>
                                  </m:num>
                                  <m:den>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180</m:t>
                                    </m:r>
                                  </m:den>
                                </m:f>
                              </m:oMath>
                            </m:oMathPara>
                          </a14:m>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180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180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So, </a:t>
                          </a:r>
                          <a:r>
                            <a:rPr lang="en-US" sz="1800">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a:t>72</a:t>
                          </a:r>
                          <a:r>
                            <a:rPr lang="en-US" sz="180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ducks have a blue mark.</a:t>
                          </a:r>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11%</m:t>
                              </m:r>
                            </m:oMath>
                          </a14:m>
                          <a:r>
                            <a:rPr lang="en-US" sz="180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all ducks</a:t>
                          </a:r>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180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0.11 × 180 = 19.8</m:t>
                                </m:r>
                              </m:oMath>
                            </m:oMathPara>
                          </a14:m>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180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180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So, </a:t>
                          </a:r>
                          <a:r>
                            <a:rPr lang="en-US" sz="1800">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a:t>20</a:t>
                          </a:r>
                          <a:r>
                            <a:rPr lang="en-US" sz="180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ducks have a green mark.</a:t>
                          </a:r>
                          <a:endParaRPr lang="x-none" sz="12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49%</m:t>
                              </m:r>
                            </m:oMath>
                          </a14:m>
                          <a:r>
                            <a:rPr lang="en-US" sz="18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of all ducks</a:t>
                          </a:r>
                          <a:endParaRPr lang="x-none" sz="1200" dirty="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18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1200" dirty="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f>
                                  <m:fPr>
                                    <m:ctrlPr>
                                      <a:rPr lang="x-none"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49</m:t>
                                    </m:r>
                                  </m:num>
                                  <m:den>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100</m:t>
                                    </m:r>
                                  </m:den>
                                </m:f>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0.56</m:t>
                                    </m:r>
                                  </m:num>
                                  <m:den>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0.56</m:t>
                                    </m:r>
                                  </m:den>
                                </m:f>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 = </m:t>
                                </m:r>
                                <m:f>
                                  <m:fPr>
                                    <m:ctrlPr>
                                      <a:rPr lang="x-none"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ctrlPr>
                                  </m:fPr>
                                  <m:num>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27.44</m:t>
                                    </m:r>
                                  </m:num>
                                  <m:den>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180</m:t>
                                    </m:r>
                                  </m:den>
                                </m:f>
                              </m:oMath>
                            </m:oMathPara>
                          </a14:m>
                          <a:endParaRPr lang="x-none" sz="1200" dirty="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18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1200" dirty="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18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So, </a:t>
                          </a:r>
                          <a14:m>
                            <m:oMath xmlns:m="http://schemas.openxmlformats.org/officeDocument/2006/math">
                              <m:r>
                                <a:rPr lang="en-US" sz="1800" i="1">
                                  <a:solidFill>
                                    <a:srgbClr val="000000"/>
                                  </a:solidFill>
                                  <a:effectLst/>
                                  <a:latin typeface="Cambria Math" panose="02040503050406030204" pitchFamily="18" charset="0"/>
                                  <a:ea typeface="Times New Roman" panose="02020603050405020304" pitchFamily="18" charset="0"/>
                                  <a:cs typeface="Cambria" panose="02040503050406030204" pitchFamily="18" charset="0"/>
                                </a:rPr>
                                <m:t>27</m:t>
                              </m:r>
                            </m:oMath>
                          </a14:m>
                          <a:r>
                            <a:rPr lang="en-US" sz="18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ducks have no mark.</a:t>
                          </a:r>
                          <a:endParaRPr lang="x-none" sz="1200" dirty="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18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1200" dirty="0">
                            <a:effectLst/>
                            <a:latin typeface="Times New Roman" panose="02020603050405020304" pitchFamily="18" charset="0"/>
                            <a:ea typeface="Times New Roman" panose="02020603050405020304" pitchFamily="18" charset="0"/>
                            <a:cs typeface="Cambria" panose="02040503050406030204" pitchFamily="18" charset="0"/>
                          </a:endParaRPr>
                        </a:p>
                        <a:p>
                          <a:pPr marL="0" marR="0" algn="ctr">
                            <a:spcBef>
                              <a:spcPts val="0"/>
                            </a:spcBef>
                            <a:spcAft>
                              <a:spcPts val="0"/>
                            </a:spcAft>
                          </a:pPr>
                          <a:r>
                            <a:rPr lang="en-US" sz="18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1200" dirty="0">
                            <a:effectLst/>
                            <a:latin typeface="Times New Roman" panose="02020603050405020304" pitchFamily="18" charset="0"/>
                            <a:ea typeface="Times New Roman" panose="02020603050405020304" pitchFamily="18" charset="0"/>
                            <a:cs typeface="Cambria" panose="02040503050406030204" pitchFamily="18" charset="0"/>
                          </a:endParaRPr>
                        </a:p>
                        <a:p>
                          <a:pPr marL="0" marR="0">
                            <a:spcBef>
                              <a:spcPts val="0"/>
                            </a:spcBef>
                            <a:spcAft>
                              <a:spcPts val="0"/>
                            </a:spcAft>
                          </a:pPr>
                          <a:r>
                            <a:rPr lang="en-US" sz="1800" dirty="0">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 </a:t>
                          </a:r>
                          <a:endParaRPr lang="x-none" sz="1200" dirty="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9457437"/>
                      </a:ext>
                    </a:extLst>
                  </a:tr>
                </a:tbl>
              </a:graphicData>
            </a:graphic>
          </p:graphicFrame>
        </mc:Choice>
        <mc:Fallback xmlns="">
          <p:graphicFrame>
            <p:nvGraphicFramePr>
              <p:cNvPr id="3" name="Table 2">
                <a:extLst>
                  <a:ext uri="{FF2B5EF4-FFF2-40B4-BE49-F238E27FC236}">
                    <a16:creationId xmlns:a16="http://schemas.microsoft.com/office/drawing/2014/main" id="{DE9E3344-A6F7-C542-9B09-3A91E1C00E67}"/>
                  </a:ext>
                </a:extLst>
              </p:cNvPr>
              <p:cNvGraphicFramePr>
                <a:graphicFrameLocks noGrp="1"/>
              </p:cNvGraphicFramePr>
              <p:nvPr>
                <p:extLst>
                  <p:ext uri="{D42A27DB-BD31-4B8C-83A1-F6EECF244321}">
                    <p14:modId xmlns:p14="http://schemas.microsoft.com/office/powerpoint/2010/main" val="1764891222"/>
                  </p:ext>
                </p:extLst>
              </p:nvPr>
            </p:nvGraphicFramePr>
            <p:xfrm>
              <a:off x="1143000" y="1929908"/>
              <a:ext cx="6858000" cy="2989834"/>
            </p:xfrm>
            <a:graphic>
              <a:graphicData uri="http://schemas.openxmlformats.org/drawingml/2006/table">
                <a:tbl>
                  <a:tblPr firstRow="1" firstCol="1" bandRow="1"/>
                  <a:tblGrid>
                    <a:gridCol w="2313940">
                      <a:extLst>
                        <a:ext uri="{9D8B030D-6E8A-4147-A177-3AD203B41FA5}">
                          <a16:colId xmlns:a16="http://schemas.microsoft.com/office/drawing/2014/main" val="1942433666"/>
                        </a:ext>
                      </a:extLst>
                    </a:gridCol>
                    <a:gridCol w="2200910">
                      <a:extLst>
                        <a:ext uri="{9D8B030D-6E8A-4147-A177-3AD203B41FA5}">
                          <a16:colId xmlns:a16="http://schemas.microsoft.com/office/drawing/2014/main" val="3486758550"/>
                        </a:ext>
                      </a:extLst>
                    </a:gridCol>
                    <a:gridCol w="2343150">
                      <a:extLst>
                        <a:ext uri="{9D8B030D-6E8A-4147-A177-3AD203B41FA5}">
                          <a16:colId xmlns:a16="http://schemas.microsoft.com/office/drawing/2014/main" val="4278295420"/>
                        </a:ext>
                      </a:extLst>
                    </a:gridCol>
                  </a:tblGrid>
                  <a:tr h="274320">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1</a:t>
                          </a:r>
                          <a:endParaRPr lang="en-CO" sz="12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2</a:t>
                          </a:r>
                          <a:endParaRPr lang="en-CO" sz="12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Method 3</a:t>
                          </a:r>
                          <a:endParaRPr lang="en-CO" sz="1200">
                            <a:effectLst/>
                            <a:latin typeface="Times New Roman" panose="02020603050405020304" pitchFamily="18" charset="0"/>
                            <a:ea typeface="Times New Roman" panose="02020603050405020304" pitchFamily="18" charset="0"/>
                            <a:cs typeface="Cambria" panose="020405030504060302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887710902"/>
                      </a:ext>
                    </a:extLst>
                  </a:tr>
                  <a:tr h="2715514">
                    <a:tc>
                      <a:txBody>
                        <a:bodyPr/>
                        <a:lstStyle/>
                        <a:p>
                          <a:endParaRPr lang="en-CO"/>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549" t="-13023" r="-197802" b="-465"/>
                          </a:stretch>
                        </a:blipFill>
                      </a:tcPr>
                    </a:tc>
                    <a:tc>
                      <a:txBody>
                        <a:bodyPr/>
                        <a:lstStyle/>
                        <a:p>
                          <a:endParaRPr lang="en-CO"/>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05172" t="-13023" r="-106897" b="-465"/>
                          </a:stretch>
                        </a:blipFill>
                      </a:tcPr>
                    </a:tc>
                    <a:tc>
                      <a:txBody>
                        <a:bodyPr/>
                        <a:lstStyle/>
                        <a:p>
                          <a:endParaRPr lang="en-CO"/>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94022" t="-13023" r="-1087" b="-465"/>
                          </a:stretch>
                        </a:blipFill>
                      </a:tcPr>
                    </a:tc>
                    <a:extLst>
                      <a:ext uri="{0D108BD9-81ED-4DB2-BD59-A6C34878D82A}">
                        <a16:rowId xmlns:a16="http://schemas.microsoft.com/office/drawing/2014/main" val="2899457437"/>
                      </a:ext>
                    </a:extLst>
                  </a:tr>
                </a:tbl>
              </a:graphicData>
            </a:graphic>
          </p:graphicFrame>
        </mc:Fallback>
      </mc:AlternateContent>
      <p:sp>
        <p:nvSpPr>
          <p:cNvPr id="7"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159</a:t>
            </a:r>
            <a:endParaRPr i="1" dirty="0">
              <a:latin typeface="Calibri"/>
              <a:ea typeface="Calibri"/>
              <a:cs typeface="Calibri"/>
              <a:sym typeface="Calibri"/>
            </a:endParaRP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39402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2138949" y="449388"/>
            <a:ext cx="789709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a.  Ella’s solution              correct because </a:t>
            </a:r>
          </a:p>
        </p:txBody>
      </p:sp>
      <p:pic>
        <p:nvPicPr>
          <p:cNvPr id="3" name="Picture 2" descr="Shape, rectangle&#10;&#10;Description automatically generated">
            <a:extLst>
              <a:ext uri="{FF2B5EF4-FFF2-40B4-BE49-F238E27FC236}">
                <a16:creationId xmlns:a16="http://schemas.microsoft.com/office/drawing/2014/main" id="{805B8FCB-6A59-B349-80FC-5AE79E37C2C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930356" y="244026"/>
            <a:ext cx="1248844" cy="882374"/>
          </a:xfrm>
          <a:prstGeom prst="rect">
            <a:avLst/>
          </a:prstGeom>
        </p:spPr>
      </p:pic>
      <p:pic>
        <p:nvPicPr>
          <p:cNvPr id="5" name="Picture 4" descr="Text&#10;&#10;Description automatically generated">
            <a:extLst>
              <a:ext uri="{FF2B5EF4-FFF2-40B4-BE49-F238E27FC236}">
                <a16:creationId xmlns:a16="http://schemas.microsoft.com/office/drawing/2014/main" id="{FEC0C39F-F556-B84B-92B5-9895F8B2E2F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679437" y="1192661"/>
            <a:ext cx="6156070" cy="1622335"/>
          </a:xfrm>
          <a:prstGeom prst="rect">
            <a:avLst/>
          </a:prstGeom>
        </p:spPr>
      </p:pic>
      <p:sp>
        <p:nvSpPr>
          <p:cNvPr id="9"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159</a:t>
            </a:r>
            <a:endParaRPr i="1" dirty="0">
              <a:latin typeface="Calibri"/>
              <a:ea typeface="Calibri"/>
              <a:cs typeface="Calibri"/>
              <a:sym typeface="Calibri"/>
            </a:endParaRPr>
          </a:p>
        </p:txBody>
      </p:sp>
      <p:pic>
        <p:nvPicPr>
          <p:cNvPr id="10"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pic>
        <p:nvPicPr>
          <p:cNvPr id="4" name="Picture 3">
            <a:extLst>
              <a:ext uri="{FF2B5EF4-FFF2-40B4-BE49-F238E27FC236}">
                <a16:creationId xmlns:a16="http://schemas.microsoft.com/office/drawing/2014/main" id="{00A64462-A3E4-CAE9-DC09-9A0B841978D7}"/>
              </a:ext>
            </a:extLst>
          </p:cNvPr>
          <p:cNvPicPr>
            <a:picLocks noChangeAspect="1"/>
          </p:cNvPicPr>
          <p:nvPr/>
        </p:nvPicPr>
        <p:blipFill>
          <a:blip r:embed="rId6"/>
          <a:stretch>
            <a:fillRect/>
          </a:stretch>
        </p:blipFill>
        <p:spPr>
          <a:xfrm>
            <a:off x="1959253" y="3255627"/>
            <a:ext cx="7596437" cy="1513576"/>
          </a:xfrm>
          <a:prstGeom prst="rect">
            <a:avLst/>
          </a:prstGeom>
        </p:spPr>
      </p:pic>
    </p:spTree>
    <p:extLst>
      <p:ext uri="{BB962C8B-B14F-4D97-AF65-F5344CB8AC3E}">
        <p14:creationId xmlns:p14="http://schemas.microsoft.com/office/powerpoint/2010/main" val="2103928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2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6" name="Group 5">
            <a:extLst>
              <a:ext uri="{FF2B5EF4-FFF2-40B4-BE49-F238E27FC236}">
                <a16:creationId xmlns:a16="http://schemas.microsoft.com/office/drawing/2014/main" id="{5A2A6D0A-B061-6A40-A2D3-883BDCFF88DB}"/>
              </a:ext>
            </a:extLst>
          </p:cNvPr>
          <p:cNvGrpSpPr/>
          <p:nvPr/>
        </p:nvGrpSpPr>
        <p:grpSpPr>
          <a:xfrm>
            <a:off x="2726056" y="2597151"/>
            <a:ext cx="6734809" cy="1456722"/>
            <a:chOff x="2031300" y="3275735"/>
            <a:chExt cx="6735153" cy="1456844"/>
          </a:xfrm>
        </p:grpSpPr>
        <p:grpSp>
          <p:nvGrpSpPr>
            <p:cNvPr id="24" name="Group 23">
              <a:extLst>
                <a:ext uri="{FF2B5EF4-FFF2-40B4-BE49-F238E27FC236}">
                  <a16:creationId xmlns:a16="http://schemas.microsoft.com/office/drawing/2014/main" id="{3A0D256C-D14E-C046-BC4E-E4AE62B0EF7F}"/>
                </a:ext>
              </a:extLst>
            </p:cNvPr>
            <p:cNvGrpSpPr/>
            <p:nvPr/>
          </p:nvGrpSpPr>
          <p:grpSpPr>
            <a:xfrm>
              <a:off x="2031300" y="3275735"/>
              <a:ext cx="6735153" cy="1456844"/>
              <a:chOff x="0" y="0"/>
              <a:chExt cx="6735153" cy="1456844"/>
            </a:xfrm>
          </p:grpSpPr>
          <p:sp>
            <p:nvSpPr>
              <p:cNvPr id="25" name="Rectangle 24">
                <a:extLst>
                  <a:ext uri="{FF2B5EF4-FFF2-40B4-BE49-F238E27FC236}">
                    <a16:creationId xmlns:a16="http://schemas.microsoft.com/office/drawing/2014/main" id="{2E7AEC89-3EB2-8443-9F26-8C52ECCD8CED}"/>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100">
                    <a:latin typeface="Cambria" panose="02040503050406030204" pitchFamily="18" charset="0"/>
                    <a:ea typeface="Times New Roman" panose="02020603050405020304" pitchFamily="18" charset="0"/>
                    <a:cs typeface="Cambria" panose="02040503050406030204" pitchFamily="18" charset="0"/>
                  </a:rPr>
                  <a:t> </a:t>
                </a:r>
                <a:endParaRPr lang="x-none" sz="1100">
                  <a:latin typeface="Cambria" panose="02040503050406030204" pitchFamily="18" charset="0"/>
                  <a:ea typeface="Times New Roman" panose="02020603050405020304" pitchFamily="18" charset="0"/>
                  <a:cs typeface="Cambria" panose="02040503050406030204" pitchFamily="18" charset="0"/>
                </a:endParaRPr>
              </a:p>
            </p:txBody>
          </p:sp>
          <p:grpSp>
            <p:nvGrpSpPr>
              <p:cNvPr id="26" name="Group 25">
                <a:extLst>
                  <a:ext uri="{FF2B5EF4-FFF2-40B4-BE49-F238E27FC236}">
                    <a16:creationId xmlns:a16="http://schemas.microsoft.com/office/drawing/2014/main" id="{AC2AC4AD-73B7-974B-94FD-B9CBDEA42324}"/>
                  </a:ext>
                </a:extLst>
              </p:cNvPr>
              <p:cNvGrpSpPr/>
              <p:nvPr/>
            </p:nvGrpSpPr>
            <p:grpSpPr>
              <a:xfrm>
                <a:off x="0" y="0"/>
                <a:ext cx="6735153" cy="1456844"/>
                <a:chOff x="0" y="0"/>
                <a:chExt cx="6735153" cy="1456844"/>
              </a:xfrm>
            </p:grpSpPr>
            <p:sp>
              <p:nvSpPr>
                <p:cNvPr id="28" name="Rectangle 27">
                  <a:extLst>
                    <a:ext uri="{FF2B5EF4-FFF2-40B4-BE49-F238E27FC236}">
                      <a16:creationId xmlns:a16="http://schemas.microsoft.com/office/drawing/2014/main" id="{FA6CD2CE-23EE-7E43-AC6B-DF6905970873}"/>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100">
                      <a:latin typeface="Cambria" panose="02040503050406030204" pitchFamily="18" charset="0"/>
                      <a:ea typeface="Times New Roman" panose="02020603050405020304" pitchFamily="18" charset="0"/>
                      <a:cs typeface="Cambria" panose="02040503050406030204" pitchFamily="18" charset="0"/>
                    </a:rPr>
                    <a:t> </a:t>
                  </a:r>
                  <a:endParaRPr lang="x-none" sz="1100">
                    <a:latin typeface="Cambria" panose="02040503050406030204" pitchFamily="18" charset="0"/>
                    <a:ea typeface="Times New Roman" panose="02020603050405020304" pitchFamily="18" charset="0"/>
                    <a:cs typeface="Cambria" panose="02040503050406030204" pitchFamily="18" charset="0"/>
                  </a:endParaRPr>
                </a:p>
              </p:txBody>
            </p:sp>
            <p:sp>
              <p:nvSpPr>
                <p:cNvPr id="29" name="Rectangle 28">
                  <a:extLst>
                    <a:ext uri="{FF2B5EF4-FFF2-40B4-BE49-F238E27FC236}">
                      <a16:creationId xmlns:a16="http://schemas.microsoft.com/office/drawing/2014/main" id="{53D3EA32-89EF-2B49-84BD-F1D7862B6944}"/>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100">
                      <a:latin typeface="Cambria" panose="02040503050406030204" pitchFamily="18" charset="0"/>
                      <a:ea typeface="Times New Roman" panose="02020603050405020304" pitchFamily="18" charset="0"/>
                      <a:cs typeface="Cambria" panose="02040503050406030204" pitchFamily="18" charset="0"/>
                    </a:rPr>
                    <a:t> </a:t>
                  </a:r>
                  <a:endParaRPr lang="x-none" sz="1100">
                    <a:latin typeface="Cambria" panose="02040503050406030204" pitchFamily="18" charset="0"/>
                    <a:ea typeface="Times New Roman" panose="02020603050405020304" pitchFamily="18" charset="0"/>
                    <a:cs typeface="Cambria" panose="02040503050406030204" pitchFamily="18" charset="0"/>
                  </a:endParaRPr>
                </a:p>
              </p:txBody>
            </p:sp>
            <p:sp>
              <p:nvSpPr>
                <p:cNvPr id="30" name="Rounded Rectangle 29">
                  <a:extLst>
                    <a:ext uri="{FF2B5EF4-FFF2-40B4-BE49-F238E27FC236}">
                      <a16:creationId xmlns:a16="http://schemas.microsoft.com/office/drawing/2014/main" id="{B587C2A9-5D7B-924B-B627-C9C34707F279}"/>
                    </a:ext>
                  </a:extLst>
                </p:cNvPr>
                <p:cNvSpPr/>
                <p:nvPr/>
              </p:nvSpPr>
              <p:spPr>
                <a:xfrm>
                  <a:off x="105753" y="110531"/>
                  <a:ext cx="6629400" cy="1346313"/>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685800">
                    <a:spcAft>
                      <a:spcPts val="1000"/>
                    </a:spcAft>
                  </a:pPr>
                  <a:r>
                    <a:rPr lang="en-US" sz="1600" dirty="0">
                      <a:solidFill>
                        <a:srgbClr val="00619E"/>
                      </a:solidFill>
                      <a:latin typeface="Verdana" panose="020B0604030504040204" pitchFamily="34" charset="0"/>
                      <a:ea typeface="Times New Roman" panose="02020603050405020304" pitchFamily="18" charset="0"/>
                      <a:cs typeface="Cambria" panose="02040503050406030204" pitchFamily="18" charset="0"/>
                    </a:rPr>
                    <a:t>When using a </a:t>
                  </a:r>
                  <a:r>
                    <a:rPr lang="en-US" sz="1600" b="1" dirty="0">
                      <a:solidFill>
                        <a:srgbClr val="00619E"/>
                      </a:solidFill>
                      <a:latin typeface="Verdana" panose="020B0604030504040204" pitchFamily="34" charset="0"/>
                      <a:ea typeface="Times New Roman" panose="02020603050405020304" pitchFamily="18" charset="0"/>
                      <a:cs typeface="Cambria" panose="02040503050406030204" pitchFamily="18" charset="0"/>
                    </a:rPr>
                    <a:t>scale factor,</a:t>
                  </a:r>
                  <a:r>
                    <a:rPr lang="en-US" sz="1600" dirty="0">
                      <a:solidFill>
                        <a:srgbClr val="00619E"/>
                      </a:solidFill>
                      <a:latin typeface="Verdana" panose="020B0604030504040204" pitchFamily="34" charset="0"/>
                      <a:ea typeface="Times New Roman" panose="02020603050405020304" pitchFamily="18" charset="0"/>
                      <a:cs typeface="Cambria" panose="02040503050406030204" pitchFamily="18" charset="0"/>
                    </a:rPr>
                    <a:t> first divide the      population by the sample to find the scale factor, then multiply the numerator and denominator of the sample fraction by the scale factor. </a:t>
                  </a:r>
                  <a:endParaRPr lang="x-none" sz="1100" dirty="0">
                    <a:latin typeface="Cambria" panose="02040503050406030204" pitchFamily="18" charset="0"/>
                    <a:ea typeface="Times New Roman" panose="02020603050405020304" pitchFamily="18" charset="0"/>
                    <a:cs typeface="Cambria" panose="02040503050406030204" pitchFamily="18" charset="0"/>
                  </a:endParaRPr>
                </a:p>
              </p:txBody>
            </p:sp>
          </p:grpSp>
          <p:pic>
            <p:nvPicPr>
              <p:cNvPr id="27" name="Shape 15" descr="Icon&#10;&#10;Description automatically generated">
                <a:extLst>
                  <a:ext uri="{FF2B5EF4-FFF2-40B4-BE49-F238E27FC236}">
                    <a16:creationId xmlns:a16="http://schemas.microsoft.com/office/drawing/2014/main" id="{B2C40B53-FA8D-274B-9ADA-2BB37448644F}"/>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272591" y="259963"/>
                <a:ext cx="539750" cy="539750"/>
              </a:xfrm>
              <a:prstGeom prst="rect">
                <a:avLst/>
              </a:prstGeom>
              <a:noFill/>
              <a:ln>
                <a:noFill/>
              </a:ln>
              <a:effectLst>
                <a:outerShdw blurRad="50800" dist="38100" dir="2700000" algn="tl" rotWithShape="0">
                  <a:prstClr val="black">
                    <a:alpha val="40000"/>
                  </a:prstClr>
                </a:outerShdw>
              </a:effectLst>
            </p:spPr>
          </p:pic>
        </p:grpSp>
      </p:grpSp>
      <p:grpSp>
        <p:nvGrpSpPr>
          <p:cNvPr id="7" name="Group 6">
            <a:extLst>
              <a:ext uri="{FF2B5EF4-FFF2-40B4-BE49-F238E27FC236}">
                <a16:creationId xmlns:a16="http://schemas.microsoft.com/office/drawing/2014/main" id="{1AC56B2B-6C92-0F47-A562-1229DCF2AFF0}"/>
              </a:ext>
            </a:extLst>
          </p:cNvPr>
          <p:cNvGrpSpPr/>
          <p:nvPr/>
        </p:nvGrpSpPr>
        <p:grpSpPr>
          <a:xfrm>
            <a:off x="2831465" y="4192226"/>
            <a:ext cx="6629400" cy="1164776"/>
            <a:chOff x="2031300" y="3119484"/>
            <a:chExt cx="6629400" cy="1164776"/>
          </a:xfrm>
          <a:effectLst>
            <a:outerShdw blurRad="50800" dist="38100" dir="2700000" algn="tl" rotWithShape="0">
              <a:prstClr val="black">
                <a:alpha val="40000"/>
              </a:prstClr>
            </a:outerShdw>
          </a:effectLst>
        </p:grpSpPr>
        <p:grpSp>
          <p:nvGrpSpPr>
            <p:cNvPr id="17" name="Group 16">
              <a:extLst>
                <a:ext uri="{FF2B5EF4-FFF2-40B4-BE49-F238E27FC236}">
                  <a16:creationId xmlns:a16="http://schemas.microsoft.com/office/drawing/2014/main" id="{1847242D-17AC-A646-9F83-F7B4D86481DE}"/>
                </a:ext>
              </a:extLst>
            </p:cNvPr>
            <p:cNvGrpSpPr/>
            <p:nvPr/>
          </p:nvGrpSpPr>
          <p:grpSpPr>
            <a:xfrm>
              <a:off x="2031300" y="3119484"/>
              <a:ext cx="6629400" cy="1164776"/>
              <a:chOff x="0" y="-156251"/>
              <a:chExt cx="6629400" cy="1164776"/>
            </a:xfrm>
          </p:grpSpPr>
          <p:sp>
            <p:nvSpPr>
              <p:cNvPr id="18" name="Rectangle 17">
                <a:extLst>
                  <a:ext uri="{FF2B5EF4-FFF2-40B4-BE49-F238E27FC236}">
                    <a16:creationId xmlns:a16="http://schemas.microsoft.com/office/drawing/2014/main" id="{29BABBED-88E5-304D-AF68-CC68C136E8E0}"/>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100">
                    <a:latin typeface="Cambria" panose="02040503050406030204" pitchFamily="18" charset="0"/>
                    <a:ea typeface="Times New Roman" panose="02020603050405020304" pitchFamily="18" charset="0"/>
                    <a:cs typeface="Cambria" panose="02040503050406030204" pitchFamily="18" charset="0"/>
                  </a:rPr>
                  <a:t> </a:t>
                </a:r>
                <a:endParaRPr lang="x-none" sz="1100">
                  <a:latin typeface="Cambria" panose="02040503050406030204" pitchFamily="18" charset="0"/>
                  <a:ea typeface="Times New Roman" panose="02020603050405020304" pitchFamily="18" charset="0"/>
                  <a:cs typeface="Cambria" panose="02040503050406030204" pitchFamily="18" charset="0"/>
                </a:endParaRPr>
              </a:p>
            </p:txBody>
          </p:sp>
          <p:grpSp>
            <p:nvGrpSpPr>
              <p:cNvPr id="19" name="Group 18">
                <a:extLst>
                  <a:ext uri="{FF2B5EF4-FFF2-40B4-BE49-F238E27FC236}">
                    <a16:creationId xmlns:a16="http://schemas.microsoft.com/office/drawing/2014/main" id="{7481B848-5C38-B944-8409-721EE5C403A3}"/>
                  </a:ext>
                </a:extLst>
              </p:cNvPr>
              <p:cNvGrpSpPr/>
              <p:nvPr/>
            </p:nvGrpSpPr>
            <p:grpSpPr>
              <a:xfrm>
                <a:off x="0" y="-156251"/>
                <a:ext cx="6629400" cy="1008525"/>
                <a:chOff x="0" y="-156251"/>
                <a:chExt cx="6629400" cy="1008525"/>
              </a:xfrm>
            </p:grpSpPr>
            <p:sp>
              <p:nvSpPr>
                <p:cNvPr id="21" name="Rectangle 20">
                  <a:extLst>
                    <a:ext uri="{FF2B5EF4-FFF2-40B4-BE49-F238E27FC236}">
                      <a16:creationId xmlns:a16="http://schemas.microsoft.com/office/drawing/2014/main" id="{5BC65D7E-49BA-2145-9F9A-C2DD30DEDEF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100">
                      <a:latin typeface="Cambria" panose="02040503050406030204" pitchFamily="18" charset="0"/>
                      <a:ea typeface="Times New Roman" panose="02020603050405020304" pitchFamily="18" charset="0"/>
                      <a:cs typeface="Cambria" panose="02040503050406030204" pitchFamily="18" charset="0"/>
                    </a:rPr>
                    <a:t> </a:t>
                  </a:r>
                  <a:endParaRPr lang="x-none" sz="1100">
                    <a:latin typeface="Cambria" panose="02040503050406030204" pitchFamily="18" charset="0"/>
                    <a:ea typeface="Times New Roman" panose="02020603050405020304" pitchFamily="18" charset="0"/>
                    <a:cs typeface="Cambria" panose="02040503050406030204" pitchFamily="18" charset="0"/>
                  </a:endParaRPr>
                </a:p>
              </p:txBody>
            </p:sp>
            <p:sp>
              <p:nvSpPr>
                <p:cNvPr id="22" name="Rectangle 21">
                  <a:extLst>
                    <a:ext uri="{FF2B5EF4-FFF2-40B4-BE49-F238E27FC236}">
                      <a16:creationId xmlns:a16="http://schemas.microsoft.com/office/drawing/2014/main" id="{3777A26E-B241-A640-AFAA-8D8C2C0675A7}"/>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100">
                      <a:latin typeface="Cambria" panose="02040503050406030204" pitchFamily="18" charset="0"/>
                      <a:ea typeface="Times New Roman" panose="02020603050405020304" pitchFamily="18" charset="0"/>
                      <a:cs typeface="Cambria" panose="02040503050406030204" pitchFamily="18" charset="0"/>
                    </a:rPr>
                    <a:t> </a:t>
                  </a:r>
                  <a:endParaRPr lang="x-none" sz="1100">
                    <a:latin typeface="Cambria" panose="02040503050406030204" pitchFamily="18" charset="0"/>
                    <a:ea typeface="Times New Roman" panose="02020603050405020304" pitchFamily="18" charset="0"/>
                    <a:cs typeface="Cambria" panose="02040503050406030204" pitchFamily="18" charset="0"/>
                  </a:endParaRPr>
                </a:p>
              </p:txBody>
            </p:sp>
            <p:sp>
              <p:nvSpPr>
                <p:cNvPr id="23" name="Rounded Rectangle 22">
                  <a:extLst>
                    <a:ext uri="{FF2B5EF4-FFF2-40B4-BE49-F238E27FC236}">
                      <a16:creationId xmlns:a16="http://schemas.microsoft.com/office/drawing/2014/main" id="{6CD0C540-B948-B847-A71A-FAE48F6F7626}"/>
                    </a:ext>
                  </a:extLst>
                </p:cNvPr>
                <p:cNvSpPr/>
                <p:nvPr/>
              </p:nvSpPr>
              <p:spPr>
                <a:xfrm>
                  <a:off x="0" y="-156251"/>
                  <a:ext cx="6629400" cy="1008525"/>
                </a:xfrm>
                <a:prstGeom prst="roundRect">
                  <a:avLst>
                    <a:gd name="adj" fmla="val 16667"/>
                  </a:avLst>
                </a:prstGeom>
                <a:solidFill>
                  <a:srgbClr val="B8E6F5"/>
                </a:solidFill>
                <a:ln>
                  <a:noFill/>
                </a:ln>
              </p:spPr>
              <p:txBody>
                <a:bodyPr spcFirstLastPara="1" wrap="square" lIns="91425" tIns="45700" rIns="91425" bIns="45700" anchor="ctr" anchorCtr="0">
                  <a:noAutofit/>
                </a:bodyPr>
                <a:lstStyle/>
                <a:p>
                  <a:pPr marL="685800">
                    <a:spcAft>
                      <a:spcPts val="1000"/>
                    </a:spcAft>
                  </a:pPr>
                  <a:r>
                    <a:rPr lang="en-US" sz="1600" dirty="0">
                      <a:solidFill>
                        <a:srgbClr val="00619E"/>
                      </a:solidFill>
                      <a:latin typeface="Verdana" panose="020B0604030504040204" pitchFamily="34" charset="0"/>
                      <a:ea typeface="Times New Roman" panose="02020603050405020304" pitchFamily="18" charset="0"/>
                      <a:cs typeface="Cambria" panose="02040503050406030204" pitchFamily="18" charset="0"/>
                    </a:rPr>
                    <a:t>When using an </a:t>
                  </a:r>
                  <a:r>
                    <a:rPr lang="en-US" sz="1600" b="1" dirty="0">
                      <a:solidFill>
                        <a:srgbClr val="00619E"/>
                      </a:solidFill>
                      <a:latin typeface="Verdana" panose="020B0604030504040204" pitchFamily="34" charset="0"/>
                      <a:ea typeface="Times New Roman" panose="02020603050405020304" pitchFamily="18" charset="0"/>
                      <a:cs typeface="Cambria" panose="02040503050406030204" pitchFamily="18" charset="0"/>
                    </a:rPr>
                    <a:t>equivalent fraction,</a:t>
                  </a:r>
                  <a:r>
                    <a:rPr lang="en-US" sz="1600" dirty="0">
                      <a:solidFill>
                        <a:srgbClr val="00619E"/>
                      </a:solidFill>
                      <a:latin typeface="Verdana" panose="020B0604030504040204" pitchFamily="34" charset="0"/>
                      <a:ea typeface="Times New Roman" panose="02020603050405020304" pitchFamily="18" charset="0"/>
                      <a:cs typeface="Cambria" panose="02040503050406030204" pitchFamily="18" charset="0"/>
                    </a:rPr>
                    <a:t> write multiple fractions equal to the sample fraction until the denominator shows the total population.</a:t>
                  </a:r>
                  <a:endParaRPr lang="x-none" sz="1100" dirty="0">
                    <a:latin typeface="Cambria" panose="02040503050406030204" pitchFamily="18" charset="0"/>
                    <a:ea typeface="Times New Roman" panose="02020603050405020304" pitchFamily="18" charset="0"/>
                    <a:cs typeface="Cambria" panose="02040503050406030204" pitchFamily="18" charset="0"/>
                  </a:endParaRPr>
                </a:p>
              </p:txBody>
            </p:sp>
          </p:grpSp>
          <p:pic>
            <p:nvPicPr>
              <p:cNvPr id="20" name="Shape 15" descr="Icon&#10;&#10;Description automatically generated">
                <a:extLst>
                  <a:ext uri="{FF2B5EF4-FFF2-40B4-BE49-F238E27FC236}">
                    <a16:creationId xmlns:a16="http://schemas.microsoft.com/office/drawing/2014/main" id="{2AE3C881-B943-4842-8966-4363B9328077}"/>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67168" y="-65899"/>
                <a:ext cx="539750" cy="539750"/>
              </a:xfrm>
              <a:prstGeom prst="rect">
                <a:avLst/>
              </a:prstGeom>
              <a:noFill/>
              <a:ln>
                <a:noFill/>
              </a:ln>
              <a:effectLst>
                <a:outerShdw blurRad="50800" dist="38100" dir="2700000" algn="tl" rotWithShape="0">
                  <a:prstClr val="black">
                    <a:alpha val="40000"/>
                  </a:prstClr>
                </a:outerShdw>
              </a:effectLst>
            </p:spPr>
          </p:pic>
        </p:grpSp>
      </p:grpSp>
      <p:grpSp>
        <p:nvGrpSpPr>
          <p:cNvPr id="8" name="Group 7">
            <a:extLst>
              <a:ext uri="{FF2B5EF4-FFF2-40B4-BE49-F238E27FC236}">
                <a16:creationId xmlns:a16="http://schemas.microsoft.com/office/drawing/2014/main" id="{909B4802-F135-1946-9C71-6371FC6AC476}"/>
              </a:ext>
            </a:extLst>
          </p:cNvPr>
          <p:cNvGrpSpPr/>
          <p:nvPr/>
        </p:nvGrpSpPr>
        <p:grpSpPr>
          <a:xfrm>
            <a:off x="2831465" y="5370339"/>
            <a:ext cx="6629400" cy="1425573"/>
            <a:chOff x="2031300" y="2858687"/>
            <a:chExt cx="6629400" cy="1425573"/>
          </a:xfrm>
          <a:effectLst>
            <a:outerShdw blurRad="50800" dist="38100" dir="2700000" algn="tl" rotWithShape="0">
              <a:prstClr val="black">
                <a:alpha val="40000"/>
              </a:prstClr>
            </a:outerShdw>
          </a:effectLst>
        </p:grpSpPr>
        <p:grpSp>
          <p:nvGrpSpPr>
            <p:cNvPr id="9" name="Group 8">
              <a:extLst>
                <a:ext uri="{FF2B5EF4-FFF2-40B4-BE49-F238E27FC236}">
                  <a16:creationId xmlns:a16="http://schemas.microsoft.com/office/drawing/2014/main" id="{10FAD865-1EFB-7446-A353-675B2AD68302}"/>
                </a:ext>
              </a:extLst>
            </p:cNvPr>
            <p:cNvGrpSpPr/>
            <p:nvPr/>
          </p:nvGrpSpPr>
          <p:grpSpPr>
            <a:xfrm>
              <a:off x="2031300" y="2858687"/>
              <a:ext cx="6629400" cy="1425573"/>
              <a:chOff x="0" y="-417048"/>
              <a:chExt cx="6629400" cy="1425573"/>
            </a:xfrm>
          </p:grpSpPr>
          <p:sp>
            <p:nvSpPr>
              <p:cNvPr id="10" name="Rectangle 9">
                <a:extLst>
                  <a:ext uri="{FF2B5EF4-FFF2-40B4-BE49-F238E27FC236}">
                    <a16:creationId xmlns:a16="http://schemas.microsoft.com/office/drawing/2014/main" id="{CACB2525-AAEE-4C45-8E02-B492FDF80386}"/>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100">
                    <a:latin typeface="Cambria" panose="02040503050406030204" pitchFamily="18" charset="0"/>
                    <a:ea typeface="Times New Roman" panose="02020603050405020304" pitchFamily="18" charset="0"/>
                    <a:cs typeface="Cambria" panose="02040503050406030204" pitchFamily="18" charset="0"/>
                  </a:rPr>
                  <a:t> </a:t>
                </a:r>
                <a:endParaRPr lang="x-none" sz="1100">
                  <a:latin typeface="Cambria" panose="02040503050406030204" pitchFamily="18" charset="0"/>
                  <a:ea typeface="Times New Roman" panose="02020603050405020304" pitchFamily="18" charset="0"/>
                  <a:cs typeface="Cambria" panose="02040503050406030204" pitchFamily="18" charset="0"/>
                </a:endParaRPr>
              </a:p>
            </p:txBody>
          </p:sp>
          <p:grpSp>
            <p:nvGrpSpPr>
              <p:cNvPr id="11" name="Group 10">
                <a:extLst>
                  <a:ext uri="{FF2B5EF4-FFF2-40B4-BE49-F238E27FC236}">
                    <a16:creationId xmlns:a16="http://schemas.microsoft.com/office/drawing/2014/main" id="{AD0EBA34-8907-4942-B5BE-4523ECFD6D4E}"/>
                  </a:ext>
                </a:extLst>
              </p:cNvPr>
              <p:cNvGrpSpPr/>
              <p:nvPr/>
            </p:nvGrpSpPr>
            <p:grpSpPr>
              <a:xfrm>
                <a:off x="0" y="-417048"/>
                <a:ext cx="6629400" cy="1203423"/>
                <a:chOff x="0" y="-417048"/>
                <a:chExt cx="6629400" cy="1203423"/>
              </a:xfrm>
            </p:grpSpPr>
            <p:sp>
              <p:nvSpPr>
                <p:cNvPr id="14" name="Rectangle 13">
                  <a:extLst>
                    <a:ext uri="{FF2B5EF4-FFF2-40B4-BE49-F238E27FC236}">
                      <a16:creationId xmlns:a16="http://schemas.microsoft.com/office/drawing/2014/main" id="{F1E084D1-AD47-DC40-859C-689FE9AF2125}"/>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100">
                      <a:latin typeface="Cambria" panose="02040503050406030204" pitchFamily="18" charset="0"/>
                      <a:ea typeface="Times New Roman" panose="02020603050405020304" pitchFamily="18" charset="0"/>
                      <a:cs typeface="Cambria" panose="02040503050406030204" pitchFamily="18" charset="0"/>
                    </a:rPr>
                    <a:t> </a:t>
                  </a:r>
                  <a:endParaRPr lang="x-none" sz="1100">
                    <a:latin typeface="Cambria" panose="02040503050406030204" pitchFamily="18" charset="0"/>
                    <a:ea typeface="Times New Roman" panose="02020603050405020304" pitchFamily="18" charset="0"/>
                    <a:cs typeface="Cambria" panose="02040503050406030204" pitchFamily="18" charset="0"/>
                  </a:endParaRPr>
                </a:p>
              </p:txBody>
            </p:sp>
            <p:sp>
              <p:nvSpPr>
                <p:cNvPr id="15" name="Rectangle 14">
                  <a:extLst>
                    <a:ext uri="{FF2B5EF4-FFF2-40B4-BE49-F238E27FC236}">
                      <a16:creationId xmlns:a16="http://schemas.microsoft.com/office/drawing/2014/main" id="{60D2E62F-39C8-644C-8D4B-A038C3DC7EF5}"/>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100">
                      <a:latin typeface="Cambria" panose="02040503050406030204" pitchFamily="18" charset="0"/>
                      <a:ea typeface="Times New Roman" panose="02020603050405020304" pitchFamily="18" charset="0"/>
                      <a:cs typeface="Cambria" panose="02040503050406030204" pitchFamily="18" charset="0"/>
                    </a:rPr>
                    <a:t> </a:t>
                  </a:r>
                  <a:endParaRPr lang="x-none" sz="1100">
                    <a:latin typeface="Cambria" panose="02040503050406030204" pitchFamily="18" charset="0"/>
                    <a:ea typeface="Times New Roman" panose="02020603050405020304" pitchFamily="18" charset="0"/>
                    <a:cs typeface="Cambria" panose="02040503050406030204" pitchFamily="18" charset="0"/>
                  </a:endParaRPr>
                </a:p>
              </p:txBody>
            </p:sp>
            <p:sp>
              <p:nvSpPr>
                <p:cNvPr id="16" name="Rounded Rectangle 15">
                  <a:extLst>
                    <a:ext uri="{FF2B5EF4-FFF2-40B4-BE49-F238E27FC236}">
                      <a16:creationId xmlns:a16="http://schemas.microsoft.com/office/drawing/2014/main" id="{7D7FEA8B-E82B-6741-8710-2867EA7F8C4D}"/>
                    </a:ext>
                  </a:extLst>
                </p:cNvPr>
                <p:cNvSpPr/>
                <p:nvPr/>
              </p:nvSpPr>
              <p:spPr>
                <a:xfrm>
                  <a:off x="0" y="-417048"/>
                  <a:ext cx="6629400" cy="949594"/>
                </a:xfrm>
                <a:prstGeom prst="roundRect">
                  <a:avLst>
                    <a:gd name="adj" fmla="val 16667"/>
                  </a:avLst>
                </a:prstGeom>
                <a:solidFill>
                  <a:srgbClr val="B8E6F5"/>
                </a:solidFill>
                <a:ln>
                  <a:noFill/>
                </a:ln>
              </p:spPr>
              <p:txBody>
                <a:bodyPr spcFirstLastPara="1" wrap="square" lIns="91425" tIns="45700" rIns="91425" bIns="45700" anchor="ctr" anchorCtr="0">
                  <a:noAutofit/>
                </a:bodyPr>
                <a:lstStyle/>
                <a:p>
                  <a:pPr marL="685800">
                    <a:spcAft>
                      <a:spcPts val="1000"/>
                    </a:spcAft>
                  </a:pPr>
                  <a:r>
                    <a:rPr lang="en-US" sz="1600" dirty="0">
                      <a:solidFill>
                        <a:srgbClr val="00619E"/>
                      </a:solidFill>
                      <a:latin typeface="Verdana" panose="020B0604030504040204" pitchFamily="34" charset="0"/>
                      <a:ea typeface="Times New Roman" panose="02020603050405020304" pitchFamily="18" charset="0"/>
                      <a:cs typeface="Cambria" panose="02040503050406030204" pitchFamily="18" charset="0"/>
                    </a:rPr>
                    <a:t>When using a</a:t>
                  </a:r>
                  <a:r>
                    <a:rPr lang="en-US" sz="1600" b="1" dirty="0">
                      <a:solidFill>
                        <a:srgbClr val="00619E"/>
                      </a:solidFill>
                      <a:latin typeface="Verdana" panose="020B0604030504040204" pitchFamily="34" charset="0"/>
                      <a:ea typeface="Times New Roman" panose="02020603050405020304" pitchFamily="18" charset="0"/>
                      <a:cs typeface="Cambria" panose="02040503050406030204" pitchFamily="18" charset="0"/>
                    </a:rPr>
                    <a:t> percent,</a:t>
                  </a:r>
                  <a:r>
                    <a:rPr lang="en-US" sz="1600" dirty="0">
                      <a:solidFill>
                        <a:srgbClr val="00619E"/>
                      </a:solidFill>
                      <a:latin typeface="Verdana" panose="020B0604030504040204" pitchFamily="34" charset="0"/>
                      <a:ea typeface="Times New Roman" panose="02020603050405020304" pitchFamily="18" charset="0"/>
                      <a:cs typeface="Cambria" panose="02040503050406030204" pitchFamily="18" charset="0"/>
                    </a:rPr>
                    <a:t> multiply the total	           population by the decimal or fraction form of the percent of the sample.</a:t>
                  </a:r>
                  <a:endParaRPr lang="x-none" sz="1100" dirty="0">
                    <a:latin typeface="Cambria" panose="02040503050406030204" pitchFamily="18" charset="0"/>
                    <a:ea typeface="Times New Roman" panose="02020603050405020304" pitchFamily="18" charset="0"/>
                    <a:cs typeface="Cambria" panose="02040503050406030204" pitchFamily="18" charset="0"/>
                  </a:endParaRPr>
                </a:p>
              </p:txBody>
            </p:sp>
          </p:grpSp>
          <p:pic>
            <p:nvPicPr>
              <p:cNvPr id="13" name="Shape 15" descr="Icon&#10;&#10;Description automatically generated">
                <a:extLst>
                  <a:ext uri="{FF2B5EF4-FFF2-40B4-BE49-F238E27FC236}">
                    <a16:creationId xmlns:a16="http://schemas.microsoft.com/office/drawing/2014/main" id="{BA72661F-AEDC-3D4A-A4B3-ACF8CE6A2D18}"/>
                  </a:ext>
                </a:extLst>
              </p:cNvPr>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83943" y="-331962"/>
                <a:ext cx="539750" cy="539750"/>
              </a:xfrm>
              <a:prstGeom prst="rect">
                <a:avLst/>
              </a:prstGeom>
              <a:noFill/>
              <a:ln>
                <a:noFill/>
              </a:ln>
              <a:effectLst>
                <a:outerShdw blurRad="50800" dist="38100" dir="2700000" algn="tl" rotWithShape="0">
                  <a:prstClr val="black">
                    <a:alpha val="40000"/>
                  </a:prstClr>
                </a:outerShdw>
              </a:effectLst>
            </p:spPr>
          </p:pic>
        </p:grpSp>
      </p:grpSp>
      <p:sp>
        <p:nvSpPr>
          <p:cNvPr id="31"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159</a:t>
            </a:r>
            <a:endParaRPr i="1" dirty="0">
              <a:latin typeface="Calibri"/>
              <a:ea typeface="Calibri"/>
              <a:cs typeface="Calibri"/>
              <a:sym typeface="Calibri"/>
            </a:endParaRPr>
          </a:p>
        </p:txBody>
      </p:sp>
      <p:pic>
        <p:nvPicPr>
          <p:cNvPr id="32"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pic>
        <p:nvPicPr>
          <p:cNvPr id="3" name="Picture 2">
            <a:extLst>
              <a:ext uri="{FF2B5EF4-FFF2-40B4-BE49-F238E27FC236}">
                <a16:creationId xmlns:a16="http://schemas.microsoft.com/office/drawing/2014/main" id="{7A6BA24E-C9E8-1912-410A-6935BDFACF83}"/>
              </a:ext>
            </a:extLst>
          </p:cNvPr>
          <p:cNvPicPr>
            <a:picLocks noChangeAspect="1"/>
          </p:cNvPicPr>
          <p:nvPr/>
        </p:nvPicPr>
        <p:blipFill>
          <a:blip r:embed="rId5"/>
          <a:stretch>
            <a:fillRect/>
          </a:stretch>
        </p:blipFill>
        <p:spPr>
          <a:xfrm>
            <a:off x="2560532" y="85604"/>
            <a:ext cx="6151986" cy="1133595"/>
          </a:xfrm>
          <a:prstGeom prst="rect">
            <a:avLst/>
          </a:prstGeom>
        </p:spPr>
      </p:pic>
      <p:pic>
        <p:nvPicPr>
          <p:cNvPr id="5" name="Picture 4">
            <a:extLst>
              <a:ext uri="{FF2B5EF4-FFF2-40B4-BE49-F238E27FC236}">
                <a16:creationId xmlns:a16="http://schemas.microsoft.com/office/drawing/2014/main" id="{7B1FF9BC-8E32-6D6A-314A-22D9A18BECC7}"/>
              </a:ext>
            </a:extLst>
          </p:cNvPr>
          <p:cNvPicPr>
            <a:picLocks noChangeAspect="1"/>
          </p:cNvPicPr>
          <p:nvPr/>
        </p:nvPicPr>
        <p:blipFill>
          <a:blip r:embed="rId6"/>
          <a:stretch>
            <a:fillRect/>
          </a:stretch>
        </p:blipFill>
        <p:spPr>
          <a:xfrm>
            <a:off x="2439723" y="1324765"/>
            <a:ext cx="6399172" cy="1116135"/>
          </a:xfrm>
          <a:prstGeom prst="rect">
            <a:avLst/>
          </a:prstGeom>
        </p:spPr>
      </p:pic>
    </p:spTree>
    <p:extLst>
      <p:ext uri="{BB962C8B-B14F-4D97-AF65-F5344CB8AC3E}">
        <p14:creationId xmlns:p14="http://schemas.microsoft.com/office/powerpoint/2010/main" val="19420410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214652" y="1394796"/>
            <a:ext cx="9779556"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rabi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Bianca picks blocks out of a bag one at a time. She picks out a block, records the color, and puts the block back in the bag. She cannot see the blocks, but she knows there are 6 blocks in the bag. Of the 50 times she picked a block out of the bag, she picked a blue block 29 times, a red block 10 times, and a yellow block 11 times. </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50900" indent="-354013" eaLnBrk="0" fontAlgn="base" hangingPunct="0">
              <a:spcBef>
                <a:spcPct val="0"/>
              </a:spcBef>
              <a:spcAft>
                <a:spcPct val="0"/>
              </a:spcAft>
              <a:buClrTx/>
              <a:buFont typeface="+mj-lt"/>
              <a:buAutoNum type="alphaLcPeriod"/>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Write ratios to show the number of times Bianca picked a blue, red, and yellow block out of the bag.</a:t>
            </a:r>
          </a:p>
          <a:p>
            <a:pPr marL="850900" indent="-354013"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85090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Blue _____     Red _____     Yellow ______</a:t>
            </a:r>
          </a:p>
        </p:txBody>
      </p:sp>
      <p:sp>
        <p:nvSpPr>
          <p:cNvPr id="6"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159</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830285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D330F31-6BC7-B146-B595-34E7025365DB}"/>
                  </a:ext>
                </a:extLst>
              </p:cNvPr>
              <p:cNvSpPr>
                <a:spLocks noChangeArrowheads="1"/>
              </p:cNvSpPr>
              <p:nvPr/>
            </p:nvSpPr>
            <p:spPr bwMode="auto">
              <a:xfrm>
                <a:off x="1296538" y="877181"/>
                <a:ext cx="9598926" cy="452431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Explain which strategy will work best to predict how many of the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blocks are blue, red, and yellow. </a:t>
                </a:r>
              </a:p>
              <a:p>
                <a:pPr marL="4572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Using the strategy you selected, how many of the </a:t>
                </a:r>
                <a14:m>
                  <m:oMath xmlns:m="http://schemas.openxmlformats.org/officeDocument/2006/math">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6</m:t>
                    </m:r>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blocks are blue, red, and yellow? Show your work.</a:t>
                </a:r>
              </a:p>
              <a:p>
                <a:pPr marL="4572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lphaLcPeriod" startAt="2"/>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marL="457200" indent="-457200" eaLnBrk="0" fontAlgn="base" hangingPunct="0">
                  <a:spcBef>
                    <a:spcPct val="0"/>
                  </a:spcBef>
                  <a:spcAft>
                    <a:spcPct val="0"/>
                  </a:spcAft>
                  <a:buClrTx/>
                  <a:buFont typeface="+mj-lt"/>
                  <a:buAutoNum type="alphaLcPeriod" startAt="2"/>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Explain whether the strategy you chose was the best strategy to use, or if another would have worked better. </a:t>
                </a:r>
              </a:p>
            </p:txBody>
          </p:sp>
        </mc:Choice>
        <mc:Fallback xmlns="">
          <p:sp>
            <p:nvSpPr>
              <p:cNvPr id="34" name="Rectangle 33">
                <a:extLst>
                  <a:ext uri="{FF2B5EF4-FFF2-40B4-BE49-F238E27FC236}">
                    <a16:creationId xmlns:a16="http://schemas.microsoft.com/office/drawing/2014/main" xmlns:a14="http://schemas.microsoft.com/office/drawing/2010/main" xmlns="" id="{CD330F31-6BC7-B146-B595-34E7025365DB}"/>
                  </a:ext>
                </a:extLst>
              </p:cNvPr>
              <p:cNvSpPr>
                <a:spLocks noRot="1" noChangeAspect="1" noMove="1" noResize="1" noEditPoints="1" noAdjustHandles="1" noChangeArrowheads="1" noChangeShapeType="1" noTextEdit="1"/>
              </p:cNvSpPr>
              <p:nvPr/>
            </p:nvSpPr>
            <p:spPr bwMode="auto">
              <a:xfrm>
                <a:off x="1296538" y="877181"/>
                <a:ext cx="9598926" cy="4524315"/>
              </a:xfrm>
              <a:prstGeom prst="rect">
                <a:avLst/>
              </a:prstGeom>
              <a:blipFill rotWithShape="0">
                <a:blip r:embed="rId3"/>
                <a:stretch>
                  <a:fillRect l="-1017" t="-674" b="-25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6"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160</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652493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614084" y="2766144"/>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8" name="image4.png">
            <a:extLst>
              <a:ext uri="{FF2B5EF4-FFF2-40B4-BE49-F238E27FC236}">
                <a16:creationId xmlns:a16="http://schemas.microsoft.com/office/drawing/2014/main" id="{195C22C1-EC6C-D340-912B-99FCAEED0E7F}"/>
              </a:ext>
            </a:extLst>
          </p:cNvPr>
          <p:cNvPicPr/>
          <p:nvPr/>
        </p:nvPicPr>
        <p:blipFill>
          <a:blip r:embed="rId3"/>
          <a:srcRect/>
          <a:stretch>
            <a:fillRect/>
          </a:stretch>
        </p:blipFill>
        <p:spPr>
          <a:xfrm>
            <a:off x="4470921" y="2852920"/>
            <a:ext cx="1152149" cy="1152149"/>
          </a:xfrm>
          <a:prstGeom prst="rect">
            <a:avLst/>
          </a:prstGeom>
          <a:ln/>
          <a:effectLst>
            <a:outerShdw blurRad="50800" dist="38100" dir="2700000" algn="tl" rotWithShape="0">
              <a:prstClr val="black">
                <a:alpha val="40000"/>
              </a:prstClr>
            </a:outerShdw>
          </a:effectLst>
        </p:spPr>
      </p:pic>
      <p:sp>
        <p:nvSpPr>
          <p:cNvPr id="9"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160</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37211"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10.10.3 Collaboration: Stocking a Vending Machine</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1536857" y="1466433"/>
                <a:ext cx="9400822" cy="2677656"/>
              </a:xfrm>
              <a:prstGeom prst="rect">
                <a:avLst/>
              </a:prstGeom>
              <a:noFill/>
            </p:spPr>
            <p:txBody>
              <a:bodyPr wrap="square" rtlCol="0">
                <a:spAutoFit/>
              </a:bodyPr>
              <a:lstStyle/>
              <a:p>
                <a:pPr lvl="0"/>
                <a:r>
                  <a:rPr lang="en-US" sz="2400" dirty="0">
                    <a:latin typeface="Verdana" panose="020B0604030504040204" pitchFamily="34" charset="0"/>
                    <a:ea typeface="Verdana" panose="020B0604030504040204" pitchFamily="34" charset="0"/>
                    <a:cs typeface="Verdana" panose="020B0604030504040204" pitchFamily="34" charset="0"/>
                  </a:rPr>
                  <a:t>Students at Sanford Middle School are upset the school vending machine is always sold out of their favorite items. The student council decides to survey students to find a better way to stock the vending machine. They randomly sample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60</m:t>
                    </m:r>
                  </m:oMath>
                </a14:m>
                <a:r>
                  <a:rPr lang="en-US" sz="2400" dirty="0">
                    <a:latin typeface="Verdana" panose="020B0604030504040204" pitchFamily="34" charset="0"/>
                    <a:ea typeface="Verdana" panose="020B0604030504040204" pitchFamily="34" charset="0"/>
                    <a:cs typeface="Verdana" panose="020B0604030504040204" pitchFamily="34" charset="0"/>
                  </a:rPr>
                  <a:t> students. Each student surveyed picked their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m:t>
                    </m:r>
                  </m:oMath>
                </a14:m>
                <a:r>
                  <a:rPr lang="en-US" sz="2400" dirty="0">
                    <a:latin typeface="Verdana" panose="020B0604030504040204" pitchFamily="34" charset="0"/>
                    <a:ea typeface="Verdana" panose="020B0604030504040204" pitchFamily="34" charset="0"/>
                    <a:cs typeface="Verdana" panose="020B0604030504040204" pitchFamily="34" charset="0"/>
                  </a:rPr>
                  <a:t> favorite items from the vending machine. The results are shown in the table.</a:t>
                </a:r>
              </a:p>
            </p:txBody>
          </p:sp>
        </mc:Choice>
        <mc:Fallback xmlns="">
          <p:sp>
            <p:nvSpPr>
              <p:cNvPr id="10" name="TextBox 9">
                <a:extLst>
                  <a:ext uri="{FF2B5EF4-FFF2-40B4-BE49-F238E27FC236}">
                    <a16:creationId xmlns:a16="http://schemas.microsoft.com/office/drawing/2014/main" xmlns:a14="http://schemas.microsoft.com/office/drawing/2010/main" xmlns="" id="{E44DF7DE-9172-3E4E-B74A-7A51585FB6EA}"/>
                  </a:ext>
                </a:extLst>
              </p:cNvPr>
              <p:cNvSpPr txBox="1">
                <a:spLocks noRot="1" noChangeAspect="1" noMove="1" noResize="1" noEditPoints="1" noAdjustHandles="1" noChangeArrowheads="1" noChangeShapeType="1" noTextEdit="1"/>
              </p:cNvSpPr>
              <p:nvPr/>
            </p:nvSpPr>
            <p:spPr>
              <a:xfrm>
                <a:off x="1536857" y="1466433"/>
                <a:ext cx="9400822" cy="2677656"/>
              </a:xfrm>
              <a:prstGeom prst="rect">
                <a:avLst/>
              </a:prstGeom>
              <a:blipFill rotWithShape="0">
                <a:blip r:embed="rId3"/>
                <a:stretch>
                  <a:fillRect l="-973" t="-1822" b="-4328"/>
                </a:stretch>
              </a:blipFill>
            </p:spPr>
            <p:txBody>
              <a:bodyPr/>
              <a:lstStyle/>
              <a:p>
                <a:r>
                  <a:rPr lang="en-US">
                    <a:noFill/>
                  </a:rPr>
                  <a:t> </a:t>
                </a:r>
              </a:p>
            </p:txBody>
          </p:sp>
        </mc:Fallback>
      </mc:AlternateContent>
      <p:pic>
        <p:nvPicPr>
          <p:cNvPr id="27" name="image4.png">
            <a:extLst>
              <a:ext uri="{FF2B5EF4-FFF2-40B4-BE49-F238E27FC236}">
                <a16:creationId xmlns:a16="http://schemas.microsoft.com/office/drawing/2014/main" id="{354AA297-7339-884E-8C2A-ACD88DFD90DD}"/>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783328" y="197158"/>
            <a:ext cx="753529" cy="753529"/>
          </a:xfrm>
          <a:prstGeom prst="rect">
            <a:avLst/>
          </a:prstGeom>
          <a:ln/>
        </p:spPr>
      </p:pic>
      <p:sp>
        <p:nvSpPr>
          <p:cNvPr id="9"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160</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5" name="Table 4">
            <a:extLst>
              <a:ext uri="{FF2B5EF4-FFF2-40B4-BE49-F238E27FC236}">
                <a16:creationId xmlns:a16="http://schemas.microsoft.com/office/drawing/2014/main" id="{B3F1266D-2E71-864D-9319-1411DA49B612}"/>
              </a:ext>
            </a:extLst>
          </p:cNvPr>
          <p:cNvGraphicFramePr>
            <a:graphicFrameLocks noGrp="1"/>
          </p:cNvGraphicFramePr>
          <p:nvPr>
            <p:extLst>
              <p:ext uri="{D42A27DB-BD31-4B8C-83A1-F6EECF244321}">
                <p14:modId xmlns:p14="http://schemas.microsoft.com/office/powerpoint/2010/main" val="558505975"/>
              </p:ext>
            </p:extLst>
          </p:nvPr>
        </p:nvGraphicFramePr>
        <p:xfrm>
          <a:off x="3995420" y="314877"/>
          <a:ext cx="4201161" cy="4351336"/>
        </p:xfrm>
        <a:graphic>
          <a:graphicData uri="http://schemas.openxmlformats.org/drawingml/2006/table">
            <a:tbl>
              <a:tblPr firstRow="1" firstCol="1" bandRow="1"/>
              <a:tblGrid>
                <a:gridCol w="1268728">
                  <a:extLst>
                    <a:ext uri="{9D8B030D-6E8A-4147-A177-3AD203B41FA5}">
                      <a16:colId xmlns:a16="http://schemas.microsoft.com/office/drawing/2014/main" val="3869657508"/>
                    </a:ext>
                  </a:extLst>
                </a:gridCol>
                <a:gridCol w="1505526">
                  <a:extLst>
                    <a:ext uri="{9D8B030D-6E8A-4147-A177-3AD203B41FA5}">
                      <a16:colId xmlns:a16="http://schemas.microsoft.com/office/drawing/2014/main" val="525472321"/>
                    </a:ext>
                  </a:extLst>
                </a:gridCol>
                <a:gridCol w="1426907">
                  <a:extLst>
                    <a:ext uri="{9D8B030D-6E8A-4147-A177-3AD203B41FA5}">
                      <a16:colId xmlns:a16="http://schemas.microsoft.com/office/drawing/2014/main" val="2191064609"/>
                    </a:ext>
                  </a:extLst>
                </a:gridCol>
              </a:tblGrid>
              <a:tr h="729224">
                <a:tc>
                  <a:txBody>
                    <a:bodyPr/>
                    <a:lstStyle/>
                    <a:p>
                      <a:pPr marL="0" marR="34290" algn="ctr">
                        <a:spcBef>
                          <a:spcPts val="0"/>
                        </a:spcBef>
                        <a:spcAft>
                          <a:spcPts val="0"/>
                        </a:spcAft>
                      </a:pPr>
                      <a:r>
                        <a:rPr lang="en-US" sz="1300" b="1">
                          <a:effectLst/>
                          <a:latin typeface="Verdana" panose="020B0604030504040204" pitchFamily="34" charset="0"/>
                          <a:ea typeface="Times New Roman" panose="02020603050405020304" pitchFamily="18" charset="0"/>
                          <a:cs typeface="Cambria" panose="02040503050406030204" pitchFamily="18" charset="0"/>
                        </a:rPr>
                        <a:t>Item</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3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Number of Times Chosen in Survey</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34290" algn="ctr">
                        <a:spcBef>
                          <a:spcPts val="0"/>
                        </a:spcBef>
                        <a:spcAft>
                          <a:spcPts val="0"/>
                        </a:spcAft>
                      </a:pPr>
                      <a:r>
                        <a:rPr lang="en-US" sz="1300" b="1">
                          <a:solidFill>
                            <a:srgbClr val="000000"/>
                          </a:solidFill>
                          <a:effectLst/>
                          <a:latin typeface="Verdana" panose="020B0604030504040204" pitchFamily="34" charset="0"/>
                          <a:ea typeface="Times New Roman" panose="02020603050405020304" pitchFamily="18" charset="0"/>
                          <a:cs typeface="Cambria" panose="02040503050406030204" pitchFamily="18" charset="0"/>
                        </a:rPr>
                        <a:t>Number that Should be Stocked</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612920125"/>
                  </a:ext>
                </a:extLst>
              </a:tr>
              <a:tr h="372380">
                <a:tc>
                  <a:txBody>
                    <a:bodyPr/>
                    <a:lstStyle/>
                    <a:p>
                      <a:pPr marL="0" marR="34290" algn="ctr">
                        <a:spcBef>
                          <a:spcPts val="0"/>
                        </a:spcBef>
                        <a:spcAft>
                          <a:spcPts val="0"/>
                        </a:spcAft>
                      </a:pPr>
                      <a:r>
                        <a:rPr lang="en-US" sz="1300">
                          <a:effectLst/>
                          <a:latin typeface="Verdana" panose="020B0604030504040204" pitchFamily="34" charset="0"/>
                          <a:ea typeface="Times New Roman" panose="02020603050405020304" pitchFamily="18" charset="0"/>
                          <a:cs typeface="Cambria" panose="02040503050406030204" pitchFamily="18" charset="0"/>
                        </a:rPr>
                        <a:t>Reese’s </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30</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 </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21505420"/>
                  </a:ext>
                </a:extLst>
              </a:tr>
              <a:tr h="355432">
                <a:tc>
                  <a:txBody>
                    <a:bodyPr/>
                    <a:lstStyle/>
                    <a:p>
                      <a:pPr marL="0" marR="34290" algn="ctr">
                        <a:spcBef>
                          <a:spcPts val="0"/>
                        </a:spcBef>
                        <a:spcAft>
                          <a:spcPts val="0"/>
                        </a:spcAft>
                      </a:pPr>
                      <a:r>
                        <a:rPr lang="en-US" sz="1300">
                          <a:effectLst/>
                          <a:latin typeface="Verdana" panose="020B0604030504040204" pitchFamily="34" charset="0"/>
                          <a:ea typeface="Times New Roman" panose="02020603050405020304" pitchFamily="18" charset="0"/>
                          <a:cs typeface="Cambria" panose="02040503050406030204" pitchFamily="18" charset="0"/>
                        </a:rPr>
                        <a:t>Skittles</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24</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 </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4944700"/>
                  </a:ext>
                </a:extLst>
              </a:tr>
              <a:tr h="355432">
                <a:tc>
                  <a:txBody>
                    <a:bodyPr/>
                    <a:lstStyle/>
                    <a:p>
                      <a:pPr marL="0" marR="34290" algn="ctr">
                        <a:spcBef>
                          <a:spcPts val="0"/>
                        </a:spcBef>
                        <a:spcAft>
                          <a:spcPts val="0"/>
                        </a:spcAft>
                      </a:pPr>
                      <a:r>
                        <a:rPr lang="en-US" sz="1300">
                          <a:effectLst/>
                          <a:latin typeface="Verdana" panose="020B0604030504040204" pitchFamily="34" charset="0"/>
                          <a:ea typeface="Times New Roman" panose="02020603050405020304" pitchFamily="18" charset="0"/>
                          <a:cs typeface="Cambria" panose="02040503050406030204" pitchFamily="18" charset="0"/>
                        </a:rPr>
                        <a:t>Starburst</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21</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 </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7465737"/>
                  </a:ext>
                </a:extLst>
              </a:tr>
              <a:tr h="372380">
                <a:tc>
                  <a:txBody>
                    <a:bodyPr/>
                    <a:lstStyle/>
                    <a:p>
                      <a:pPr marL="0" marR="34290" algn="ctr">
                        <a:spcBef>
                          <a:spcPts val="0"/>
                        </a:spcBef>
                        <a:spcAft>
                          <a:spcPts val="0"/>
                        </a:spcAft>
                      </a:pPr>
                      <a:r>
                        <a:rPr lang="en-US" sz="1300">
                          <a:effectLst/>
                          <a:latin typeface="Verdana" panose="020B0604030504040204" pitchFamily="34" charset="0"/>
                          <a:ea typeface="Times New Roman" panose="02020603050405020304" pitchFamily="18" charset="0"/>
                          <a:cs typeface="Cambria" panose="02040503050406030204" pitchFamily="18" charset="0"/>
                        </a:rPr>
                        <a:t>Snickers</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42</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 </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30852832"/>
                  </a:ext>
                </a:extLst>
              </a:tr>
              <a:tr h="355432">
                <a:tc>
                  <a:txBody>
                    <a:bodyPr/>
                    <a:lstStyle/>
                    <a:p>
                      <a:pPr marL="0" marR="34290" algn="ctr">
                        <a:spcBef>
                          <a:spcPts val="0"/>
                        </a:spcBef>
                        <a:spcAft>
                          <a:spcPts val="0"/>
                        </a:spcAft>
                      </a:pPr>
                      <a:r>
                        <a:rPr lang="en-US" sz="1300">
                          <a:effectLst/>
                          <a:latin typeface="Verdana" panose="020B0604030504040204" pitchFamily="34" charset="0"/>
                          <a:ea typeface="Times New Roman" panose="02020603050405020304" pitchFamily="18" charset="0"/>
                          <a:cs typeface="Cambria" panose="02040503050406030204" pitchFamily="18" charset="0"/>
                        </a:rPr>
                        <a:t>Pretzels</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24</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 </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64047881"/>
                  </a:ext>
                </a:extLst>
              </a:tr>
              <a:tr h="372380">
                <a:tc>
                  <a:txBody>
                    <a:bodyPr/>
                    <a:lstStyle/>
                    <a:p>
                      <a:pPr marL="0" marR="34290" algn="ctr">
                        <a:spcBef>
                          <a:spcPts val="0"/>
                        </a:spcBef>
                        <a:spcAft>
                          <a:spcPts val="0"/>
                        </a:spcAft>
                      </a:pPr>
                      <a:r>
                        <a:rPr lang="en-US" sz="1300">
                          <a:effectLst/>
                          <a:latin typeface="Verdana" panose="020B0604030504040204" pitchFamily="34" charset="0"/>
                          <a:ea typeface="Times New Roman" panose="02020603050405020304" pitchFamily="18" charset="0"/>
                          <a:cs typeface="Cambria" panose="02040503050406030204" pitchFamily="18" charset="0"/>
                        </a:rPr>
                        <a:t>Chips</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30</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 </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8485758"/>
                  </a:ext>
                </a:extLst>
              </a:tr>
              <a:tr h="355432">
                <a:tc>
                  <a:txBody>
                    <a:bodyPr/>
                    <a:lstStyle/>
                    <a:p>
                      <a:pPr marL="0" marR="34290" algn="ctr">
                        <a:spcBef>
                          <a:spcPts val="0"/>
                        </a:spcBef>
                        <a:spcAft>
                          <a:spcPts val="0"/>
                        </a:spcAft>
                      </a:pPr>
                      <a:r>
                        <a:rPr lang="en-US" sz="1300">
                          <a:effectLst/>
                          <a:latin typeface="Verdana" panose="020B0604030504040204" pitchFamily="34" charset="0"/>
                          <a:ea typeface="Times New Roman" panose="02020603050405020304" pitchFamily="18" charset="0"/>
                          <a:cs typeface="Cambria" panose="02040503050406030204" pitchFamily="18" charset="0"/>
                        </a:rPr>
                        <a:t>Takis</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39</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 </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9388794"/>
                  </a:ext>
                </a:extLst>
              </a:tr>
              <a:tr h="355432">
                <a:tc>
                  <a:txBody>
                    <a:bodyPr/>
                    <a:lstStyle/>
                    <a:p>
                      <a:pPr marL="0" marR="34290" algn="ctr">
                        <a:spcBef>
                          <a:spcPts val="0"/>
                        </a:spcBef>
                        <a:spcAft>
                          <a:spcPts val="0"/>
                        </a:spcAft>
                      </a:pPr>
                      <a:r>
                        <a:rPr lang="en-US" sz="1300">
                          <a:effectLst/>
                          <a:latin typeface="Verdana" panose="020B0604030504040204" pitchFamily="34" charset="0"/>
                          <a:ea typeface="Times New Roman" panose="02020603050405020304" pitchFamily="18" charset="0"/>
                          <a:cs typeface="Cambria" panose="02040503050406030204" pitchFamily="18" charset="0"/>
                        </a:rPr>
                        <a:t>Gum</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36</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 </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49541801"/>
                  </a:ext>
                </a:extLst>
              </a:tr>
              <a:tr h="372380">
                <a:tc>
                  <a:txBody>
                    <a:bodyPr/>
                    <a:lstStyle/>
                    <a:p>
                      <a:pPr marL="0" marR="34290" algn="ctr">
                        <a:spcBef>
                          <a:spcPts val="0"/>
                        </a:spcBef>
                        <a:spcAft>
                          <a:spcPts val="0"/>
                        </a:spcAft>
                      </a:pPr>
                      <a:r>
                        <a:rPr lang="en-US" sz="1300">
                          <a:effectLst/>
                          <a:latin typeface="Verdana" panose="020B0604030504040204" pitchFamily="34" charset="0"/>
                          <a:ea typeface="Times New Roman" panose="02020603050405020304" pitchFamily="18" charset="0"/>
                          <a:cs typeface="Cambria" panose="02040503050406030204" pitchFamily="18" charset="0"/>
                        </a:rPr>
                        <a:t>M&amp;Ms</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30</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 </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927033"/>
                  </a:ext>
                </a:extLst>
              </a:tr>
              <a:tr h="355432">
                <a:tc>
                  <a:txBody>
                    <a:bodyPr/>
                    <a:lstStyle/>
                    <a:p>
                      <a:pPr marL="0" marR="34290" algn="ctr">
                        <a:spcBef>
                          <a:spcPts val="0"/>
                        </a:spcBef>
                        <a:spcAft>
                          <a:spcPts val="0"/>
                        </a:spcAft>
                      </a:pPr>
                      <a:r>
                        <a:rPr lang="en-US" sz="1300">
                          <a:effectLst/>
                          <a:latin typeface="Verdana" panose="020B0604030504040204" pitchFamily="34" charset="0"/>
                          <a:ea typeface="Times New Roman" panose="02020603050405020304" pitchFamily="18" charset="0"/>
                          <a:cs typeface="Cambria" panose="02040503050406030204" pitchFamily="18" charset="0"/>
                        </a:rPr>
                        <a:t>Trail Mix</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a:effectLst/>
                          <a:latin typeface="Cambria Math" panose="02040503050406030204" pitchFamily="18" charset="0"/>
                          <a:ea typeface="Times New Roman" panose="02020603050405020304" pitchFamily="18" charset="0"/>
                          <a:cs typeface="Cambria" panose="02040503050406030204" pitchFamily="18" charset="0"/>
                        </a:rPr>
                        <a:t>24</a:t>
                      </a:r>
                      <a:endParaRPr lang="x-none" sz="90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34290" algn="ctr">
                        <a:spcBef>
                          <a:spcPts val="0"/>
                        </a:spcBef>
                        <a:spcAft>
                          <a:spcPts val="0"/>
                        </a:spcAft>
                      </a:pPr>
                      <a:r>
                        <a:rPr lang="en-US" sz="1300" dirty="0">
                          <a:effectLst/>
                          <a:latin typeface="Cambria Math" panose="02040503050406030204" pitchFamily="18" charset="0"/>
                          <a:ea typeface="Times New Roman" panose="02020603050405020304" pitchFamily="18" charset="0"/>
                          <a:cs typeface="Cambria" panose="02040503050406030204" pitchFamily="18" charset="0"/>
                        </a:rPr>
                        <a:t> </a:t>
                      </a:r>
                      <a:endParaRPr lang="x-none" sz="900" dirty="0">
                        <a:effectLst/>
                        <a:latin typeface="Cambria" panose="02040503050406030204" pitchFamily="18" charset="0"/>
                        <a:ea typeface="Times New Roman" panose="02020603050405020304" pitchFamily="18" charset="0"/>
                        <a:cs typeface="Cambria" panose="02040503050406030204" pitchFamily="18" charset="0"/>
                      </a:endParaRPr>
                    </a:p>
                  </a:txBody>
                  <a:tcPr marL="50843" marR="5084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82152289"/>
                  </a:ext>
                </a:extLst>
              </a:tr>
            </a:tbl>
          </a:graphicData>
        </a:graphic>
      </p:graphicFrame>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E391AF3F-96BF-534B-9E28-A80E84469C7C}"/>
                  </a:ext>
                </a:extLst>
              </p:cNvPr>
              <p:cNvSpPr/>
              <p:nvPr/>
            </p:nvSpPr>
            <p:spPr>
              <a:xfrm>
                <a:off x="1569493" y="4888015"/>
                <a:ext cx="9051280" cy="1200329"/>
              </a:xfrm>
              <a:prstGeom prst="rect">
                <a:avLst/>
              </a:prstGeom>
            </p:spPr>
            <p:txBody>
              <a:bodyPr wrap="square">
                <a:spAutoFit/>
              </a:bodyPr>
              <a:lstStyle/>
              <a:p>
                <a:r>
                  <a:rPr lang="en-US" sz="2400" dirty="0">
                    <a:latin typeface="Verdana" panose="020B0604030504040204" pitchFamily="34" charset="0"/>
                    <a:ea typeface="Times New Roman" panose="02020603050405020304" pitchFamily="18" charset="0"/>
                    <a:cs typeface="Times New Roman" panose="02020603050405020304" pitchFamily="18" charset="0"/>
                  </a:rPr>
                  <a:t>The vending machine at school has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different snack compartments, each with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metal spirals for each snack. The vending machine can hold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450</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total snacks. </a:t>
                </a:r>
              </a:p>
            </p:txBody>
          </p:sp>
        </mc:Choice>
        <mc:Fallback xmlns="">
          <p:sp>
            <p:nvSpPr>
              <p:cNvPr id="9" name="Rectangle 8">
                <a:extLst>
                  <a:ext uri="{FF2B5EF4-FFF2-40B4-BE49-F238E27FC236}">
                    <a16:creationId xmlns:a16="http://schemas.microsoft.com/office/drawing/2014/main" xmlns:a14="http://schemas.microsoft.com/office/drawing/2010/main" xmlns="" id="{E391AF3F-96BF-534B-9E28-A80E84469C7C}"/>
                  </a:ext>
                </a:extLst>
              </p:cNvPr>
              <p:cNvSpPr>
                <a:spLocks noRot="1" noChangeAspect="1" noMove="1" noResize="1" noEditPoints="1" noAdjustHandles="1" noChangeArrowheads="1" noChangeShapeType="1" noTextEdit="1"/>
              </p:cNvSpPr>
              <p:nvPr/>
            </p:nvSpPr>
            <p:spPr>
              <a:xfrm>
                <a:off x="1569493" y="4888015"/>
                <a:ext cx="9051280" cy="1200329"/>
              </a:xfrm>
              <a:prstGeom prst="rect">
                <a:avLst/>
              </a:prstGeom>
              <a:blipFill rotWithShape="0">
                <a:blip r:embed="rId3"/>
                <a:stretch>
                  <a:fillRect l="-1010" t="-4569" b="-10152"/>
                </a:stretch>
              </a:blipFill>
            </p:spPr>
            <p:txBody>
              <a:bodyPr/>
              <a:lstStyle/>
              <a:p>
                <a:r>
                  <a:rPr lang="en-US">
                    <a:noFill/>
                  </a:rPr>
                  <a:t> </a:t>
                </a:r>
              </a:p>
            </p:txBody>
          </p:sp>
        </mc:Fallback>
      </mc:AlternateContent>
      <p:sp>
        <p:nvSpPr>
          <p:cNvPr id="7"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160</a:t>
            </a:r>
            <a:endParaRPr i="1" dirty="0">
              <a:latin typeface="Calibri"/>
              <a:ea typeface="Calibri"/>
              <a:cs typeface="Calibri"/>
              <a:sym typeface="Calibri"/>
            </a:endParaRPr>
          </a:p>
        </p:txBody>
      </p:sp>
      <p:pic>
        <p:nvPicPr>
          <p:cNvPr id="8"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251846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F54A4596-5923-6342-9500-70E8F702680A}"/>
              </a:ext>
            </a:extLst>
          </p:cNvPr>
          <p:cNvSpPr/>
          <p:nvPr/>
        </p:nvSpPr>
        <p:spPr>
          <a:xfrm>
            <a:off x="1078173" y="418189"/>
            <a:ext cx="10033920" cy="4493538"/>
          </a:xfrm>
          <a:prstGeom prst="rect">
            <a:avLst/>
          </a:prstGeom>
        </p:spPr>
        <p:txBody>
          <a:bodyPr wrap="square">
            <a:spAutoFit/>
          </a:bodyPr>
          <a:lstStyle/>
          <a:p>
            <a:pPr marL="457200" indent="-457200">
              <a:buFont typeface="+mj-lt"/>
              <a:buAutoNum type="arabicPeriod"/>
            </a:pPr>
            <a:r>
              <a:rPr lang="en-US" sz="2200" dirty="0">
                <a:latin typeface="Verdana" panose="020B0604030504040204" pitchFamily="34" charset="0"/>
                <a:ea typeface="Times New Roman" panose="02020603050405020304" pitchFamily="18" charset="0"/>
                <a:cs typeface="Times New Roman" panose="02020603050405020304" pitchFamily="18" charset="0"/>
              </a:rPr>
              <a:t>Work with your partner to decide how many of each snack should be stocked in the vending machine. Complete the table with your decision.</a:t>
            </a:r>
          </a:p>
          <a:p>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811213" indent="-366713"/>
            <a:r>
              <a:rPr lang="en-US" sz="2200" dirty="0">
                <a:latin typeface="Verdana" panose="020B0604030504040204" pitchFamily="34" charset="0"/>
                <a:ea typeface="Times New Roman" panose="02020603050405020304" pitchFamily="18" charset="0"/>
                <a:cs typeface="Times New Roman" panose="02020603050405020304" pitchFamily="18" charset="0"/>
              </a:rPr>
              <a:t>Your work will be assessed using these criteria.</a:t>
            </a:r>
          </a:p>
          <a:p>
            <a:pPr marL="811213" indent="-366713"/>
            <a:endParaRPr lang="en-US" sz="2200" dirty="0">
              <a:latin typeface="Verdana" panose="020B0604030504040204" pitchFamily="34" charset="0"/>
              <a:ea typeface="Times New Roman" panose="02020603050405020304" pitchFamily="18" charset="0"/>
              <a:cs typeface="Times New Roman" panose="02020603050405020304" pitchFamily="18" charset="0"/>
            </a:endParaRPr>
          </a:p>
          <a:p>
            <a:pPr marL="811213" indent="-366713">
              <a:buFont typeface="Arial" panose="020B0604020202020204" pitchFamily="34" charset="0"/>
              <a:buChar char="•"/>
            </a:pPr>
            <a:r>
              <a:rPr lang="en-US" sz="2200" dirty="0">
                <a:latin typeface="Verdana" panose="020B0604030504040204" pitchFamily="34" charset="0"/>
                <a:ea typeface="Times New Roman" panose="02020603050405020304" pitchFamily="18" charset="0"/>
                <a:cs typeface="Times New Roman" panose="02020603050405020304" pitchFamily="18" charset="0"/>
              </a:rPr>
              <a:t>Each of the strategies: scale factor, equivalent fraction, and percent are used. If one of the strategies is not used, there is an explanation for why the strategy was not used. </a:t>
            </a:r>
          </a:p>
          <a:p>
            <a:pPr marL="811213" indent="-366713">
              <a:buFont typeface="Arial" panose="020B0604020202020204" pitchFamily="34" charset="0"/>
              <a:buChar char="•"/>
            </a:pPr>
            <a:r>
              <a:rPr lang="en-US" sz="2200" dirty="0">
                <a:latin typeface="Verdana" panose="020B0604030504040204" pitchFamily="34" charset="0"/>
                <a:ea typeface="Times New Roman" panose="02020603050405020304" pitchFamily="18" charset="0"/>
                <a:cs typeface="Times New Roman" panose="02020603050405020304" pitchFamily="18" charset="0"/>
              </a:rPr>
              <a:t>It is clear, either from your work or a written explanation, why you have stocked the vending machine the way you did.  </a:t>
            </a:r>
          </a:p>
          <a:p>
            <a:pPr marL="811213" indent="-366713">
              <a:buFont typeface="Arial" panose="020B0604020202020204" pitchFamily="34" charset="0"/>
              <a:buChar char="•"/>
            </a:pPr>
            <a:r>
              <a:rPr lang="en-US" sz="2200" dirty="0">
                <a:latin typeface="Verdana" panose="020B0604030504040204" pitchFamily="34" charset="0"/>
                <a:ea typeface="Times New Roman" panose="02020603050405020304" pitchFamily="18" charset="0"/>
                <a:cs typeface="Times New Roman" panose="02020603050405020304" pitchFamily="18" charset="0"/>
              </a:rPr>
              <a:t>The number of each snack stocked in the vending machine is a direct reflection of the survey results. </a:t>
            </a:r>
          </a:p>
        </p:txBody>
      </p:sp>
      <p:sp>
        <p:nvSpPr>
          <p:cNvPr id="6"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161</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81553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767227"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image3.png" descr="Icon&#10;&#10;Description automatically generated">
            <a:extLst>
              <a:ext uri="{FF2B5EF4-FFF2-40B4-BE49-F238E27FC236}">
                <a16:creationId xmlns:a16="http://schemas.microsoft.com/office/drawing/2014/main" id="{A4D5EB06-DA35-D141-A559-7AC25258EF42}"/>
              </a:ext>
            </a:extLst>
          </p:cNvPr>
          <p:cNvPicPr/>
          <p:nvPr/>
        </p:nvPicPr>
        <p:blipFill>
          <a:blip r:embed="rId3"/>
          <a:srcRect/>
          <a:stretch>
            <a:fillRect/>
          </a:stretch>
        </p:blipFill>
        <p:spPr>
          <a:xfrm>
            <a:off x="4733062" y="2920744"/>
            <a:ext cx="1016513" cy="1016513"/>
          </a:xfrm>
          <a:prstGeom prst="rect">
            <a:avLst/>
          </a:prstGeom>
          <a:ln/>
          <a:effectLst>
            <a:outerShdw blurRad="50800" dist="38100" dir="2700000" algn="tl" rotWithShape="0">
              <a:prstClr val="black">
                <a:alpha val="40000"/>
              </a:prstClr>
            </a:outerShdw>
          </a:effectLst>
        </p:spPr>
      </p:pic>
      <p:sp>
        <p:nvSpPr>
          <p:cNvPr id="7"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161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75598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543573" y="-810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E24E5F"/>
                </a:solidFill>
                <a:latin typeface="Verdana"/>
                <a:ea typeface="Verdana"/>
                <a:cs typeface="Verdana"/>
                <a:sym typeface="Verdana"/>
              </a:rPr>
              <a:t>10.10.4 Your Turn!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281112-0763-C941-9DB7-9B28C4EA4745}"/>
                  </a:ext>
                </a:extLst>
              </p:cNvPr>
              <p:cNvSpPr/>
              <p:nvPr/>
            </p:nvSpPr>
            <p:spPr>
              <a:xfrm>
                <a:off x="1543573" y="1346520"/>
                <a:ext cx="8928742" cy="3046988"/>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Suwannee County School District is studying changes that will need to be made to the transportation department when building new schools. To determine this, it is important to understand how students get to school. The school district has a population of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5,959</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students, so a random sample of approximately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of the students in each school was conducted. The results of the survey are shown in the bar chart. </a:t>
                </a:r>
              </a:p>
            </p:txBody>
          </p:sp>
        </mc:Choice>
        <mc:Fallback xmlns="">
          <p:sp>
            <p:nvSpPr>
              <p:cNvPr id="2" name="Rectangle 1">
                <a:extLst>
                  <a:ext uri="{FF2B5EF4-FFF2-40B4-BE49-F238E27FC236}">
                    <a16:creationId xmlns:a16="http://schemas.microsoft.com/office/drawing/2014/main" xmlns:a14="http://schemas.microsoft.com/office/drawing/2010/main" xmlns="" id="{AE281112-0763-C941-9DB7-9B28C4EA4745}"/>
                  </a:ext>
                </a:extLst>
              </p:cNvPr>
              <p:cNvSpPr>
                <a:spLocks noRot="1" noChangeAspect="1" noMove="1" noResize="1" noEditPoints="1" noAdjustHandles="1" noChangeArrowheads="1" noChangeShapeType="1" noTextEdit="1"/>
              </p:cNvSpPr>
              <p:nvPr/>
            </p:nvSpPr>
            <p:spPr>
              <a:xfrm>
                <a:off x="1543573" y="1346520"/>
                <a:ext cx="8928742" cy="3046988"/>
              </a:xfrm>
              <a:prstGeom prst="rect">
                <a:avLst/>
              </a:prstGeom>
              <a:blipFill rotWithShape="0">
                <a:blip r:embed="rId3"/>
                <a:stretch>
                  <a:fillRect l="-1024" t="-1600" r="-1911" b="-3600"/>
                </a:stretch>
              </a:blipFill>
            </p:spPr>
            <p:txBody>
              <a:bodyPr/>
              <a:lstStyle/>
              <a:p>
                <a:r>
                  <a:rPr lang="en-US">
                    <a:noFill/>
                  </a:rPr>
                  <a:t> </a:t>
                </a:r>
              </a:p>
            </p:txBody>
          </p:sp>
        </mc:Fallback>
      </mc:AlternateContent>
      <p:pic>
        <p:nvPicPr>
          <p:cNvPr id="10" name="image3.png" descr="Icon&#10;&#10;Description automatically generated">
            <a:extLst>
              <a:ext uri="{FF2B5EF4-FFF2-40B4-BE49-F238E27FC236}">
                <a16:creationId xmlns:a16="http://schemas.microsoft.com/office/drawing/2014/main" id="{8FB17DB4-5FBE-CC44-BC45-B0BA60AB96B6}"/>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740283" y="253104"/>
            <a:ext cx="751774" cy="751774"/>
          </a:xfrm>
          <a:prstGeom prst="rect">
            <a:avLst/>
          </a:prstGeom>
          <a:ln/>
        </p:spPr>
      </p:pic>
      <p:sp>
        <p:nvSpPr>
          <p:cNvPr id="8"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161</a:t>
            </a:r>
            <a:endParaRPr i="1" dirty="0">
              <a:latin typeface="Calibri"/>
              <a:ea typeface="Calibri"/>
              <a:cs typeface="Calibri"/>
              <a:sym typeface="Calibri"/>
            </a:endParaRPr>
          </a:p>
        </p:txBody>
      </p:sp>
      <p:pic>
        <p:nvPicPr>
          <p:cNvPr id="9"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4978067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AE281112-0763-C941-9DB7-9B28C4EA4745}"/>
              </a:ext>
            </a:extLst>
          </p:cNvPr>
          <p:cNvSpPr/>
          <p:nvPr/>
        </p:nvSpPr>
        <p:spPr>
          <a:xfrm>
            <a:off x="1419367" y="5248816"/>
            <a:ext cx="9177154" cy="830997"/>
          </a:xfrm>
          <a:prstGeom prst="rect">
            <a:avLst/>
          </a:prstGeom>
        </p:spPr>
        <p:txBody>
          <a:bodyPr wrap="square">
            <a:spAutoFit/>
          </a:bodyPr>
          <a:lstStyle/>
          <a:p>
            <a:pPr marL="4572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Show how to predict the number of students in the district who take the bus to get to school. </a:t>
            </a:r>
          </a:p>
        </p:txBody>
      </p:sp>
      <p:graphicFrame>
        <p:nvGraphicFramePr>
          <p:cNvPr id="6" name="Chart 5">
            <a:extLst>
              <a:ext uri="{FF2B5EF4-FFF2-40B4-BE49-F238E27FC236}">
                <a16:creationId xmlns:a16="http://schemas.microsoft.com/office/drawing/2014/main" id="{99A6C578-448D-8042-A123-9B49181DA03B}"/>
              </a:ext>
            </a:extLst>
          </p:cNvPr>
          <p:cNvGraphicFramePr/>
          <p:nvPr>
            <p:extLst>
              <p:ext uri="{D42A27DB-BD31-4B8C-83A1-F6EECF244321}">
                <p14:modId xmlns:p14="http://schemas.microsoft.com/office/powerpoint/2010/main" val="3061029515"/>
              </p:ext>
            </p:extLst>
          </p:nvPr>
        </p:nvGraphicFramePr>
        <p:xfrm>
          <a:off x="2982898" y="331305"/>
          <a:ext cx="6226205" cy="4118689"/>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Box 9">
            <a:extLst>
              <a:ext uri="{FF2B5EF4-FFF2-40B4-BE49-F238E27FC236}">
                <a16:creationId xmlns:a16="http://schemas.microsoft.com/office/drawing/2014/main" id="{21D38735-A670-A04D-94FB-FA7E42299B6B}"/>
              </a:ext>
            </a:extLst>
          </p:cNvPr>
          <p:cNvSpPr txBox="1"/>
          <p:nvPr/>
        </p:nvSpPr>
        <p:spPr>
          <a:xfrm>
            <a:off x="4297205" y="4649861"/>
            <a:ext cx="4546600" cy="4908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Transportation Type</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8" name="Text Box 10">
            <a:extLst>
              <a:ext uri="{FF2B5EF4-FFF2-40B4-BE49-F238E27FC236}">
                <a16:creationId xmlns:a16="http://schemas.microsoft.com/office/drawing/2014/main" id="{0899D7BD-304E-774C-9072-17E0DD0967AE}"/>
              </a:ext>
            </a:extLst>
          </p:cNvPr>
          <p:cNvSpPr txBox="1"/>
          <p:nvPr/>
        </p:nvSpPr>
        <p:spPr>
          <a:xfrm rot="10800000">
            <a:off x="2899570" y="778189"/>
            <a:ext cx="609600" cy="3411855"/>
          </a:xfrm>
          <a:prstGeom prst="rect">
            <a:avLst/>
          </a:prstGeom>
          <a:noFill/>
          <a:ln w="6350">
            <a:noFill/>
          </a:ln>
        </p:spPr>
        <p:txBody>
          <a:bodyPr rot="0" spcFirstLastPara="0" vert="eaVert" wrap="square" lIns="91440" tIns="45720" rIns="91440" bIns="45720" numCol="1" spcCol="0" rtlCol="0" fromWordArt="0" anchor="t" anchorCtr="0" forceAA="0" compatLnSpc="1">
            <a:prstTxWarp prst="textNoShape">
              <a:avLst/>
            </a:prstTxWarp>
            <a:noAutofit/>
          </a:bodyPr>
          <a:lstStyle/>
          <a:p>
            <a:pPr algn="ctr">
              <a:spcAft>
                <a:spcPts val="1000"/>
              </a:spcAft>
            </a:pPr>
            <a:r>
              <a:rPr lang="en-US" sz="1800">
                <a:latin typeface="Verdana" panose="020B0604030504040204" pitchFamily="34" charset="0"/>
                <a:ea typeface="Times New Roman" panose="02020603050405020304" pitchFamily="18" charset="0"/>
                <a:cs typeface="Cambria" panose="02040503050406030204" pitchFamily="18" charset="0"/>
              </a:rPr>
              <a:t>Number of Students </a:t>
            </a:r>
            <a:endParaRPr lang="x-none" sz="1200">
              <a:latin typeface="Cambria" panose="02040503050406030204" pitchFamily="18" charset="0"/>
              <a:ea typeface="Times New Roman" panose="02020603050405020304" pitchFamily="18" charset="0"/>
              <a:cs typeface="Cambria" panose="02040503050406030204" pitchFamily="18" charset="0"/>
            </a:endParaRPr>
          </a:p>
        </p:txBody>
      </p:sp>
      <p:sp>
        <p:nvSpPr>
          <p:cNvPr id="9"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161</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3648074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101"/>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Rectangle 1">
            <a:extLst>
              <a:ext uri="{FF2B5EF4-FFF2-40B4-BE49-F238E27FC236}">
                <a16:creationId xmlns:a16="http://schemas.microsoft.com/office/drawing/2014/main" id="{AE281112-0763-C941-9DB7-9B28C4EA4745}"/>
              </a:ext>
            </a:extLst>
          </p:cNvPr>
          <p:cNvSpPr/>
          <p:nvPr/>
        </p:nvSpPr>
        <p:spPr>
          <a:xfrm>
            <a:off x="1146412" y="341969"/>
            <a:ext cx="9723064" cy="4524315"/>
          </a:xfrm>
          <a:prstGeom prst="rect">
            <a:avLst/>
          </a:prstGeom>
        </p:spPr>
        <p:txBody>
          <a:bodyPr wrap="square">
            <a:spAutoFit/>
          </a:bodyPr>
          <a:lstStyle/>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Show how to predict the number of students in the district who ride their bike to school. </a:t>
            </a: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Whether or not a student can take the bus to school depends on how close they live to the school. Explain how this data set does not take this into consideration and what effect that might have on the district’s decision. </a:t>
            </a:r>
          </a:p>
        </p:txBody>
      </p:sp>
      <p:sp>
        <p:nvSpPr>
          <p:cNvPr id="6"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162</a:t>
            </a:r>
            <a:endParaRPr i="1" dirty="0">
              <a:latin typeface="Calibri"/>
              <a:ea typeface="Calibri"/>
              <a:cs typeface="Calibri"/>
              <a:sym typeface="Calibri"/>
            </a:endParaRP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293587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101"/>
            <a:ext cx="2731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162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16703" y="-20407"/>
            <a:ext cx="1052395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10.10.5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69404" y="210511"/>
            <a:ext cx="747300" cy="747300"/>
          </a:xfrm>
          <a:prstGeom prst="rect">
            <a:avLst/>
          </a:prstGeom>
          <a:noFill/>
          <a:ln>
            <a:noFill/>
          </a:ln>
        </p:spPr>
      </p:pic>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281112-0763-C941-9DB7-9B28C4EA4745}"/>
                  </a:ext>
                </a:extLst>
              </p:cNvPr>
              <p:cNvSpPr/>
              <p:nvPr/>
            </p:nvSpPr>
            <p:spPr>
              <a:xfrm>
                <a:off x="1514901" y="1346520"/>
                <a:ext cx="8986086" cy="1785104"/>
              </a:xfrm>
              <a:prstGeom prst="rect">
                <a:avLst/>
              </a:prstGeom>
            </p:spPr>
            <p:txBody>
              <a:bodyPr wrap="square">
                <a:spAutoFit/>
              </a:bodyPr>
              <a:lstStyle/>
              <a:p>
                <a:r>
                  <a:rPr lang="en-US" sz="2200" dirty="0">
                    <a:latin typeface="Verdana" panose="020B0604030504040204" pitchFamily="34" charset="0"/>
                    <a:ea typeface="Times New Roman" panose="02020603050405020304" pitchFamily="18" charset="0"/>
                    <a:cs typeface="Times New Roman" panose="02020603050405020304" pitchFamily="18" charset="0"/>
                  </a:rPr>
                  <a:t>Lin has one month before the seventh-grade class presidential election, and she wants to determine how likely she is to win. Since she can’t ask all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665</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seventh graders who they are voting for, she conducts a random sample of </a:t>
                </a:r>
                <a14:m>
                  <m:oMath xmlns:m="http://schemas.openxmlformats.org/officeDocument/2006/math">
                    <m:r>
                      <a:rPr lang="en-US" sz="2200" i="1" dirty="0">
                        <a:latin typeface="Cambria Math" panose="02040503050406030204" pitchFamily="18" charset="0"/>
                        <a:ea typeface="Times New Roman" panose="02020603050405020304" pitchFamily="18" charset="0"/>
                        <a:cs typeface="Times New Roman" panose="02020603050405020304" pitchFamily="18" charset="0"/>
                      </a:rPr>
                      <m:t>105</m:t>
                    </m:r>
                  </m:oMath>
                </a14:m>
                <a:r>
                  <a:rPr lang="en-US" sz="2200" dirty="0">
                    <a:latin typeface="Verdana" panose="020B0604030504040204" pitchFamily="34" charset="0"/>
                    <a:ea typeface="Times New Roman" panose="02020603050405020304" pitchFamily="18" charset="0"/>
                    <a:cs typeface="Times New Roman" panose="02020603050405020304" pitchFamily="18" charset="0"/>
                  </a:rPr>
                  <a:t> seventh-grade students. The results of the survey are in the table.</a:t>
                </a:r>
              </a:p>
            </p:txBody>
          </p:sp>
        </mc:Choice>
        <mc:Fallback xmlns="">
          <p:sp>
            <p:nvSpPr>
              <p:cNvPr id="2" name="Rectangle 1">
                <a:extLst>
                  <a:ext uri="{FF2B5EF4-FFF2-40B4-BE49-F238E27FC236}">
                    <a16:creationId xmlns:a16="http://schemas.microsoft.com/office/drawing/2014/main" xmlns:a14="http://schemas.microsoft.com/office/drawing/2010/main" xmlns="" id="{AE281112-0763-C941-9DB7-9B28C4EA4745}"/>
                  </a:ext>
                </a:extLst>
              </p:cNvPr>
              <p:cNvSpPr>
                <a:spLocks noRot="1" noChangeAspect="1" noMove="1" noResize="1" noEditPoints="1" noAdjustHandles="1" noChangeArrowheads="1" noChangeShapeType="1" noTextEdit="1"/>
              </p:cNvSpPr>
              <p:nvPr/>
            </p:nvSpPr>
            <p:spPr>
              <a:xfrm>
                <a:off x="1514901" y="1346520"/>
                <a:ext cx="8986086" cy="1785104"/>
              </a:xfrm>
              <a:prstGeom prst="rect">
                <a:avLst/>
              </a:prstGeom>
              <a:blipFill rotWithShape="0">
                <a:blip r:embed="rId4"/>
                <a:stretch>
                  <a:fillRect l="-882" t="-2048" r="-1832" b="-6143"/>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D4E7EB49-BF6A-8947-BE15-B3E9B1D14582}"/>
              </a:ext>
            </a:extLst>
          </p:cNvPr>
          <p:cNvGraphicFramePr>
            <a:graphicFrameLocks noGrp="1"/>
          </p:cNvGraphicFramePr>
          <p:nvPr>
            <p:extLst>
              <p:ext uri="{D42A27DB-BD31-4B8C-83A1-F6EECF244321}">
                <p14:modId xmlns:p14="http://schemas.microsoft.com/office/powerpoint/2010/main" val="4091413333"/>
              </p:ext>
            </p:extLst>
          </p:nvPr>
        </p:nvGraphicFramePr>
        <p:xfrm>
          <a:off x="2666048" y="3865560"/>
          <a:ext cx="6859905" cy="1645920"/>
        </p:xfrm>
        <a:graphic>
          <a:graphicData uri="http://schemas.openxmlformats.org/drawingml/2006/table">
            <a:tbl>
              <a:tblPr firstRow="1" firstCol="1" bandRow="1"/>
              <a:tblGrid>
                <a:gridCol w="3642995">
                  <a:extLst>
                    <a:ext uri="{9D8B030D-6E8A-4147-A177-3AD203B41FA5}">
                      <a16:colId xmlns:a16="http://schemas.microsoft.com/office/drawing/2014/main" val="222106180"/>
                    </a:ext>
                  </a:extLst>
                </a:gridCol>
                <a:gridCol w="3216910">
                  <a:extLst>
                    <a:ext uri="{9D8B030D-6E8A-4147-A177-3AD203B41FA5}">
                      <a16:colId xmlns:a16="http://schemas.microsoft.com/office/drawing/2014/main" val="3306291147"/>
                    </a:ext>
                  </a:extLst>
                </a:gridCol>
              </a:tblGrid>
              <a:tr h="0">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Verdana" panose="020B0604030504040204" pitchFamily="34" charset="0"/>
                          <a:cs typeface="Verdana" panose="020B0604030504040204" pitchFamily="34" charset="0"/>
                        </a:rPr>
                        <a:t>Candidate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1800" b="1">
                          <a:solidFill>
                            <a:srgbClr val="000000"/>
                          </a:solidFill>
                          <a:effectLst/>
                          <a:latin typeface="Verdana" panose="020B0604030504040204" pitchFamily="34" charset="0"/>
                          <a:ea typeface="Verdana" panose="020B0604030504040204" pitchFamily="34" charset="0"/>
                          <a:cs typeface="Verdana" panose="020B0604030504040204" pitchFamily="34" charset="0"/>
                        </a:rPr>
                        <a:t>Number of People Planning to Vote for the Candidate</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246648012"/>
                  </a:ext>
                </a:extLst>
              </a:tr>
              <a:tr h="0">
                <a:tc>
                  <a:txBody>
                    <a:bodyPr/>
                    <a:lstStyle/>
                    <a:p>
                      <a:pPr marL="0" marR="0" algn="ctr">
                        <a:spcBef>
                          <a:spcPts val="0"/>
                        </a:spcBef>
                        <a:spcAft>
                          <a:spcPts val="0"/>
                        </a:spcAft>
                      </a:pPr>
                      <a:r>
                        <a:rPr lang="en-US" sz="1800">
                          <a:solidFill>
                            <a:srgbClr val="000000"/>
                          </a:solidFill>
                          <a:effectLst/>
                          <a:latin typeface="Verdana" panose="020B0604030504040204" pitchFamily="34" charset="0"/>
                          <a:ea typeface="Verdana" panose="020B0604030504040204" pitchFamily="34" charset="0"/>
                          <a:cs typeface="Verdana" panose="020B0604030504040204" pitchFamily="34" charset="0"/>
                        </a:rPr>
                        <a:t>Lin</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mbria Math" panose="02040503050406030204" pitchFamily="18" charset="0"/>
                          <a:ea typeface="Verdana" panose="020B0604030504040204" pitchFamily="34" charset="0"/>
                          <a:cs typeface="Verdana" panose="020B0604030504040204" pitchFamily="34" charset="0"/>
                        </a:rPr>
                        <a:t>42</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2479288"/>
                  </a:ext>
                </a:extLst>
              </a:tr>
              <a:tr h="0">
                <a:tc>
                  <a:txBody>
                    <a:bodyPr/>
                    <a:lstStyle/>
                    <a:p>
                      <a:pPr marL="0" marR="0" algn="ctr">
                        <a:spcBef>
                          <a:spcPts val="0"/>
                        </a:spcBef>
                        <a:spcAft>
                          <a:spcPts val="0"/>
                        </a:spcAft>
                      </a:pPr>
                      <a:r>
                        <a:rPr lang="en-US" sz="1800">
                          <a:solidFill>
                            <a:srgbClr val="000000"/>
                          </a:solidFill>
                          <a:effectLst/>
                          <a:latin typeface="Verdana" panose="020B0604030504040204" pitchFamily="34" charset="0"/>
                          <a:ea typeface="Verdana" panose="020B0604030504040204" pitchFamily="34" charset="0"/>
                          <a:cs typeface="Verdana" panose="020B0604030504040204" pitchFamily="34" charset="0"/>
                        </a:rPr>
                        <a:t>Beslinda (Lin’s opponent)</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a:solidFill>
                            <a:srgbClr val="000000"/>
                          </a:solidFill>
                          <a:effectLst/>
                          <a:latin typeface="Cambria Math" panose="02040503050406030204" pitchFamily="18" charset="0"/>
                          <a:ea typeface="Verdana" panose="020B0604030504040204" pitchFamily="34" charset="0"/>
                          <a:cs typeface="Verdana" panose="020B0604030504040204" pitchFamily="34" charset="0"/>
                        </a:rPr>
                        <a:t>30</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8791016"/>
                  </a:ext>
                </a:extLst>
              </a:tr>
              <a:tr h="0">
                <a:tc>
                  <a:txBody>
                    <a:bodyPr/>
                    <a:lstStyle/>
                    <a:p>
                      <a:pPr marL="0" marR="0" algn="ctr">
                        <a:spcBef>
                          <a:spcPts val="0"/>
                        </a:spcBef>
                        <a:spcAft>
                          <a:spcPts val="0"/>
                        </a:spcAft>
                      </a:pPr>
                      <a:r>
                        <a:rPr lang="en-US" sz="1800">
                          <a:solidFill>
                            <a:srgbClr val="000000"/>
                          </a:solidFill>
                          <a:effectLst/>
                          <a:latin typeface="Verdana" panose="020B0604030504040204" pitchFamily="34" charset="0"/>
                          <a:ea typeface="Verdana" panose="020B0604030504040204" pitchFamily="34" charset="0"/>
                          <a:cs typeface="Verdana" panose="020B0604030504040204" pitchFamily="34" charset="0"/>
                        </a:rPr>
                        <a:t>Undecided</a:t>
                      </a:r>
                      <a:endParaRPr lang="x-none" sz="120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r>
                        <a:rPr lang="en-US" sz="1800" dirty="0">
                          <a:solidFill>
                            <a:srgbClr val="000000"/>
                          </a:solidFill>
                          <a:effectLst/>
                          <a:latin typeface="Cambria Math" panose="02040503050406030204" pitchFamily="18" charset="0"/>
                          <a:ea typeface="Verdana" panose="020B0604030504040204" pitchFamily="34" charset="0"/>
                          <a:cs typeface="Verdana" panose="020B0604030504040204" pitchFamily="34" charset="0"/>
                        </a:rPr>
                        <a:t>33</a:t>
                      </a:r>
                      <a:endParaRPr lang="x-none" sz="1200" dirty="0">
                        <a:effectLst/>
                        <a:latin typeface="Cambria" panose="02040503050406030204" pitchFamily="18" charset="0"/>
                        <a:ea typeface="Times New Roman" panose="02020603050405020304" pitchFamily="18" charset="0"/>
                        <a:cs typeface="Cambria" panose="020405030504060302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49697777"/>
                  </a:ext>
                </a:extLst>
              </a:tr>
            </a:tbl>
          </a:graphicData>
        </a:graphic>
      </p:graphicFrame>
      <p:sp>
        <p:nvSpPr>
          <p:cNvPr id="10"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162</a:t>
            </a:r>
            <a:endParaRPr i="1" dirty="0">
              <a:latin typeface="Calibri"/>
              <a:ea typeface="Calibri"/>
              <a:cs typeface="Calibri"/>
              <a:sym typeface="Calibri"/>
            </a:endParaRPr>
          </a:p>
        </p:txBody>
      </p:sp>
      <p:pic>
        <p:nvPicPr>
          <p:cNvPr id="11"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02B6A"/>
          </a:solidFill>
          <a:ln w="9525" cap="flat" cmpd="sng">
            <a:solidFill>
              <a:srgbClr val="202B6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AE281112-0763-C941-9DB7-9B28C4EA4745}"/>
                  </a:ext>
                </a:extLst>
              </p:cNvPr>
              <p:cNvSpPr/>
              <p:nvPr/>
            </p:nvSpPr>
            <p:spPr>
              <a:xfrm>
                <a:off x="1064525" y="422229"/>
                <a:ext cx="9886838" cy="3785652"/>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either percent, scale factor, or equivalent fraction to predict how many of the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665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total seventh-grade students currently plan on voting for Lin. Show your work.</a:t>
                </a: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Use another strategy to predict how many of the total seventh-grade voters are still undecided. </a:t>
                </a:r>
              </a:p>
            </p:txBody>
          </p:sp>
        </mc:Choice>
        <mc:Fallback xmlns="">
          <p:sp>
            <p:nvSpPr>
              <p:cNvPr id="2" name="Rectangle 1">
                <a:extLst>
                  <a:ext uri="{FF2B5EF4-FFF2-40B4-BE49-F238E27FC236}">
                    <a16:creationId xmlns:a16="http://schemas.microsoft.com/office/drawing/2014/main" xmlns:a14="http://schemas.microsoft.com/office/drawing/2010/main" xmlns="" id="{AE281112-0763-C941-9DB7-9B28C4EA4745}"/>
                  </a:ext>
                </a:extLst>
              </p:cNvPr>
              <p:cNvSpPr>
                <a:spLocks noRot="1" noChangeAspect="1" noMove="1" noResize="1" noEditPoints="1" noAdjustHandles="1" noChangeArrowheads="1" noChangeShapeType="1" noTextEdit="1"/>
              </p:cNvSpPr>
              <p:nvPr/>
            </p:nvSpPr>
            <p:spPr>
              <a:xfrm>
                <a:off x="1064525" y="422229"/>
                <a:ext cx="9886838" cy="3785652"/>
              </a:xfrm>
              <a:prstGeom prst="rect">
                <a:avLst/>
              </a:prstGeom>
              <a:blipFill rotWithShape="0">
                <a:blip r:embed="rId3"/>
                <a:stretch>
                  <a:fillRect l="-987" t="-1288" b="-2738"/>
                </a:stretch>
              </a:blipFill>
            </p:spPr>
            <p:txBody>
              <a:bodyPr/>
              <a:lstStyle/>
              <a:p>
                <a:r>
                  <a:rPr lang="en-US">
                    <a:noFill/>
                  </a:rPr>
                  <a:t> </a:t>
                </a:r>
              </a:p>
            </p:txBody>
          </p:sp>
        </mc:Fallback>
      </mc:AlternateContent>
      <p:sp>
        <p:nvSpPr>
          <p:cNvPr id="6" name="Google Shape;282;g104476d1465_1_17"/>
          <p:cNvSpPr txBox="1"/>
          <p:nvPr/>
        </p:nvSpPr>
        <p:spPr>
          <a:xfrm>
            <a:off x="8638583"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a:t>
            </a:r>
            <a:r>
              <a:rPr lang="en-US" i="1">
                <a:latin typeface="Calibri"/>
                <a:ea typeface="Calibri"/>
                <a:cs typeface="Calibri"/>
                <a:sym typeface="Calibri"/>
              </a:rPr>
              <a:t>162</a:t>
            </a:r>
            <a:endParaRPr i="1" dirty="0">
              <a:latin typeface="Calibri"/>
              <a:ea typeface="Calibri"/>
              <a:cs typeface="Calibri"/>
              <a:sym typeface="Calibri"/>
            </a:endParaRPr>
          </a:p>
        </p:txBody>
      </p:sp>
      <p:pic>
        <p:nvPicPr>
          <p:cNvPr id="7"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376809" y="6200724"/>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88496402"/>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463293E-2302-4F51-8244-2415B4857FDF}">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A329188A-9C04-44B1-8F13-70400CC426E0}">
  <ds:schemaRefs>
    <ds:schemaRef ds:uri="http://schemas.microsoft.com/sharepoint/v3/contenttype/forms"/>
  </ds:schemaRefs>
</ds:datastoreItem>
</file>

<file path=customXml/itemProps3.xml><?xml version="1.0" encoding="utf-8"?>
<ds:datastoreItem xmlns:ds="http://schemas.openxmlformats.org/officeDocument/2006/customXml" ds:itemID="{6EF9C6BB-0F91-43A2-A3C7-5884F557C5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3133</TotalTime>
  <Words>1469</Words>
  <Application>Microsoft Office PowerPoint</Application>
  <PresentationFormat>Widescreen</PresentationFormat>
  <Paragraphs>217</Paragraphs>
  <Slides>25</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Arial Black</vt:lpstr>
      <vt:lpstr>Calibri</vt:lpstr>
      <vt:lpstr>Cambria</vt:lpstr>
      <vt:lpstr>Cambria Math</vt:lpstr>
      <vt:lpstr>Century Gothic</vt:lpstr>
      <vt:lpstr>Times New Roman</vt:lpstr>
      <vt:lpstr>Verdana</vt:lpstr>
      <vt:lpstr>Wingdings</vt:lpstr>
      <vt:lpstr>1_Office Theme</vt:lpstr>
      <vt:lpstr>6th Grade Accelerated Math  Unit 10, Lesson 10  Making Population Predictions –  Part 2  Volume 2, pg. 158  </vt:lpstr>
      <vt:lpstr>Benchmark</vt:lpstr>
      <vt:lpstr>PowerPoint Presentation</vt:lpstr>
      <vt:lpstr>PowerPoint Presentation</vt:lpstr>
      <vt:lpstr>Warm-Up</vt:lpstr>
      <vt:lpstr>PowerPoint Presentation</vt:lpstr>
      <vt:lpstr>Guided Practice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35</cp:revision>
  <dcterms:created xsi:type="dcterms:W3CDTF">2015-03-17T18:51:18Z</dcterms:created>
  <dcterms:modified xsi:type="dcterms:W3CDTF">2023-07-06T09:40:15Z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