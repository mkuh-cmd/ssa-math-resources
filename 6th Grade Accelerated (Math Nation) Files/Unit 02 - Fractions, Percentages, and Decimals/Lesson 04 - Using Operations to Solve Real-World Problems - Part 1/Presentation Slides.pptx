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9"/>
  </p:notesMasterIdLst>
  <p:sldIdLst>
    <p:sldId id="256" r:id="rId5"/>
    <p:sldId id="257" r:id="rId6"/>
    <p:sldId id="285" r:id="rId7"/>
    <p:sldId id="286" r:id="rId8"/>
    <p:sldId id="261" r:id="rId9"/>
    <p:sldId id="332" r:id="rId10"/>
    <p:sldId id="288" r:id="rId11"/>
    <p:sldId id="333" r:id="rId12"/>
    <p:sldId id="334" r:id="rId13"/>
    <p:sldId id="335" r:id="rId14"/>
    <p:sldId id="339" r:id="rId15"/>
    <p:sldId id="337" r:id="rId16"/>
    <p:sldId id="338" r:id="rId17"/>
    <p:sldId id="340" r:id="rId18"/>
    <p:sldId id="341" r:id="rId19"/>
    <p:sldId id="342" r:id="rId20"/>
    <p:sldId id="343" r:id="rId21"/>
    <p:sldId id="344" r:id="rId22"/>
    <p:sldId id="345" r:id="rId23"/>
    <p:sldId id="346" r:id="rId24"/>
    <p:sldId id="347" r:id="rId25"/>
    <p:sldId id="306" r:id="rId26"/>
    <p:sldId id="307" r:id="rId27"/>
    <p:sldId id="310"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F79647"/>
    <a:srgbClr val="FCBD1E"/>
    <a:srgbClr val="C9DF6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4695"/>
  </p:normalViewPr>
  <p:slideViewPr>
    <p:cSldViewPr snapToGrid="0">
      <p:cViewPr varScale="1">
        <p:scale>
          <a:sx n="70" d="100"/>
          <a:sy n="70" d="100"/>
        </p:scale>
        <p:origin x="-48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501605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2229889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762096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830520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980687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6331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855416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54322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983085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878603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175178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835654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59481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51206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918676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06587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0.png"/></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8" Type="http://schemas.openxmlformats.org/officeDocument/2006/relationships/image" Target="https://upload.wikimedia.org/wikipedia/commons/thumb/f/fd/Twemoji12_2639.svg/1024px-Twemoji12_2639.svg.png" TargetMode="External"/><Relationship Id="rId13" Type="http://schemas.openxmlformats.org/officeDocument/2006/relationships/image" Target="../media/image35.png"/><Relationship Id="rId18" Type="http://schemas.openxmlformats.org/officeDocument/2006/relationships/image" Target="../media/image10.png"/><Relationship Id="rId3" Type="http://schemas.openxmlformats.org/officeDocument/2006/relationships/image" Target="../media/image29.png"/><Relationship Id="rId7" Type="http://schemas.openxmlformats.org/officeDocument/2006/relationships/image" Target="../media/image32.png"/><Relationship Id="rId12" Type="http://schemas.openxmlformats.org/officeDocument/2006/relationships/image" Target="https://upload.wikimedia.org/wikipedia/commons/thumb/c/cf/Twemoji12_1f610.svg/1024px-Twemoji12_1f610.svg.png" TargetMode="External"/><Relationship Id="rId17" Type="http://schemas.openxmlformats.org/officeDocument/2006/relationships/image" Target="../media/image37.png"/><Relationship Id="rId2" Type="http://schemas.openxmlformats.org/officeDocument/2006/relationships/notesSlide" Target="../notesSlides/notesSlide23.xml"/><Relationship Id="rId16" Type="http://schemas.openxmlformats.org/officeDocument/2006/relationships/image" Target="https://upload.wikimedia.org/wikipedia/commons/thumb/b/b0/Twemoji12_1f600.svg/1024px-Twemoji12_1f600.svg.png" TargetMode="External"/><Relationship Id="rId1" Type="http://schemas.openxmlformats.org/officeDocument/2006/relationships/slideLayout" Target="../slideLayouts/slideLayout8.xml"/><Relationship Id="rId6" Type="http://schemas.openxmlformats.org/officeDocument/2006/relationships/image" Target="https://upload.wikimedia.org/wikipedia/commons/thumb/c/cc/Twemoji12_1f622.svg/512px-Twemoji12_1f622.svg.png" TargetMode="External"/><Relationship Id="rId11" Type="http://schemas.openxmlformats.org/officeDocument/2006/relationships/image" Target="../media/image34.png"/><Relationship Id="rId5" Type="http://schemas.openxmlformats.org/officeDocument/2006/relationships/image" Target="../media/image31.png"/><Relationship Id="rId15" Type="http://schemas.openxmlformats.org/officeDocument/2006/relationships/image" Target="../media/image36.png"/><Relationship Id="rId10" Type="http://schemas.openxmlformats.org/officeDocument/2006/relationships/image" Target="https://upload.wikimedia.org/wikipedia/commons/thumb/5/50/Twemoji12_1f615.svg/1024px-Twemoji12_1f615.svg.png" TargetMode="External"/><Relationship Id="rId4" Type="http://schemas.openxmlformats.org/officeDocument/2006/relationships/image" Target="../media/image30.png"/><Relationship Id="rId9" Type="http://schemas.openxmlformats.org/officeDocument/2006/relationships/image" Target="../media/image33.png"/><Relationship Id="rId14" Type="http://schemas.openxmlformats.org/officeDocument/2006/relationships/image" Target="https://upload.wikimedia.org/wikipedia/commons/thumb/a/aa/Twemoji12_1f642.svg/512px-Twemoji12_1f642.svg.png"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https://upload.wikimedia.org/wikipedia/commons/thumb/a/aa/Twemoji12_1f642.svg/512px-Twemoji12_1f642.svg.png" TargetMode="External"/><Relationship Id="rId3" Type="http://schemas.openxmlformats.org/officeDocument/2006/relationships/image" Target="../media/image38.png"/><Relationship Id="rId7" Type="http://schemas.openxmlformats.org/officeDocument/2006/relationships/image" Target="https://upload.wikimedia.org/wikipedia/commons/thumb/f/fd/Twemoji12_2639.svg/1024px-Twemoji12_2639.svg.png" TargetMode="External"/><Relationship Id="rId12" Type="http://schemas.openxmlformats.org/officeDocument/2006/relationships/image" Target="../media/image35.png"/><Relationship Id="rId17" Type="http://schemas.openxmlformats.org/officeDocument/2006/relationships/image" Target="../media/image10.png"/><Relationship Id="rId2" Type="http://schemas.openxmlformats.org/officeDocument/2006/relationships/notesSlide" Target="../notesSlides/notesSlide24.xml"/><Relationship Id="rId16" Type="http://schemas.openxmlformats.org/officeDocument/2006/relationships/image" Target="../media/image39.png"/><Relationship Id="rId1" Type="http://schemas.openxmlformats.org/officeDocument/2006/relationships/slideLayout" Target="../slideLayouts/slideLayout8.xml"/><Relationship Id="rId6" Type="http://schemas.openxmlformats.org/officeDocument/2006/relationships/image" Target="../media/image32.png"/><Relationship Id="rId11" Type="http://schemas.openxmlformats.org/officeDocument/2006/relationships/image" Target="https://upload.wikimedia.org/wikipedia/commons/thumb/c/cf/Twemoji12_1f610.svg/1024px-Twemoji12_1f610.svg.png" TargetMode="External"/><Relationship Id="rId5" Type="http://schemas.openxmlformats.org/officeDocument/2006/relationships/image" Target="https://upload.wikimedia.org/wikipedia/commons/thumb/c/cc/Twemoji12_1f622.svg/512px-Twemoji12_1f622.svg.png" TargetMode="External"/><Relationship Id="rId15" Type="http://schemas.openxmlformats.org/officeDocument/2006/relationships/image" Target="https://upload.wikimedia.org/wikipedia/commons/thumb/b/b0/Twemoji12_1f600.svg/1024px-Twemoji12_1f600.svg.png" TargetMode="External"/><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image" Target="https://upload.wikimedia.org/wikipedia/commons/thumb/5/50/Twemoji12_1f615.svg/1024px-Twemoji12_1f615.svg.png" TargetMode="External"/><Relationship Id="rId1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2, Lesson 4</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200" b="1" dirty="0">
                <a:solidFill>
                  <a:srgbClr val="417DBF"/>
                </a:solidFill>
                <a:latin typeface="Verdana" panose="020B0604030504040204" pitchFamily="34" charset="0"/>
                <a:ea typeface="Cambria Math" panose="02040503050406030204" pitchFamily="18" charset="0"/>
                <a:cs typeface="Cambria Math" panose="02040503050406030204" pitchFamily="18" charset="0"/>
              </a:rPr>
              <a:t>Using Operations to Solve Real-World Problems – Part 1</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55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17824" y="9676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94324" y="33254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1517824" y="1600200"/>
            <a:ext cx="869297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7000"/>
              </a:lnSpc>
              <a:spcBef>
                <a:spcPts val="0"/>
              </a:spcBef>
              <a:buNone/>
            </a:pPr>
            <a:r>
              <a:rPr lang="en-US" sz="2800" dirty="0">
                <a:solidFill>
                  <a:schemeClr val="tx1"/>
                </a:solidFill>
                <a:latin typeface="Verdana" panose="020B0604030504040204" pitchFamily="34" charset="0"/>
                <a:ea typeface="Verdana" panose="020B0604030504040204" pitchFamily="34" charset="0"/>
                <a:cs typeface="Verdana"/>
                <a:sym typeface="Verdana"/>
              </a:rPr>
              <a:t>MA.</a:t>
            </a:r>
            <a:r>
              <a:rPr lang="en-US" sz="2800" dirty="0">
                <a:latin typeface="Verdana" panose="020B0604030504040204" pitchFamily="34" charset="0"/>
                <a:ea typeface="Verdana" panose="020B0604030504040204" pitchFamily="34" charset="0"/>
                <a:cs typeface="Verdana" panose="020B0604030504040204" pitchFamily="34" charset="0"/>
              </a:rPr>
              <a:t>6.NSO.2.3 Solve multi-step, real-world problems involving any of the four operations with positive multi-digit decimals or positive fractions, including mixed numbers.</a:t>
            </a:r>
            <a:endParaRPr lang="en-US" sz="2800" i="1" dirty="0">
              <a:latin typeface="Verdana" panose="020B0604030504040204" pitchFamily="34" charset="0"/>
              <a:ea typeface="Verdana" panose="020B0604030504040204" pitchFamily="34" charset="0"/>
              <a:cs typeface="Cambria Math"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68615"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493265"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493265" y="1596390"/>
            <a:ext cx="871753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78;g104476d1465_1_17">
            <a:extLst>
              <a:ext uri="{FF2B5EF4-FFF2-40B4-BE49-F238E27FC236}">
                <a16:creationId xmlns="" xmlns:a16="http://schemas.microsoft.com/office/drawing/2014/main" id="{79998D09-ED40-CB40-ADB3-2C926DC27F8F}"/>
              </a:ext>
            </a:extLst>
          </p:cNvPr>
          <p:cNvSpPr/>
          <p:nvPr/>
        </p:nvSpPr>
        <p:spPr>
          <a:xfrm>
            <a:off x="0" y="6129"/>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55</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505034" y="47153"/>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722872" y="33635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1603513" y="1600200"/>
            <a:ext cx="860728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2800" dirty="0">
                <a:solidFill>
                  <a:schemeClr val="tx1"/>
                </a:solidFill>
                <a:latin typeface="Verdana"/>
                <a:ea typeface="Verdana"/>
                <a:cs typeface="Verdana" panose="020B0604030504040204" pitchFamily="34" charset="0"/>
                <a:sym typeface="Verdana"/>
              </a:rPr>
              <a:t>I </a:t>
            </a:r>
            <a:r>
              <a:rPr lang="en-US" sz="2800" dirty="0">
                <a:latin typeface="Verdana" panose="020B0604030504040204" pitchFamily="34" charset="0"/>
                <a:ea typeface="Verdana" panose="020B0604030504040204" pitchFamily="34" charset="0"/>
                <a:cs typeface="Verdana" panose="020B0604030504040204" pitchFamily="34" charset="0"/>
              </a:rPr>
              <a:t>can determine which operation should be used to solve a real-world problem.</a:t>
            </a:r>
            <a:endParaRPr lang="en-US" sz="2800" dirty="0">
              <a:solidFill>
                <a:schemeClr val="tx1"/>
              </a:solidFill>
              <a:latin typeface="Verdana"/>
              <a:ea typeface="Verdana"/>
              <a:cs typeface="Verdana"/>
              <a:sym typeface="Verdana"/>
            </a:endParaRPr>
          </a:p>
        </p:txBody>
      </p:sp>
      <p:sp>
        <p:nvSpPr>
          <p:cNvPr id="9" name="Google Shape;278;g104476d1465_1_17">
            <a:extLst>
              <a:ext uri="{FF2B5EF4-FFF2-40B4-BE49-F238E27FC236}">
                <a16:creationId xmlns=""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420488" y="-495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2.4.1 Warm-Up: </a:t>
            </a:r>
            <a:r>
              <a:rPr lang="en-US" sz="3600" b="1" dirty="0">
                <a:solidFill>
                  <a:srgbClr val="41266B"/>
                </a:solidFill>
                <a:latin typeface="Verdana" panose="020B0604030504040204" pitchFamily="34" charset="0"/>
                <a:ea typeface="Cambria Math" panose="02040503050406030204" pitchFamily="18" charset="0"/>
                <a:cs typeface="Cambria Math" panose="02040503050406030204" pitchFamily="18" charset="0"/>
              </a:rPr>
              <a:t>Math Flop</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3">
            <a:alphaModFix/>
          </a:blip>
          <a:stretch>
            <a:fillRect/>
          </a:stretch>
        </p:blipFill>
        <p:spPr>
          <a:xfrm>
            <a:off x="673188" y="238217"/>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1420488" y="1216268"/>
            <a:ext cx="9118662" cy="421654"/>
          </a:xfrm>
          <a:prstGeom prst="rect">
            <a:avLst/>
          </a:prstGeom>
          <a:noFill/>
        </p:spPr>
        <p:txBody>
          <a:bodyPr wrap="square" rtlCol="0">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the mistake in each picture. Then, complete the table.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0" name="Google Shape;278;g104476d1465_1_17">
            <a:extLst>
              <a:ext uri="{FF2B5EF4-FFF2-40B4-BE49-F238E27FC236}">
                <a16:creationId xmlns="" xmlns:a16="http://schemas.microsoft.com/office/drawing/2014/main" id="{733F64CC-F62E-3D45-B066-56DBFBB732F6}"/>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a:extLst>
              <a:ext uri="{FF2B5EF4-FFF2-40B4-BE49-F238E27FC236}">
                <a16:creationId xmlns="" xmlns:a16="http://schemas.microsoft.com/office/drawing/2014/main" id="{4F6A0203-DAE6-489D-B0FD-4FA177062B99}"/>
              </a:ext>
            </a:extLst>
          </p:cNvPr>
          <p:cNvGraphicFramePr>
            <a:graphicFrameLocks noGrp="1"/>
          </p:cNvGraphicFramePr>
          <p:nvPr>
            <p:extLst>
              <p:ext uri="{D42A27DB-BD31-4B8C-83A1-F6EECF244321}">
                <p14:modId xmlns:p14="http://schemas.microsoft.com/office/powerpoint/2010/main" val="238552288"/>
              </p:ext>
            </p:extLst>
          </p:nvPr>
        </p:nvGraphicFramePr>
        <p:xfrm>
          <a:off x="1956222" y="1981683"/>
          <a:ext cx="7992528" cy="4475992"/>
        </p:xfrm>
        <a:graphic>
          <a:graphicData uri="http://schemas.openxmlformats.org/drawingml/2006/table">
            <a:tbl>
              <a:tblPr firstRow="1" firstCol="1" bandRow="1"/>
              <a:tblGrid>
                <a:gridCol w="2541868">
                  <a:extLst>
                    <a:ext uri="{9D8B030D-6E8A-4147-A177-3AD203B41FA5}">
                      <a16:colId xmlns="" xmlns:a16="http://schemas.microsoft.com/office/drawing/2014/main" val="2625072553"/>
                    </a:ext>
                  </a:extLst>
                </a:gridCol>
                <a:gridCol w="1452916">
                  <a:extLst>
                    <a:ext uri="{9D8B030D-6E8A-4147-A177-3AD203B41FA5}">
                      <a16:colId xmlns="" xmlns:a16="http://schemas.microsoft.com/office/drawing/2014/main" val="1504762570"/>
                    </a:ext>
                  </a:extLst>
                </a:gridCol>
                <a:gridCol w="1309403">
                  <a:extLst>
                    <a:ext uri="{9D8B030D-6E8A-4147-A177-3AD203B41FA5}">
                      <a16:colId xmlns="" xmlns:a16="http://schemas.microsoft.com/office/drawing/2014/main" val="137956444"/>
                    </a:ext>
                  </a:extLst>
                </a:gridCol>
                <a:gridCol w="2688341">
                  <a:extLst>
                    <a:ext uri="{9D8B030D-6E8A-4147-A177-3AD203B41FA5}">
                      <a16:colId xmlns="" xmlns:a16="http://schemas.microsoft.com/office/drawing/2014/main" val="2611979640"/>
                    </a:ext>
                  </a:extLst>
                </a:gridCol>
              </a:tblGrid>
              <a:tr h="1732185">
                <a:tc>
                  <a:txBody>
                    <a:bodyPr/>
                    <a:lstStyle/>
                    <a:p>
                      <a:pPr marL="0" marR="0" algn="ctr">
                        <a:lnSpc>
                          <a:spcPct val="107000"/>
                        </a:lnSpc>
                        <a:spcBef>
                          <a:spcPts val="0"/>
                        </a:spcBef>
                        <a:spcAft>
                          <a:spcPts val="0"/>
                        </a:spcAft>
                      </a:pPr>
                      <a:r>
                        <a:rPr lang="en-US" sz="2400" b="1" i="0" dirty="0">
                          <a:effectLst/>
                          <a:latin typeface="Verdana" panose="020B0604030504040204" pitchFamily="34" charset="0"/>
                          <a:ea typeface="Verdana" panose="020B0604030504040204" pitchFamily="34" charset="0"/>
                          <a:cs typeface="Verdana" panose="020B0604030504040204" pitchFamily="34" charset="0"/>
                        </a:rPr>
                        <a:t>Math Flop</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Mistake: </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number is not correct?</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7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My Work:</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Show the math that proves it is a mistake.</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Correct Label: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Fix the label by marking out the mistake and inserting the correct number.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380673504"/>
                  </a:ext>
                </a:extLst>
              </a:tr>
              <a:tr h="2743807">
                <a:tc>
                  <a:txBody>
                    <a:bodyPr/>
                    <a:lstStyle/>
                    <a:p>
                      <a:pPr marL="0" marR="0" algn="ctr">
                        <a:lnSpc>
                          <a:spcPct val="107000"/>
                        </a:lnSpc>
                        <a:spcBef>
                          <a:spcPts val="0"/>
                        </a:spcBef>
                        <a:spcAft>
                          <a:spcPts val="0"/>
                        </a:spcAft>
                      </a:pPr>
                      <a:endParaRPr lang="en-US" sz="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rPr>
                        <a:t> </a:t>
                      </a:r>
                      <a:endParaRPr lang="en-US" sz="800" i="1" dirty="0">
                        <a:effectLst/>
                        <a:latin typeface="Cambria Math" panose="02040503050406030204" pitchFamily="18" charset="0"/>
                        <a:ea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rPr>
                        <a:t> </a:t>
                      </a:r>
                      <a:endParaRPr lang="en-US" sz="800" i="1" dirty="0">
                        <a:effectLst/>
                        <a:latin typeface="Cambria Math" panose="02040503050406030204" pitchFamily="18" charset="0"/>
                        <a:ea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endParaRPr lang="en-US" sz="900" i="0" dirty="0">
                        <a:effectLst/>
                        <a:latin typeface="Verdana" panose="020B0604030504040204" pitchFamily="34" charset="0"/>
                        <a:ea typeface="Verdana" panose="020B0604030504040204" pitchFamily="34" charset="0"/>
                        <a:cs typeface="Verdana" panose="020B0604030504040204" pitchFamily="34"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44973001"/>
                  </a:ext>
                </a:extLst>
              </a:tr>
            </a:tbl>
          </a:graphicData>
        </a:graphic>
      </p:graphicFrame>
      <p:pic>
        <p:nvPicPr>
          <p:cNvPr id="14" name="Picture 13" descr="A picture containing text, sign&#10;&#10;Description automatically generated">
            <a:extLst>
              <a:ext uri="{FF2B5EF4-FFF2-40B4-BE49-F238E27FC236}">
                <a16:creationId xmlns="" xmlns:a16="http://schemas.microsoft.com/office/drawing/2014/main" id="{DA146D14-3881-4D20-AEC2-1837FBDC992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19850" y="3893646"/>
            <a:ext cx="1593850" cy="2306955"/>
          </a:xfrm>
          <a:prstGeom prst="rect">
            <a:avLst/>
          </a:prstGeom>
        </p:spPr>
      </p:pic>
      <p:pic>
        <p:nvPicPr>
          <p:cNvPr id="16" name="Picture 15" descr="A picture containing text, sign&#10;&#10;Description automatically generated">
            <a:extLst>
              <a:ext uri="{FF2B5EF4-FFF2-40B4-BE49-F238E27FC236}">
                <a16:creationId xmlns="" xmlns:a16="http://schemas.microsoft.com/office/drawing/2014/main" id="{2F0DA4D7-7350-4121-9479-F1E484E736B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823713" y="3893645"/>
            <a:ext cx="1616075" cy="2339340"/>
          </a:xfrm>
          <a:prstGeom prst="rect">
            <a:avLst/>
          </a:prstGeom>
        </p:spPr>
      </p:pic>
      <p:sp>
        <p:nvSpPr>
          <p:cNvPr id="11"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56</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9769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 xmlns:a16="http://schemas.microsoft.com/office/drawing/2014/main" id="{9B2481D9-8B52-C443-ABEF-765D2549936D}"/>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a:extLst>
              <a:ext uri="{FF2B5EF4-FFF2-40B4-BE49-F238E27FC236}">
                <a16:creationId xmlns="" xmlns:a16="http://schemas.microsoft.com/office/drawing/2014/main" id="{8F48EAE4-F2B9-4EF6-96D4-B6EB12AEC75E}"/>
              </a:ext>
            </a:extLst>
          </p:cNvPr>
          <p:cNvGraphicFramePr>
            <a:graphicFrameLocks noGrp="1"/>
          </p:cNvGraphicFramePr>
          <p:nvPr>
            <p:extLst>
              <p:ext uri="{D42A27DB-BD31-4B8C-83A1-F6EECF244321}">
                <p14:modId xmlns:p14="http://schemas.microsoft.com/office/powerpoint/2010/main" val="177060184"/>
              </p:ext>
            </p:extLst>
          </p:nvPr>
        </p:nvGraphicFramePr>
        <p:xfrm>
          <a:off x="2099736" y="1186829"/>
          <a:ext cx="7992528" cy="4475992"/>
        </p:xfrm>
        <a:graphic>
          <a:graphicData uri="http://schemas.openxmlformats.org/drawingml/2006/table">
            <a:tbl>
              <a:tblPr firstRow="1" firstCol="1" bandRow="1"/>
              <a:tblGrid>
                <a:gridCol w="2541868">
                  <a:extLst>
                    <a:ext uri="{9D8B030D-6E8A-4147-A177-3AD203B41FA5}">
                      <a16:colId xmlns="" xmlns:a16="http://schemas.microsoft.com/office/drawing/2014/main" val="2625072553"/>
                    </a:ext>
                  </a:extLst>
                </a:gridCol>
                <a:gridCol w="1452916">
                  <a:extLst>
                    <a:ext uri="{9D8B030D-6E8A-4147-A177-3AD203B41FA5}">
                      <a16:colId xmlns="" xmlns:a16="http://schemas.microsoft.com/office/drawing/2014/main" val="1504762570"/>
                    </a:ext>
                  </a:extLst>
                </a:gridCol>
                <a:gridCol w="1309403">
                  <a:extLst>
                    <a:ext uri="{9D8B030D-6E8A-4147-A177-3AD203B41FA5}">
                      <a16:colId xmlns="" xmlns:a16="http://schemas.microsoft.com/office/drawing/2014/main" val="137956444"/>
                    </a:ext>
                  </a:extLst>
                </a:gridCol>
                <a:gridCol w="2688341">
                  <a:extLst>
                    <a:ext uri="{9D8B030D-6E8A-4147-A177-3AD203B41FA5}">
                      <a16:colId xmlns="" xmlns:a16="http://schemas.microsoft.com/office/drawing/2014/main" val="2611979640"/>
                    </a:ext>
                  </a:extLst>
                </a:gridCol>
              </a:tblGrid>
              <a:tr h="1732185">
                <a:tc>
                  <a:txBody>
                    <a:bodyPr/>
                    <a:lstStyle/>
                    <a:p>
                      <a:pPr marL="0" marR="0" algn="ctr">
                        <a:lnSpc>
                          <a:spcPct val="107000"/>
                        </a:lnSpc>
                        <a:spcBef>
                          <a:spcPts val="0"/>
                        </a:spcBef>
                        <a:spcAft>
                          <a:spcPts val="0"/>
                        </a:spcAft>
                      </a:pPr>
                      <a:r>
                        <a:rPr lang="en-US" sz="2400" b="1" i="0" dirty="0">
                          <a:effectLst/>
                          <a:latin typeface="Verdana" panose="020B0604030504040204" pitchFamily="34" charset="0"/>
                          <a:ea typeface="Verdana" panose="020B0604030504040204" pitchFamily="34" charset="0"/>
                          <a:cs typeface="Verdana" panose="020B0604030504040204" pitchFamily="34" charset="0"/>
                        </a:rPr>
                        <a:t>Math Flop</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Mistake: </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number is not correct?</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7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My Work:</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Show the math that proves it is a mistake.</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Correct Label: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Fix the label by marking out the mistake and inserting the correct number.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380673504"/>
                  </a:ext>
                </a:extLst>
              </a:tr>
              <a:tr h="2743807">
                <a:tc>
                  <a:txBody>
                    <a:bodyPr/>
                    <a:lstStyle/>
                    <a:p>
                      <a:pPr marL="0" marR="0" algn="ctr">
                        <a:lnSpc>
                          <a:spcPct val="107000"/>
                        </a:lnSpc>
                        <a:spcBef>
                          <a:spcPts val="0"/>
                        </a:spcBef>
                        <a:spcAft>
                          <a:spcPts val="0"/>
                        </a:spcAft>
                      </a:pPr>
                      <a:endParaRPr lang="en-US" sz="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rPr>
                        <a:t> </a:t>
                      </a:r>
                      <a:endParaRPr lang="en-US" sz="800" i="1" dirty="0">
                        <a:effectLst/>
                        <a:latin typeface="Cambria Math" panose="02040503050406030204" pitchFamily="18" charset="0"/>
                        <a:ea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900" i="0" dirty="0">
                          <a:effectLst/>
                          <a:latin typeface="Verdana" panose="020B0604030504040204" pitchFamily="34" charset="0"/>
                          <a:ea typeface="Verdana" panose="020B0604030504040204" pitchFamily="34" charset="0"/>
                        </a:rPr>
                        <a:t> </a:t>
                      </a:r>
                      <a:endParaRPr lang="en-US" sz="800" i="1" dirty="0">
                        <a:effectLst/>
                        <a:latin typeface="Cambria Math" panose="02040503050406030204" pitchFamily="18" charset="0"/>
                        <a:ea typeface="Cambria Math" panose="02040503050406030204" pitchFamily="18"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endParaRPr lang="en-US" sz="900" i="0" dirty="0">
                        <a:effectLst/>
                        <a:latin typeface="Verdana" panose="020B0604030504040204" pitchFamily="34" charset="0"/>
                        <a:ea typeface="Verdana" panose="020B0604030504040204" pitchFamily="34" charset="0"/>
                        <a:cs typeface="Verdana" panose="020B0604030504040204" pitchFamily="34" charset="0"/>
                      </a:endParaRPr>
                    </a:p>
                  </a:txBody>
                  <a:tcPr marL="32552" marR="3255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44973001"/>
                  </a:ext>
                </a:extLst>
              </a:tr>
            </a:tbl>
          </a:graphicData>
        </a:graphic>
      </p:graphicFrame>
      <p:pic>
        <p:nvPicPr>
          <p:cNvPr id="8" name="Picture 7" descr="A picture containing text&#10;&#10;Description automatically generated">
            <a:extLst>
              <a:ext uri="{FF2B5EF4-FFF2-40B4-BE49-F238E27FC236}">
                <a16:creationId xmlns="" xmlns:a16="http://schemas.microsoft.com/office/drawing/2014/main" id="{1845C326-9761-4A66-B4AC-23E22DD660A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32673" y="3792919"/>
            <a:ext cx="2040255" cy="808355"/>
          </a:xfrm>
          <a:prstGeom prst="rect">
            <a:avLst/>
          </a:prstGeom>
        </p:spPr>
      </p:pic>
      <p:pic>
        <p:nvPicPr>
          <p:cNvPr id="9" name="Picture 8" descr="Text&#10;&#10;Description automatically generated with low confidence">
            <a:extLst>
              <a:ext uri="{FF2B5EF4-FFF2-40B4-BE49-F238E27FC236}">
                <a16:creationId xmlns="" xmlns:a16="http://schemas.microsoft.com/office/drawing/2014/main" id="{08E27E1F-94C7-492C-9089-C9509F6D545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75894" y="3792918"/>
            <a:ext cx="2083435" cy="825500"/>
          </a:xfrm>
          <a:prstGeom prst="rect">
            <a:avLst/>
          </a:prstGeom>
        </p:spPr>
      </p:pic>
      <p:sp>
        <p:nvSpPr>
          <p:cNvPr id="10"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56</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5410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327155" y="-7052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2.4.2 Guided Instruction: </a:t>
            </a:r>
            <a:r>
              <a:rPr lang="en-US" sz="3200" b="1" dirty="0">
                <a:solidFill>
                  <a:srgbClr val="26B6D4"/>
                </a:solidFill>
                <a:latin typeface="Verdana" panose="020B0604030504040204" pitchFamily="34" charset="0"/>
                <a:ea typeface="Cambria Math" panose="02040503050406030204" pitchFamily="18" charset="0"/>
                <a:cs typeface="Cambria Math" panose="02040503050406030204" pitchFamily="18" charset="0"/>
              </a:rPr>
              <a:t>Interpreting Real‑World Problems</a:t>
            </a:r>
            <a:endParaRPr lang="en-US" sz="32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3">
            <a:alphaModFix/>
          </a:blip>
          <a:srcRect/>
          <a:stretch/>
        </p:blipFill>
        <p:spPr>
          <a:xfrm>
            <a:off x="579855" y="13673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01B13E8-EC8D-E443-A329-C5E3593DD13A}"/>
                  </a:ext>
                </a:extLst>
              </p:cNvPr>
              <p:cNvSpPr txBox="1"/>
              <p:nvPr/>
            </p:nvSpPr>
            <p:spPr>
              <a:xfrm>
                <a:off x="1327155" y="1386025"/>
                <a:ext cx="9060429" cy="3615220"/>
              </a:xfrm>
              <a:prstGeom prst="rect">
                <a:avLst/>
              </a:prstGeom>
              <a:noFill/>
            </p:spPr>
            <p:txBody>
              <a:bodyPr wrap="square" rtlCol="0">
                <a:spAutoFit/>
              </a:bodyPr>
              <a:lstStyle/>
              <a:p>
                <a:pPr marL="342900" indent="-342900">
                  <a:lnSpc>
                    <a:spcPct val="107000"/>
                  </a:lnSpc>
                  <a:buFont typeface="+mj-lt"/>
                  <a:buAutoNum type="arabicPeriod"/>
                </a:pPr>
                <a:r>
                  <a:rPr lang="en-US" sz="2800" dirty="0">
                    <a:latin typeface="Verdana" panose="020B0604030504040204" pitchFamily="34" charset="0"/>
                    <a:ea typeface="Verdana" panose="020B0604030504040204" pitchFamily="34" charset="0"/>
                    <a:cs typeface="Verdana" panose="020B0604030504040204" pitchFamily="34" charset="0"/>
                  </a:rPr>
                  <a:t>Louis has two boards. The length of the longer board is </a:t>
                </a:r>
                <a14:m>
                  <m:oMath xmlns:m="http://schemas.openxmlformats.org/officeDocument/2006/math">
                    <m:r>
                      <a:rPr lang="en-US" sz="2800" i="1">
                        <a:latin typeface="Cambria Math" panose="02040503050406030204" pitchFamily="18" charset="0"/>
                        <a:ea typeface="Verdana" panose="020B0604030504040204" pitchFamily="34" charset="0"/>
                        <a:cs typeface="Verdana" panose="020B0604030504040204" pitchFamily="34" charset="0"/>
                      </a:rPr>
                      <m:t>27</m:t>
                    </m:r>
                    <m:f>
                      <m:fPr>
                        <m:ctrlPr>
                          <a:rPr lang="en-US" sz="2800" i="1">
                            <a:latin typeface="Cambria Math"/>
                            <a:ea typeface="Verdana" panose="020B0604030504040204" pitchFamily="34" charset="0"/>
                            <a:cs typeface="Verdana" panose="020B0604030504040204" pitchFamily="34" charset="0"/>
                          </a:rPr>
                        </m:ctrlPr>
                      </m:fPr>
                      <m:num>
                        <m:r>
                          <a:rPr lang="en-US" sz="2800" i="1">
                            <a:latin typeface="Cambria Math" panose="02040503050406030204" pitchFamily="18" charset="0"/>
                            <a:ea typeface="Verdana" panose="020B0604030504040204" pitchFamily="34" charset="0"/>
                            <a:cs typeface="Verdana" panose="020B0604030504040204" pitchFamily="34" charset="0"/>
                          </a:rPr>
                          <m:t>3</m:t>
                        </m:r>
                      </m:num>
                      <m:den>
                        <m:r>
                          <a:rPr lang="en-US" sz="2800" i="1">
                            <a:latin typeface="Cambria Math" panose="02040503050406030204" pitchFamily="18" charset="0"/>
                            <a:ea typeface="Verdana" panose="020B0604030504040204" pitchFamily="34" charset="0"/>
                            <a:cs typeface="Verdana" panose="020B0604030504040204" pitchFamily="34" charset="0"/>
                          </a:rPr>
                          <m:t>8</m:t>
                        </m:r>
                      </m:den>
                    </m:f>
                  </m:oMath>
                </a14:m>
                <a:r>
                  <a:rPr lang="en-US" sz="2800" dirty="0">
                    <a:latin typeface="Verdana" panose="020B0604030504040204" pitchFamily="34" charset="0"/>
                    <a:ea typeface="Verdana" panose="020B0604030504040204" pitchFamily="34" charset="0"/>
                    <a:cs typeface="Verdana" panose="020B0604030504040204" pitchFamily="34" charset="0"/>
                  </a:rPr>
                  <a:t> inches (in.). The length of the shorter board is </a:t>
                </a:r>
                <a14:m>
                  <m:oMath xmlns:m="http://schemas.openxmlformats.org/officeDocument/2006/math">
                    <m:r>
                      <a:rPr lang="en-US" sz="2800" i="1">
                        <a:latin typeface="Cambria Math" panose="02040503050406030204" pitchFamily="18" charset="0"/>
                        <a:ea typeface="Verdana" panose="020B0604030504040204" pitchFamily="34" charset="0"/>
                        <a:cs typeface="Verdana" panose="020B0604030504040204" pitchFamily="34" charset="0"/>
                      </a:rPr>
                      <m:t>14</m:t>
                    </m:r>
                    <m:f>
                      <m:fPr>
                        <m:ctrlPr>
                          <a:rPr lang="en-US" sz="2800" i="1">
                            <a:latin typeface="Cambria Math"/>
                            <a:ea typeface="Verdana" panose="020B0604030504040204" pitchFamily="34" charset="0"/>
                            <a:cs typeface="Verdana" panose="020B0604030504040204" pitchFamily="34" charset="0"/>
                          </a:rPr>
                        </m:ctrlPr>
                      </m:fPr>
                      <m:num>
                        <m:r>
                          <a:rPr lang="en-US" sz="2800" i="1">
                            <a:latin typeface="Cambria Math" panose="02040503050406030204" pitchFamily="18" charset="0"/>
                            <a:ea typeface="Verdana" panose="020B0604030504040204" pitchFamily="34" charset="0"/>
                            <a:cs typeface="Verdana" panose="020B0604030504040204" pitchFamily="34" charset="0"/>
                          </a:rPr>
                          <m:t>5</m:t>
                        </m:r>
                      </m:num>
                      <m:den>
                        <m:r>
                          <a:rPr lang="en-US" sz="2800" i="1">
                            <a:latin typeface="Cambria Math" panose="02040503050406030204" pitchFamily="18" charset="0"/>
                            <a:ea typeface="Verdana" panose="020B0604030504040204" pitchFamily="34" charset="0"/>
                            <a:cs typeface="Verdana" panose="020B0604030504040204" pitchFamily="34" charset="0"/>
                          </a:rPr>
                          <m:t>12</m:t>
                        </m:r>
                      </m:den>
                    </m:f>
                  </m:oMath>
                </a14:m>
                <a:r>
                  <a:rPr lang="en-US" sz="2800" dirty="0">
                    <a:latin typeface="Verdana" panose="020B0604030504040204" pitchFamily="34" charset="0"/>
                    <a:ea typeface="Verdana" panose="020B0604030504040204" pitchFamily="34" charset="0"/>
                    <a:cs typeface="Verdana" panose="020B0604030504040204" pitchFamily="34" charset="0"/>
                  </a:rPr>
                  <a:t> in.</a:t>
                </a:r>
                <a:endParaRPr lang="en-US" sz="28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800" dirty="0">
                    <a:latin typeface="Verdana" panose="020B0604030504040204" pitchFamily="34" charset="0"/>
                    <a:ea typeface="Verdana" panose="020B0604030504040204" pitchFamily="34" charset="0"/>
                    <a:cs typeface="Verdana" panose="020B0604030504040204" pitchFamily="34" charset="0"/>
                  </a:rPr>
                  <a:t> </a:t>
                </a:r>
                <a:endParaRPr lang="en-US" sz="2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800" dirty="0">
                    <a:latin typeface="Verdana" panose="020B0604030504040204" pitchFamily="34" charset="0"/>
                    <a:ea typeface="Verdana" panose="020B0604030504040204" pitchFamily="34" charset="0"/>
                    <a:cs typeface="Verdana" panose="020B0604030504040204" pitchFamily="34" charset="0"/>
                  </a:rPr>
                  <a:t>Read each question and complete the following tables. </a:t>
                </a:r>
                <a:endParaRPr lang="en-US" sz="28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327155" y="1386025"/>
                <a:ext cx="9060429" cy="3615220"/>
              </a:xfrm>
              <a:prstGeom prst="rect">
                <a:avLst/>
              </a:prstGeom>
              <a:blipFill rotWithShape="0">
                <a:blip r:embed="rId4"/>
                <a:stretch>
                  <a:fillRect l="-1413" t="-2024" r="-875"/>
                </a:stretch>
              </a:blipFill>
            </p:spPr>
            <p:txBody>
              <a:bodyPr/>
              <a:lstStyle/>
              <a:p>
                <a:r>
                  <a:rPr lang="en-US">
                    <a:noFill/>
                  </a:rPr>
                  <a:t> </a:t>
                </a:r>
              </a:p>
            </p:txBody>
          </p:sp>
        </mc:Fallback>
      </mc:AlternateContent>
      <p:sp>
        <p:nvSpPr>
          <p:cNvPr id="10" name="Google Shape;278;g104476d1465_1_17">
            <a:extLst>
              <a:ext uri="{FF2B5EF4-FFF2-40B4-BE49-F238E27FC236}">
                <a16:creationId xmlns="" xmlns:a16="http://schemas.microsoft.com/office/drawing/2014/main" id="{2260A17C-F127-D647-A05B-7BB351158843}"/>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56</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4341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1192695" y="288745"/>
                <a:ext cx="9713843" cy="2237536"/>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Louis has two boards. The length of the longer board is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27</m:t>
                    </m:r>
                    <m:f>
                      <m:fPr>
                        <m:ctrlPr>
                          <a:rPr lang="en-US" sz="2400" i="1">
                            <a:latin typeface="Cambria Math"/>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3</m:t>
                        </m:r>
                      </m:num>
                      <m:den>
                        <m:r>
                          <a:rPr lang="en-US" sz="2400" i="1">
                            <a:latin typeface="Cambria Math" panose="02040503050406030204" pitchFamily="18" charset="0"/>
                            <a:ea typeface="Verdana" panose="020B0604030504040204" pitchFamily="34" charset="0"/>
                            <a:cs typeface="Verdana" panose="020B0604030504040204" pitchFamily="34" charset="0"/>
                          </a:rPr>
                          <m:t>8</m:t>
                        </m:r>
                      </m:den>
                    </m:f>
                  </m:oMath>
                </a14:m>
                <a:r>
                  <a:rPr lang="en-US" sz="2400" dirty="0">
                    <a:latin typeface="Verdana" panose="020B0604030504040204" pitchFamily="34" charset="0"/>
                    <a:ea typeface="Verdana" panose="020B0604030504040204" pitchFamily="34" charset="0"/>
                    <a:cs typeface="Verdana" panose="020B0604030504040204" pitchFamily="34" charset="0"/>
                  </a:rPr>
                  <a:t> inches (in.). The length of the shorter board is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14</m:t>
                    </m:r>
                    <m:f>
                      <m:fPr>
                        <m:ctrlPr>
                          <a:rPr lang="en-US" sz="2400" i="1">
                            <a:latin typeface="Cambria Math"/>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5</m:t>
                        </m:r>
                      </m:num>
                      <m:den>
                        <m:r>
                          <a:rPr lang="en-US" sz="2400" i="1">
                            <a:latin typeface="Cambria Math" panose="02040503050406030204" pitchFamily="18" charset="0"/>
                            <a:ea typeface="Verdana" panose="020B0604030504040204" pitchFamily="34" charset="0"/>
                            <a:cs typeface="Verdana" panose="020B0604030504040204" pitchFamily="34" charset="0"/>
                          </a:rPr>
                          <m:t>12</m:t>
                        </m:r>
                      </m:den>
                    </m:f>
                  </m:oMath>
                </a14:m>
                <a:r>
                  <a:rPr lang="en-US" sz="2400" dirty="0">
                    <a:latin typeface="Verdana" panose="020B0604030504040204" pitchFamily="34" charset="0"/>
                    <a:ea typeface="Verdana" panose="020B0604030504040204" pitchFamily="34" charset="0"/>
                    <a:cs typeface="Verdana" panose="020B0604030504040204" pitchFamily="34" charset="0"/>
                  </a:rPr>
                  <a:t> in.</a:t>
                </a:r>
              </a:p>
              <a:p>
                <a:pPr marL="457200" indent="-457200">
                  <a:lnSpc>
                    <a:spcPct val="107000"/>
                  </a:lnSpc>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46088">
                  <a:lnSpc>
                    <a:spcPct val="107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Which mathematical operation can be used to find the total length of the two boards?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192695" y="288745"/>
                <a:ext cx="9713843" cy="2237536"/>
              </a:xfrm>
              <a:prstGeom prst="rect">
                <a:avLst/>
              </a:prstGeom>
              <a:blipFill rotWithShape="0">
                <a:blip r:embed="rId3"/>
                <a:stretch>
                  <a:fillRect l="-1004" t="-2725" r="-502" b="-3542"/>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 xmlns:a16="http://schemas.microsoft.com/office/drawing/2014/main" id="{36A843AB-F382-4D2B-811C-57166480B9CE}"/>
              </a:ext>
            </a:extLst>
          </p:cNvPr>
          <p:cNvGraphicFramePr>
            <a:graphicFrameLocks noGrp="1"/>
          </p:cNvGraphicFramePr>
          <p:nvPr>
            <p:extLst>
              <p:ext uri="{D42A27DB-BD31-4B8C-83A1-F6EECF244321}">
                <p14:modId xmlns:p14="http://schemas.microsoft.com/office/powerpoint/2010/main" val="2594962818"/>
              </p:ext>
            </p:extLst>
          </p:nvPr>
        </p:nvGraphicFramePr>
        <p:xfrm>
          <a:off x="2442688" y="3055403"/>
          <a:ext cx="7412656" cy="3402272"/>
        </p:xfrm>
        <a:graphic>
          <a:graphicData uri="http://schemas.openxmlformats.org/drawingml/2006/table">
            <a:tbl>
              <a:tblPr firstRow="1" firstCol="1" bandRow="1"/>
              <a:tblGrid>
                <a:gridCol w="2158593">
                  <a:extLst>
                    <a:ext uri="{9D8B030D-6E8A-4147-A177-3AD203B41FA5}">
                      <a16:colId xmlns="" xmlns:a16="http://schemas.microsoft.com/office/drawing/2014/main" val="1893889446"/>
                    </a:ext>
                  </a:extLst>
                </a:gridCol>
                <a:gridCol w="5254063">
                  <a:extLst>
                    <a:ext uri="{9D8B030D-6E8A-4147-A177-3AD203B41FA5}">
                      <a16:colId xmlns="" xmlns:a16="http://schemas.microsoft.com/office/drawing/2014/main" val="3894334995"/>
                    </a:ext>
                  </a:extLst>
                </a:gridCol>
              </a:tblGrid>
              <a:tr h="641744">
                <a:tc>
                  <a:txBody>
                    <a:bodyPr/>
                    <a:lstStyle/>
                    <a:p>
                      <a:pPr marL="0" marR="0" algn="ctr">
                        <a:lnSpc>
                          <a:spcPct val="107000"/>
                        </a:lnSpc>
                        <a:spcBef>
                          <a:spcPts val="0"/>
                        </a:spcBef>
                        <a:spcAft>
                          <a:spcPts val="0"/>
                        </a:spcAft>
                      </a:pPr>
                      <a:r>
                        <a:rPr lang="en-US" sz="1900" b="1" i="0" dirty="0">
                          <a:effectLst/>
                          <a:latin typeface="Verdana" panose="020B0604030504040204" pitchFamily="34" charset="0"/>
                          <a:ea typeface="Verdana" panose="020B0604030504040204" pitchFamily="34" charset="0"/>
                          <a:cs typeface="Verdana" panose="020B0604030504040204" pitchFamily="34" charset="0"/>
                        </a:rPr>
                        <a:t>Operation</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9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Sketch a </a:t>
                      </a:r>
                      <a:r>
                        <a:rPr lang="en-US" sz="19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picture or explain why you chose that operation.</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2156520775"/>
                  </a:ext>
                </a:extLst>
              </a:tr>
              <a:tr h="2760528">
                <a:tc>
                  <a:txBody>
                    <a:bodyPr/>
                    <a:lstStyle/>
                    <a:p>
                      <a:pPr marL="0" marR="0">
                        <a:lnSpc>
                          <a:spcPct val="107000"/>
                        </a:lnSpc>
                        <a:spcBef>
                          <a:spcPts val="0"/>
                        </a:spcBef>
                        <a:spcAft>
                          <a:spcPts val="0"/>
                        </a:spcAft>
                      </a:pPr>
                      <a:r>
                        <a:rPr lang="en-US" sz="1900" i="0">
                          <a:effectLst/>
                          <a:latin typeface="Verdana" panose="020B0604030504040204" pitchFamily="34" charset="0"/>
                          <a:ea typeface="Verdana" panose="020B0604030504040204" pitchFamily="34" charset="0"/>
                          <a:cs typeface="Verdana" panose="020B0604030504040204" pitchFamily="34" charset="0"/>
                        </a:rPr>
                        <a:t> </a:t>
                      </a:r>
                      <a:endParaRPr lang="en-US" sz="1700" i="1">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900" i="0" dirty="0">
                          <a:effectLst/>
                          <a:latin typeface="Verdana" panose="020B0604030504040204" pitchFamily="34" charset="0"/>
                          <a:ea typeface="Verdana" panose="020B0604030504040204" pitchFamily="34" charset="0"/>
                          <a:cs typeface="Verdana" panose="020B0604030504040204" pitchFamily="34" charset="0"/>
                        </a:rPr>
                        <a:t> </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58638239"/>
                  </a:ext>
                </a:extLst>
              </a:tr>
            </a:tbl>
          </a:graphicData>
        </a:graphic>
      </p:graphicFrame>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64446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940904" y="288745"/>
                <a:ext cx="10310192" cy="2799100"/>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Louis has two boards. The length of the longer board is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27</m:t>
                    </m:r>
                    <m:f>
                      <m:fPr>
                        <m:ctrlPr>
                          <a:rPr lang="en-US" sz="2400" i="1">
                            <a:latin typeface="Cambria Math"/>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3</m:t>
                        </m:r>
                      </m:num>
                      <m:den>
                        <m:r>
                          <a:rPr lang="en-US" sz="2400" i="1">
                            <a:latin typeface="Cambria Math" panose="02040503050406030204" pitchFamily="18" charset="0"/>
                            <a:ea typeface="Verdana" panose="020B0604030504040204" pitchFamily="34" charset="0"/>
                            <a:cs typeface="Verdana" panose="020B0604030504040204" pitchFamily="34" charset="0"/>
                          </a:rPr>
                          <m:t>8</m:t>
                        </m:r>
                      </m:den>
                    </m:f>
                  </m:oMath>
                </a14:m>
                <a:r>
                  <a:rPr lang="en-US" sz="2400" dirty="0">
                    <a:latin typeface="Verdana" panose="020B0604030504040204" pitchFamily="34" charset="0"/>
                    <a:ea typeface="Verdana" panose="020B0604030504040204" pitchFamily="34" charset="0"/>
                    <a:cs typeface="Verdana" panose="020B0604030504040204" pitchFamily="34" charset="0"/>
                  </a:rPr>
                  <a:t> inches (in.). The length of the shorter board is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14</m:t>
                    </m:r>
                    <m:f>
                      <m:fPr>
                        <m:ctrlPr>
                          <a:rPr lang="en-US" sz="2400" i="1">
                            <a:latin typeface="Cambria Math"/>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5</m:t>
                        </m:r>
                      </m:num>
                      <m:den>
                        <m:r>
                          <a:rPr lang="en-US" sz="2400" i="1">
                            <a:latin typeface="Cambria Math" panose="02040503050406030204" pitchFamily="18" charset="0"/>
                            <a:ea typeface="Verdana" panose="020B0604030504040204" pitchFamily="34" charset="0"/>
                            <a:cs typeface="Verdana" panose="020B0604030504040204" pitchFamily="34" charset="0"/>
                          </a:rPr>
                          <m:t>12</m:t>
                        </m:r>
                      </m:den>
                    </m:f>
                  </m:oMath>
                </a14:m>
                <a:r>
                  <a:rPr lang="en-US" sz="2400" dirty="0">
                    <a:latin typeface="Verdana" panose="020B0604030504040204" pitchFamily="34" charset="0"/>
                    <a:ea typeface="Verdana" panose="020B0604030504040204" pitchFamily="34" charset="0"/>
                    <a:cs typeface="Verdana" panose="020B0604030504040204" pitchFamily="34" charset="0"/>
                  </a:rPr>
                  <a:t> in.</a:t>
                </a:r>
              </a:p>
              <a:p>
                <a:pPr marL="457200" indent="-457200">
                  <a:lnSpc>
                    <a:spcPct val="107000"/>
                  </a:lnSpc>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46088">
                  <a:lnSpc>
                    <a:spcPct val="107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Which mathematical operation can be used to find the length of each piece when the longest board is cut into four</a:t>
                </a:r>
                <a:r>
                  <a:rPr lang="en-US" sz="2400" dirty="0">
                    <a:latin typeface="Cambria Math" panose="02040503050406030204" pitchFamily="18"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equal-sized pieces?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940904" y="288745"/>
                <a:ext cx="10310192" cy="2799100"/>
              </a:xfrm>
              <a:prstGeom prst="rect">
                <a:avLst/>
              </a:prstGeom>
              <a:blipFill rotWithShape="0">
                <a:blip r:embed="rId3"/>
                <a:stretch>
                  <a:fillRect l="-887" r="-591" b="-2609"/>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 xmlns:a16="http://schemas.microsoft.com/office/drawing/2014/main" id="{36A843AB-F382-4D2B-811C-57166480B9CE}"/>
              </a:ext>
            </a:extLst>
          </p:cNvPr>
          <p:cNvGraphicFramePr>
            <a:graphicFrameLocks noGrp="1"/>
          </p:cNvGraphicFramePr>
          <p:nvPr>
            <p:extLst>
              <p:ext uri="{D42A27DB-BD31-4B8C-83A1-F6EECF244321}">
                <p14:modId xmlns:p14="http://schemas.microsoft.com/office/powerpoint/2010/main" val="1800275285"/>
              </p:ext>
            </p:extLst>
          </p:nvPr>
        </p:nvGraphicFramePr>
        <p:xfrm>
          <a:off x="2442688" y="3602737"/>
          <a:ext cx="7506062" cy="2854939"/>
        </p:xfrm>
        <a:graphic>
          <a:graphicData uri="http://schemas.openxmlformats.org/drawingml/2006/table">
            <a:tbl>
              <a:tblPr firstRow="1" firstCol="1" bandRow="1"/>
              <a:tblGrid>
                <a:gridCol w="2185793">
                  <a:extLst>
                    <a:ext uri="{9D8B030D-6E8A-4147-A177-3AD203B41FA5}">
                      <a16:colId xmlns="" xmlns:a16="http://schemas.microsoft.com/office/drawing/2014/main" val="1893889446"/>
                    </a:ext>
                  </a:extLst>
                </a:gridCol>
                <a:gridCol w="5320269">
                  <a:extLst>
                    <a:ext uri="{9D8B030D-6E8A-4147-A177-3AD203B41FA5}">
                      <a16:colId xmlns="" xmlns:a16="http://schemas.microsoft.com/office/drawing/2014/main" val="3894334995"/>
                    </a:ext>
                  </a:extLst>
                </a:gridCol>
              </a:tblGrid>
              <a:tr h="654403">
                <a:tc>
                  <a:txBody>
                    <a:bodyPr/>
                    <a:lstStyle/>
                    <a:p>
                      <a:pPr marL="0" marR="0" algn="ctr">
                        <a:lnSpc>
                          <a:spcPct val="107000"/>
                        </a:lnSpc>
                        <a:spcBef>
                          <a:spcPts val="0"/>
                        </a:spcBef>
                        <a:spcAft>
                          <a:spcPts val="0"/>
                        </a:spcAft>
                      </a:pPr>
                      <a:r>
                        <a:rPr lang="en-US" sz="1900" b="1" i="0" dirty="0">
                          <a:effectLst/>
                          <a:latin typeface="Verdana" panose="020B0604030504040204" pitchFamily="34" charset="0"/>
                          <a:ea typeface="Verdana" panose="020B0604030504040204" pitchFamily="34" charset="0"/>
                          <a:cs typeface="Verdana" panose="020B0604030504040204" pitchFamily="34" charset="0"/>
                        </a:rPr>
                        <a:t>Operation</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9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Sketch a picture or explain why you chose that operation.</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2156520775"/>
                  </a:ext>
                </a:extLst>
              </a:tr>
              <a:tr h="2200536">
                <a:tc>
                  <a:txBody>
                    <a:bodyPr/>
                    <a:lstStyle/>
                    <a:p>
                      <a:pPr marL="0" marR="0">
                        <a:lnSpc>
                          <a:spcPct val="107000"/>
                        </a:lnSpc>
                        <a:spcBef>
                          <a:spcPts val="0"/>
                        </a:spcBef>
                        <a:spcAft>
                          <a:spcPts val="0"/>
                        </a:spcAft>
                      </a:pPr>
                      <a:r>
                        <a:rPr lang="en-US" sz="1900" i="0">
                          <a:effectLst/>
                          <a:latin typeface="Verdana" panose="020B0604030504040204" pitchFamily="34" charset="0"/>
                          <a:ea typeface="Verdana" panose="020B0604030504040204" pitchFamily="34" charset="0"/>
                          <a:cs typeface="Verdana" panose="020B0604030504040204" pitchFamily="34" charset="0"/>
                        </a:rPr>
                        <a:t> </a:t>
                      </a:r>
                      <a:endParaRPr lang="en-US" sz="1700" i="1">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900" i="0" dirty="0">
                          <a:effectLst/>
                          <a:latin typeface="Verdana" panose="020B0604030504040204" pitchFamily="34" charset="0"/>
                          <a:ea typeface="Verdana" panose="020B0604030504040204" pitchFamily="34" charset="0"/>
                          <a:cs typeface="Verdana" panose="020B0604030504040204" pitchFamily="34" charset="0"/>
                        </a:rPr>
                        <a:t> </a:t>
                      </a:r>
                      <a:endParaRPr lang="en-US" sz="1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4127" marR="741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58638239"/>
                  </a:ext>
                </a:extLst>
              </a:tr>
            </a:tbl>
          </a:graphicData>
        </a:graphic>
      </p:graphicFrame>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6090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649357" y="288746"/>
                <a:ext cx="10893286" cy="5229573"/>
              </a:xfrm>
              <a:prstGeom prst="rect">
                <a:avLst/>
              </a:prstGeom>
              <a:noFill/>
            </p:spPr>
            <p:txBody>
              <a:bodyPr wrap="square" rtlCol="0">
                <a:spAutoFit/>
              </a:bodyPr>
              <a:lstStyle/>
              <a:p>
                <a:pPr marL="514350" indent="-514350">
                  <a:lnSpc>
                    <a:spcPct val="107000"/>
                  </a:lnSpc>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Check</a:t>
                </a:r>
                <a:r>
                  <a:rPr lang="en-US" sz="2400" b="1" i="1"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your answers with your partner and resolve any differences if necessary. </a:t>
                </a: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p>
              <a:p>
                <a:pPr>
                  <a:lnSpc>
                    <a:spcPct val="107000"/>
                  </a:lnSpc>
                </a:pP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a:p>
                <a:pPr marL="514350" indent="-514350">
                  <a:lnSpc>
                    <a:spcPct val="107000"/>
                  </a:lnSpc>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Which mathematical operation can be used to determine the difference in the board lengths?</a:t>
                </a:r>
              </a:p>
              <a:p>
                <a:pPr marL="514350" indent="-514350">
                  <a:lnSpc>
                    <a:spcPct val="107000"/>
                  </a:lnSpc>
                  <a:buFont typeface="+mj-lt"/>
                  <a:buAutoNum type="alphaLcPeriod" startAt="4"/>
                </a:pPr>
                <a:endParaRPr lang="en-US" sz="2400" dirty="0">
                  <a:latin typeface="Verdana" panose="020B0604030504040204" pitchFamily="34" charset="0"/>
                  <a:ea typeface="Verdana" panose="020B0604030504040204" pitchFamily="34" charset="0"/>
                  <a:cs typeface="Cambria Math" panose="02040503050406030204" pitchFamily="18" charset="0"/>
                </a:endParaRPr>
              </a:p>
              <a:p>
                <a:pPr marL="514350" indent="-514350">
                  <a:lnSpc>
                    <a:spcPct val="107000"/>
                  </a:lnSpc>
                  <a:buFont typeface="+mj-lt"/>
                  <a:buAutoNum type="alphaLcPeriod" startAt="4"/>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514350" indent="-514350">
                  <a:lnSpc>
                    <a:spcPct val="107000"/>
                  </a:lnSpc>
                  <a:buFont typeface="+mj-lt"/>
                  <a:buAutoNum type="alphaLcPeriod" startAt="4"/>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514350" indent="-514350">
                  <a:lnSpc>
                    <a:spcPct val="107000"/>
                  </a:lnSpc>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Which mathematical operation can be used to find the total length of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48</m:t>
                    </m:r>
                  </m:oMath>
                </a14:m>
                <a:r>
                  <a:rPr lang="en-US" sz="2400" dirty="0">
                    <a:latin typeface="Verdana" panose="020B0604030504040204" pitchFamily="34" charset="0"/>
                    <a:ea typeface="Verdana" panose="020B0604030504040204" pitchFamily="34" charset="0"/>
                    <a:cs typeface="Verdana" panose="020B0604030504040204" pitchFamily="34" charset="0"/>
                  </a:rPr>
                  <a:t> of the shortest boards lined up end-to-end?</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514350" indent="-514350">
                  <a:lnSpc>
                    <a:spcPct val="107000"/>
                  </a:lnSpc>
                  <a:buFont typeface="+mj-lt"/>
                  <a:buAutoNum type="alphaLcPeriod" startAt="4"/>
                </a:pP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649357" y="288746"/>
                <a:ext cx="10893286" cy="5229573"/>
              </a:xfrm>
              <a:prstGeom prst="rect">
                <a:avLst/>
              </a:prstGeom>
              <a:blipFill rotWithShape="0">
                <a:blip r:embed="rId3"/>
                <a:stretch>
                  <a:fillRect l="-896" t="-1166"/>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78617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8AE5E1E0-A54D-BE42-84B5-F917038ADE99}"/>
              </a:ext>
            </a:extLst>
          </p:cNvPr>
          <p:cNvSpPr txBox="1"/>
          <p:nvPr/>
        </p:nvSpPr>
        <p:spPr>
          <a:xfrm>
            <a:off x="814832" y="288746"/>
            <a:ext cx="8327136" cy="750975"/>
          </a:xfrm>
          <a:prstGeom prst="rect">
            <a:avLst/>
          </a:prstGeom>
          <a:noFill/>
        </p:spPr>
        <p:txBody>
          <a:bodyPr wrap="square" rtlCol="0">
            <a:spAutoFit/>
          </a:bodyPr>
          <a:lstStyle/>
          <a:p>
            <a:pPr marL="457200" indent="-457200">
              <a:lnSpc>
                <a:spcPct val="107000"/>
              </a:lnSpc>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Write the numeric expression that shows how to calculate the answer. Then, determine the units of the answer.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78;g104476d1465_1_17">
            <a:extLst>
              <a:ext uri="{FF2B5EF4-FFF2-40B4-BE49-F238E27FC236}">
                <a16:creationId xmlns=""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19B9B99E-3E56-44C4-9B4E-1F350BE9A696}"/>
                  </a:ext>
                </a:extLst>
              </p:cNvPr>
              <p:cNvGraphicFramePr>
                <a:graphicFrameLocks noGrp="1"/>
              </p:cNvGraphicFramePr>
              <p:nvPr>
                <p:extLst>
                  <p:ext uri="{D42A27DB-BD31-4B8C-83A1-F6EECF244321}">
                    <p14:modId xmlns:p14="http://schemas.microsoft.com/office/powerpoint/2010/main" val="283790910"/>
                  </p:ext>
                </p:extLst>
              </p:nvPr>
            </p:nvGraphicFramePr>
            <p:xfrm>
              <a:off x="1427704" y="1170433"/>
              <a:ext cx="7841264" cy="5287243"/>
            </p:xfrm>
            <a:graphic>
              <a:graphicData uri="http://schemas.openxmlformats.org/drawingml/2006/table">
                <a:tbl>
                  <a:tblPr firstRow="1" firstCol="1" bandRow="1"/>
                  <a:tblGrid>
                    <a:gridCol w="3949919">
                      <a:extLst>
                        <a:ext uri="{9D8B030D-6E8A-4147-A177-3AD203B41FA5}">
                          <a16:colId xmlns="" xmlns:a16="http://schemas.microsoft.com/office/drawing/2014/main" val="906382016"/>
                        </a:ext>
                      </a:extLst>
                    </a:gridCol>
                    <a:gridCol w="2046342">
                      <a:extLst>
                        <a:ext uri="{9D8B030D-6E8A-4147-A177-3AD203B41FA5}">
                          <a16:colId xmlns="" xmlns:a16="http://schemas.microsoft.com/office/drawing/2014/main" val="2163843407"/>
                        </a:ext>
                      </a:extLst>
                    </a:gridCol>
                    <a:gridCol w="1845003">
                      <a:extLst>
                        <a:ext uri="{9D8B030D-6E8A-4147-A177-3AD203B41FA5}">
                          <a16:colId xmlns="" xmlns:a16="http://schemas.microsoft.com/office/drawing/2014/main" val="2445659970"/>
                        </a:ext>
                      </a:extLst>
                    </a:gridCol>
                  </a:tblGrid>
                  <a:tr h="715806">
                    <a:tc>
                      <a:txBody>
                        <a:bodyPr/>
                        <a:lstStyle/>
                        <a:p>
                          <a:pPr marL="100965" marR="0" indent="-100965"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Units of the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Answer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2254214515"/>
                      </a:ext>
                    </a:extLst>
                  </a:tr>
                  <a:tr h="1964710">
                    <a:tc>
                      <a:txBody>
                        <a:bodyPr/>
                        <a:lstStyle/>
                        <a:p>
                          <a:pPr marL="0" marR="0">
                            <a:lnSpc>
                              <a:spcPct val="107000"/>
                            </a:lnSpc>
                            <a:spcBef>
                              <a:spcPts val="0"/>
                            </a:spcBef>
                            <a:spcAft>
                              <a:spcPts val="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Louis has two boards. The length of the longer board is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27</m:t>
                              </m:r>
                              <m:f>
                                <m:fPr>
                                  <m:ctrlPr>
                                    <a:rPr lang="en-US" sz="1800" i="1">
                                      <a:effectLst/>
                                      <a:latin typeface="Cambria Math"/>
                                      <a:ea typeface="Verdana" panose="020B0604030504040204" pitchFamily="34" charset="0"/>
                                      <a:cs typeface="Verdana" panose="020B0604030504040204" pitchFamily="34" charset="0"/>
                                    </a:rPr>
                                  </m:ctrlPr>
                                </m:fPr>
                                <m:num>
                                  <m:r>
                                    <a:rPr lang="en-US" sz="1800" i="1">
                                      <a:effectLst/>
                                      <a:latin typeface="Cambria Math" panose="02040503050406030204" pitchFamily="18" charset="0"/>
                                      <a:ea typeface="Verdana" panose="020B0604030504040204" pitchFamily="34" charset="0"/>
                                      <a:cs typeface="Verdana" panose="020B0604030504040204" pitchFamily="34" charset="0"/>
                                    </a:rPr>
                                    <m:t>3</m:t>
                                  </m:r>
                                </m:num>
                                <m:den>
                                  <m:r>
                                    <a:rPr lang="en-US" sz="1800" i="1">
                                      <a:effectLst/>
                                      <a:latin typeface="Cambria Math" panose="02040503050406030204" pitchFamily="18" charset="0"/>
                                      <a:ea typeface="Verdana" panose="020B0604030504040204" pitchFamily="34" charset="0"/>
                                      <a:cs typeface="Verdana" panose="020B0604030504040204" pitchFamily="34" charset="0"/>
                                    </a:rPr>
                                    <m:t>8</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inches (in). The length of the shorter board is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14</m:t>
                              </m:r>
                              <m:f>
                                <m:fPr>
                                  <m:ctrlPr>
                                    <a:rPr lang="en-US" sz="1800" i="1">
                                      <a:effectLst/>
                                      <a:latin typeface="Cambria Math"/>
                                      <a:ea typeface="Verdana" panose="020B0604030504040204" pitchFamily="34" charset="0"/>
                                      <a:cs typeface="Verdana" panose="020B0604030504040204" pitchFamily="34" charset="0"/>
                                    </a:rPr>
                                  </m:ctrlPr>
                                </m:fPr>
                                <m:num>
                                  <m:r>
                                    <a:rPr lang="en-US" sz="1800" i="1">
                                      <a:effectLst/>
                                      <a:latin typeface="Cambria Math" panose="02040503050406030204" pitchFamily="18" charset="0"/>
                                      <a:ea typeface="Verdana" panose="020B0604030504040204" pitchFamily="34" charset="0"/>
                                      <a:cs typeface="Verdana" panose="020B0604030504040204" pitchFamily="34" charset="0"/>
                                    </a:rPr>
                                    <m:t>5</m:t>
                                  </m:r>
                                </m:num>
                                <m:den>
                                  <m:r>
                                    <a:rPr lang="en-US" sz="1800" i="1">
                                      <a:effectLst/>
                                      <a:latin typeface="Cambria Math" panose="02040503050406030204" pitchFamily="18" charset="0"/>
                                      <a:ea typeface="Verdana" panose="020B0604030504040204" pitchFamily="34" charset="0"/>
                                      <a:cs typeface="Verdana" panose="020B0604030504040204" pitchFamily="34" charset="0"/>
                                    </a:rPr>
                                    <m:t>12</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 What is the total length of the two boards?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549136897"/>
                      </a:ext>
                    </a:extLst>
                  </a:tr>
                  <a:tr h="2606727">
                    <a:tc>
                      <a:txBody>
                        <a:bodyPr/>
                        <a:lstStyle/>
                        <a:p>
                          <a:pPr marL="0" marR="0">
                            <a:lnSpc>
                              <a:spcPct val="107000"/>
                            </a:lnSpc>
                            <a:spcBef>
                              <a:spcPts val="0"/>
                            </a:spcBef>
                            <a:spcAft>
                              <a:spcPts val="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Louis has two boards. The length of the longer board is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27</m:t>
                              </m:r>
                              <m:f>
                                <m:fPr>
                                  <m:ctrlPr>
                                    <a:rPr lang="en-US" sz="1800" i="1">
                                      <a:effectLst/>
                                      <a:latin typeface="Cambria Math"/>
                                      <a:ea typeface="Verdana" panose="020B0604030504040204" pitchFamily="34" charset="0"/>
                                      <a:cs typeface="Verdana" panose="020B0604030504040204" pitchFamily="34" charset="0"/>
                                    </a:rPr>
                                  </m:ctrlPr>
                                </m:fPr>
                                <m:num>
                                  <m:r>
                                    <a:rPr lang="en-US" sz="1800" i="1">
                                      <a:effectLst/>
                                      <a:latin typeface="Cambria Math" panose="02040503050406030204" pitchFamily="18" charset="0"/>
                                      <a:ea typeface="Verdana" panose="020B0604030504040204" pitchFamily="34" charset="0"/>
                                      <a:cs typeface="Verdana" panose="020B0604030504040204" pitchFamily="34" charset="0"/>
                                    </a:rPr>
                                    <m:t>3</m:t>
                                  </m:r>
                                </m:num>
                                <m:den>
                                  <m:r>
                                    <a:rPr lang="en-US" sz="1800" i="1">
                                      <a:effectLst/>
                                      <a:latin typeface="Cambria Math" panose="02040503050406030204" pitchFamily="18" charset="0"/>
                                      <a:ea typeface="Verdana" panose="020B0604030504040204" pitchFamily="34" charset="0"/>
                                      <a:cs typeface="Verdana" panose="020B0604030504040204" pitchFamily="34" charset="0"/>
                                    </a:rPr>
                                    <m:t>8</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inches (in). The length of the shorter board is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14</m:t>
                              </m:r>
                              <m:f>
                                <m:fPr>
                                  <m:ctrlPr>
                                    <a:rPr lang="en-US" sz="1800" i="1">
                                      <a:effectLst/>
                                      <a:latin typeface="Cambria Math"/>
                                      <a:ea typeface="Verdana" panose="020B0604030504040204" pitchFamily="34" charset="0"/>
                                      <a:cs typeface="Verdana" panose="020B0604030504040204" pitchFamily="34" charset="0"/>
                                    </a:rPr>
                                  </m:ctrlPr>
                                </m:fPr>
                                <m:num>
                                  <m:r>
                                    <a:rPr lang="en-US" sz="1800" i="1">
                                      <a:effectLst/>
                                      <a:latin typeface="Cambria Math" panose="02040503050406030204" pitchFamily="18" charset="0"/>
                                      <a:ea typeface="Verdana" panose="020B0604030504040204" pitchFamily="34" charset="0"/>
                                      <a:cs typeface="Verdana" panose="020B0604030504040204" pitchFamily="34" charset="0"/>
                                    </a:rPr>
                                    <m:t>5</m:t>
                                  </m:r>
                                </m:num>
                                <m:den>
                                  <m:r>
                                    <a:rPr lang="en-US" sz="1800" i="1">
                                      <a:effectLst/>
                                      <a:latin typeface="Cambria Math" panose="02040503050406030204" pitchFamily="18" charset="0"/>
                                      <a:ea typeface="Verdana" panose="020B0604030504040204" pitchFamily="34" charset="0"/>
                                      <a:cs typeface="Verdana" panose="020B0604030504040204" pitchFamily="34" charset="0"/>
                                    </a:rPr>
                                    <m:t>12</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 What is the length of each piece when the longest board is cut into four</a:t>
                          </a:r>
                          <a:r>
                            <a:rPr lang="en-US" sz="1800" i="0" dirty="0">
                              <a:effectLst/>
                              <a:latin typeface="Cambria Math" panose="02040503050406030204" pitchFamily="18" charset="0"/>
                              <a:ea typeface="Verdana" panose="020B0604030504040204" pitchFamily="34" charset="0"/>
                              <a:cs typeface="Verdana" panose="020B0604030504040204" pitchFamily="34" charset="0"/>
                            </a:rPr>
                            <a:t> </a:t>
                          </a:r>
                          <a:r>
                            <a:rPr lang="en-US" sz="1800" i="0" dirty="0">
                              <a:effectLst/>
                              <a:latin typeface="Verdana" panose="020B0604030504040204" pitchFamily="34" charset="0"/>
                              <a:ea typeface="Verdana" panose="020B0604030504040204" pitchFamily="34" charset="0"/>
                              <a:cs typeface="Verdana" panose="020B0604030504040204" pitchFamily="34" charset="0"/>
                            </a:rPr>
                            <a:t>equal-sized pieces?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809362533"/>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19B9B99E-3E56-44C4-9B4E-1F350BE9A696}"/>
                  </a:ext>
                </a:extLst>
              </p:cNvPr>
              <p:cNvGraphicFramePr>
                <a:graphicFrameLocks noGrp="1"/>
              </p:cNvGraphicFramePr>
              <p:nvPr>
                <p:extLst>
                  <p:ext uri="{D42A27DB-BD31-4B8C-83A1-F6EECF244321}">
                    <p14:modId xmlns:p14="http://schemas.microsoft.com/office/powerpoint/2010/main" val="283790910"/>
                  </p:ext>
                </p:extLst>
              </p:nvPr>
            </p:nvGraphicFramePr>
            <p:xfrm>
              <a:off x="1427704" y="1170433"/>
              <a:ext cx="7841264" cy="5287243"/>
            </p:xfrm>
            <a:graphic>
              <a:graphicData uri="http://schemas.openxmlformats.org/drawingml/2006/table">
                <a:tbl>
                  <a:tblPr firstRow="1" firstCol="1" bandRow="1"/>
                  <a:tblGrid>
                    <a:gridCol w="3949919">
                      <a:extLst>
                        <a:ext uri="{9D8B030D-6E8A-4147-A177-3AD203B41FA5}">
                          <a16:colId xmlns:a16="http://schemas.microsoft.com/office/drawing/2014/main" xmlns:a14="http://schemas.microsoft.com/office/drawing/2010/main" xmlns="" val="906382016"/>
                        </a:ext>
                      </a:extLst>
                    </a:gridCol>
                    <a:gridCol w="2046342">
                      <a:extLst>
                        <a:ext uri="{9D8B030D-6E8A-4147-A177-3AD203B41FA5}">
                          <a16:colId xmlns:a16="http://schemas.microsoft.com/office/drawing/2014/main" xmlns:a14="http://schemas.microsoft.com/office/drawing/2010/main" xmlns="" val="2163843407"/>
                        </a:ext>
                      </a:extLst>
                    </a:gridCol>
                    <a:gridCol w="1845003">
                      <a:extLst>
                        <a:ext uri="{9D8B030D-6E8A-4147-A177-3AD203B41FA5}">
                          <a16:colId xmlns:a16="http://schemas.microsoft.com/office/drawing/2014/main" xmlns:a14="http://schemas.microsoft.com/office/drawing/2010/main" xmlns="" val="2445659970"/>
                        </a:ext>
                      </a:extLst>
                    </a:gridCol>
                  </a:tblGrid>
                  <a:tr h="715806">
                    <a:tc>
                      <a:txBody>
                        <a:bodyPr/>
                        <a:lstStyle/>
                        <a:p>
                          <a:pPr marL="100965" marR="0" indent="-100965"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Units of the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Answer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254214515"/>
                      </a:ext>
                    </a:extLst>
                  </a:tr>
                  <a:tr h="1964710">
                    <a:tc>
                      <a:txBody>
                        <a:bodyPr/>
                        <a:lstStyle/>
                        <a:p>
                          <a:endParaRPr lang="en-US"/>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t="-38080" r="-98611" b="-132508"/>
                          </a:stretch>
                        </a:blipFill>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49136897"/>
                      </a:ext>
                    </a:extLst>
                  </a:tr>
                  <a:tr h="2606727">
                    <a:tc>
                      <a:txBody>
                        <a:bodyPr/>
                        <a:lstStyle/>
                        <a:p>
                          <a:endParaRPr lang="en-US"/>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t="-104450" r="-98611" b="-234"/>
                          </a:stretch>
                        </a:blipFill>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809362533"/>
                      </a:ext>
                    </a:extLst>
                  </a:tr>
                </a:tbl>
              </a:graphicData>
            </a:graphic>
          </p:graphicFrame>
        </mc:Fallback>
      </mc:AlternateContent>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32468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 xmlns:a16="http://schemas.microsoft.com/office/drawing/2014/main" id="{A7817ACE-0EAD-F54B-BF54-D1C44606A01D}"/>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 xmlns:a16="http://schemas.microsoft.com/office/drawing/2014/main" id="{19B9B99E-3E56-44C4-9B4E-1F350BE9A696}"/>
                  </a:ext>
                </a:extLst>
              </p:cNvPr>
              <p:cNvGraphicFramePr>
                <a:graphicFrameLocks noGrp="1"/>
              </p:cNvGraphicFramePr>
              <p:nvPr>
                <p:extLst>
                  <p:ext uri="{D42A27DB-BD31-4B8C-83A1-F6EECF244321}">
                    <p14:modId xmlns:p14="http://schemas.microsoft.com/office/powerpoint/2010/main" val="1450482315"/>
                  </p:ext>
                </p:extLst>
              </p:nvPr>
            </p:nvGraphicFramePr>
            <p:xfrm>
              <a:off x="1421100" y="466546"/>
              <a:ext cx="7841264" cy="5287243"/>
            </p:xfrm>
            <a:graphic>
              <a:graphicData uri="http://schemas.openxmlformats.org/drawingml/2006/table">
                <a:tbl>
                  <a:tblPr firstRow="1" firstCol="1" bandRow="1"/>
                  <a:tblGrid>
                    <a:gridCol w="3949919">
                      <a:extLst>
                        <a:ext uri="{9D8B030D-6E8A-4147-A177-3AD203B41FA5}">
                          <a16:colId xmlns="" xmlns:a16="http://schemas.microsoft.com/office/drawing/2014/main" val="906382016"/>
                        </a:ext>
                      </a:extLst>
                    </a:gridCol>
                    <a:gridCol w="2046342">
                      <a:extLst>
                        <a:ext uri="{9D8B030D-6E8A-4147-A177-3AD203B41FA5}">
                          <a16:colId xmlns="" xmlns:a16="http://schemas.microsoft.com/office/drawing/2014/main" val="2163843407"/>
                        </a:ext>
                      </a:extLst>
                    </a:gridCol>
                    <a:gridCol w="1845003">
                      <a:extLst>
                        <a:ext uri="{9D8B030D-6E8A-4147-A177-3AD203B41FA5}">
                          <a16:colId xmlns="" xmlns:a16="http://schemas.microsoft.com/office/drawing/2014/main" val="2445659970"/>
                        </a:ext>
                      </a:extLst>
                    </a:gridCol>
                  </a:tblGrid>
                  <a:tr h="661563">
                    <a:tc>
                      <a:txBody>
                        <a:bodyPr/>
                        <a:lstStyle/>
                        <a:p>
                          <a:pPr marL="100965" marR="0" indent="-100965"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Units of the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Answer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2254214515"/>
                      </a:ext>
                    </a:extLst>
                  </a:tr>
                  <a:tr h="2124805">
                    <a:tc>
                      <a:txBody>
                        <a:bodyPr/>
                        <a:lstStyle/>
                        <a:p>
                          <a:pPr marL="0" marR="0">
                            <a:lnSpc>
                              <a:spcPct val="107000"/>
                            </a:lnSpc>
                            <a:spcBef>
                              <a:spcPts val="0"/>
                            </a:spcBef>
                            <a:spcAft>
                              <a:spcPts val="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Louis has two boards. The length of the longer board is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27</m:t>
                              </m:r>
                              <m:f>
                                <m:fPr>
                                  <m:ctrlPr>
                                    <a:rPr lang="en-US" sz="1800" i="1">
                                      <a:effectLst/>
                                      <a:latin typeface="Cambria Math"/>
                                      <a:ea typeface="Verdana" panose="020B0604030504040204" pitchFamily="34" charset="0"/>
                                      <a:cs typeface="Verdana" panose="020B0604030504040204" pitchFamily="34" charset="0"/>
                                    </a:rPr>
                                  </m:ctrlPr>
                                </m:fPr>
                                <m:num>
                                  <m:r>
                                    <a:rPr lang="en-US" sz="1800">
                                      <a:effectLst/>
                                      <a:latin typeface="Cambria Math" panose="02040503050406030204" pitchFamily="18" charset="0"/>
                                      <a:ea typeface="Verdana" panose="020B0604030504040204" pitchFamily="34" charset="0"/>
                                      <a:cs typeface="Verdana" panose="020B0604030504040204" pitchFamily="34" charset="0"/>
                                    </a:rPr>
                                    <m:t>3</m:t>
                                  </m:r>
                                </m:num>
                                <m:den>
                                  <m:r>
                                    <a:rPr lang="en-US" sz="1800">
                                      <a:effectLst/>
                                      <a:latin typeface="Cambria Math" panose="02040503050406030204" pitchFamily="18" charset="0"/>
                                      <a:ea typeface="Verdana" panose="020B0604030504040204" pitchFamily="34" charset="0"/>
                                      <a:cs typeface="Verdana" panose="020B0604030504040204" pitchFamily="34" charset="0"/>
                                    </a:rPr>
                                    <m:t>8</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inches (in). The length of the shorter board is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14</m:t>
                              </m:r>
                              <m:f>
                                <m:fPr>
                                  <m:ctrlPr>
                                    <a:rPr lang="en-US" sz="1800" i="1">
                                      <a:effectLst/>
                                      <a:latin typeface="Cambria Math"/>
                                      <a:ea typeface="Verdana" panose="020B0604030504040204" pitchFamily="34" charset="0"/>
                                      <a:cs typeface="Verdana" panose="020B0604030504040204" pitchFamily="34" charset="0"/>
                                    </a:rPr>
                                  </m:ctrlPr>
                                </m:fPr>
                                <m:num>
                                  <m:r>
                                    <a:rPr lang="en-US" sz="1800">
                                      <a:effectLst/>
                                      <a:latin typeface="Cambria Math" panose="02040503050406030204" pitchFamily="18" charset="0"/>
                                      <a:ea typeface="Verdana" panose="020B0604030504040204" pitchFamily="34" charset="0"/>
                                      <a:cs typeface="Verdana" panose="020B0604030504040204" pitchFamily="34" charset="0"/>
                                    </a:rPr>
                                    <m:t>5</m:t>
                                  </m:r>
                                </m:num>
                                <m:den>
                                  <m:r>
                                    <a:rPr lang="en-US" sz="1800">
                                      <a:effectLst/>
                                      <a:latin typeface="Cambria Math" panose="02040503050406030204" pitchFamily="18" charset="0"/>
                                      <a:ea typeface="Verdana" panose="020B0604030504040204" pitchFamily="34" charset="0"/>
                                      <a:cs typeface="Verdana" panose="020B0604030504040204" pitchFamily="34" charset="0"/>
                                    </a:rPr>
                                    <m:t>12</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 What is the difference between the board lengths?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a:effectLst/>
                              <a:latin typeface="Verdana" panose="020B0604030504040204" pitchFamily="34" charset="0"/>
                              <a:ea typeface="Verdana" panose="020B0604030504040204" pitchFamily="34" charset="0"/>
                              <a:cs typeface="Verdana" panose="020B0604030504040204" pitchFamily="34" charset="0"/>
                            </a:rPr>
                            <a:t> </a:t>
                          </a:r>
                          <a:endParaRPr lang="en-US" sz="700" i="1">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549136897"/>
                      </a:ext>
                    </a:extLst>
                  </a:tr>
                  <a:tr h="2500875">
                    <a:tc>
                      <a:txBody>
                        <a:bodyPr/>
                        <a:lstStyle/>
                        <a:p>
                          <a:pPr marL="0" marR="0">
                            <a:lnSpc>
                              <a:spcPct val="107000"/>
                            </a:lnSpc>
                            <a:spcBef>
                              <a:spcPts val="0"/>
                            </a:spcBef>
                            <a:spcAft>
                              <a:spcPts val="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Louis has two boards. The length of the longer board is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27</m:t>
                              </m:r>
                              <m:f>
                                <m:fPr>
                                  <m:ctrlPr>
                                    <a:rPr lang="en-US" sz="1800" i="1">
                                      <a:effectLst/>
                                      <a:latin typeface="Cambria Math"/>
                                      <a:ea typeface="Verdana" panose="020B0604030504040204" pitchFamily="34" charset="0"/>
                                      <a:cs typeface="Verdana" panose="020B0604030504040204" pitchFamily="34" charset="0"/>
                                    </a:rPr>
                                  </m:ctrlPr>
                                </m:fPr>
                                <m:num>
                                  <m:r>
                                    <a:rPr lang="en-US" sz="1800">
                                      <a:effectLst/>
                                      <a:latin typeface="Cambria Math" panose="02040503050406030204" pitchFamily="18" charset="0"/>
                                      <a:ea typeface="Verdana" panose="020B0604030504040204" pitchFamily="34" charset="0"/>
                                      <a:cs typeface="Verdana" panose="020B0604030504040204" pitchFamily="34" charset="0"/>
                                    </a:rPr>
                                    <m:t>3</m:t>
                                  </m:r>
                                </m:num>
                                <m:den>
                                  <m:r>
                                    <a:rPr lang="en-US" sz="1800">
                                      <a:effectLst/>
                                      <a:latin typeface="Cambria Math" panose="02040503050406030204" pitchFamily="18" charset="0"/>
                                      <a:ea typeface="Verdana" panose="020B0604030504040204" pitchFamily="34" charset="0"/>
                                      <a:cs typeface="Verdana" panose="020B0604030504040204" pitchFamily="34" charset="0"/>
                                    </a:rPr>
                                    <m:t>8</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inches (in). The length of the shorter board is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14</m:t>
                              </m:r>
                              <m:f>
                                <m:fPr>
                                  <m:ctrlPr>
                                    <a:rPr lang="en-US" sz="1800" i="1">
                                      <a:effectLst/>
                                      <a:latin typeface="Cambria Math"/>
                                      <a:ea typeface="Verdana" panose="020B0604030504040204" pitchFamily="34" charset="0"/>
                                      <a:cs typeface="Verdana" panose="020B0604030504040204" pitchFamily="34" charset="0"/>
                                    </a:rPr>
                                  </m:ctrlPr>
                                </m:fPr>
                                <m:num>
                                  <m:r>
                                    <a:rPr lang="en-US" sz="1800">
                                      <a:effectLst/>
                                      <a:latin typeface="Cambria Math" panose="02040503050406030204" pitchFamily="18" charset="0"/>
                                      <a:ea typeface="Verdana" panose="020B0604030504040204" pitchFamily="34" charset="0"/>
                                      <a:cs typeface="Verdana" panose="020B0604030504040204" pitchFamily="34" charset="0"/>
                                    </a:rPr>
                                    <m:t>5</m:t>
                                  </m:r>
                                </m:num>
                                <m:den>
                                  <m:r>
                                    <a:rPr lang="en-US" sz="1800">
                                      <a:effectLst/>
                                      <a:latin typeface="Cambria Math" panose="02040503050406030204" pitchFamily="18" charset="0"/>
                                      <a:ea typeface="Verdana" panose="020B0604030504040204" pitchFamily="34" charset="0"/>
                                      <a:cs typeface="Verdana" panose="020B0604030504040204" pitchFamily="34" charset="0"/>
                                    </a:rPr>
                                    <m:t>12</m:t>
                                  </m:r>
                                </m:den>
                              </m:f>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 What is the total length of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48</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of the shortest boards lined up end-to-end?</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809362533"/>
                      </a:ext>
                    </a:extLst>
                  </a:tr>
                </a:tbl>
              </a:graphicData>
            </a:graphic>
          </p:graphicFrame>
        </mc:Choice>
        <mc:Fallback xmlns="">
          <p:graphicFrame>
            <p:nvGraphicFramePr>
              <p:cNvPr id="10" name="Table 9">
                <a:extLst>
                  <a:ext uri="{FF2B5EF4-FFF2-40B4-BE49-F238E27FC236}">
                    <a16:creationId xmlns:a16="http://schemas.microsoft.com/office/drawing/2014/main" xmlns:a14="http://schemas.microsoft.com/office/drawing/2010/main" xmlns="" id="{19B9B99E-3E56-44C4-9B4E-1F350BE9A696}"/>
                  </a:ext>
                </a:extLst>
              </p:cNvPr>
              <p:cNvGraphicFramePr>
                <a:graphicFrameLocks noGrp="1"/>
              </p:cNvGraphicFramePr>
              <p:nvPr>
                <p:extLst>
                  <p:ext uri="{D42A27DB-BD31-4B8C-83A1-F6EECF244321}">
                    <p14:modId xmlns:p14="http://schemas.microsoft.com/office/powerpoint/2010/main" val="1450482315"/>
                  </p:ext>
                </p:extLst>
              </p:nvPr>
            </p:nvGraphicFramePr>
            <p:xfrm>
              <a:off x="1421100" y="466546"/>
              <a:ext cx="7841264" cy="5287243"/>
            </p:xfrm>
            <a:graphic>
              <a:graphicData uri="http://schemas.openxmlformats.org/drawingml/2006/table">
                <a:tbl>
                  <a:tblPr firstRow="1" firstCol="1" bandRow="1"/>
                  <a:tblGrid>
                    <a:gridCol w="3949919">
                      <a:extLst>
                        <a:ext uri="{9D8B030D-6E8A-4147-A177-3AD203B41FA5}">
                          <a16:colId xmlns:a16="http://schemas.microsoft.com/office/drawing/2014/main" xmlns:a14="http://schemas.microsoft.com/office/drawing/2010/main" xmlns="" val="906382016"/>
                        </a:ext>
                      </a:extLst>
                    </a:gridCol>
                    <a:gridCol w="2046342">
                      <a:extLst>
                        <a:ext uri="{9D8B030D-6E8A-4147-A177-3AD203B41FA5}">
                          <a16:colId xmlns:a16="http://schemas.microsoft.com/office/drawing/2014/main" xmlns:a14="http://schemas.microsoft.com/office/drawing/2010/main" xmlns="" val="2163843407"/>
                        </a:ext>
                      </a:extLst>
                    </a:gridCol>
                    <a:gridCol w="1845003">
                      <a:extLst>
                        <a:ext uri="{9D8B030D-6E8A-4147-A177-3AD203B41FA5}">
                          <a16:colId xmlns:a16="http://schemas.microsoft.com/office/drawing/2014/main" xmlns:a14="http://schemas.microsoft.com/office/drawing/2010/main" xmlns="" val="2445659970"/>
                        </a:ext>
                      </a:extLst>
                    </a:gridCol>
                  </a:tblGrid>
                  <a:tr h="661563">
                    <a:tc>
                      <a:txBody>
                        <a:bodyPr/>
                        <a:lstStyle/>
                        <a:p>
                          <a:pPr marL="100965" marR="0" indent="-100965"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Units of the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Answer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254214515"/>
                      </a:ext>
                    </a:extLst>
                  </a:tr>
                  <a:tr h="2124805">
                    <a:tc>
                      <a:txBody>
                        <a:bodyPr/>
                        <a:lstStyle/>
                        <a:p>
                          <a:endParaRPr lang="en-US"/>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t="-34670" r="-98611" b="-117479"/>
                          </a:stretch>
                        </a:blipFill>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a:effectLst/>
                              <a:latin typeface="Verdana" panose="020B0604030504040204" pitchFamily="34" charset="0"/>
                              <a:ea typeface="Verdana" panose="020B0604030504040204" pitchFamily="34" charset="0"/>
                              <a:cs typeface="Verdana" panose="020B0604030504040204" pitchFamily="34" charset="0"/>
                            </a:rPr>
                            <a:t> </a:t>
                          </a:r>
                          <a:endParaRPr lang="en-US" sz="700" i="1">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49136897"/>
                      </a:ext>
                    </a:extLst>
                  </a:tr>
                  <a:tr h="2500875">
                    <a:tc>
                      <a:txBody>
                        <a:bodyPr/>
                        <a:lstStyle/>
                        <a:p>
                          <a:endParaRPr lang="en-US"/>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t="-114634" r="-98611"/>
                          </a:stretch>
                        </a:blipFill>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800" b="1" i="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US" sz="7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0832" marR="308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809362533"/>
                      </a:ext>
                    </a:extLst>
                  </a:tr>
                </a:tbl>
              </a:graphicData>
            </a:graphic>
          </p:graphicFrame>
        </mc:Fallback>
      </mc:AlternateContent>
    </p:spTree>
    <p:extLst>
      <p:ext uri="{BB962C8B-B14F-4D97-AF65-F5344CB8AC3E}">
        <p14:creationId xmlns:p14="http://schemas.microsoft.com/office/powerpoint/2010/main" val="3774154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23538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455899"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2.4.3 Guided Practice: </a:t>
            </a:r>
            <a:r>
              <a:rPr lang="en-US" sz="3200" b="1" dirty="0">
                <a:solidFill>
                  <a:srgbClr val="26B6D4"/>
                </a:solidFill>
                <a:latin typeface="Verdana" panose="020B0604030504040204" pitchFamily="34" charset="0"/>
                <a:ea typeface="Cambria Math" panose="02040503050406030204" pitchFamily="18" charset="0"/>
                <a:cs typeface="Cambria Math" panose="02040503050406030204" pitchFamily="18" charset="0"/>
              </a:rPr>
              <a:t>Operations in Real‑World Context</a:t>
            </a:r>
            <a:endParaRPr lang="en-US" sz="3200" b="1" dirty="0">
              <a:solidFill>
                <a:srgbClr val="54B5D1"/>
              </a:solidFill>
              <a:latin typeface="Verdana"/>
              <a:ea typeface="Verdana"/>
              <a:cs typeface="Verdana"/>
              <a:sym typeface="Verdana"/>
            </a:endParaRPr>
          </a:p>
        </p:txBody>
      </p:sp>
      <p:pic>
        <p:nvPicPr>
          <p:cNvPr id="8" name="Picture 2" descr="Icon&#10;&#10;Description automatically generated">
            <a:extLst>
              <a:ext uri="{FF2B5EF4-FFF2-40B4-BE49-F238E27FC236}">
                <a16:creationId xmlns=""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6091" y="16602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31D40250-DEDD-2C41-8538-3D4DD18CCC4A}"/>
              </a:ext>
            </a:extLst>
          </p:cNvPr>
          <p:cNvSpPr txBox="1"/>
          <p:nvPr/>
        </p:nvSpPr>
        <p:spPr>
          <a:xfrm>
            <a:off x="1577009" y="1181092"/>
            <a:ext cx="8895073" cy="1673022"/>
          </a:xfrm>
          <a:prstGeom prst="rect">
            <a:avLst/>
          </a:prstGeom>
          <a:noFill/>
        </p:spPr>
        <p:txBody>
          <a:bodyPr wrap="square" rtlCol="0">
            <a:spAutoFit/>
          </a:bodyPr>
          <a:lstStyle/>
          <a:p>
            <a:pPr marL="342900" indent="-3429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table contains four different real-world contexts. Select the question in the middle column that requires the use of the operation indicated in the last column within this context.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1" name="Google Shape;278;g104476d1465_1_17">
            <a:extLst>
              <a:ext uri="{FF2B5EF4-FFF2-40B4-BE49-F238E27FC236}">
                <a16:creationId xmlns="" xmlns:a16="http://schemas.microsoft.com/office/drawing/2014/main" id="{46CE9362-15C8-D54E-981B-E2717DFC6652}"/>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 xmlns:a16="http://schemas.microsoft.com/office/drawing/2014/main" id="{5410ABAB-A12E-44DF-B237-6D2067CAAB49}"/>
                  </a:ext>
                </a:extLst>
              </p:cNvPr>
              <p:cNvGraphicFramePr>
                <a:graphicFrameLocks noGrp="1"/>
              </p:cNvGraphicFramePr>
              <p:nvPr>
                <p:extLst>
                  <p:ext uri="{D42A27DB-BD31-4B8C-83A1-F6EECF244321}">
                    <p14:modId xmlns:p14="http://schemas.microsoft.com/office/powerpoint/2010/main" val="1964693065"/>
                  </p:ext>
                </p:extLst>
              </p:nvPr>
            </p:nvGraphicFramePr>
            <p:xfrm>
              <a:off x="1861694" y="2824172"/>
              <a:ext cx="8677456" cy="3210869"/>
            </p:xfrm>
            <a:graphic>
              <a:graphicData uri="http://schemas.openxmlformats.org/drawingml/2006/table">
                <a:tbl>
                  <a:tblPr firstRow="1" firstCol="1" bandRow="1"/>
                  <a:tblGrid>
                    <a:gridCol w="2893198">
                      <a:extLst>
                        <a:ext uri="{9D8B030D-6E8A-4147-A177-3AD203B41FA5}">
                          <a16:colId xmlns="" xmlns:a16="http://schemas.microsoft.com/office/drawing/2014/main" val="3644651111"/>
                        </a:ext>
                      </a:extLst>
                    </a:gridCol>
                    <a:gridCol w="3972436">
                      <a:extLst>
                        <a:ext uri="{9D8B030D-6E8A-4147-A177-3AD203B41FA5}">
                          <a16:colId xmlns="" xmlns:a16="http://schemas.microsoft.com/office/drawing/2014/main" val="729461683"/>
                        </a:ext>
                      </a:extLst>
                    </a:gridCol>
                    <a:gridCol w="1811822">
                      <a:extLst>
                        <a:ext uri="{9D8B030D-6E8A-4147-A177-3AD203B41FA5}">
                          <a16:colId xmlns="" xmlns:a16="http://schemas.microsoft.com/office/drawing/2014/main" val="4133070775"/>
                        </a:ext>
                      </a:extLst>
                    </a:gridCol>
                  </a:tblGrid>
                  <a:tr h="569529">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Real-</a:t>
                          </a: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World Context</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Question?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Operation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1739421247"/>
                      </a:ext>
                    </a:extLst>
                  </a:tr>
                  <a:tr h="2641340">
                    <a:tc>
                      <a:txBody>
                        <a:bodyPr/>
                        <a:lstStyle/>
                        <a:p>
                          <a:pPr marL="0" marR="0">
                            <a:lnSpc>
                              <a:spcPct val="107000"/>
                            </a:lnSpc>
                            <a:spcBef>
                              <a:spcPts val="0"/>
                            </a:spcBef>
                            <a:spcAft>
                              <a:spcPts val="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A Valencia orange tree that is twelve years old can produce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1.4</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boxes of oranges. In May 2017, a box of fresh Valencia oranges cost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$20.45</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2000" i="0" dirty="0">
                              <a:effectLst/>
                              <a:latin typeface="Verdana" panose="020B0604030504040204" pitchFamily="34" charset="0"/>
                              <a:ea typeface="Verdana" panose="020B0604030504040204" pitchFamily="34" charset="0"/>
                              <a:cs typeface="Verdana" panose="020B0604030504040204" pitchFamily="34" charset="0"/>
                            </a:rPr>
                            <a:t>For how many years did a box of Valencia oranges cost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$20.45</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2000" i="0" dirty="0">
                              <a:effectLst/>
                              <a:latin typeface="Verdana" panose="020B0604030504040204" pitchFamily="34" charset="0"/>
                              <a:ea typeface="Verdana" panose="020B0604030504040204" pitchFamily="34" charset="0"/>
                              <a:cs typeface="Verdana" panose="020B0604030504040204" pitchFamily="34" charset="0"/>
                            </a:rPr>
                            <a:t>How much money would a 12-year old Valencia orange tree generate?</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2000" i="0" dirty="0">
                              <a:effectLst/>
                              <a:latin typeface="Verdana" panose="020B0604030504040204" pitchFamily="34" charset="0"/>
                              <a:ea typeface="Verdana" panose="020B0604030504040204" pitchFamily="34" charset="0"/>
                              <a:cs typeface="Verdana" panose="020B0604030504040204" pitchFamily="34" charset="0"/>
                            </a:rPr>
                            <a:t>What is the price per box of Valencia oranges?</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6000" b="1" i="1">
                                    <a:effectLst/>
                                    <a:latin typeface="Cambria Math" panose="02040503050406030204" pitchFamily="18" charset="0"/>
                                    <a:ea typeface="Verdana" panose="020B0604030504040204" pitchFamily="34" charset="0"/>
                                    <a:cs typeface="Verdana" panose="020B0604030504040204" pitchFamily="34" charset="0"/>
                                  </a:rPr>
                                  <m:t>×</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09031520"/>
                      </a:ext>
                    </a:extLst>
                  </a:tr>
                </a:tbl>
              </a:graphicData>
            </a:graphic>
          </p:graphicFrame>
        </mc:Choice>
        <mc:Fallback xmlns="">
          <p:graphicFrame>
            <p:nvGraphicFramePr>
              <p:cNvPr id="2" name="Table 1">
                <a:extLst>
                  <a:ext uri="{FF2B5EF4-FFF2-40B4-BE49-F238E27FC236}">
                    <a16:creationId xmlns:a16="http://schemas.microsoft.com/office/drawing/2014/main" id="{5410ABAB-A12E-44DF-B237-6D2067CAAB49}"/>
                  </a:ext>
                </a:extLst>
              </p:cNvPr>
              <p:cNvGraphicFramePr>
                <a:graphicFrameLocks noGrp="1"/>
              </p:cNvGraphicFramePr>
              <p:nvPr>
                <p:extLst>
                  <p:ext uri="{D42A27DB-BD31-4B8C-83A1-F6EECF244321}">
                    <p14:modId xmlns:p14="http://schemas.microsoft.com/office/powerpoint/2010/main" val="1964693065"/>
                  </p:ext>
                </p:extLst>
              </p:nvPr>
            </p:nvGraphicFramePr>
            <p:xfrm>
              <a:off x="337694" y="2824171"/>
              <a:ext cx="8677456" cy="3210869"/>
            </p:xfrm>
            <a:graphic>
              <a:graphicData uri="http://schemas.openxmlformats.org/drawingml/2006/table">
                <a:tbl>
                  <a:tblPr firstRow="1" firstCol="1" bandRow="1"/>
                  <a:tblGrid>
                    <a:gridCol w="2893198">
                      <a:extLst>
                        <a:ext uri="{9D8B030D-6E8A-4147-A177-3AD203B41FA5}">
                          <a16:colId xmlns:a16="http://schemas.microsoft.com/office/drawing/2014/main" val="3644651111"/>
                        </a:ext>
                      </a:extLst>
                    </a:gridCol>
                    <a:gridCol w="3972436">
                      <a:extLst>
                        <a:ext uri="{9D8B030D-6E8A-4147-A177-3AD203B41FA5}">
                          <a16:colId xmlns:a16="http://schemas.microsoft.com/office/drawing/2014/main" val="729461683"/>
                        </a:ext>
                      </a:extLst>
                    </a:gridCol>
                    <a:gridCol w="1811822">
                      <a:extLst>
                        <a:ext uri="{9D8B030D-6E8A-4147-A177-3AD203B41FA5}">
                          <a16:colId xmlns:a16="http://schemas.microsoft.com/office/drawing/2014/main" val="4133070775"/>
                        </a:ext>
                      </a:extLst>
                    </a:gridCol>
                  </a:tblGrid>
                  <a:tr h="569529">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Real-</a:t>
                          </a: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World Context</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Question?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Operation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739421247"/>
                      </a:ext>
                    </a:extLst>
                  </a:tr>
                  <a:tr h="2641340">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11" t="-21659" r="-200211" b="-4839"/>
                          </a:stretch>
                        </a:blipFill>
                      </a:tcPr>
                    </a:tc>
                    <a:tc>
                      <a:txBody>
                        <a:bodyPr/>
                        <a:lstStyle/>
                        <a:p>
                          <a:endParaRPr lang="en-US"/>
                        </a:p>
                      </a:txBody>
                      <a:tcPr marL="44648" marR="4464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3006" t="-21659" r="-45859" b="-4839"/>
                          </a:stretch>
                        </a:blipFill>
                      </a:tcPr>
                    </a:tc>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79798" t="-21659" r="-673" b="-4839"/>
                          </a:stretch>
                        </a:blipFill>
                      </a:tcPr>
                    </a:tc>
                    <a:extLst>
                      <a:ext uri="{0D108BD9-81ED-4DB2-BD59-A6C34878D82A}">
                        <a16:rowId xmlns:a16="http://schemas.microsoft.com/office/drawing/2014/main" val="2109031520"/>
                      </a:ext>
                    </a:extLst>
                  </a:tr>
                </a:tbl>
              </a:graphicData>
            </a:graphic>
          </p:graphicFrame>
        </mc:Fallback>
      </mc:AlternateContent>
      <p:sp>
        <p:nvSpPr>
          <p:cNvPr id="9"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58</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21900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 xmlns:a16="http://schemas.microsoft.com/office/drawing/2014/main" id="{01E1BEEC-C47B-3A48-99B3-7CB267A11974}"/>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 xmlns:a16="http://schemas.microsoft.com/office/drawing/2014/main" id="{134EC192-AD0F-41EF-819B-AB98AE3C054F}"/>
                  </a:ext>
                </a:extLst>
              </p:cNvPr>
              <p:cNvGraphicFramePr>
                <a:graphicFrameLocks noGrp="1"/>
              </p:cNvGraphicFramePr>
              <p:nvPr>
                <p:extLst>
                  <p:ext uri="{D42A27DB-BD31-4B8C-83A1-F6EECF244321}">
                    <p14:modId xmlns:p14="http://schemas.microsoft.com/office/powerpoint/2010/main" val="317306359"/>
                  </p:ext>
                </p:extLst>
              </p:nvPr>
            </p:nvGraphicFramePr>
            <p:xfrm>
              <a:off x="1794627" y="245083"/>
              <a:ext cx="8822199" cy="5955641"/>
            </p:xfrm>
            <a:graphic>
              <a:graphicData uri="http://schemas.openxmlformats.org/drawingml/2006/table">
                <a:tbl>
                  <a:tblPr firstRow="1" firstCol="1" bandRow="1"/>
                  <a:tblGrid>
                    <a:gridCol w="2646659">
                      <a:extLst>
                        <a:ext uri="{9D8B030D-6E8A-4147-A177-3AD203B41FA5}">
                          <a16:colId xmlns="" xmlns:a16="http://schemas.microsoft.com/office/drawing/2014/main" val="845752366"/>
                        </a:ext>
                      </a:extLst>
                    </a:gridCol>
                    <a:gridCol w="4333497">
                      <a:extLst>
                        <a:ext uri="{9D8B030D-6E8A-4147-A177-3AD203B41FA5}">
                          <a16:colId xmlns="" xmlns:a16="http://schemas.microsoft.com/office/drawing/2014/main" val="553770345"/>
                        </a:ext>
                      </a:extLst>
                    </a:gridCol>
                    <a:gridCol w="1842043">
                      <a:extLst>
                        <a:ext uri="{9D8B030D-6E8A-4147-A177-3AD203B41FA5}">
                          <a16:colId xmlns="" xmlns:a16="http://schemas.microsoft.com/office/drawing/2014/main" val="780668725"/>
                        </a:ext>
                      </a:extLst>
                    </a:gridCol>
                  </a:tblGrid>
                  <a:tr h="621942">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Real-</a:t>
                          </a: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World Context</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Question?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Operation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2113666373"/>
                      </a:ext>
                    </a:extLst>
                  </a:tr>
                  <a:tr h="2384493">
                    <a:tc>
                      <a:txBody>
                        <a:bodyPr/>
                        <a:lstStyle/>
                        <a:p>
                          <a:pPr marL="0" marR="0">
                            <a:lnSpc>
                              <a:spcPct val="107000"/>
                            </a:lnSpc>
                            <a:spcBef>
                              <a:spcPts val="0"/>
                            </a:spcBef>
                            <a:spcAft>
                              <a:spcPts val="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In 2016, there were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19.3</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million Snapchat users in the age range of 18-24, and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16.7</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million users in the age range of 25-34.</a:t>
                          </a:r>
                          <a:endParaRPr lang="en-US" sz="1200" i="1" dirty="0">
                            <a:effectLst/>
                            <a:latin typeface="Verdana" panose="020B0604030504040204" pitchFamily="34" charset="0"/>
                            <a:ea typeface="Verdana" panose="020B0604030504040204" pitchFamily="34"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How many Snapchat users were between the ages of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18</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34</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was the difference between the number of Snapchat users in the 18-24 and the 25-34 age range?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How many Snapchat users were younger than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18</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6000" b="1" i="1">
                                    <a:effectLst/>
                                    <a:latin typeface="Cambria Math" panose="02040503050406030204" pitchFamily="18" charset="0"/>
                                    <a:ea typeface="Verdana" panose="020B0604030504040204" pitchFamily="34" charset="0"/>
                                    <a:cs typeface="Verdana" panose="020B0604030504040204" pitchFamily="34" charset="0"/>
                                  </a:rPr>
                                  <m:t>+</m:t>
                                </m:r>
                              </m:oMath>
                            </m:oMathPara>
                          </a14:m>
                          <a:endParaRPr lang="en-US" sz="6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20136550"/>
                      </a:ext>
                    </a:extLst>
                  </a:tr>
                  <a:tr h="2918876">
                    <a:tc>
                      <a:txBody>
                        <a:bodyPr/>
                        <a:lstStyle/>
                        <a:p>
                          <a:pPr marL="0" marR="0">
                            <a:lnSpc>
                              <a:spcPct val="107000"/>
                            </a:lnSpc>
                            <a:spcBef>
                              <a:spcPts val="0"/>
                            </a:spcBef>
                            <a:spcAft>
                              <a:spcPts val="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In 2004, each person in the United States consumed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61.5</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pounds of refined sugar on average. In 2008, the average consumed per person was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66.3</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pounds of refined sugar.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is the total amount of sugar the average person consumed in 2004 and 2008?</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was the average yearly increase in sugar consumption from 2004 to 2008?</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is the difference between the amount of sugar consumed in 2004 and 2008?</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6000" b="1" i="1" smtClean="0">
                                    <a:effectLst/>
                                    <a:latin typeface="Cambria Math" panose="02040503050406030204" pitchFamily="18" charset="0"/>
                                    <a:ea typeface="Verdana" panose="020B0604030504040204" pitchFamily="34" charset="0"/>
                                    <a:cs typeface="Verdana" panose="020B0604030504040204" pitchFamily="34" charset="0"/>
                                  </a:rPr>
                                  <m:t>−</m:t>
                                </m:r>
                              </m:oMath>
                            </m:oMathPara>
                          </a14:m>
                          <a:endParaRPr lang="en-US" sz="6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70313938"/>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134EC192-AD0F-41EF-819B-AB98AE3C054F}"/>
                  </a:ext>
                </a:extLst>
              </p:cNvPr>
              <p:cNvGraphicFramePr>
                <a:graphicFrameLocks noGrp="1"/>
              </p:cNvGraphicFramePr>
              <p:nvPr>
                <p:extLst>
                  <p:ext uri="{D42A27DB-BD31-4B8C-83A1-F6EECF244321}">
                    <p14:modId xmlns:p14="http://schemas.microsoft.com/office/powerpoint/2010/main" val="317306359"/>
                  </p:ext>
                </p:extLst>
              </p:nvPr>
            </p:nvGraphicFramePr>
            <p:xfrm>
              <a:off x="1794627" y="245083"/>
              <a:ext cx="8822199" cy="5955641"/>
            </p:xfrm>
            <a:graphic>
              <a:graphicData uri="http://schemas.openxmlformats.org/drawingml/2006/table">
                <a:tbl>
                  <a:tblPr firstRow="1" firstCol="1" bandRow="1"/>
                  <a:tblGrid>
                    <a:gridCol w="2646659">
                      <a:extLst>
                        <a:ext uri="{9D8B030D-6E8A-4147-A177-3AD203B41FA5}">
                          <a16:colId xmlns:a16="http://schemas.microsoft.com/office/drawing/2014/main" xmlns:a14="http://schemas.microsoft.com/office/drawing/2010/main" xmlns="" val="845752366"/>
                        </a:ext>
                      </a:extLst>
                    </a:gridCol>
                    <a:gridCol w="4333497">
                      <a:extLst>
                        <a:ext uri="{9D8B030D-6E8A-4147-A177-3AD203B41FA5}">
                          <a16:colId xmlns:a16="http://schemas.microsoft.com/office/drawing/2014/main" xmlns:a14="http://schemas.microsoft.com/office/drawing/2010/main" xmlns="" val="553770345"/>
                        </a:ext>
                      </a:extLst>
                    </a:gridCol>
                    <a:gridCol w="1842043">
                      <a:extLst>
                        <a:ext uri="{9D8B030D-6E8A-4147-A177-3AD203B41FA5}">
                          <a16:colId xmlns:a16="http://schemas.microsoft.com/office/drawing/2014/main" xmlns:a14="http://schemas.microsoft.com/office/drawing/2010/main" xmlns="" val="780668725"/>
                        </a:ext>
                      </a:extLst>
                    </a:gridCol>
                  </a:tblGrid>
                  <a:tr h="652272">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Real-</a:t>
                          </a: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World Context</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Question?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Operation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113666373"/>
                      </a:ext>
                    </a:extLst>
                  </a:tr>
                  <a:tr h="2384493">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230" t="-30867" r="-234101" b="-122704"/>
                          </a:stretch>
                        </a:blipFill>
                      </a:tcPr>
                    </a:tc>
                    <a:tc>
                      <a:txBody>
                        <a:bodyPr/>
                        <a:lstStyle/>
                        <a:p>
                          <a:endParaRPr lang="en-US"/>
                        </a:p>
                      </a:txBody>
                      <a:tcPr marL="44648" marR="4464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61096" t="-30867" r="-42697" b="-122704"/>
                          </a:stretch>
                        </a:blipFill>
                      </a:tcPr>
                    </a:tc>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379801" t="-30867" r="-662" b="-122704"/>
                          </a:stretch>
                        </a:blipFill>
                      </a:tcPr>
                    </a:tc>
                    <a:extLst>
                      <a:ext uri="{0D108BD9-81ED-4DB2-BD59-A6C34878D82A}">
                        <a16:rowId xmlns:a16="http://schemas.microsoft.com/office/drawing/2014/main" xmlns:a14="http://schemas.microsoft.com/office/drawing/2010/main" xmlns="" val="120136550"/>
                      </a:ext>
                    </a:extLst>
                  </a:tr>
                  <a:tr h="2918876">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230" t="-107098" r="-234101" b="-418"/>
                          </a:stretch>
                        </a:blipFill>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is the total amount of sugar the average person consumed in 2004 and 2008?</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was the average yearly increase in sugar consumption from 2004 to 2008?</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is the difference between the amount of sugar consumed in 2004 and 2008?</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379801" t="-107098" r="-662" b="-418"/>
                          </a:stretch>
                        </a:blipFill>
                      </a:tcPr>
                    </a:tc>
                    <a:extLst>
                      <a:ext uri="{0D108BD9-81ED-4DB2-BD59-A6C34878D82A}">
                        <a16:rowId xmlns:a16="http://schemas.microsoft.com/office/drawing/2014/main" xmlns:a14="http://schemas.microsoft.com/office/drawing/2010/main" xmlns="" val="1770313938"/>
                      </a:ext>
                    </a:extLst>
                  </a:tr>
                </a:tbl>
              </a:graphicData>
            </a:graphic>
          </p:graphicFrame>
        </mc:Fallback>
      </mc:AlternateContent>
      <p:sp>
        <p:nvSpPr>
          <p:cNvPr id="6"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51378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 xmlns:a16="http://schemas.microsoft.com/office/drawing/2014/main" id="{01E1BEEC-C47B-3A48-99B3-7CB267A11974}"/>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 xmlns:a16="http://schemas.microsoft.com/office/drawing/2014/main" id="{134EC192-AD0F-41EF-819B-AB98AE3C054F}"/>
                  </a:ext>
                </a:extLst>
              </p:cNvPr>
              <p:cNvGraphicFramePr>
                <a:graphicFrameLocks noGrp="1"/>
              </p:cNvGraphicFramePr>
              <p:nvPr>
                <p:extLst>
                  <p:ext uri="{D42A27DB-BD31-4B8C-83A1-F6EECF244321}">
                    <p14:modId xmlns:p14="http://schemas.microsoft.com/office/powerpoint/2010/main" val="2655947495"/>
                  </p:ext>
                </p:extLst>
              </p:nvPr>
            </p:nvGraphicFramePr>
            <p:xfrm>
              <a:off x="1794628" y="1415986"/>
              <a:ext cx="8822199" cy="4017679"/>
            </p:xfrm>
            <a:graphic>
              <a:graphicData uri="http://schemas.openxmlformats.org/drawingml/2006/table">
                <a:tbl>
                  <a:tblPr firstRow="1" firstCol="1" bandRow="1"/>
                  <a:tblGrid>
                    <a:gridCol w="2646659">
                      <a:extLst>
                        <a:ext uri="{9D8B030D-6E8A-4147-A177-3AD203B41FA5}">
                          <a16:colId xmlns="" xmlns:a16="http://schemas.microsoft.com/office/drawing/2014/main" val="845752366"/>
                        </a:ext>
                      </a:extLst>
                    </a:gridCol>
                    <a:gridCol w="4333497">
                      <a:extLst>
                        <a:ext uri="{9D8B030D-6E8A-4147-A177-3AD203B41FA5}">
                          <a16:colId xmlns="" xmlns:a16="http://schemas.microsoft.com/office/drawing/2014/main" val="553770345"/>
                        </a:ext>
                      </a:extLst>
                    </a:gridCol>
                    <a:gridCol w="1842043">
                      <a:extLst>
                        <a:ext uri="{9D8B030D-6E8A-4147-A177-3AD203B41FA5}">
                          <a16:colId xmlns="" xmlns:a16="http://schemas.microsoft.com/office/drawing/2014/main" val="780668725"/>
                        </a:ext>
                      </a:extLst>
                    </a:gridCol>
                  </a:tblGrid>
                  <a:tr h="710959">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Real-</a:t>
                          </a: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World Context</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Question?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Operation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2113666373"/>
                      </a:ext>
                    </a:extLst>
                  </a:tr>
                  <a:tr h="3306720">
                    <a:tc>
                      <a:txBody>
                        <a:bodyPr/>
                        <a:lstStyle/>
                        <a:p>
                          <a:pPr marL="0" marR="0">
                            <a:lnSpc>
                              <a:spcPct val="107000"/>
                            </a:lnSpc>
                            <a:spcBef>
                              <a:spcPts val="0"/>
                            </a:spcBef>
                            <a:spcAft>
                              <a:spcPts val="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Barbara sent letters that exceeded the allowed weight by the U.S. Postal Service. To mail the letters she had to add a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$0.15</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stamp to each letter. She spent </a:t>
                          </a:r>
                          <a14:m>
                            <m:oMath xmlns:m="http://schemas.openxmlformats.org/officeDocument/2006/math">
                              <m:r>
                                <a:rPr lang="en-US" sz="1800">
                                  <a:effectLst/>
                                  <a:latin typeface="Cambria Math" panose="02040503050406030204" pitchFamily="18" charset="0"/>
                                  <a:ea typeface="Verdana" panose="020B0604030504040204" pitchFamily="34" charset="0"/>
                                  <a:cs typeface="Verdana" panose="020B0604030504040204" pitchFamily="34" charset="0"/>
                                </a:rPr>
                                <m:t>$2.55</m:t>
                              </m:r>
                            </m:oMath>
                          </a14:m>
                          <a:r>
                            <a:rPr lang="en-US" sz="1800" i="0" dirty="0">
                              <a:effectLst/>
                              <a:latin typeface="Verdana" panose="020B0604030504040204" pitchFamily="34" charset="0"/>
                              <a:ea typeface="Verdana" panose="020B0604030504040204" pitchFamily="34" charset="0"/>
                              <a:cs typeface="Verdana" panose="020B0604030504040204" pitchFamily="34" charset="0"/>
                            </a:rPr>
                            <a:t> in additional weight charges.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was the total cost of sending the letters?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80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For how many letters did Barbara pay the additional weight charge?</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285750" indent="-285750">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is the difference between the cost of sending a regular letter and one that exceeds the weight allowed?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6000" b="1" i="0"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m:t>
                                </m:r>
                              </m:oMath>
                            </m:oMathPara>
                          </a14:m>
                          <a:endParaRPr lang="en-US" sz="6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70313938"/>
                      </a:ext>
                    </a:extLst>
                  </a:tr>
                </a:tbl>
              </a:graphicData>
            </a:graphic>
          </p:graphicFrame>
        </mc:Choice>
        <mc:Fallback xmlns="">
          <p:graphicFrame>
            <p:nvGraphicFramePr>
              <p:cNvPr id="2" name="Table 1">
                <a:extLst>
                  <a:ext uri="{FF2B5EF4-FFF2-40B4-BE49-F238E27FC236}">
                    <a16:creationId xmlns:a16="http://schemas.microsoft.com/office/drawing/2014/main" id="{134EC192-AD0F-41EF-819B-AB98AE3C054F}"/>
                  </a:ext>
                </a:extLst>
              </p:cNvPr>
              <p:cNvGraphicFramePr>
                <a:graphicFrameLocks noGrp="1"/>
              </p:cNvGraphicFramePr>
              <p:nvPr>
                <p:extLst>
                  <p:ext uri="{D42A27DB-BD31-4B8C-83A1-F6EECF244321}">
                    <p14:modId xmlns:p14="http://schemas.microsoft.com/office/powerpoint/2010/main" val="2655947495"/>
                  </p:ext>
                </p:extLst>
              </p:nvPr>
            </p:nvGraphicFramePr>
            <p:xfrm>
              <a:off x="270627" y="1415985"/>
              <a:ext cx="8822199" cy="4017679"/>
            </p:xfrm>
            <a:graphic>
              <a:graphicData uri="http://schemas.openxmlformats.org/drawingml/2006/table">
                <a:tbl>
                  <a:tblPr firstRow="1" firstCol="1" bandRow="1"/>
                  <a:tblGrid>
                    <a:gridCol w="2646659">
                      <a:extLst>
                        <a:ext uri="{9D8B030D-6E8A-4147-A177-3AD203B41FA5}">
                          <a16:colId xmlns:a16="http://schemas.microsoft.com/office/drawing/2014/main" val="845752366"/>
                        </a:ext>
                      </a:extLst>
                    </a:gridCol>
                    <a:gridCol w="4333497">
                      <a:extLst>
                        <a:ext uri="{9D8B030D-6E8A-4147-A177-3AD203B41FA5}">
                          <a16:colId xmlns:a16="http://schemas.microsoft.com/office/drawing/2014/main" val="553770345"/>
                        </a:ext>
                      </a:extLst>
                    </a:gridCol>
                    <a:gridCol w="1842043">
                      <a:extLst>
                        <a:ext uri="{9D8B030D-6E8A-4147-A177-3AD203B41FA5}">
                          <a16:colId xmlns:a16="http://schemas.microsoft.com/office/drawing/2014/main" val="780668725"/>
                        </a:ext>
                      </a:extLst>
                    </a:gridCol>
                  </a:tblGrid>
                  <a:tr h="710959">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Real-</a:t>
                          </a: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World Context</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Which Question?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Operation</a:t>
                          </a:r>
                          <a:endParaRPr lang="en-US" sz="14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13666373"/>
                      </a:ext>
                    </a:extLst>
                  </a:tr>
                  <a:tr h="3306720">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0" t="-22836" r="-234101" b="-368"/>
                          </a:stretch>
                        </a:blipFill>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was the total cost of sending the letters?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80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For how many letters did Barbara pay the additional weight charge?</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285750" indent="-285750">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What is the difference between the cost of sending a regular letter and one that exceeds the weight allowed?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4648" marR="4464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79801" t="-22836" r="-662" b="-368"/>
                          </a:stretch>
                        </a:blipFill>
                      </a:tcPr>
                    </a:tc>
                    <a:extLst>
                      <a:ext uri="{0D108BD9-81ED-4DB2-BD59-A6C34878D82A}">
                        <a16:rowId xmlns:a16="http://schemas.microsoft.com/office/drawing/2014/main" val="1770313938"/>
                      </a:ext>
                    </a:extLst>
                  </a:tr>
                </a:tbl>
              </a:graphicData>
            </a:graphic>
          </p:graphicFrame>
        </mc:Fallback>
      </mc:AlternateContent>
      <p:sp>
        <p:nvSpPr>
          <p:cNvPr id="6"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58</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46036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2AA35BC6-D428-FC41-BDE5-6438AB8840FC}"/>
              </a:ext>
            </a:extLst>
          </p:cNvPr>
          <p:cNvSpPr txBox="1"/>
          <p:nvPr/>
        </p:nvSpPr>
        <p:spPr>
          <a:xfrm>
            <a:off x="967409" y="410666"/>
            <a:ext cx="10407848" cy="2068195"/>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Use the same four real-world contexts and the operation indicated to find the answer to the question selected in the previous table. Write the numeric expression used to determine the answer. Then, show your work and write the answer using the correct units.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78;g104476d1465_1_17">
            <a:extLst>
              <a:ext uri="{FF2B5EF4-FFF2-40B4-BE49-F238E27FC236}">
                <a16:creationId xmlns="" xmlns:a16="http://schemas.microsoft.com/office/drawing/2014/main" id="{C2F4C951-E46B-E944-87E2-3B81D09643B6}"/>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979E251B-5CC9-4815-B9CA-0671F3871532}"/>
                  </a:ext>
                </a:extLst>
              </p:cNvPr>
              <p:cNvGraphicFramePr>
                <a:graphicFrameLocks noGrp="1"/>
              </p:cNvGraphicFramePr>
              <p:nvPr>
                <p:extLst>
                  <p:ext uri="{D42A27DB-BD31-4B8C-83A1-F6EECF244321}">
                    <p14:modId xmlns:p14="http://schemas.microsoft.com/office/powerpoint/2010/main" val="1312857348"/>
                  </p:ext>
                </p:extLst>
              </p:nvPr>
            </p:nvGraphicFramePr>
            <p:xfrm>
              <a:off x="1795730" y="2724819"/>
              <a:ext cx="8459066" cy="3209240"/>
            </p:xfrm>
            <a:graphic>
              <a:graphicData uri="http://schemas.openxmlformats.org/drawingml/2006/table">
                <a:tbl>
                  <a:tblPr firstRow="1" firstCol="1" bandRow="1"/>
                  <a:tblGrid>
                    <a:gridCol w="3248132">
                      <a:extLst>
                        <a:ext uri="{9D8B030D-6E8A-4147-A177-3AD203B41FA5}">
                          <a16:colId xmlns="" xmlns:a16="http://schemas.microsoft.com/office/drawing/2014/main" val="1915523349"/>
                        </a:ext>
                      </a:extLst>
                    </a:gridCol>
                    <a:gridCol w="1943246">
                      <a:extLst>
                        <a:ext uri="{9D8B030D-6E8A-4147-A177-3AD203B41FA5}">
                          <a16:colId xmlns="" xmlns:a16="http://schemas.microsoft.com/office/drawing/2014/main" val="1572216627"/>
                        </a:ext>
                      </a:extLst>
                    </a:gridCol>
                    <a:gridCol w="3267688">
                      <a:extLst>
                        <a:ext uri="{9D8B030D-6E8A-4147-A177-3AD203B41FA5}">
                          <a16:colId xmlns="" xmlns:a16="http://schemas.microsoft.com/office/drawing/2014/main" val="22678760"/>
                        </a:ext>
                      </a:extLst>
                    </a:gridCol>
                  </a:tblGrid>
                  <a:tr h="704719">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Show Your Work and Answer with Units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74927903"/>
                      </a:ext>
                    </a:extLst>
                  </a:tr>
                  <a:tr h="2504521">
                    <a:tc>
                      <a:txBody>
                        <a:bodyPr/>
                        <a:lstStyle/>
                        <a:p>
                          <a:pPr marL="0" marR="0">
                            <a:lnSpc>
                              <a:spcPct val="107000"/>
                            </a:lnSpc>
                            <a:spcBef>
                              <a:spcPts val="0"/>
                            </a:spcBef>
                            <a:spcAft>
                              <a:spcPts val="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A Valencia orange tree that is 12 years old can produce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1.4</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boxes of oranges. In May 2017, a box of fresh Valencia oranges cost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$20.45</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687512619"/>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979E251B-5CC9-4815-B9CA-0671F3871532}"/>
                  </a:ext>
                </a:extLst>
              </p:cNvPr>
              <p:cNvGraphicFramePr>
                <a:graphicFrameLocks noGrp="1"/>
              </p:cNvGraphicFramePr>
              <p:nvPr>
                <p:extLst>
                  <p:ext uri="{D42A27DB-BD31-4B8C-83A1-F6EECF244321}">
                    <p14:modId xmlns:p14="http://schemas.microsoft.com/office/powerpoint/2010/main" val="1312857348"/>
                  </p:ext>
                </p:extLst>
              </p:nvPr>
            </p:nvGraphicFramePr>
            <p:xfrm>
              <a:off x="1795730" y="2724819"/>
              <a:ext cx="8459066" cy="3209240"/>
            </p:xfrm>
            <a:graphic>
              <a:graphicData uri="http://schemas.openxmlformats.org/drawingml/2006/table">
                <a:tbl>
                  <a:tblPr firstRow="1" firstCol="1" bandRow="1"/>
                  <a:tblGrid>
                    <a:gridCol w="3248132">
                      <a:extLst>
                        <a:ext uri="{9D8B030D-6E8A-4147-A177-3AD203B41FA5}">
                          <a16:colId xmlns:a16="http://schemas.microsoft.com/office/drawing/2014/main" xmlns:a14="http://schemas.microsoft.com/office/drawing/2010/main" xmlns="" val="1915523349"/>
                        </a:ext>
                      </a:extLst>
                    </a:gridCol>
                    <a:gridCol w="1943246">
                      <a:extLst>
                        <a:ext uri="{9D8B030D-6E8A-4147-A177-3AD203B41FA5}">
                          <a16:colId xmlns:a16="http://schemas.microsoft.com/office/drawing/2014/main" xmlns:a14="http://schemas.microsoft.com/office/drawing/2010/main" xmlns="" val="1572216627"/>
                        </a:ext>
                      </a:extLst>
                    </a:gridCol>
                    <a:gridCol w="3267688">
                      <a:extLst>
                        <a:ext uri="{9D8B030D-6E8A-4147-A177-3AD203B41FA5}">
                          <a16:colId xmlns:a16="http://schemas.microsoft.com/office/drawing/2014/main" xmlns:a14="http://schemas.microsoft.com/office/drawing/2010/main" xmlns="" val="22678760"/>
                        </a:ext>
                      </a:extLst>
                    </a:gridCol>
                  </a:tblGrid>
                  <a:tr h="704719">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Show Your Work and Answer with Units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74927903"/>
                      </a:ext>
                    </a:extLst>
                  </a:tr>
                  <a:tr h="2504521">
                    <a:tc>
                      <a:txBody>
                        <a:bodyPr/>
                        <a:lstStyle/>
                        <a:p>
                          <a:endParaRPr lang="en-US"/>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l="-188" t="-30000" r="-160413" b="-244"/>
                          </a:stretch>
                        </a:blipFill>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687512619"/>
                      </a:ext>
                    </a:extLst>
                  </a:tr>
                </a:tbl>
              </a:graphicData>
            </a:graphic>
          </p:graphicFrame>
        </mc:Fallback>
      </mc:AlternateContent>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89346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 xmlns:a16="http://schemas.microsoft.com/office/drawing/2014/main" id="{C2F4C951-E46B-E944-87E2-3B81D09643B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76C11900-21F0-4E54-9584-4F74AAC26EF8}"/>
                  </a:ext>
                </a:extLst>
              </p:cNvPr>
              <p:cNvGraphicFramePr>
                <a:graphicFrameLocks noGrp="1"/>
              </p:cNvGraphicFramePr>
              <p:nvPr>
                <p:extLst>
                  <p:ext uri="{D42A27DB-BD31-4B8C-83A1-F6EECF244321}">
                    <p14:modId xmlns:p14="http://schemas.microsoft.com/office/powerpoint/2010/main" val="3950978858"/>
                  </p:ext>
                </p:extLst>
              </p:nvPr>
            </p:nvGraphicFramePr>
            <p:xfrm>
              <a:off x="1816609" y="344237"/>
              <a:ext cx="8558783" cy="5690803"/>
            </p:xfrm>
            <a:graphic>
              <a:graphicData uri="http://schemas.openxmlformats.org/drawingml/2006/table">
                <a:tbl>
                  <a:tblPr firstRow="1" firstCol="1" bandRow="1"/>
                  <a:tblGrid>
                    <a:gridCol w="3286421">
                      <a:extLst>
                        <a:ext uri="{9D8B030D-6E8A-4147-A177-3AD203B41FA5}">
                          <a16:colId xmlns="" xmlns:a16="http://schemas.microsoft.com/office/drawing/2014/main" val="776584428"/>
                        </a:ext>
                      </a:extLst>
                    </a:gridCol>
                    <a:gridCol w="1966154">
                      <a:extLst>
                        <a:ext uri="{9D8B030D-6E8A-4147-A177-3AD203B41FA5}">
                          <a16:colId xmlns="" xmlns:a16="http://schemas.microsoft.com/office/drawing/2014/main" val="934197639"/>
                        </a:ext>
                      </a:extLst>
                    </a:gridCol>
                    <a:gridCol w="3306208">
                      <a:extLst>
                        <a:ext uri="{9D8B030D-6E8A-4147-A177-3AD203B41FA5}">
                          <a16:colId xmlns="" xmlns:a16="http://schemas.microsoft.com/office/drawing/2014/main" val="1052268236"/>
                        </a:ext>
                      </a:extLst>
                    </a:gridCol>
                  </a:tblGrid>
                  <a:tr h="676916">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Show Your Work and Answer with Units</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1159375215"/>
                      </a:ext>
                    </a:extLst>
                  </a:tr>
                  <a:tr h="2226291">
                    <a:tc>
                      <a:txBody>
                        <a:bodyPr/>
                        <a:lstStyle/>
                        <a:p>
                          <a:pPr marL="0" marR="0">
                            <a:lnSpc>
                              <a:spcPct val="107000"/>
                            </a:lnSpc>
                            <a:spcBef>
                              <a:spcPts val="0"/>
                            </a:spcBef>
                            <a:spcAft>
                              <a:spcPts val="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In 2016, there were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19.3</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million Snapchat users in the age range of 18-24 and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16.7</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million users in the age range of 25-34.</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576502704"/>
                      </a:ext>
                    </a:extLst>
                  </a:tr>
                  <a:tr h="2787596">
                    <a:tc>
                      <a:txBody>
                        <a:bodyPr/>
                        <a:lstStyle/>
                        <a:p>
                          <a:pPr marL="0" marR="0">
                            <a:lnSpc>
                              <a:spcPct val="107000"/>
                            </a:lnSpc>
                            <a:spcBef>
                              <a:spcPts val="0"/>
                            </a:spcBef>
                            <a:spcAft>
                              <a:spcPts val="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In 2004, each person in the United States consumed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61.5</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pounds of refined sugar on average. In 2008, the average consumed per person was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66.3</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pounds of refined sugar.  </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a:effectLst/>
                              <a:latin typeface="Verdana" panose="020B0604030504040204" pitchFamily="34" charset="0"/>
                              <a:ea typeface="Verdana" panose="020B0604030504040204" pitchFamily="34" charset="0"/>
                              <a:cs typeface="Verdana" panose="020B0604030504040204" pitchFamily="34" charset="0"/>
                            </a:rPr>
                            <a:t> </a:t>
                          </a:r>
                          <a:endParaRPr lang="en-US" sz="500" i="1">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52507945"/>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76C11900-21F0-4E54-9584-4F74AAC26EF8}"/>
                  </a:ext>
                </a:extLst>
              </p:cNvPr>
              <p:cNvGraphicFramePr>
                <a:graphicFrameLocks noGrp="1"/>
              </p:cNvGraphicFramePr>
              <p:nvPr>
                <p:extLst>
                  <p:ext uri="{D42A27DB-BD31-4B8C-83A1-F6EECF244321}">
                    <p14:modId xmlns:p14="http://schemas.microsoft.com/office/powerpoint/2010/main" val="3950978858"/>
                  </p:ext>
                </p:extLst>
              </p:nvPr>
            </p:nvGraphicFramePr>
            <p:xfrm>
              <a:off x="1816609" y="344237"/>
              <a:ext cx="8558783" cy="5690803"/>
            </p:xfrm>
            <a:graphic>
              <a:graphicData uri="http://schemas.openxmlformats.org/drawingml/2006/table">
                <a:tbl>
                  <a:tblPr firstRow="1" firstCol="1" bandRow="1"/>
                  <a:tblGrid>
                    <a:gridCol w="3286421">
                      <a:extLst>
                        <a:ext uri="{9D8B030D-6E8A-4147-A177-3AD203B41FA5}">
                          <a16:colId xmlns:a16="http://schemas.microsoft.com/office/drawing/2014/main" xmlns:a14="http://schemas.microsoft.com/office/drawing/2010/main" xmlns="" val="776584428"/>
                        </a:ext>
                      </a:extLst>
                    </a:gridCol>
                    <a:gridCol w="1966154">
                      <a:extLst>
                        <a:ext uri="{9D8B030D-6E8A-4147-A177-3AD203B41FA5}">
                          <a16:colId xmlns:a16="http://schemas.microsoft.com/office/drawing/2014/main" xmlns:a14="http://schemas.microsoft.com/office/drawing/2010/main" xmlns="" val="934197639"/>
                        </a:ext>
                      </a:extLst>
                    </a:gridCol>
                    <a:gridCol w="3306208">
                      <a:extLst>
                        <a:ext uri="{9D8B030D-6E8A-4147-A177-3AD203B41FA5}">
                          <a16:colId xmlns:a16="http://schemas.microsoft.com/office/drawing/2014/main" xmlns:a14="http://schemas.microsoft.com/office/drawing/2010/main" xmlns="" val="1052268236"/>
                        </a:ext>
                      </a:extLst>
                    </a:gridCol>
                  </a:tblGrid>
                  <a:tr h="676916">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Show Your Work and Answer with Units</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159375215"/>
                      </a:ext>
                    </a:extLst>
                  </a:tr>
                  <a:tr h="2226291">
                    <a:tc>
                      <a:txBody>
                        <a:bodyPr/>
                        <a:lstStyle/>
                        <a:p>
                          <a:endParaRPr lang="en-US"/>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t="-32877" r="-160482" b="-127397"/>
                          </a:stretch>
                        </a:blipFill>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76502704"/>
                      </a:ext>
                    </a:extLst>
                  </a:tr>
                  <a:tr h="2787596">
                    <a:tc>
                      <a:txBody>
                        <a:bodyPr/>
                        <a:lstStyle/>
                        <a:p>
                          <a:endParaRPr lang="en-US"/>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t="-105895" r="-160482" b="-1528"/>
                          </a:stretch>
                        </a:blipFill>
                      </a:tcPr>
                    </a:tc>
                    <a:tc>
                      <a:txBody>
                        <a:bodyPr/>
                        <a:lstStyle/>
                        <a:p>
                          <a:pPr marL="0" marR="0">
                            <a:lnSpc>
                              <a:spcPct val="107000"/>
                            </a:lnSpc>
                            <a:spcBef>
                              <a:spcPts val="0"/>
                            </a:spcBef>
                            <a:spcAft>
                              <a:spcPts val="0"/>
                            </a:spcAft>
                          </a:pPr>
                          <a:r>
                            <a:rPr lang="en-US" sz="600" i="0">
                              <a:effectLst/>
                              <a:latin typeface="Verdana" panose="020B0604030504040204" pitchFamily="34" charset="0"/>
                              <a:ea typeface="Verdana" panose="020B0604030504040204" pitchFamily="34" charset="0"/>
                              <a:cs typeface="Verdana" panose="020B0604030504040204" pitchFamily="34" charset="0"/>
                            </a:rPr>
                            <a:t> </a:t>
                          </a:r>
                          <a:endParaRPr lang="en-US" sz="500" i="1">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152507945"/>
                      </a:ext>
                    </a:extLst>
                  </a:tr>
                </a:tbl>
              </a:graphicData>
            </a:graphic>
          </p:graphicFrame>
        </mc:Fallback>
      </mc:AlternateContent>
      <p:sp>
        <p:nvSpPr>
          <p:cNvPr id="6"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33158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 xmlns:a16="http://schemas.microsoft.com/office/drawing/2014/main" id="{C2F4C951-E46B-E944-87E2-3B81D09643B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76C11900-21F0-4E54-9584-4F74AAC26EF8}"/>
                  </a:ext>
                </a:extLst>
              </p:cNvPr>
              <p:cNvGraphicFramePr>
                <a:graphicFrameLocks noGrp="1"/>
              </p:cNvGraphicFramePr>
              <p:nvPr>
                <p:extLst>
                  <p:ext uri="{D42A27DB-BD31-4B8C-83A1-F6EECF244321}">
                    <p14:modId xmlns:p14="http://schemas.microsoft.com/office/powerpoint/2010/main" val="493474697"/>
                  </p:ext>
                </p:extLst>
              </p:nvPr>
            </p:nvGraphicFramePr>
            <p:xfrm>
              <a:off x="1816609" y="1329231"/>
              <a:ext cx="8558783" cy="4191188"/>
            </p:xfrm>
            <a:graphic>
              <a:graphicData uri="http://schemas.openxmlformats.org/drawingml/2006/table">
                <a:tbl>
                  <a:tblPr firstRow="1" firstCol="1" bandRow="1"/>
                  <a:tblGrid>
                    <a:gridCol w="3286421">
                      <a:extLst>
                        <a:ext uri="{9D8B030D-6E8A-4147-A177-3AD203B41FA5}">
                          <a16:colId xmlns="" xmlns:a16="http://schemas.microsoft.com/office/drawing/2014/main" val="776584428"/>
                        </a:ext>
                      </a:extLst>
                    </a:gridCol>
                    <a:gridCol w="1966154">
                      <a:extLst>
                        <a:ext uri="{9D8B030D-6E8A-4147-A177-3AD203B41FA5}">
                          <a16:colId xmlns="" xmlns:a16="http://schemas.microsoft.com/office/drawing/2014/main" val="934197639"/>
                        </a:ext>
                      </a:extLst>
                    </a:gridCol>
                    <a:gridCol w="3306208">
                      <a:extLst>
                        <a:ext uri="{9D8B030D-6E8A-4147-A177-3AD203B41FA5}">
                          <a16:colId xmlns="" xmlns:a16="http://schemas.microsoft.com/office/drawing/2014/main" val="1052268236"/>
                        </a:ext>
                      </a:extLst>
                    </a:gridCol>
                  </a:tblGrid>
                  <a:tr h="849017">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Show Your Work and Answer with Units</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1159375215"/>
                      </a:ext>
                    </a:extLst>
                  </a:tr>
                  <a:tr h="3342171">
                    <a:tc>
                      <a:txBody>
                        <a:bodyPr/>
                        <a:lstStyle/>
                        <a:p>
                          <a:pPr marL="0" marR="0">
                            <a:lnSpc>
                              <a:spcPct val="107000"/>
                            </a:lnSpc>
                            <a:spcBef>
                              <a:spcPts val="0"/>
                            </a:spcBef>
                            <a:spcAft>
                              <a:spcPts val="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Barbara sent letters that exceeded the allowed weight by the U.S. Postal Service. To mail the letters, she had to add a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$0.15</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stamp to each letter. She spent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$2.55</m:t>
                              </m:r>
                            </m:oMath>
                          </a14:m>
                          <a:r>
                            <a:rPr lang="en-US" sz="2000" i="0" dirty="0">
                              <a:effectLst/>
                              <a:latin typeface="Verdana" panose="020B0604030504040204" pitchFamily="34" charset="0"/>
                              <a:ea typeface="Verdana" panose="020B0604030504040204" pitchFamily="34" charset="0"/>
                              <a:cs typeface="Verdana" panose="020B0604030504040204" pitchFamily="34" charset="0"/>
                            </a:rPr>
                            <a:t> in additional weight charges.</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a:effectLst/>
                              <a:latin typeface="Verdana" panose="020B0604030504040204" pitchFamily="34" charset="0"/>
                              <a:ea typeface="Verdana" panose="020B0604030504040204" pitchFamily="34" charset="0"/>
                              <a:cs typeface="Verdana" panose="020B0604030504040204" pitchFamily="34" charset="0"/>
                            </a:rPr>
                            <a:t> </a:t>
                          </a:r>
                          <a:endParaRPr lang="en-US" sz="500" i="1">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98801933"/>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76C11900-21F0-4E54-9584-4F74AAC26EF8}"/>
                  </a:ext>
                </a:extLst>
              </p:cNvPr>
              <p:cNvGraphicFramePr>
                <a:graphicFrameLocks noGrp="1"/>
              </p:cNvGraphicFramePr>
              <p:nvPr>
                <p:extLst>
                  <p:ext uri="{D42A27DB-BD31-4B8C-83A1-F6EECF244321}">
                    <p14:modId xmlns:p14="http://schemas.microsoft.com/office/powerpoint/2010/main" val="493474697"/>
                  </p:ext>
                </p:extLst>
              </p:nvPr>
            </p:nvGraphicFramePr>
            <p:xfrm>
              <a:off x="1816609" y="1329231"/>
              <a:ext cx="8558783" cy="4191188"/>
            </p:xfrm>
            <a:graphic>
              <a:graphicData uri="http://schemas.openxmlformats.org/drawingml/2006/table">
                <a:tbl>
                  <a:tblPr firstRow="1" firstCol="1" bandRow="1"/>
                  <a:tblGrid>
                    <a:gridCol w="3286421">
                      <a:extLst>
                        <a:ext uri="{9D8B030D-6E8A-4147-A177-3AD203B41FA5}">
                          <a16:colId xmlns:a16="http://schemas.microsoft.com/office/drawing/2014/main" xmlns:a14="http://schemas.microsoft.com/office/drawing/2010/main" xmlns="" val="776584428"/>
                        </a:ext>
                      </a:extLst>
                    </a:gridCol>
                    <a:gridCol w="1966154">
                      <a:extLst>
                        <a:ext uri="{9D8B030D-6E8A-4147-A177-3AD203B41FA5}">
                          <a16:colId xmlns:a16="http://schemas.microsoft.com/office/drawing/2014/main" xmlns:a14="http://schemas.microsoft.com/office/drawing/2010/main" xmlns="" val="934197639"/>
                        </a:ext>
                      </a:extLst>
                    </a:gridCol>
                    <a:gridCol w="3306208">
                      <a:extLst>
                        <a:ext uri="{9D8B030D-6E8A-4147-A177-3AD203B41FA5}">
                          <a16:colId xmlns:a16="http://schemas.microsoft.com/office/drawing/2014/main" xmlns:a14="http://schemas.microsoft.com/office/drawing/2010/main" xmlns="" val="1052268236"/>
                        </a:ext>
                      </a:extLst>
                    </a:gridCol>
                  </a:tblGrid>
                  <a:tr h="849017">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Information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 </a:t>
                          </a: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Show Your Work and Answer with Units</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159375215"/>
                      </a:ext>
                    </a:extLst>
                  </a:tr>
                  <a:tr h="3342171">
                    <a:tc>
                      <a:txBody>
                        <a:bodyPr/>
                        <a:lstStyle/>
                        <a:p>
                          <a:endParaRPr lang="en-US"/>
                        </a:p>
                      </a:txBody>
                      <a:tcPr marL="21935" marR="219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t="-25319" r="-160482"/>
                          </a:stretch>
                        </a:blipFill>
                      </a:tcPr>
                    </a:tc>
                    <a:tc>
                      <a:txBody>
                        <a:bodyPr/>
                        <a:lstStyle/>
                        <a:p>
                          <a:pPr marL="0" marR="0">
                            <a:lnSpc>
                              <a:spcPct val="107000"/>
                            </a:lnSpc>
                            <a:spcBef>
                              <a:spcPts val="0"/>
                            </a:spcBef>
                            <a:spcAft>
                              <a:spcPts val="0"/>
                            </a:spcAft>
                          </a:pPr>
                          <a:r>
                            <a:rPr lang="en-US" sz="600" i="0">
                              <a:effectLst/>
                              <a:latin typeface="Verdana" panose="020B0604030504040204" pitchFamily="34" charset="0"/>
                              <a:ea typeface="Verdana" panose="020B0604030504040204" pitchFamily="34" charset="0"/>
                              <a:cs typeface="Verdana" panose="020B0604030504040204" pitchFamily="34" charset="0"/>
                            </a:rPr>
                            <a:t> </a:t>
                          </a:r>
                          <a:endParaRPr lang="en-US" sz="500" i="1">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600" i="0" dirty="0">
                              <a:effectLst/>
                              <a:latin typeface="Verdana" panose="020B0604030504040204" pitchFamily="34" charset="0"/>
                              <a:ea typeface="Verdana" panose="020B0604030504040204" pitchFamily="34" charset="0"/>
                              <a:cs typeface="Verdana" panose="020B0604030504040204" pitchFamily="34" charset="0"/>
                            </a:rPr>
                            <a:t> </a:t>
                          </a:r>
                          <a:endParaRPr lang="en-US" sz="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21935" marR="219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798801933"/>
                      </a:ext>
                    </a:extLst>
                  </a:tr>
                </a:tbl>
              </a:graphicData>
            </a:graphic>
          </p:graphicFrame>
        </mc:Fallback>
      </mc:AlternateContent>
      <p:sp>
        <p:nvSpPr>
          <p:cNvPr id="6"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59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37541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369548" y="-4441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2.4.4 Wrap-Up: Reflection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3">
            <a:alphaModFix/>
          </a:blip>
          <a:srcRect/>
          <a:stretch/>
        </p:blipFill>
        <p:spPr>
          <a:xfrm>
            <a:off x="540098" y="17799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0370EDB7-6994-3D43-ABF9-E04CBAFB9CD9}"/>
                  </a:ext>
                </a:extLst>
              </p:cNvPr>
              <p:cNvSpPr txBox="1"/>
              <p:nvPr/>
            </p:nvSpPr>
            <p:spPr>
              <a:xfrm>
                <a:off x="1287398" y="1017243"/>
                <a:ext cx="9804672" cy="4815164"/>
              </a:xfrm>
              <a:prstGeom prst="rect">
                <a:avLst/>
              </a:prstGeom>
              <a:noFill/>
            </p:spPr>
            <p:txBody>
              <a:bodyPr wrap="square" rtlCol="0">
                <a:spAutoFit/>
              </a:bodyPr>
              <a:lstStyle/>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Mathematics is most useful in the real world. Determine the operation(s) needed to find the answer to each question. Then, mark how confident you are in your choice of operation(s) to be used. </a:t>
                </a:r>
              </a:p>
              <a:p>
                <a:pPr>
                  <a:lnSpc>
                    <a:spcPct val="107000"/>
                  </a:lnSpc>
                </a:pPr>
                <a:endParaRPr lang="en-US" sz="24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r>
                  <a:rPr lang="en-US" sz="2000" dirty="0">
                    <a:latin typeface="Verdana" panose="020B0604030504040204" pitchFamily="34" charset="0"/>
                    <a:ea typeface="Cambria Math" panose="02040503050406030204" pitchFamily="18" charset="0"/>
                    <a:cs typeface="Cambria Math" panose="02040503050406030204" pitchFamily="18" charset="0"/>
                  </a:rPr>
                  <a:t>Fitzgerald is selling chocolate bars to raise money for a trip. He has to sell a total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m:t>
                    </m:r>
                  </m:oMath>
                </a14:m>
                <a:r>
                  <a:rPr lang="en-US" sz="2000" dirty="0">
                    <a:latin typeface="Verdana" panose="020B0604030504040204" pitchFamily="34" charset="0"/>
                    <a:ea typeface="Cambria Math" panose="02040503050406030204" pitchFamily="18" charset="0"/>
                    <a:cs typeface="Cambria Math" panose="02040503050406030204" pitchFamily="18" charset="0"/>
                  </a:rPr>
                  <a:t> boxes. The first day, he sold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m:t>
                    </m:r>
                    <m:f>
                      <m:fPr>
                        <m:ctrlPr>
                          <a:rPr lang="en-US" sz="2000" i="1">
                            <a:latin typeface="Cambria Math"/>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3</m:t>
                        </m:r>
                      </m:num>
                      <m:den>
                        <m:r>
                          <a:rPr lang="en-US" sz="2000" i="1">
                            <a:latin typeface="Cambria Math" panose="02040503050406030204" pitchFamily="18" charset="0"/>
                            <a:ea typeface="Cambria Math" panose="02040503050406030204" pitchFamily="18" charset="0"/>
                            <a:cs typeface="Cambria Math" panose="02040503050406030204" pitchFamily="18" charset="0"/>
                          </a:rPr>
                          <m:t>4</m:t>
                        </m:r>
                      </m:den>
                    </m:f>
                  </m:oMath>
                </a14:m>
                <a:r>
                  <a:rPr lang="en-US" sz="2000" dirty="0">
                    <a:latin typeface="Verdana" panose="020B0604030504040204" pitchFamily="34" charset="0"/>
                    <a:ea typeface="Cambria Math" panose="02040503050406030204" pitchFamily="18" charset="0"/>
                    <a:cs typeface="Cambria Math" panose="02040503050406030204" pitchFamily="18" charset="0"/>
                  </a:rPr>
                  <a:t> boxes. How many more boxes does he have to sell?</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indent="457200">
                  <a:lnSpc>
                    <a:spcPct val="107000"/>
                  </a:lnSpc>
                </a:pPr>
                <a:r>
                  <a:rPr lang="en-US" sz="2000" dirty="0">
                    <a:latin typeface="Verdana" panose="020B0604030504040204" pitchFamily="34" charset="0"/>
                    <a:ea typeface="Cambria Math" panose="02040503050406030204" pitchFamily="18" charset="0"/>
                    <a:cs typeface="Cambria Math" panose="02040503050406030204" pitchFamily="18"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indent="457200">
                  <a:lnSpc>
                    <a:spcPct val="107000"/>
                  </a:lnSpc>
                </a:pPr>
                <a:r>
                  <a:rPr lang="en-US" sz="2000" dirty="0">
                    <a:latin typeface="Verdana" panose="020B0604030504040204" pitchFamily="34" charset="0"/>
                    <a:ea typeface="Cambria Math" panose="02040503050406030204" pitchFamily="18" charset="0"/>
                    <a:cs typeface="Cambria Math" panose="02040503050406030204" pitchFamily="18" charset="0"/>
                  </a:rPr>
                  <a:t>The operation(s) that should be used is/are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Cambria Math" panose="02040503050406030204" pitchFamily="18" charset="0"/>
                    <a:cs typeface="Cambria Math" panose="02040503050406030204" pitchFamily="18"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Cambria Math" panose="02040503050406030204" pitchFamily="18" charset="0"/>
                    <a:cs typeface="Cambria Math" panose="02040503050406030204" pitchFamily="18" charset="0"/>
                  </a:rPr>
                  <a:t>_________________.</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287398" y="1017243"/>
                <a:ext cx="9804672" cy="4815164"/>
              </a:xfrm>
              <a:prstGeom prst="rect">
                <a:avLst/>
              </a:prstGeom>
              <a:blipFill rotWithShape="0">
                <a:blip r:embed="rId4"/>
                <a:stretch>
                  <a:fillRect l="-932" t="-1266"/>
                </a:stretch>
              </a:blipFill>
            </p:spPr>
            <p:txBody>
              <a:bodyPr/>
              <a:lstStyle/>
              <a:p>
                <a:r>
                  <a:rPr lang="en-US">
                    <a:noFill/>
                  </a:rPr>
                  <a:t> </a:t>
                </a:r>
              </a:p>
            </p:txBody>
          </p:sp>
        </mc:Fallback>
      </mc:AlternateContent>
      <p:sp>
        <p:nvSpPr>
          <p:cNvPr id="10" name="Google Shape;278;g104476d1465_1_17">
            <a:extLst>
              <a:ext uri="{FF2B5EF4-FFF2-40B4-BE49-F238E27FC236}">
                <a16:creationId xmlns="" xmlns:a16="http://schemas.microsoft.com/office/drawing/2014/main" id="{69767437-9B0B-9D43-A596-1373A90D9FE8}"/>
              </a:ext>
            </a:extLst>
          </p:cNvPr>
          <p:cNvSpPr/>
          <p:nvPr/>
        </p:nvSpPr>
        <p:spPr>
          <a:xfrm>
            <a:off x="-17994"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9223" name="Picture 57" descr="Icon&#10;&#10;Description automatically generated">
            <a:extLst>
              <a:ext uri="{FF2B5EF4-FFF2-40B4-BE49-F238E27FC236}">
                <a16:creationId xmlns="" xmlns:a16="http://schemas.microsoft.com/office/drawing/2014/main" id="{C7CEA533-2430-4CED-9650-2EB715DA46FF}"/>
              </a:ext>
            </a:extLst>
          </p:cNvPr>
          <p:cNvPicPr>
            <a:picLocks noChangeAspect="1" noChangeArrowheads="1"/>
          </p:cNvPicPr>
          <p:nvPr/>
        </p:nvPicPr>
        <p:blipFill>
          <a:blip r:embed="rId5" r:link="rId6" cstate="screen">
            <a:extLst>
              <a:ext uri="{28A0092B-C50C-407E-A947-70E740481C1C}">
                <a14:useLocalDpi xmlns:a14="http://schemas.microsoft.com/office/drawing/2010/main"/>
              </a:ext>
            </a:extLst>
          </a:blip>
          <a:srcRect/>
          <a:stretch>
            <a:fillRect/>
          </a:stretch>
        </p:blipFill>
        <p:spPr bwMode="auto">
          <a:xfrm>
            <a:off x="2414515" y="5562778"/>
            <a:ext cx="763385" cy="76338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2" descr="Icon&#10;&#10;Description automatically generated">
            <a:extLst>
              <a:ext uri="{FF2B5EF4-FFF2-40B4-BE49-F238E27FC236}">
                <a16:creationId xmlns="" xmlns:a16="http://schemas.microsoft.com/office/drawing/2014/main" id="{D6899170-B4A5-4F30-8DE4-1CB94DE09B20}"/>
              </a:ext>
            </a:extLst>
          </p:cNvPr>
          <p:cNvPicPr>
            <a:picLocks noChangeAspect="1" noChangeArrowheads="1"/>
          </p:cNvPicPr>
          <p:nvPr/>
        </p:nvPicPr>
        <p:blipFill>
          <a:blip r:embed="rId7" r:link="rId8" cstate="screen">
            <a:extLst>
              <a:ext uri="{28A0092B-C50C-407E-A947-70E740481C1C}">
                <a14:useLocalDpi xmlns:a14="http://schemas.microsoft.com/office/drawing/2010/main"/>
              </a:ext>
            </a:extLst>
          </a:blip>
          <a:srcRect/>
          <a:stretch>
            <a:fillRect/>
          </a:stretch>
        </p:blipFill>
        <p:spPr bwMode="auto">
          <a:xfrm>
            <a:off x="3382303" y="5575109"/>
            <a:ext cx="763385" cy="763385"/>
          </a:xfrm>
          <a:prstGeom prst="rect">
            <a:avLst/>
          </a:prstGeom>
          <a:noFill/>
          <a:extLst>
            <a:ext uri="{909E8E84-426E-40DD-AFC4-6F175D3DCCD1}">
              <a14:hiddenFill xmlns:a14="http://schemas.microsoft.com/office/drawing/2010/main">
                <a:solidFill>
                  <a:srgbClr val="FFFFFF"/>
                </a:solidFill>
              </a14:hiddenFill>
            </a:ext>
          </a:extLst>
        </p:spPr>
      </p:pic>
      <p:pic>
        <p:nvPicPr>
          <p:cNvPr id="9221" name="Picture 61" descr="Icon&#10;&#10;Description automatically generated">
            <a:extLst>
              <a:ext uri="{FF2B5EF4-FFF2-40B4-BE49-F238E27FC236}">
                <a16:creationId xmlns="" xmlns:a16="http://schemas.microsoft.com/office/drawing/2014/main" id="{2A0A61D3-295F-40CF-8592-1DFB20D73667}"/>
              </a:ext>
            </a:extLst>
          </p:cNvPr>
          <p:cNvPicPr>
            <a:picLocks noChangeAspect="1" noChangeArrowheads="1"/>
          </p:cNvPicPr>
          <p:nvPr/>
        </p:nvPicPr>
        <p:blipFill>
          <a:blip r:embed="rId9" r:link="rId10" cstate="screen">
            <a:extLst>
              <a:ext uri="{28A0092B-C50C-407E-A947-70E740481C1C}">
                <a14:useLocalDpi xmlns:a14="http://schemas.microsoft.com/office/drawing/2010/main"/>
              </a:ext>
            </a:extLst>
          </a:blip>
          <a:srcRect/>
          <a:stretch>
            <a:fillRect/>
          </a:stretch>
        </p:blipFill>
        <p:spPr bwMode="auto">
          <a:xfrm>
            <a:off x="4350091" y="5562778"/>
            <a:ext cx="763385" cy="76338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60" descr="Icon&#10;&#10;Description automatically generated">
            <a:extLst>
              <a:ext uri="{FF2B5EF4-FFF2-40B4-BE49-F238E27FC236}">
                <a16:creationId xmlns="" xmlns:a16="http://schemas.microsoft.com/office/drawing/2014/main" id="{9CF07218-F66F-4759-8FC6-EA3801C1CBC7}"/>
              </a:ext>
            </a:extLst>
          </p:cNvPr>
          <p:cNvPicPr>
            <a:picLocks noChangeAspect="1" noChangeArrowheads="1"/>
          </p:cNvPicPr>
          <p:nvPr/>
        </p:nvPicPr>
        <p:blipFill>
          <a:blip r:embed="rId11" r:link="rId12" cstate="screen">
            <a:extLst>
              <a:ext uri="{28A0092B-C50C-407E-A947-70E740481C1C}">
                <a14:useLocalDpi xmlns:a14="http://schemas.microsoft.com/office/drawing/2010/main"/>
              </a:ext>
            </a:extLst>
          </a:blip>
          <a:srcRect/>
          <a:stretch>
            <a:fillRect/>
          </a:stretch>
        </p:blipFill>
        <p:spPr bwMode="auto">
          <a:xfrm>
            <a:off x="5317879" y="5562778"/>
            <a:ext cx="763385" cy="763385"/>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59" descr="Icon&#10;&#10;Description automatically generated">
            <a:extLst>
              <a:ext uri="{FF2B5EF4-FFF2-40B4-BE49-F238E27FC236}">
                <a16:creationId xmlns="" xmlns:a16="http://schemas.microsoft.com/office/drawing/2014/main" id="{405EBADD-B317-4401-A5A4-CAFFBE81F3D6}"/>
              </a:ext>
            </a:extLst>
          </p:cNvPr>
          <p:cNvPicPr>
            <a:picLocks noChangeAspect="1" noChangeArrowheads="1"/>
          </p:cNvPicPr>
          <p:nvPr/>
        </p:nvPicPr>
        <p:blipFill>
          <a:blip r:embed="rId13" r:link="rId14" cstate="screen">
            <a:extLst>
              <a:ext uri="{28A0092B-C50C-407E-A947-70E740481C1C}">
                <a14:useLocalDpi xmlns:a14="http://schemas.microsoft.com/office/drawing/2010/main"/>
              </a:ext>
            </a:extLst>
          </a:blip>
          <a:srcRect/>
          <a:stretch>
            <a:fillRect/>
          </a:stretch>
        </p:blipFill>
        <p:spPr bwMode="auto">
          <a:xfrm>
            <a:off x="6285667" y="5562777"/>
            <a:ext cx="763385" cy="763385"/>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58" descr="Icon&#10;&#10;Description automatically generated">
            <a:extLst>
              <a:ext uri="{FF2B5EF4-FFF2-40B4-BE49-F238E27FC236}">
                <a16:creationId xmlns="" xmlns:a16="http://schemas.microsoft.com/office/drawing/2014/main" id="{AA8FA45C-B61F-4A84-A4C1-2279821E64BE}"/>
              </a:ext>
            </a:extLst>
          </p:cNvPr>
          <p:cNvPicPr>
            <a:picLocks noChangeAspect="1" noChangeArrowheads="1"/>
          </p:cNvPicPr>
          <p:nvPr/>
        </p:nvPicPr>
        <p:blipFill>
          <a:blip r:embed="rId15" r:link="rId16" cstate="screen">
            <a:extLst>
              <a:ext uri="{28A0092B-C50C-407E-A947-70E740481C1C}">
                <a14:useLocalDpi xmlns:a14="http://schemas.microsoft.com/office/drawing/2010/main"/>
              </a:ext>
            </a:extLst>
          </a:blip>
          <a:srcRect/>
          <a:stretch>
            <a:fillRect/>
          </a:stretch>
        </p:blipFill>
        <p:spPr bwMode="auto">
          <a:xfrm>
            <a:off x="7250607" y="5562776"/>
            <a:ext cx="763385" cy="763385"/>
          </a:xfrm>
          <a:prstGeom prst="rect">
            <a:avLst/>
          </a:prstGeom>
          <a:noFill/>
          <a:extLst>
            <a:ext uri="{909E8E84-426E-40DD-AFC4-6F175D3DCCD1}">
              <a14:hiddenFill xmlns:a14="http://schemas.microsoft.com/office/drawing/2010/main">
                <a:solidFill>
                  <a:srgbClr val="FFFFFF"/>
                </a:solidFill>
              </a14:hiddenFill>
            </a:ext>
          </a:extLst>
        </p:spPr>
      </p:pic>
      <p:pic>
        <p:nvPicPr>
          <p:cNvPr id="9217" name="Picture 55" descr="Chart&#10;&#10;Description automatically generated">
            <a:extLst>
              <a:ext uri="{FF2B5EF4-FFF2-40B4-BE49-F238E27FC236}">
                <a16:creationId xmlns="" xmlns:a16="http://schemas.microsoft.com/office/drawing/2014/main" id="{794B0A7F-84F6-487D-8EA4-13E35984B6F3}"/>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t="46062" b="42612"/>
          <a:stretch>
            <a:fillRect/>
          </a:stretch>
        </p:blipFill>
        <p:spPr bwMode="auto">
          <a:xfrm>
            <a:off x="2536751" y="6450556"/>
            <a:ext cx="5431162" cy="405548"/>
          </a:xfrm>
          <a:prstGeom prst="rect">
            <a:avLst/>
          </a:prstGeom>
          <a:noFill/>
          <a:extLst>
            <a:ext uri="{909E8E84-426E-40DD-AFC4-6F175D3DCCD1}">
              <a14:hiddenFill xmlns:a14="http://schemas.microsoft.com/office/drawing/2010/main">
                <a:solidFill>
                  <a:srgbClr val="FFFFFF"/>
                </a:solidFill>
              </a14:hiddenFill>
            </a:ext>
          </a:extLst>
        </p:spPr>
      </p:pic>
      <p:sp>
        <p:nvSpPr>
          <p:cNvPr id="15"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60</a:t>
            </a:r>
            <a:endParaRPr i="1" dirty="0">
              <a:latin typeface="Calibri"/>
              <a:ea typeface="Calibri"/>
              <a:cs typeface="Calibri"/>
              <a:sym typeface="Calibri"/>
            </a:endParaRPr>
          </a:p>
        </p:txBody>
      </p:sp>
      <p:pic>
        <p:nvPicPr>
          <p:cNvPr id="16" name="Google Shape;283;g104476d1465_1_17"/>
          <p:cNvPicPr preferRelativeResize="0"/>
          <p:nvPr/>
        </p:nvPicPr>
        <p:blipFill>
          <a:blip r:embed="rId18"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4CE9D117-FAE6-F74F-940B-9CD1479755BE}"/>
                  </a:ext>
                </a:extLst>
              </p:cNvPr>
              <p:cNvSpPr txBox="1"/>
              <p:nvPr/>
            </p:nvSpPr>
            <p:spPr>
              <a:xfrm>
                <a:off x="1232452" y="422858"/>
                <a:ext cx="9727096" cy="3618939"/>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panose="020B0604030504040204" pitchFamily="34" charset="0"/>
                    <a:ea typeface="Cambria Math" panose="02040503050406030204" pitchFamily="18" charset="0"/>
                    <a:cs typeface="Cambria Math" panose="02040503050406030204" pitchFamily="18" charset="0"/>
                  </a:rPr>
                  <a:t>Ginger is buying new carpet for her living room. The carpet costs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$56.81</m:t>
                    </m:r>
                  </m:oMath>
                </a14:m>
                <a:r>
                  <a:rPr lang="en-US" sz="2400" dirty="0">
                    <a:latin typeface="Verdana" panose="020B0604030504040204" pitchFamily="34" charset="0"/>
                    <a:ea typeface="Cambria Math" panose="02040503050406030204" pitchFamily="18" charset="0"/>
                    <a:cs typeface="Cambria Math" panose="02040503050406030204" pitchFamily="18" charset="0"/>
                  </a:rPr>
                  <a:t> per square yard with an additional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$7.64</m:t>
                    </m:r>
                  </m:oMath>
                </a14:m>
                <a:r>
                  <a:rPr lang="en-US" sz="2400" dirty="0">
                    <a:latin typeface="Verdana" panose="020B0604030504040204" pitchFamily="34" charset="0"/>
                    <a:ea typeface="Cambria Math" panose="02040503050406030204" pitchFamily="18" charset="0"/>
                    <a:cs typeface="Cambria Math" panose="02040503050406030204" pitchFamily="18" charset="0"/>
                  </a:rPr>
                  <a:t> per square yard to install it. The size of the living room is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13.6</m:t>
                    </m:r>
                  </m:oMath>
                </a14:m>
                <a:r>
                  <a:rPr lang="en-US" sz="2400" dirty="0">
                    <a:latin typeface="Verdana" panose="020B0604030504040204" pitchFamily="34" charset="0"/>
                    <a:ea typeface="Cambria Math" panose="02040503050406030204" pitchFamily="18" charset="0"/>
                    <a:cs typeface="Cambria Math" panose="02040503050406030204" pitchFamily="18" charset="0"/>
                  </a:rPr>
                  <a:t> square yards. How much will the carpet for the living room cost?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indent="457200">
                  <a:lnSpc>
                    <a:spcPct val="107000"/>
                  </a:lnSpc>
                </a:pPr>
                <a:r>
                  <a:rPr lang="en-US" sz="2400" dirty="0">
                    <a:latin typeface="Verdana" panose="020B0604030504040204" pitchFamily="34" charset="0"/>
                    <a:ea typeface="Cambria Math" panose="02040503050406030204" pitchFamily="18" charset="0"/>
                    <a:cs typeface="Cambria Math" panose="02040503050406030204" pitchFamily="18"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indent="457200">
                  <a:lnSpc>
                    <a:spcPct val="107000"/>
                  </a:lnSpc>
                </a:pPr>
                <a:r>
                  <a:rPr lang="en-US" sz="2400" dirty="0">
                    <a:latin typeface="Verdana" panose="020B0604030504040204" pitchFamily="34" charset="0"/>
                    <a:ea typeface="Cambria Math" panose="02040503050406030204" pitchFamily="18" charset="0"/>
                    <a:cs typeface="Cambria Math" panose="02040503050406030204" pitchFamily="18" charset="0"/>
                  </a:rPr>
                  <a:t>The operation(s) that should be used is/are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14400">
                  <a:lnSpc>
                    <a:spcPct val="107000"/>
                  </a:lnSpc>
                </a:pPr>
                <a:r>
                  <a:rPr lang="en-US" sz="2400" dirty="0">
                    <a:latin typeface="Verdana" panose="020B0604030504040204" pitchFamily="34" charset="0"/>
                    <a:ea typeface="Cambria Math" panose="02040503050406030204" pitchFamily="18" charset="0"/>
                    <a:cs typeface="Cambria Math" panose="02040503050406030204" pitchFamily="18"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400" dirty="0">
                    <a:latin typeface="Verdana" panose="020B0604030504040204" pitchFamily="34" charset="0"/>
                    <a:ea typeface="Cambria Math" panose="02040503050406030204" pitchFamily="18" charset="0"/>
                    <a:cs typeface="Cambria Math" panose="02040503050406030204" pitchFamily="18" charset="0"/>
                  </a:rPr>
                  <a:t>_________________.</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1232452" y="422858"/>
                <a:ext cx="9727096" cy="3618939"/>
              </a:xfrm>
              <a:prstGeom prst="rect">
                <a:avLst/>
              </a:prstGeom>
              <a:blipFill rotWithShape="0">
                <a:blip r:embed="rId3"/>
                <a:stretch>
                  <a:fillRect l="-940" t="-1684" r="-63" b="-2694"/>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BEF6C55E-B3A1-F64B-8B75-315832270770}"/>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7" descr="Icon&#10;&#10;Description automatically generated">
            <a:extLst>
              <a:ext uri="{FF2B5EF4-FFF2-40B4-BE49-F238E27FC236}">
                <a16:creationId xmlns="" xmlns:a16="http://schemas.microsoft.com/office/drawing/2014/main" id="{24B6EEED-B9C0-40E9-9B19-79B02BF8A4FC}"/>
              </a:ext>
            </a:extLst>
          </p:cNvPr>
          <p:cNvPicPr>
            <a:picLocks noChangeAspect="1" noChangeArrowheads="1"/>
          </p:cNvPicPr>
          <p:nvPr/>
        </p:nvPicPr>
        <p:blipFill>
          <a:blip r:embed="rId4" r:link="rId5" cstate="screen">
            <a:extLst>
              <a:ext uri="{28A0092B-C50C-407E-A947-70E740481C1C}">
                <a14:useLocalDpi xmlns:a14="http://schemas.microsoft.com/office/drawing/2010/main"/>
              </a:ext>
            </a:extLst>
          </a:blip>
          <a:srcRect/>
          <a:stretch>
            <a:fillRect/>
          </a:stretch>
        </p:blipFill>
        <p:spPr bwMode="auto">
          <a:xfrm>
            <a:off x="1876354" y="4333477"/>
            <a:ext cx="1094818" cy="109481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2" descr="Icon&#10;&#10;Description automatically generated">
            <a:extLst>
              <a:ext uri="{FF2B5EF4-FFF2-40B4-BE49-F238E27FC236}">
                <a16:creationId xmlns="" xmlns:a16="http://schemas.microsoft.com/office/drawing/2014/main" id="{7EB3A646-7701-4911-9B35-FD9C1BF6B8FC}"/>
              </a:ext>
            </a:extLst>
          </p:cNvPr>
          <p:cNvPicPr>
            <a:picLocks noChangeAspect="1" noChangeArrowheads="1"/>
          </p:cNvPicPr>
          <p:nvPr/>
        </p:nvPicPr>
        <p:blipFill>
          <a:blip r:embed="rId6" r:link="rId7" cstate="screen">
            <a:extLst>
              <a:ext uri="{28A0092B-C50C-407E-A947-70E740481C1C}">
                <a14:useLocalDpi xmlns:a14="http://schemas.microsoft.com/office/drawing/2010/main"/>
              </a:ext>
            </a:extLst>
          </a:blip>
          <a:srcRect/>
          <a:stretch>
            <a:fillRect/>
          </a:stretch>
        </p:blipFill>
        <p:spPr bwMode="auto">
          <a:xfrm>
            <a:off x="3274765" y="4333477"/>
            <a:ext cx="1094818" cy="10948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1" descr="Icon&#10;&#10;Description automatically generated">
            <a:extLst>
              <a:ext uri="{FF2B5EF4-FFF2-40B4-BE49-F238E27FC236}">
                <a16:creationId xmlns="" xmlns:a16="http://schemas.microsoft.com/office/drawing/2014/main" id="{F16A089C-488C-415E-881E-3689431C97EC}"/>
              </a:ext>
            </a:extLst>
          </p:cNvPr>
          <p:cNvPicPr>
            <a:picLocks noChangeAspect="1" noChangeArrowheads="1"/>
          </p:cNvPicPr>
          <p:nvPr/>
        </p:nvPicPr>
        <p:blipFill>
          <a:blip r:embed="rId8" r:link="rId9" cstate="screen">
            <a:extLst>
              <a:ext uri="{28A0092B-C50C-407E-A947-70E740481C1C}">
                <a14:useLocalDpi xmlns:a14="http://schemas.microsoft.com/office/drawing/2010/main"/>
              </a:ext>
            </a:extLst>
          </a:blip>
          <a:srcRect/>
          <a:stretch>
            <a:fillRect/>
          </a:stretch>
        </p:blipFill>
        <p:spPr bwMode="auto">
          <a:xfrm>
            <a:off x="4673176" y="4333477"/>
            <a:ext cx="1094818" cy="10948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0" descr="Icon&#10;&#10;Description automatically generated">
            <a:extLst>
              <a:ext uri="{FF2B5EF4-FFF2-40B4-BE49-F238E27FC236}">
                <a16:creationId xmlns="" xmlns:a16="http://schemas.microsoft.com/office/drawing/2014/main" id="{03E875F8-9FA4-4723-ACC1-8F0F21E96C8A}"/>
              </a:ext>
            </a:extLst>
          </p:cNvPr>
          <p:cNvPicPr>
            <a:picLocks noChangeAspect="1" noChangeArrowheads="1"/>
          </p:cNvPicPr>
          <p:nvPr/>
        </p:nvPicPr>
        <p:blipFill>
          <a:blip r:embed="rId10" r:link="rId11" cstate="screen">
            <a:extLst>
              <a:ext uri="{28A0092B-C50C-407E-A947-70E740481C1C}">
                <a14:useLocalDpi xmlns:a14="http://schemas.microsoft.com/office/drawing/2010/main"/>
              </a:ext>
            </a:extLst>
          </a:blip>
          <a:srcRect/>
          <a:stretch>
            <a:fillRect/>
          </a:stretch>
        </p:blipFill>
        <p:spPr bwMode="auto">
          <a:xfrm>
            <a:off x="6071587" y="4333477"/>
            <a:ext cx="1094818" cy="109481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9" descr="Icon&#10;&#10;Description automatically generated">
            <a:extLst>
              <a:ext uri="{FF2B5EF4-FFF2-40B4-BE49-F238E27FC236}">
                <a16:creationId xmlns="" xmlns:a16="http://schemas.microsoft.com/office/drawing/2014/main" id="{44ED1C27-01C3-4B52-9D85-68D4372658EB}"/>
              </a:ext>
            </a:extLst>
          </p:cNvPr>
          <p:cNvPicPr>
            <a:picLocks noChangeAspect="1" noChangeArrowheads="1"/>
          </p:cNvPicPr>
          <p:nvPr/>
        </p:nvPicPr>
        <p:blipFill>
          <a:blip r:embed="rId12" r:link="rId13" cstate="screen">
            <a:extLst>
              <a:ext uri="{28A0092B-C50C-407E-A947-70E740481C1C}">
                <a14:useLocalDpi xmlns:a14="http://schemas.microsoft.com/office/drawing/2010/main"/>
              </a:ext>
            </a:extLst>
          </a:blip>
          <a:srcRect/>
          <a:stretch>
            <a:fillRect/>
          </a:stretch>
        </p:blipFill>
        <p:spPr bwMode="auto">
          <a:xfrm>
            <a:off x="7469998" y="4333477"/>
            <a:ext cx="1094818" cy="10948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8" descr="Icon&#10;&#10;Description automatically generated">
            <a:extLst>
              <a:ext uri="{FF2B5EF4-FFF2-40B4-BE49-F238E27FC236}">
                <a16:creationId xmlns="" xmlns:a16="http://schemas.microsoft.com/office/drawing/2014/main" id="{AC38BBFA-8181-4740-B8B0-025F9382301F}"/>
              </a:ext>
            </a:extLst>
          </p:cNvPr>
          <p:cNvPicPr>
            <a:picLocks noChangeAspect="1" noChangeArrowheads="1"/>
          </p:cNvPicPr>
          <p:nvPr/>
        </p:nvPicPr>
        <p:blipFill>
          <a:blip r:embed="rId14" r:link="rId15" cstate="screen">
            <a:extLst>
              <a:ext uri="{28A0092B-C50C-407E-A947-70E740481C1C}">
                <a14:useLocalDpi xmlns:a14="http://schemas.microsoft.com/office/drawing/2010/main"/>
              </a:ext>
            </a:extLst>
          </a:blip>
          <a:srcRect/>
          <a:stretch>
            <a:fillRect/>
          </a:stretch>
        </p:blipFill>
        <p:spPr bwMode="auto">
          <a:xfrm>
            <a:off x="8868409" y="4333477"/>
            <a:ext cx="1094818" cy="10948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55" descr="Chart&#10;&#10;Description automatically generated">
            <a:extLst>
              <a:ext uri="{FF2B5EF4-FFF2-40B4-BE49-F238E27FC236}">
                <a16:creationId xmlns="" xmlns:a16="http://schemas.microsoft.com/office/drawing/2014/main" id="{60110B2A-3EFA-455E-B83A-81A41BE185E6}"/>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t="46062" b="42612"/>
          <a:stretch>
            <a:fillRect/>
          </a:stretch>
        </p:blipFill>
        <p:spPr bwMode="auto">
          <a:xfrm>
            <a:off x="2042043" y="5596745"/>
            <a:ext cx="7789168" cy="581622"/>
          </a:xfrm>
          <a:prstGeom prst="rect">
            <a:avLst/>
          </a:prstGeom>
          <a:noFill/>
          <a:extLst>
            <a:ext uri="{909E8E84-426E-40DD-AFC4-6F175D3DCCD1}">
              <a14:hiddenFill xmlns:a14="http://schemas.microsoft.com/office/drawing/2010/main">
                <a:solidFill>
                  <a:srgbClr val="FFFFFF"/>
                </a:solidFill>
              </a14:hiddenFill>
            </a:ext>
          </a:extLst>
        </p:spPr>
      </p:pic>
      <p:sp>
        <p:nvSpPr>
          <p:cNvPr id="15" name="Google Shape;282;g104476d1465_1_17"/>
          <p:cNvSpPr txBox="1"/>
          <p:nvPr/>
        </p:nvSpPr>
        <p:spPr>
          <a:xfrm>
            <a:off x="871948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60</a:t>
            </a:r>
            <a:endParaRPr i="1" dirty="0">
              <a:latin typeface="Calibri"/>
              <a:ea typeface="Calibri"/>
              <a:cs typeface="Calibri"/>
              <a:sym typeface="Calibri"/>
            </a:endParaRPr>
          </a:p>
        </p:txBody>
      </p:sp>
      <p:pic>
        <p:nvPicPr>
          <p:cNvPr id="16" name="Google Shape;283;g104476d1465_1_17"/>
          <p:cNvPicPr preferRelativeResize="0"/>
          <p:nvPr/>
        </p:nvPicPr>
        <p:blipFill>
          <a:blip r:embed="rId17" cstate="screen">
            <a:alphaModFix/>
            <a:extLst>
              <a:ext uri="{28A0092B-C50C-407E-A947-70E740481C1C}">
                <a14:useLocalDpi xmlns:a14="http://schemas.microsoft.com/office/drawing/2010/main"/>
              </a:ext>
            </a:extLst>
          </a:blip>
          <a:stretch>
            <a:fillRect/>
          </a:stretch>
        </p:blipFill>
        <p:spPr>
          <a:xfrm>
            <a:off x="1145770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B302F79E-795C-43FD-8E80-AC723F4FC3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A018256-3975-4874-ABDD-95D75F29338C}">
  <ds:schemaRefs>
    <ds:schemaRef ds:uri="http://schemas.microsoft.com/sharepoint/v3/contenttype/forms"/>
  </ds:schemaRefs>
</ds:datastoreItem>
</file>

<file path=customXml/itemProps3.xml><?xml version="1.0" encoding="utf-8"?>
<ds:datastoreItem xmlns:ds="http://schemas.openxmlformats.org/officeDocument/2006/customXml" ds:itemID="{7811A8A5-52E9-4E8A-87CB-CC8F50FCFBF5}">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docProps/app.xml><?xml version="1.0" encoding="utf-8"?>
<Properties xmlns="http://schemas.openxmlformats.org/officeDocument/2006/extended-properties" xmlns:vt="http://schemas.openxmlformats.org/officeDocument/2006/docPropsVTypes">
  <TotalTime>1306</TotalTime>
  <Words>1460</Words>
  <Application>Microsoft Office PowerPoint</Application>
  <PresentationFormat>Custom</PresentationFormat>
  <Paragraphs>195</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1_Office Theme</vt:lpstr>
      <vt:lpstr>6th Grade Accelerated Math  Unit 2, Lesson 4  Using Operations to Solve Real-World Problems – Part 1  Volume 1, pg. 55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25</cp:revision>
  <dcterms:created xsi:type="dcterms:W3CDTF">2015-03-17T18:51:18Z</dcterms:created>
  <dcterms:modified xsi:type="dcterms:W3CDTF">2023-06-30T00:16:00Z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