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iIQjVXEGJwUvsjAiie9fl4EGcw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4695"/>
  </p:normalViewPr>
  <p:slideViewPr>
    <p:cSldViewPr snapToGrid="0">
      <p:cViewPr varScale="1">
        <p:scale>
          <a:sx n="79" d="100"/>
          <a:sy n="79" d="100"/>
        </p:scale>
        <p:origin x="82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d1e4a8095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d1e4a8095d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gd1e4a8095d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d1e4a8095d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d1e4a8095d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gd1e4a8095d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d1e4a8095d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d1e4a8095d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gd1e4a8095d_0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d1e4a8095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d1e4a8095d_0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gd1e4a8095d_0_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d1e4a8095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d1e4a8095d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gd1e4a8095d_0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1e4a8095d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d1e4a8095d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gd1e4a8095d_0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d1e4a8095d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d1e4a8095d_0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" name="Google Shape;296;gd1e4a8095d_0_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" name="Google Shape;321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2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2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2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1</a:t>
            </a:r>
            <a:br>
              <a:rPr lang="en-US" sz="32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Equivalent Conversions: Fractions ↔ Decimals; Decimals ↔ Percentages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41</a:t>
            </a:r>
            <a:endParaRPr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640" y="1526626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48250" y="1492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750" y="3850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372050" y="1600200"/>
            <a:ext cx="88387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MA.6.NSO.3.5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Rewrite positive rational numbers in different but equivalent forms including fractions, terminating decimals, and percentages.</a:t>
            </a:r>
            <a:endParaRPr sz="2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100" y="3596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495750" y="1169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1495750" y="1596390"/>
            <a:ext cx="87150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sz="3100"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399475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Target(s)</a:t>
            </a:r>
            <a:endParaRPr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313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1399475" y="1600200"/>
            <a:ext cx="881132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convert between fractions and decimals.</a:t>
            </a:r>
            <a:endParaRPr/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convert between percentages and decimals.</a:t>
            </a:r>
            <a:endParaRPr dirty="0"/>
          </a:p>
        </p:txBody>
      </p:sp>
      <p:sp>
        <p:nvSpPr>
          <p:cNvPr id="149" name="Google Shape;149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300650" y="-53975"/>
            <a:ext cx="96213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2.1.1 Warm-Up: Self-Evaluation</a:t>
            </a:r>
            <a:endParaRPr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4"/>
          <p:cNvSpPr txBox="1"/>
          <p:nvPr/>
        </p:nvSpPr>
        <p:spPr>
          <a:xfrm>
            <a:off x="1300650" y="1386025"/>
            <a:ext cx="9086898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1638" indent="-390525"/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1. For each problem, rate your level of confidence in your ability to answer each question, but don’t actually answer them.</a:t>
            </a: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401638"/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Use a scale from 1 to 5, where 1 means you do not feel confident about how to answer the question, and 5 means you feel very confident.</a:t>
            </a:r>
            <a:endParaRPr sz="1100" dirty="0"/>
          </a:p>
        </p:txBody>
      </p:sp>
      <p:sp>
        <p:nvSpPr>
          <p:cNvPr id="170" name="Google Shape;170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1" name="Google Shape;171;p4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7300" y="3531610"/>
            <a:ext cx="6629400" cy="286486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/>
        </p:nvSpPr>
        <p:spPr>
          <a:xfrm>
            <a:off x="1275250" y="346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2.1.2 Guided Instruction: Fraction and Decimal Conversions</a:t>
            </a:r>
            <a:endParaRPr sz="1000"/>
          </a:p>
        </p:txBody>
      </p:sp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950" y="21072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1" name="Google Shape;191;p19"/>
          <p:cNvSpPr txBox="1"/>
          <p:nvPr/>
        </p:nvSpPr>
        <p:spPr>
          <a:xfrm>
            <a:off x="698500" y="3596928"/>
            <a:ext cx="11734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81000">
              <a:buSzPts val="2400"/>
              <a:buFont typeface="Verdana"/>
              <a:buAutoNum type="arabicPeriod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Use the original number to fill in the missing digits and place values.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93" name="Google Shape;193;p1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0187" y="1206500"/>
            <a:ext cx="3343422" cy="2103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7534" y="1197806"/>
            <a:ext cx="4770859" cy="2250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7901" y="4198876"/>
            <a:ext cx="4894444" cy="23086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Google Shape;203;p20"/>
              <p:cNvSpPr txBox="1"/>
              <p:nvPr/>
            </p:nvSpPr>
            <p:spPr>
              <a:xfrm>
                <a:off x="939800" y="288746"/>
                <a:ext cx="10718800" cy="3704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2. Consider the number 0.08.</a:t>
                </a:r>
              </a:p>
              <a:p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 </a:t>
                </a:r>
              </a:p>
              <a:p>
                <a:pPr marL="866775" indent="-401638"/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a. In the number 0.08, what is the place value of the final digit?</a:t>
                </a:r>
              </a:p>
              <a:p>
                <a:pPr marL="866775" indent="-401638"/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866775" indent="-401638"/>
                <a:endParaRPr lang="en-US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866775" indent="-401638"/>
                <a:r>
                  <a:rPr lang="en-US" sz="2300" dirty="0">
                    <a:latin typeface="Verdana"/>
                    <a:ea typeface="Verdana"/>
                    <a:cs typeface="Verdana"/>
                    <a:sym typeface="Verdana"/>
                  </a:rPr>
                  <a:t>b. What is the written description of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300" i="1" dirty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</m:ctrlPr>
                      </m:fPr>
                      <m:num>
                        <m:r>
                          <a:rPr lang="ar-AE" sz="2300" i="1" dirty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8</m:t>
                        </m:r>
                      </m:num>
                      <m:den>
                        <m:r>
                          <a:rPr lang="en-US" sz="2300" i="1" dirty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100</m:t>
                        </m:r>
                      </m:den>
                    </m:f>
                    <m:r>
                      <a:rPr lang="en-US" sz="2300" i="1" dirty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?</m:t>
                    </m:r>
                  </m:oMath>
                </a14:m>
                <a:endParaRPr lang="ar-AE" sz="23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866775" indent="-401638"/>
                <a:endParaRPr lang="ar-AE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866775" lvl="0" indent="-401638"/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c. Discuss with your partner any similarities or differences between the decimal 0.08 and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 dirty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</m:ctrlPr>
                      </m:fPr>
                      <m:num>
                        <m:r>
                          <a:rPr lang="ar-AE" sz="2400" i="1" dirty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8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203" name="Google Shape;203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88746"/>
                <a:ext cx="10718800" cy="3704948"/>
              </a:xfrm>
              <a:prstGeom prst="rect">
                <a:avLst/>
              </a:prstGeom>
              <a:blipFill rotWithShape="0">
                <a:blip r:embed="rId3"/>
                <a:stretch>
                  <a:fillRect l="-853" t="-1316" b="-1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Google Shape;204;p20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6581" y="4473346"/>
            <a:ext cx="6605238" cy="15046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"/>
          <p:cNvSpPr txBox="1"/>
          <p:nvPr/>
        </p:nvSpPr>
        <p:spPr>
          <a:xfrm>
            <a:off x="2007765" y="520394"/>
            <a:ext cx="83271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3. In the decimal 0.7, the final digit is in the </a:t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4596013" y="129891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place, so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7314750" y="12989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is the equivalent 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2466925" y="21699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fraction form.</a:t>
            </a:r>
            <a:endParaRPr/>
          </a:p>
        </p:txBody>
      </p:sp>
      <p:pic>
        <p:nvPicPr>
          <p:cNvPr id="218" name="Google Shape;218;p5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9213" y="1145338"/>
            <a:ext cx="1933682" cy="102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5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3450" y="982063"/>
            <a:ext cx="1071300" cy="164448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5"/>
          <p:cNvSpPr txBox="1"/>
          <p:nvPr/>
        </p:nvSpPr>
        <p:spPr>
          <a:xfrm>
            <a:off x="2007778" y="3590168"/>
            <a:ext cx="832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4.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In the decimal 0.037, the final digit is in the </a:t>
            </a:r>
            <a:endParaRPr dirty="0"/>
          </a:p>
        </p:txBody>
      </p:sp>
      <p:pic>
        <p:nvPicPr>
          <p:cNvPr id="221" name="Google Shape;221;p5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9226" y="4051863"/>
            <a:ext cx="1933675" cy="100369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 txBox="1"/>
          <p:nvPr/>
        </p:nvSpPr>
        <p:spPr>
          <a:xfrm>
            <a:off x="4595988" y="43137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place, so</a:t>
            </a:r>
            <a:endParaRPr/>
          </a:p>
        </p:txBody>
      </p:sp>
      <p:pic>
        <p:nvPicPr>
          <p:cNvPr id="223" name="Google Shape;223;p5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3449" y="4051874"/>
            <a:ext cx="1071300" cy="172691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"/>
          <p:cNvSpPr txBox="1"/>
          <p:nvPr/>
        </p:nvSpPr>
        <p:spPr>
          <a:xfrm>
            <a:off x="7314750" y="43137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is the equivalent 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2466925" y="51297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fraction form.</a:t>
            </a:r>
            <a:endParaRPr/>
          </a:p>
        </p:txBody>
      </p:sp>
      <p:sp>
        <p:nvSpPr>
          <p:cNvPr id="1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d1e4a8095d_0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1326" y="1806544"/>
            <a:ext cx="3469329" cy="470920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d1e4a8095d_0_17"/>
          <p:cNvSpPr txBox="1"/>
          <p:nvPr/>
        </p:nvSpPr>
        <p:spPr>
          <a:xfrm>
            <a:off x="1041400" y="520393"/>
            <a:ext cx="1031705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A fraction can be converted into its equivalent decimal form by dividing the </a:t>
            </a:r>
            <a:r>
              <a:rPr lang="en-US" sz="2000" b="1" i="1" dirty="0">
                <a:latin typeface="Verdana"/>
                <a:ea typeface="Verdana"/>
                <a:cs typeface="Verdana"/>
                <a:sym typeface="Verdana"/>
              </a:rPr>
              <a:t>numerator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by the </a:t>
            </a:r>
            <a:r>
              <a:rPr lang="en-US" sz="2000" b="1" i="1" dirty="0">
                <a:latin typeface="Verdana"/>
                <a:ea typeface="Verdana"/>
                <a:cs typeface="Verdana"/>
                <a:sym typeface="Verdana"/>
              </a:rPr>
              <a:t>denominator.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50838" indent="-350838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5. To convert the fraction 1/4 to a decimal, divide 1 by 4 by completing the diagram below.</a:t>
            </a:r>
            <a:endParaRPr sz="1000" dirty="0"/>
          </a:p>
        </p:txBody>
      </p:sp>
      <p:sp>
        <p:nvSpPr>
          <p:cNvPr id="235" name="Google Shape;235;gd1e4a8095d_0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d1e4a8095d_0_7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43" name="Google Shape;243;gd1e4a8095d_0_72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5" name="Google Shape;245;gd1e4a8095d_0_7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d1e4a8095d_0_81"/>
          <p:cNvSpPr txBox="1"/>
          <p:nvPr/>
        </p:nvSpPr>
        <p:spPr>
          <a:xfrm>
            <a:off x="136415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2.1.3 Guided Practice: Fraction and Decimal Conversions</a:t>
            </a:r>
            <a:endParaRPr sz="1300"/>
          </a:p>
        </p:txBody>
      </p:sp>
      <p:pic>
        <p:nvPicPr>
          <p:cNvPr id="254" name="Google Shape;254;gd1e4a8095d_0_81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342" y="22635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55" name="Google Shape;255;gd1e4a8095d_0_81"/>
          <p:cNvSpPr txBox="1"/>
          <p:nvPr/>
        </p:nvSpPr>
        <p:spPr>
          <a:xfrm>
            <a:off x="711200" y="1386025"/>
            <a:ext cx="4305300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55600">
              <a:buSzPts val="2000"/>
              <a:buFont typeface="Verdana"/>
              <a:buAutoNum type="arabicPeriod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Complete the table by converting each decimal to an equivalent fraction. 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If possible, write the equivalent fraction so that the numerator and denominator have no common factors.</a:t>
            </a:r>
            <a:endParaRPr sz="1000" dirty="0"/>
          </a:p>
        </p:txBody>
      </p:sp>
      <p:sp>
        <p:nvSpPr>
          <p:cNvPr id="256" name="Google Shape;256;gd1e4a8095d_0_8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7" name="Google Shape;257;gd1e4a8095d_0_81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0300" y="1386024"/>
            <a:ext cx="4197376" cy="511711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d1e4a8095d_0_92"/>
          <p:cNvSpPr txBox="1"/>
          <p:nvPr/>
        </p:nvSpPr>
        <p:spPr>
          <a:xfrm>
            <a:off x="1066800" y="386281"/>
            <a:ext cx="1029165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Complete the table by rewriting each fraction as its equivalent decimal.</a:t>
            </a:r>
            <a:endParaRPr sz="1000" dirty="0"/>
          </a:p>
        </p:txBody>
      </p:sp>
      <p:sp>
        <p:nvSpPr>
          <p:cNvPr id="266" name="Google Shape;266;gd1e4a8095d_0_9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7" name="Google Shape;267;gd1e4a8095d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900" y="842134"/>
            <a:ext cx="3965129" cy="57110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d1e4a8095d_0_50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5" name="Google Shape;275;gd1e4a8095d_0_5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6" name="Google Shape;276;gd1e4a8095d_0_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d1e4a8095d_0_59"/>
          <p:cNvSpPr txBox="1"/>
          <p:nvPr/>
        </p:nvSpPr>
        <p:spPr>
          <a:xfrm>
            <a:off x="1211750" y="-1502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2.1.4 Guided Instruction: Decimal and Percentage Conversions</a:t>
            </a:r>
            <a:endParaRPr sz="1000"/>
          </a:p>
        </p:txBody>
      </p:sp>
      <p:pic>
        <p:nvPicPr>
          <p:cNvPr id="285" name="Google Shape;285;gd1e4a8095d_0_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450" y="1922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87" name="Google Shape;287;gd1e4a8095d_0_59"/>
          <p:cNvSpPr txBox="1"/>
          <p:nvPr/>
        </p:nvSpPr>
        <p:spPr>
          <a:xfrm>
            <a:off x="1772561" y="2268915"/>
            <a:ext cx="832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Percentages can also be written as fractions with a denominator of </a:t>
            </a:r>
            <a:r>
              <a:rPr lang="en-US" sz="2000" i="1" dirty="0">
                <a:latin typeface="Verdana"/>
                <a:ea typeface="Verdana"/>
                <a:cs typeface="Verdana"/>
                <a:sym typeface="Verdana"/>
              </a:rPr>
              <a:t>100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or as a decimal.</a:t>
            </a:r>
            <a:endParaRPr sz="1000" dirty="0"/>
          </a:p>
        </p:txBody>
      </p:sp>
      <p:sp>
        <p:nvSpPr>
          <p:cNvPr id="288" name="Google Shape;288;gd1e4a8095d_0_59"/>
          <p:cNvSpPr/>
          <p:nvPr/>
        </p:nvSpPr>
        <p:spPr>
          <a:xfrm>
            <a:off x="-18919" y="267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89" name="Google Shape;289;gd1e4a8095d_0_59"/>
          <p:cNvSpPr txBox="1"/>
          <p:nvPr/>
        </p:nvSpPr>
        <p:spPr>
          <a:xfrm>
            <a:off x="1772561" y="3182990"/>
            <a:ext cx="832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1. Write 66% as a fraction and as a decimal.</a:t>
            </a:r>
            <a:endParaRPr sz="1000" dirty="0"/>
          </a:p>
        </p:txBody>
      </p:sp>
      <p:pic>
        <p:nvPicPr>
          <p:cNvPr id="290" name="Google Shape;290;gd1e4a8095d_0_5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1392" y="1167079"/>
            <a:ext cx="6909222" cy="934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d1e4a8095d_0_5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5575" y="3851277"/>
            <a:ext cx="6460856" cy="111076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d1e4a8095d_0_59"/>
          <p:cNvSpPr txBox="1"/>
          <p:nvPr/>
        </p:nvSpPr>
        <p:spPr>
          <a:xfrm>
            <a:off x="1772561" y="5197323"/>
            <a:ext cx="862875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To convert a decimal to a percent, multiply the decimal by 100.</a:t>
            </a:r>
            <a:endParaRPr dirty="0"/>
          </a:p>
        </p:txBody>
      </p:sp>
      <p:sp>
        <p:nvSpPr>
          <p:cNvPr id="14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d1e4a8095d_0_110"/>
          <p:cNvSpPr txBox="1"/>
          <p:nvPr/>
        </p:nvSpPr>
        <p:spPr>
          <a:xfrm>
            <a:off x="1308100" y="288747"/>
            <a:ext cx="8951425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Convert the decimal 0.16 to a percent. 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2743200" indent="457200"/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dirty="0"/>
          </a:p>
        </p:txBody>
      </p:sp>
      <p:sp>
        <p:nvSpPr>
          <p:cNvPr id="301" name="Google Shape;301;gd1e4a8095d_0_110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2" name="Google Shape;302;gd1e4a8095d_0_110"/>
          <p:cNvSpPr txBox="1"/>
          <p:nvPr/>
        </p:nvSpPr>
        <p:spPr>
          <a:xfrm>
            <a:off x="2024700" y="781350"/>
            <a:ext cx="8142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828800" indent="457200"/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0.16 × ________ 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Google Shape;303;gd1e4a8095d_0_110"/>
              <p:cNvSpPr txBox="1"/>
              <p:nvPr/>
            </p:nvSpPr>
            <p:spPr>
              <a:xfrm>
                <a:off x="1308100" y="2285575"/>
                <a:ext cx="8951425" cy="1570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To convert a percent to a decimal, divide the percent by 100 or multiply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400" i="1" dirty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</m:ctrlPr>
                      </m:fPr>
                      <m:num>
                        <m:r>
                          <a:rPr lang="ar-AE" sz="2400" i="1" dirty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100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.</m:t>
                    </m:r>
                  </m:oMath>
                </a14:m>
                <a:endParaRPr lang="ar-AE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2743200" indent="457200"/>
                <a:endParaRPr lang="ar-AE" sz="2400" dirty="0">
                  <a:latin typeface="Verdana"/>
                  <a:ea typeface="Verdana"/>
                  <a:cs typeface="Verdana"/>
                  <a:sym typeface="Verdana"/>
                </a:endParaRPr>
              </a:p>
              <a:p>
                <a:endParaRPr dirty="0"/>
              </a:p>
            </p:txBody>
          </p:sp>
        </mc:Choice>
        <mc:Fallback xmlns="">
          <p:sp>
            <p:nvSpPr>
              <p:cNvPr id="303" name="Google Shape;303;gd1e4a8095d_0_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100" y="2285575"/>
                <a:ext cx="8951425" cy="1570261"/>
              </a:xfrm>
              <a:prstGeom prst="rect">
                <a:avLst/>
              </a:prstGeom>
              <a:blipFill rotWithShape="0">
                <a:blip r:embed="rId3"/>
                <a:stretch>
                  <a:fillRect l="-1090" t="-3101" r="-9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4" name="Google Shape;304;gd1e4a8095d_0_110"/>
          <p:cNvSpPr txBox="1"/>
          <p:nvPr/>
        </p:nvSpPr>
        <p:spPr>
          <a:xfrm>
            <a:off x="1308100" y="4071172"/>
            <a:ext cx="90437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3. Convert 16.2% to a decimal.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2743200" indent="457200"/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dirty="0"/>
          </a:p>
        </p:txBody>
      </p:sp>
      <p:sp>
        <p:nvSpPr>
          <p:cNvPr id="305" name="Google Shape;305;gd1e4a8095d_0_110"/>
          <p:cNvSpPr txBox="1"/>
          <p:nvPr/>
        </p:nvSpPr>
        <p:spPr>
          <a:xfrm>
            <a:off x="2116950" y="4910675"/>
            <a:ext cx="8142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457200"/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16.2 ÷ ________ or 16.2 ∙ __________ 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457200"/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6" name="Google Shape;306;gd1e4a8095d_0_110"/>
          <p:cNvSpPr txBox="1"/>
          <p:nvPr/>
        </p:nvSpPr>
        <p:spPr>
          <a:xfrm>
            <a:off x="4958825" y="13354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________%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7" name="Google Shape;307;gd1e4a8095d_0_110"/>
          <p:cNvSpPr txBox="1"/>
          <p:nvPr/>
        </p:nvSpPr>
        <p:spPr>
          <a:xfrm>
            <a:off x="4958825" y="56953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__________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15" name="Google Shape;315;p21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7" name="Google Shape;317;p2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"/>
          <p:cNvSpPr txBox="1"/>
          <p:nvPr/>
        </p:nvSpPr>
        <p:spPr>
          <a:xfrm>
            <a:off x="1285702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2.1.5 Guided Practice: Decimal and Percentage Conversions</a:t>
            </a:r>
            <a:endParaRPr sz="1300"/>
          </a:p>
        </p:txBody>
      </p:sp>
      <p:pic>
        <p:nvPicPr>
          <p:cNvPr id="326" name="Google Shape;326;p22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5894" y="22635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27" name="Google Shape;327;p22"/>
          <p:cNvSpPr txBox="1"/>
          <p:nvPr/>
        </p:nvSpPr>
        <p:spPr>
          <a:xfrm>
            <a:off x="1285702" y="1386025"/>
            <a:ext cx="9101846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55600">
              <a:buSzPts val="2000"/>
              <a:buFont typeface="Verdana"/>
              <a:buAutoNum type="arabicPeriod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Complete the table by converting each decimal to an equivalent percentage.</a:t>
            </a:r>
            <a:endParaRPr sz="1000"/>
          </a:p>
        </p:txBody>
      </p:sp>
      <p:sp>
        <p:nvSpPr>
          <p:cNvPr id="328" name="Google Shape;328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9" name="Google Shape;3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6989" y="2246426"/>
            <a:ext cx="6418013" cy="405884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/>
          <p:nvPr/>
        </p:nvSpPr>
        <p:spPr>
          <a:xfrm>
            <a:off x="1932432" y="386281"/>
            <a:ext cx="832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0838" indent="-350838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2. Rewrite each percentage into its equivalent decimal form to complete the table. </a:t>
            </a:r>
            <a:endParaRPr sz="1000" dirty="0"/>
          </a:p>
        </p:txBody>
      </p:sp>
      <p:sp>
        <p:nvSpPr>
          <p:cNvPr id="338" name="Google Shape;338;p23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39" name="Google Shape;3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114" y="1253757"/>
            <a:ext cx="8057775" cy="50444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47" name="Google Shape;347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48" name="Google Shape;34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/>
          <p:nvPr/>
        </p:nvSpPr>
        <p:spPr>
          <a:xfrm>
            <a:off x="1351450" y="121547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2.1.6 Your Turn!</a:t>
            </a:r>
            <a:endParaRPr/>
          </a:p>
        </p:txBody>
      </p:sp>
      <p:pic>
        <p:nvPicPr>
          <p:cNvPr id="357" name="Google Shape;35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150" y="121547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1"/>
          <p:cNvSpPr txBox="1"/>
          <p:nvPr/>
        </p:nvSpPr>
        <p:spPr>
          <a:xfrm>
            <a:off x="1351450" y="1386026"/>
            <a:ext cx="90361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1.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Rewrite each percentage as a decimal.</a:t>
            </a:r>
            <a:endParaRPr dirty="0"/>
          </a:p>
        </p:txBody>
      </p:sp>
      <p:sp>
        <p:nvSpPr>
          <p:cNvPr id="360" name="Google Shape;360;p31"/>
          <p:cNvSpPr/>
          <p:nvPr/>
        </p:nvSpPr>
        <p:spPr>
          <a:xfrm>
            <a:off x="0" y="267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1" name="Google Shape;361;p31"/>
          <p:cNvSpPr txBox="1"/>
          <p:nvPr/>
        </p:nvSpPr>
        <p:spPr>
          <a:xfrm>
            <a:off x="2519850" y="2120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a. 125.6%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6096000" y="2120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b. 3%</a:t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1351450" y="3693775"/>
            <a:ext cx="891015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2.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Convert each decimal to an equivalent percentage.</a:t>
            </a:r>
            <a:endParaRPr dirty="0"/>
          </a:p>
        </p:txBody>
      </p:sp>
      <p:sp>
        <p:nvSpPr>
          <p:cNvPr id="364" name="Google Shape;364;p31"/>
          <p:cNvSpPr txBox="1"/>
          <p:nvPr/>
        </p:nvSpPr>
        <p:spPr>
          <a:xfrm>
            <a:off x="2519850" y="51405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a. 0.008</a:t>
            </a:r>
            <a:endParaRPr/>
          </a:p>
        </p:txBody>
      </p:sp>
      <p:sp>
        <p:nvSpPr>
          <p:cNvPr id="365" name="Google Shape;365;p31"/>
          <p:cNvSpPr txBox="1"/>
          <p:nvPr/>
        </p:nvSpPr>
        <p:spPr>
          <a:xfrm>
            <a:off x="6096000" y="51405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b. 4.71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"/>
          <p:cNvSpPr txBox="1"/>
          <p:nvPr/>
        </p:nvSpPr>
        <p:spPr>
          <a:xfrm>
            <a:off x="1346200" y="398473"/>
            <a:ext cx="8913332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3. Rewrite each fraction as a decimal.</a:t>
            </a:r>
            <a:endParaRPr dirty="0"/>
          </a:p>
        </p:txBody>
      </p:sp>
      <p:sp>
        <p:nvSpPr>
          <p:cNvPr id="374" name="Google Shape;374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5" name="Google Shape;375;p32"/>
              <p:cNvSpPr txBox="1"/>
              <p:nvPr/>
            </p:nvSpPr>
            <p:spPr>
              <a:xfrm>
                <a:off x="2453575" y="1362101"/>
                <a:ext cx="3000000" cy="7061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a.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2</m:t>
                        </m:r>
                      </m:den>
                    </m:f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75" name="Google Shape;375;p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75" y="1362100"/>
                <a:ext cx="3000000" cy="706189"/>
              </a:xfrm>
              <a:prstGeom prst="rect">
                <a:avLst/>
              </a:prstGeom>
              <a:blipFill>
                <a:blip r:embed="rId4"/>
                <a:stretch>
                  <a:fillRect l="-2941" b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6" name="Google Shape;376;p32"/>
              <p:cNvSpPr txBox="1"/>
              <p:nvPr/>
            </p:nvSpPr>
            <p:spPr>
              <a:xfrm>
                <a:off x="5681425" y="1362101"/>
                <a:ext cx="3000000" cy="7061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r>
                  <a:rPr lang="en-US" sz="2400" dirty="0">
                    <a:latin typeface="Verdana"/>
                    <a:ea typeface="Verdana"/>
                    <a:cs typeface="Verdana"/>
                    <a:sym typeface="Verdana"/>
                  </a:rPr>
                  <a:t>b. 2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10</m:t>
                        </m:r>
                      </m:den>
                    </m:f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76" name="Google Shape;376;p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425" y="1362100"/>
                <a:ext cx="3000000" cy="706189"/>
              </a:xfrm>
              <a:prstGeom prst="rect">
                <a:avLst/>
              </a:prstGeom>
              <a:blipFill>
                <a:blip r:embed="rId5"/>
                <a:stretch>
                  <a:fillRect l="-3376" b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7" name="Google Shape;377;p32"/>
          <p:cNvSpPr txBox="1"/>
          <p:nvPr/>
        </p:nvSpPr>
        <p:spPr>
          <a:xfrm>
            <a:off x="1346200" y="3363850"/>
            <a:ext cx="970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01638" indent="-401638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4. Rewrite each decimal as an equivalent fraction. Simplify where applicable.</a:t>
            </a:r>
            <a:endParaRPr dirty="0"/>
          </a:p>
        </p:txBody>
      </p:sp>
      <p:sp>
        <p:nvSpPr>
          <p:cNvPr id="378" name="Google Shape;378;p32"/>
          <p:cNvSpPr txBox="1"/>
          <p:nvPr/>
        </p:nvSpPr>
        <p:spPr>
          <a:xfrm>
            <a:off x="2453575" y="48681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a. 0.94</a:t>
            </a:r>
            <a:endParaRPr/>
          </a:p>
        </p:txBody>
      </p:sp>
      <p:sp>
        <p:nvSpPr>
          <p:cNvPr id="379" name="Google Shape;379;p32"/>
          <p:cNvSpPr txBox="1"/>
          <p:nvPr/>
        </p:nvSpPr>
        <p:spPr>
          <a:xfrm>
            <a:off x="5681425" y="48681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b. 1.7</a:t>
            </a:r>
            <a:endParaRPr/>
          </a:p>
        </p:txBody>
      </p:sp>
      <p:sp>
        <p:nvSpPr>
          <p:cNvPr id="11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88" name="Google Shape;38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89" name="Google Shape;38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4"/>
          <p:cNvSpPr txBox="1"/>
          <p:nvPr/>
        </p:nvSpPr>
        <p:spPr>
          <a:xfrm>
            <a:off x="1382800" y="-80150"/>
            <a:ext cx="959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2.1.7 Wrap-Up: Ticket Out the Door</a:t>
            </a:r>
            <a:endParaRPr/>
          </a:p>
        </p:txBody>
      </p:sp>
      <p:pic>
        <p:nvPicPr>
          <p:cNvPr id="398" name="Google Shape;39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350" y="17704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99" name="Google Shape;399;p34"/>
          <p:cNvSpPr txBox="1"/>
          <p:nvPr/>
        </p:nvSpPr>
        <p:spPr>
          <a:xfrm>
            <a:off x="1300650" y="1386026"/>
            <a:ext cx="90869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1. Circle the expression that does not belong.</a:t>
            </a:r>
            <a:endParaRPr dirty="0"/>
          </a:p>
        </p:txBody>
      </p:sp>
      <p:sp>
        <p:nvSpPr>
          <p:cNvPr id="400" name="Google Shape;400;p34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401" name="Google Shape;401;p34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8664" y="1990595"/>
            <a:ext cx="3114673" cy="23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4"/>
          <p:cNvSpPr txBox="1"/>
          <p:nvPr/>
        </p:nvSpPr>
        <p:spPr>
          <a:xfrm>
            <a:off x="1346012" y="5096775"/>
            <a:ext cx="8544438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2. Explain your reasoning for your choice.</a:t>
            </a:r>
            <a:endParaRPr/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7244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626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784</Words>
  <Application>Microsoft Office PowerPoint</Application>
  <PresentationFormat>Widescreen</PresentationFormat>
  <Paragraphs>125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Calibri</vt:lpstr>
      <vt:lpstr>Cambria Math</vt:lpstr>
      <vt:lpstr>Century Gothic</vt:lpstr>
      <vt:lpstr>Verdana</vt:lpstr>
      <vt:lpstr>1_Office Theme</vt:lpstr>
      <vt:lpstr>6th Grade Accelerated Math  Unit 2, Lesson 1  Equivalent Conversions: Fractions ↔ Decimals; Decimals ↔ Percentages  Volume 1, pg. 41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Guided Instruction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Unit 2, Lesson 1  Equivalent Conversions: Fractions ↔ Decimals; Decimals ↔ Percentages  Volume 1, pg. 41  </dc:title>
  <dc:creator>Karen McKenzie</dc:creator>
  <cp:lastModifiedBy>Cassie O'Connor</cp:lastModifiedBy>
  <cp:revision>4</cp:revision>
  <dcterms:created xsi:type="dcterms:W3CDTF">2015-03-17T18:51:18Z</dcterms:created>
  <dcterms:modified xsi:type="dcterms:W3CDTF">2022-06-29T04:49:17Z</dcterms:modified>
</cp:coreProperties>
</file>