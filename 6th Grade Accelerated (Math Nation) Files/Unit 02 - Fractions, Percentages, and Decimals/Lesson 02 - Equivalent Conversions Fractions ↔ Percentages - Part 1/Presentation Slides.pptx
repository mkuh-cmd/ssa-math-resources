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7" roundtripDataSignature="AMtx7miKkIZYWtcBbV/d5bv1fMzhOj84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CBCB87A-218F-4658-BD8C-BF0D382085A5}">
  <a:tblStyle styleId="{CCBCB87A-218F-4658-BD8C-BF0D382085A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1507"/>
    <p:restoredTop sz="94582"/>
  </p:normalViewPr>
  <p:slideViewPr>
    <p:cSldViewPr snapToGrid="0">
      <p:cViewPr varScale="1">
        <p:scale>
          <a:sx n="79" d="100"/>
          <a:sy n="79" d="100"/>
        </p:scale>
        <p:origin x="1426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7" Type="http://customschemas.google.com/relationships/presentationmetadata" Target="meta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0" name="Google Shape;120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" name="Google Shape;14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3" name="Google Shape;153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3" name="Google Shape;16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5" name="Google Shape;175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1120177c77f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" name="Google Shape;183;g1120177c77f_0_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4" name="Google Shape;184;g1120177c77f_0_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120177c77f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g1120177c77f_0_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4" name="Google Shape;194;g1120177c77f_0_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1120177c77f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6" name="Google Shape;206;g1120177c77f_0_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7" name="Google Shape;207;g1120177c77f_0_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1120177c77f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6" name="Google Shape;216;g1120177c77f_0_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7" name="Google Shape;217;g1120177c77f_0_5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1120177c77f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8" name="Google Shape;228;g1120177c77f_0_6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9" name="Google Shape;229;g1120177c77f_0_6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1120177c77f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8" name="Google Shape;238;g1120177c77f_0_8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9" name="Google Shape;239;g1120177c77f_0_8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1120177c77f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8" name="Google Shape;248;g1120177c77f_0_9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9" name="Google Shape;249;g1120177c77f_0_9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120177c77f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8" name="Google Shape;258;g1120177c77f_0_10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9" name="Google Shape;259;g1120177c77f_0_10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1120177c77f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0" name="Google Shape;270;g1120177c77f_0_1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1" name="Google Shape;271;g1120177c77f_0_1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1120177c77f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g1120177c77f_0_1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1" name="Google Shape;281;g1120177c77f_0_1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120177c77f_0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3" name="Google Shape;293;g1120177c77f_0_1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4" name="Google Shape;294;g1120177c77f_0_1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1120177c77f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4" name="Google Shape;304;g1120177c77f_0_1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5" name="Google Shape;305;g1120177c77f_0_16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1120177c77f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4" name="Google Shape;314;g1120177c77f_0_16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5" name="Google Shape;315;g1120177c77f_0_16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4" name="Google Shape;24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1" name="Google Shape;51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2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Accelerated Math</a:t>
            </a:r>
            <a:b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sz="32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2, Lesson 2</a:t>
            </a:r>
            <a:b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Equivalent Conversions: Fractions </a:t>
            </a: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</a:rPr>
              <a:t>↔</a:t>
            </a:r>
            <a:r>
              <a:rPr lang="en-US" sz="3200" b="1" dirty="0">
                <a:solidFill>
                  <a:srgbClr val="417DB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Percentages – Part 1</a:t>
            </a:r>
            <a:b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47</a:t>
            </a:r>
            <a:endParaRPr sz="2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sz="32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200" b="1" dirty="0">
              <a:solidFill>
                <a:srgbClr val="417DBF"/>
              </a:solidFill>
            </a:endParaRPr>
          </a:p>
        </p:txBody>
      </p:sp>
      <p:cxnSp>
        <p:nvCxnSpPr>
          <p:cNvPr id="114" name="Google Shape;114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5" name="Google Shape;115;g104476d1465_0_0"/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16" name="Google Shape;116;g104476d1465_0_0" descr="A blue sign with white text&#10;&#10;Description automatically generated with medium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1640" y="1518526"/>
            <a:ext cx="3270825" cy="381284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23" name="Google Shape;123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502850" y="2038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4" name="Google Shape;124;g104476d1465_1_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9350" y="23781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25" name="Google Shape;125;g104476d1465_1_17"/>
          <p:cNvSpPr txBox="1"/>
          <p:nvPr/>
        </p:nvSpPr>
        <p:spPr>
          <a:xfrm>
            <a:off x="86990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47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372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27" name="Google Shape;127;g104476d1465_1_17"/>
          <p:cNvSpPr txBox="1"/>
          <p:nvPr/>
        </p:nvSpPr>
        <p:spPr>
          <a:xfrm>
            <a:off x="1426650" y="1600200"/>
            <a:ext cx="878415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1100"/>
            </a:pPr>
            <a:r>
              <a:rPr lang="en-US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MA.6.NSO.3.5</a:t>
            </a:r>
            <a:endParaRPr sz="3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2100"/>
            </a:pPr>
            <a:r>
              <a:rPr lang="en-US" sz="36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Rewrite positive rational numbers in different but equivalent forms including fractions, terminating decimals, and percentages.</a:t>
            </a:r>
            <a:endParaRPr sz="36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1750" y="3469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35" name="Google Shape;135;p1"/>
          <p:cNvSpPr txBox="1"/>
          <p:nvPr/>
        </p:nvSpPr>
        <p:spPr>
          <a:xfrm>
            <a:off x="1576400" y="10426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0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  <a:endParaRPr/>
          </a:p>
        </p:txBody>
      </p:sp>
      <p:sp>
        <p:nvSpPr>
          <p:cNvPr id="136" name="Google Shape;136;p1"/>
          <p:cNvSpPr txBox="1"/>
          <p:nvPr/>
        </p:nvSpPr>
        <p:spPr>
          <a:xfrm>
            <a:off x="1576400" y="1596390"/>
            <a:ext cx="863446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3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MA.K12.MTR.2.1 Demonstrate understanding by representing problems in multiple ways.</a:t>
            </a:r>
            <a:endParaRPr sz="3600">
              <a:latin typeface="Verdana"/>
              <a:ea typeface="Verdana"/>
              <a:cs typeface="Verdana"/>
              <a:sym typeface="Verdana"/>
            </a:endParaRPr>
          </a:p>
          <a:p>
            <a:pPr marL="457200"/>
            <a:endParaRPr sz="36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36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MA.K12.MTR.3.1 Complete tasks with mathematical fluency.</a:t>
            </a:r>
            <a:endParaRPr sz="36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7" name="Google Shape;137;p1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8" name="Google Shape;125;g104476d1465_1_17"/>
          <p:cNvSpPr txBox="1"/>
          <p:nvPr/>
        </p:nvSpPr>
        <p:spPr>
          <a:xfrm>
            <a:off x="86990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47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372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"/>
          <p:cNvSpPr txBox="1"/>
          <p:nvPr/>
        </p:nvSpPr>
        <p:spPr>
          <a:xfrm>
            <a:off x="1374075" y="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700" b="1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  <a:endParaRPr/>
          </a:p>
        </p:txBody>
      </p:sp>
      <p:pic>
        <p:nvPicPr>
          <p:cNvPr id="146" name="Google Shape;146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1913" y="2892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47" name="Google Shape;147;p2"/>
          <p:cNvSpPr txBox="1"/>
          <p:nvPr/>
        </p:nvSpPr>
        <p:spPr>
          <a:xfrm>
            <a:off x="1339213" y="1600200"/>
            <a:ext cx="8871587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450850">
              <a:lnSpc>
                <a:spcPct val="115000"/>
              </a:lnSpc>
              <a:buClr>
                <a:schemeClr val="dk1"/>
              </a:buClr>
              <a:buSzPts val="3500"/>
              <a:buFont typeface="Verdana"/>
              <a:buChar char="❏"/>
            </a:pPr>
            <a:r>
              <a:rPr lang="en-US" sz="35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 can convert between fractions with denominators of  and percentages.</a:t>
            </a:r>
            <a:endParaRPr sz="35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indent="-450850">
              <a:lnSpc>
                <a:spcPct val="115000"/>
              </a:lnSpc>
              <a:buClr>
                <a:schemeClr val="dk1"/>
              </a:buClr>
              <a:buSzPts val="3500"/>
              <a:buFont typeface="Verdana"/>
              <a:buChar char="❏"/>
            </a:pPr>
            <a:r>
              <a:rPr lang="en-US" sz="35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 can convert between fractions and percentages using equivalent fractions.</a:t>
            </a:r>
            <a:endParaRPr sz="35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8" name="Google Shape;148;p2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8" name="Google Shape;125;g104476d1465_1_17"/>
          <p:cNvSpPr txBox="1"/>
          <p:nvPr/>
        </p:nvSpPr>
        <p:spPr>
          <a:xfrm>
            <a:off x="86990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47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372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04476d1465_1_39"/>
          <p:cNvSpPr/>
          <p:nvPr/>
        </p:nvSpPr>
        <p:spPr>
          <a:xfrm>
            <a:off x="0" y="-3785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57" name="Google Shape;157;g104476d1465_1_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8" name="Google Shape;158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125;g104476d1465_1_17"/>
          <p:cNvSpPr txBox="1"/>
          <p:nvPr/>
        </p:nvSpPr>
        <p:spPr>
          <a:xfrm>
            <a:off x="86990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47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372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"/>
          <p:cNvSpPr txBox="1"/>
          <p:nvPr/>
        </p:nvSpPr>
        <p:spPr>
          <a:xfrm>
            <a:off x="1446938" y="14326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2.2.1 Warm-Up: </a:t>
            </a:r>
            <a:r>
              <a:rPr lang="en-US" sz="3200" b="1">
                <a:solidFill>
                  <a:srgbClr val="41266B"/>
                </a:solidFill>
                <a:latin typeface="Verdana"/>
                <a:ea typeface="Verdana"/>
                <a:cs typeface="Verdana"/>
                <a:sym typeface="Verdana"/>
              </a:rPr>
              <a:t>A Brief History of Numerical Systems</a:t>
            </a:r>
            <a:endParaRPr sz="3200"/>
          </a:p>
        </p:txBody>
      </p:sp>
      <p:pic>
        <p:nvPicPr>
          <p:cNvPr id="167" name="Google Shape;167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638" y="28042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68" name="Google Shape;168;p4"/>
          <p:cNvSpPr txBox="1"/>
          <p:nvPr/>
        </p:nvSpPr>
        <p:spPr>
          <a:xfrm>
            <a:off x="1446938" y="1259251"/>
            <a:ext cx="8929085" cy="4395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dk1"/>
              </a:buClr>
              <a:buSzPts val="1100"/>
            </a:pPr>
            <a:endParaRPr dirty="0"/>
          </a:p>
          <a:p>
            <a:pPr>
              <a:lnSpc>
                <a:spcPct val="115000"/>
              </a:lnSpc>
            </a:pPr>
            <a:r>
              <a:rPr lang="en-US" sz="21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Humans went from using body parts, tally marks, and symbols to count objects, to what we now know as the base-ten system. The base-ten system was perfected by eighth century Indian mathematicians. They realized that they could combine the Mayan creation of “zero” with a positional system that used repeatable symbols, whose values are determined by their position in a sequence. A base of ten was selected because, quite simply, we have ten fingers. Centuries later, this Hindu-Arabic numeral system began to spread to Europe  </a:t>
            </a:r>
          </a:p>
          <a:p>
            <a:pPr>
              <a:lnSpc>
                <a:spcPct val="115000"/>
              </a:lnSpc>
            </a:pPr>
            <a:r>
              <a:rPr lang="en-US" sz="21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and replaced the Roman numeral system. This is </a:t>
            </a:r>
          </a:p>
          <a:p>
            <a:pPr>
              <a:lnSpc>
                <a:spcPct val="115000"/>
              </a:lnSpc>
            </a:pPr>
            <a:r>
              <a:rPr lang="en-US" sz="21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what we use today.</a:t>
            </a:r>
            <a:endParaRPr sz="21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70" name="Google Shape;170;p4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99050" y="4551462"/>
            <a:ext cx="1763400" cy="17745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25;g104476d1465_1_17"/>
          <p:cNvSpPr txBox="1"/>
          <p:nvPr/>
        </p:nvSpPr>
        <p:spPr>
          <a:xfrm>
            <a:off x="86990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47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372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"/>
          <p:cNvSpPr txBox="1"/>
          <p:nvPr/>
        </p:nvSpPr>
        <p:spPr>
          <a:xfrm>
            <a:off x="1346200" y="520393"/>
            <a:ext cx="8988665" cy="3065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381000">
              <a:lnSpc>
                <a:spcPct val="115000"/>
              </a:lnSpc>
              <a:buClr>
                <a:schemeClr val="dk1"/>
              </a:buClr>
              <a:buSzPts val="2400"/>
              <a:buFont typeface="Verdana"/>
              <a:buAutoNum type="arabicPeriod"/>
            </a:pPr>
            <a:r>
              <a:rPr lang="en-US" sz="2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What is the historical importance of the number zero?</a:t>
            </a:r>
          </a:p>
          <a:p>
            <a:pPr marL="457200" indent="-381000">
              <a:lnSpc>
                <a:spcPct val="115000"/>
              </a:lnSpc>
              <a:buClr>
                <a:schemeClr val="dk1"/>
              </a:buClr>
              <a:buSzPts val="2400"/>
              <a:buFont typeface="Verdana"/>
              <a:buAutoNum type="arabicPeriod"/>
            </a:pPr>
            <a:endParaRPr lang="en-US" sz="24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indent="-381000">
              <a:lnSpc>
                <a:spcPct val="115000"/>
              </a:lnSpc>
              <a:buClr>
                <a:schemeClr val="dk1"/>
              </a:buClr>
              <a:buSzPts val="2400"/>
              <a:buFont typeface="Verdana"/>
              <a:buAutoNum type="arabicPeriod"/>
            </a:pPr>
            <a:endParaRPr lang="en-US" sz="24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indent="-381000">
              <a:lnSpc>
                <a:spcPct val="115000"/>
              </a:lnSpc>
              <a:buClr>
                <a:schemeClr val="dk1"/>
              </a:buClr>
              <a:buSzPts val="2400"/>
              <a:buFont typeface="Verdana"/>
              <a:buAutoNum type="arabicPeriod"/>
            </a:pPr>
            <a:endParaRPr lang="en-US" sz="24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indent="-381000">
              <a:lnSpc>
                <a:spcPct val="115000"/>
              </a:lnSpc>
              <a:buClr>
                <a:schemeClr val="dk1"/>
              </a:buClr>
              <a:buSzPts val="2400"/>
              <a:buFont typeface="Verdana"/>
              <a:buAutoNum type="arabicPeriod"/>
            </a:pPr>
            <a:endParaRPr lang="en-US" sz="24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indent="-381000">
              <a:lnSpc>
                <a:spcPct val="115000"/>
              </a:lnSpc>
              <a:buClr>
                <a:schemeClr val="dk1"/>
              </a:buClr>
              <a:buSzPts val="2400"/>
              <a:buFont typeface="Verdana"/>
              <a:buAutoNum type="arabicPeriod"/>
            </a:pPr>
            <a:r>
              <a:rPr lang="en-US" sz="2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 zero was never created, how would that affect how we do math today?</a:t>
            </a:r>
            <a:endParaRPr sz="24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6" name="Google Shape;125;g104476d1465_1_17"/>
          <p:cNvSpPr txBox="1"/>
          <p:nvPr/>
        </p:nvSpPr>
        <p:spPr>
          <a:xfrm>
            <a:off x="86990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47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126;g104476d1465_1_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372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1120177c77f_0_9"/>
          <p:cNvSpPr/>
          <p:nvPr/>
        </p:nvSpPr>
        <p:spPr>
          <a:xfrm>
            <a:off x="0" y="-4055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88" name="Google Shape;188;g1120177c77f_0_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8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89" name="Google Shape;189;g1120177c77f_0_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Google Shape;125;g104476d1465_1_17"/>
          <p:cNvSpPr txBox="1"/>
          <p:nvPr/>
        </p:nvSpPr>
        <p:spPr>
          <a:xfrm>
            <a:off x="8699050" y="6457674"/>
            <a:ext cx="26340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48</a:t>
            </a:r>
          </a:p>
          <a:p>
            <a:pPr algn="r">
              <a:buSzPts val="1400"/>
            </a:pP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372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1120177c77f_0_18"/>
          <p:cNvSpPr txBox="1"/>
          <p:nvPr/>
        </p:nvSpPr>
        <p:spPr>
          <a:xfrm>
            <a:off x="1384370" y="6254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2800" b="1">
                <a:solidFill>
                  <a:srgbClr val="26B6D4"/>
                </a:solidFill>
                <a:latin typeface="Verdana"/>
                <a:ea typeface="Verdana"/>
                <a:cs typeface="Verdana"/>
                <a:sym typeface="Verdana"/>
              </a:rPr>
              <a:t>2.2.2 Guided Instruction: Converting Between Fractions and Percentages</a:t>
            </a:r>
            <a:endParaRPr sz="2400"/>
          </a:p>
        </p:txBody>
      </p:sp>
      <p:pic>
        <p:nvPicPr>
          <p:cNvPr id="198" name="Google Shape;198;g1120177c77f_0_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7070" y="26980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99" name="Google Shape;199;g1120177c77f_0_18"/>
          <p:cNvSpPr txBox="1"/>
          <p:nvPr/>
        </p:nvSpPr>
        <p:spPr>
          <a:xfrm>
            <a:off x="1384370" y="1386026"/>
            <a:ext cx="9003178" cy="4827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model represents a numerical value. Use the model to answer the questions that follow.</a:t>
            </a:r>
          </a:p>
          <a:p>
            <a:pPr lvl="0"/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5988" lvl="1" indent="-484188">
              <a:buAutoNum type="alphaLcPeriod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How many total squares are in the </a:t>
            </a:r>
          </a:p>
          <a:p>
            <a:pPr marL="915988" lvl="1" indent="-484188"/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image?</a:t>
            </a:r>
          </a:p>
          <a:p>
            <a:pPr marL="915988" lvl="1" indent="-484188"/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5988" lvl="1" indent="-484188">
              <a:buAutoNum type="alphaLcPeriod" startAt="2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How many of the squares are </a:t>
            </a:r>
          </a:p>
          <a:p>
            <a:pPr marL="431800" lvl="1"/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shaded blue?</a:t>
            </a:r>
          </a:p>
          <a:p>
            <a:pPr marL="915988" lvl="1" indent="-484188">
              <a:buAutoNum type="alphaLcPeriod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889000" lvl="1" indent="-457200">
              <a:buAutoNum type="alphaLcPeriod" startAt="3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numerical value does the</a:t>
            </a:r>
          </a:p>
          <a:p>
            <a:pPr marL="431800" lvl="1"/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model represent, expressed </a:t>
            </a:r>
          </a:p>
          <a:p>
            <a:pPr marL="431800" lvl="1"/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as a fraction of                     ? </a:t>
            </a:r>
          </a:p>
          <a:p>
            <a:pPr marL="558800" indent="-493713">
              <a:lnSpc>
                <a:spcPct val="115000"/>
              </a:lnSpc>
              <a:buClr>
                <a:schemeClr val="dk1"/>
              </a:buClr>
              <a:buSzPts val="2000"/>
              <a:buFont typeface="+mj-lt"/>
              <a:buAutoNum type="arabicPeriod"/>
            </a:pPr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>
              <a:lnSpc>
                <a:spcPct val="115000"/>
              </a:lnSpc>
            </a:pPr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00" name="Google Shape;200;g1120177c77f_0_18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01" name="Google Shape;201;g1120177c77f_0_18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37274" y="2813305"/>
            <a:ext cx="2701850" cy="28398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g1120177c77f_0_18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3422" y="5161752"/>
            <a:ext cx="1974124" cy="491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5;g104476d1465_1_17"/>
          <p:cNvSpPr txBox="1"/>
          <p:nvPr/>
        </p:nvSpPr>
        <p:spPr>
          <a:xfrm>
            <a:off x="8699050" y="6457674"/>
            <a:ext cx="26340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48</a:t>
            </a:r>
          </a:p>
          <a:p>
            <a:pPr algn="r">
              <a:buSzPts val="1400"/>
            </a:pP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126;g104476d1465_1_17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372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1120177c77f_0_28"/>
          <p:cNvSpPr txBox="1"/>
          <p:nvPr/>
        </p:nvSpPr>
        <p:spPr>
          <a:xfrm>
            <a:off x="1932457" y="881545"/>
            <a:ext cx="8327100" cy="5153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-US" sz="26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Recall that a </a:t>
            </a:r>
            <a:r>
              <a:rPr lang="en-US" sz="2600" b="1" i="1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percentage </a:t>
            </a:r>
            <a:r>
              <a:rPr lang="en-US" sz="26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is a ratio expressed as a fraction of 100. </a:t>
            </a:r>
            <a:endParaRPr sz="26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>
              <a:lnSpc>
                <a:spcPct val="115000"/>
              </a:lnSpc>
            </a:pPr>
            <a:endParaRPr sz="26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>
              <a:lnSpc>
                <a:spcPct val="115000"/>
              </a:lnSpc>
            </a:pPr>
            <a:endParaRPr sz="26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>
              <a:lnSpc>
                <a:spcPct val="115000"/>
              </a:lnSpc>
            </a:pPr>
            <a:endParaRPr sz="26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>
              <a:lnSpc>
                <a:spcPct val="115000"/>
              </a:lnSpc>
            </a:pPr>
            <a:endParaRPr sz="26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>
              <a:lnSpc>
                <a:spcPct val="115000"/>
              </a:lnSpc>
            </a:pPr>
            <a:endParaRPr sz="26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>
              <a:lnSpc>
                <a:spcPct val="115000"/>
              </a:lnSpc>
            </a:pPr>
            <a:endParaRPr sz="26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>
              <a:lnSpc>
                <a:spcPct val="115000"/>
              </a:lnSpc>
            </a:pPr>
            <a:r>
              <a:rPr lang="en-US" sz="26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For example, 40% means “40 out of 100,” so 40% is equivalent to the fraction     .</a:t>
            </a:r>
            <a:endParaRPr sz="26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>
              <a:lnSpc>
                <a:spcPct val="115000"/>
              </a:lnSpc>
              <a:buClr>
                <a:schemeClr val="dk1"/>
              </a:buClr>
              <a:buSzPts val="1100"/>
            </a:pPr>
            <a:endParaRPr sz="26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11" name="Google Shape;211;g1120177c77f_0_28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12" name="Google Shape;212;g1120177c77f_0_28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32451" y="2704392"/>
            <a:ext cx="8327101" cy="1118158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24;g1120177c77f_0_55">
            <a:extLst>
              <a:ext uri="{FF2B5EF4-FFF2-40B4-BE49-F238E27FC236}">
                <a16:creationId xmlns:a16="http://schemas.microsoft.com/office/drawing/2014/main" id="{CE411D48-33BA-8F42-A0C9-CADED68E0C8A}"/>
              </a:ext>
            </a:extLst>
          </p:cNvPr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6933" r="10392"/>
          <a:stretch/>
        </p:blipFill>
        <p:spPr>
          <a:xfrm>
            <a:off x="7620001" y="4929809"/>
            <a:ext cx="391621" cy="56575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25;g104476d1465_1_17"/>
          <p:cNvSpPr txBox="1"/>
          <p:nvPr/>
        </p:nvSpPr>
        <p:spPr>
          <a:xfrm>
            <a:off x="8699050" y="6457674"/>
            <a:ext cx="26340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48</a:t>
            </a:r>
          </a:p>
          <a:p>
            <a:pPr algn="r">
              <a:buSzPts val="1400"/>
            </a:pP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372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1120177c77f_0_55"/>
          <p:cNvSpPr txBox="1"/>
          <p:nvPr/>
        </p:nvSpPr>
        <p:spPr>
          <a:xfrm>
            <a:off x="1932457" y="34346"/>
            <a:ext cx="8327100" cy="2215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06400">
              <a:lnSpc>
                <a:spcPct val="115000"/>
              </a:lnSpc>
              <a:buClr>
                <a:schemeClr val="lt1"/>
              </a:buClr>
              <a:buSzPts val="2800"/>
              <a:buFont typeface="Verdana"/>
              <a:buAutoNum type="arabicPeriod"/>
            </a:pPr>
            <a:r>
              <a:rPr lang="en-US" sz="2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sz="28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indent="-406400">
              <a:lnSpc>
                <a:spcPct val="115000"/>
              </a:lnSpc>
              <a:buClr>
                <a:schemeClr val="dk1"/>
              </a:buClr>
              <a:buSzPts val="2800"/>
              <a:buFont typeface="Verdana"/>
              <a:buAutoNum type="arabicPeriod"/>
            </a:pPr>
            <a:r>
              <a:rPr lang="en-US" sz="2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What decimal value has the same value         as 40% and     ?</a:t>
            </a:r>
            <a:endParaRPr sz="2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indent="203200">
              <a:lnSpc>
                <a:spcPct val="115000"/>
              </a:lnSpc>
            </a:pPr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indent="203200">
              <a:lnSpc>
                <a:spcPct val="115000"/>
              </a:lnSpc>
            </a:pPr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21" name="Google Shape;221;g1120177c77f_0_55"/>
          <p:cNvSpPr/>
          <p:nvPr/>
        </p:nvSpPr>
        <p:spPr>
          <a:xfrm>
            <a:off x="-32013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graphicFrame>
        <p:nvGraphicFramePr>
          <p:cNvPr id="222" name="Google Shape;222;g1120177c77f_0_55"/>
          <p:cNvGraphicFramePr/>
          <p:nvPr/>
        </p:nvGraphicFramePr>
        <p:xfrm>
          <a:off x="1987451" y="2284213"/>
          <a:ext cx="8217075" cy="2547150"/>
        </p:xfrm>
        <a:graphic>
          <a:graphicData uri="http://schemas.openxmlformats.org/drawingml/2006/table">
            <a:tbl>
              <a:tblPr>
                <a:noFill/>
                <a:tableStyleId>{CCBCB87A-218F-4658-BD8C-BF0D382085A5}</a:tableStyleId>
              </a:tblPr>
              <a:tblGrid>
                <a:gridCol w="2739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9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9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1050">
                <a:tc gridSpan="3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Equivalent Values</a:t>
                      </a:r>
                      <a:endParaRPr sz="1800" b="1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10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Percent Form</a:t>
                      </a:r>
                      <a:endParaRPr sz="1800" b="1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Fraction Form</a:t>
                      </a:r>
                      <a:endParaRPr sz="1800" b="1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Decimal Form</a:t>
                      </a:r>
                      <a:endParaRPr sz="1800" b="1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650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40%</a:t>
                      </a:r>
                      <a:endParaRPr sz="30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endParaRPr sz="1800" dirty="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23" name="Google Shape;223;g1120177c77f_0_55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93191" y="3717201"/>
            <a:ext cx="805600" cy="93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g1120177c77f_0_55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6933" r="10392"/>
          <a:stretch/>
        </p:blipFill>
        <p:spPr>
          <a:xfrm>
            <a:off x="4744279" y="1015828"/>
            <a:ext cx="351866" cy="55183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25;g104476d1465_1_17"/>
          <p:cNvSpPr txBox="1"/>
          <p:nvPr/>
        </p:nvSpPr>
        <p:spPr>
          <a:xfrm>
            <a:off x="8699050" y="6457674"/>
            <a:ext cx="26340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48</a:t>
            </a:r>
          </a:p>
          <a:p>
            <a:pPr algn="r">
              <a:buSzPts val="1400"/>
            </a:pP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372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1120177c77f_0_69"/>
          <p:cNvSpPr txBox="1"/>
          <p:nvPr/>
        </p:nvSpPr>
        <p:spPr>
          <a:xfrm>
            <a:off x="927100" y="-77380"/>
            <a:ext cx="10337788" cy="175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317500">
              <a:lnSpc>
                <a:spcPct val="115000"/>
              </a:lnSpc>
              <a:buClr>
                <a:schemeClr val="lt1"/>
              </a:buClr>
              <a:buSzPts val="1400"/>
              <a:buFont typeface="Verdana"/>
              <a:buAutoNum type="arabicPeriod"/>
            </a:pPr>
            <a:r>
              <a:rPr lang="en-US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indent="-317500">
              <a:lnSpc>
                <a:spcPct val="115000"/>
              </a:lnSpc>
              <a:buClr>
                <a:schemeClr val="lt1"/>
              </a:buClr>
              <a:buSzPts val="1400"/>
              <a:buFont typeface="Verdana"/>
              <a:buAutoNum type="arabicPeriod"/>
            </a:pPr>
            <a:r>
              <a:rPr lang="en-US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indent="-381000">
              <a:lnSpc>
                <a:spcPct val="115000"/>
              </a:lnSpc>
              <a:buClr>
                <a:schemeClr val="dk1"/>
              </a:buClr>
              <a:buSzPts val="2400"/>
              <a:buFont typeface="Verdana"/>
              <a:buAutoNum type="arabicPeriod"/>
            </a:pPr>
            <a:r>
              <a:rPr lang="en-US" sz="2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With your partner, complete the table by rewriting each value in the equivalent form indicated. </a:t>
            </a:r>
            <a:endParaRPr sz="24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indent="203200">
              <a:lnSpc>
                <a:spcPct val="115000"/>
              </a:lnSpc>
            </a:pPr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33" name="Google Shape;233;g1120177c77f_0_69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34" name="Google Shape;234;g1120177c77f_0_6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07736" y="1462888"/>
            <a:ext cx="5976516" cy="506634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25;g104476d1465_1_17"/>
          <p:cNvSpPr txBox="1"/>
          <p:nvPr/>
        </p:nvSpPr>
        <p:spPr>
          <a:xfrm>
            <a:off x="8699050" y="6457674"/>
            <a:ext cx="26340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48</a:t>
            </a:r>
          </a:p>
          <a:p>
            <a:pPr algn="r">
              <a:buSzPts val="1400"/>
            </a:pP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372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1120177c77f_0_80"/>
          <p:cNvSpPr txBox="1"/>
          <p:nvPr/>
        </p:nvSpPr>
        <p:spPr>
          <a:xfrm>
            <a:off x="1028700" y="397501"/>
            <a:ext cx="10342050" cy="2269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-US" sz="2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When converting fractions to percentages, generate an equivalent fraction with a denominator of 100 when possible.</a:t>
            </a:r>
            <a:endParaRPr sz="24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indent="-260350">
              <a:lnSpc>
                <a:spcPct val="115000"/>
              </a:lnSpc>
              <a:buClr>
                <a:schemeClr val="lt1"/>
              </a:buClr>
              <a:buSzPts val="500"/>
              <a:buFont typeface="Verdana"/>
              <a:buAutoNum type="arabicPeriod"/>
            </a:pPr>
            <a:r>
              <a:rPr lang="en-US" sz="500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sz="500" dirty="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indent="-260350">
              <a:lnSpc>
                <a:spcPct val="115000"/>
              </a:lnSpc>
              <a:buClr>
                <a:schemeClr val="lt1"/>
              </a:buClr>
              <a:buSzPts val="500"/>
              <a:buFont typeface="Verdana"/>
              <a:buAutoNum type="arabicPeriod"/>
            </a:pPr>
            <a:r>
              <a:rPr lang="en-US" sz="500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sz="500" dirty="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indent="-260350">
              <a:lnSpc>
                <a:spcPct val="115000"/>
              </a:lnSpc>
              <a:buClr>
                <a:schemeClr val="lt1"/>
              </a:buClr>
              <a:buSzPts val="500"/>
              <a:buFont typeface="Verdana"/>
              <a:buAutoNum type="arabicPeriod"/>
            </a:pPr>
            <a:r>
              <a:rPr lang="en-US" sz="500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sz="500" dirty="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indent="-381000">
              <a:lnSpc>
                <a:spcPct val="115000"/>
              </a:lnSpc>
              <a:buClr>
                <a:schemeClr val="dk1"/>
              </a:buClr>
              <a:buSzPts val="2400"/>
              <a:buFont typeface="Verdana"/>
              <a:buAutoNum type="arabicPeriod"/>
            </a:pPr>
            <a:r>
              <a:rPr lang="en-US" sz="2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Complete the table. </a:t>
            </a:r>
            <a:endParaRPr sz="24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indent="203200">
              <a:lnSpc>
                <a:spcPct val="115000"/>
              </a:lnSpc>
            </a:pPr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indent="203200">
              <a:lnSpc>
                <a:spcPct val="115000"/>
              </a:lnSpc>
            </a:pPr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43" name="Google Shape;243;g1120177c77f_0_80"/>
          <p:cNvSpPr/>
          <p:nvPr/>
        </p:nvSpPr>
        <p:spPr>
          <a:xfrm>
            <a:off x="0" y="-8347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44" name="Google Shape;244;g1120177c77f_0_80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75661" y="2161209"/>
            <a:ext cx="7048127" cy="377876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25;g104476d1465_1_17"/>
          <p:cNvSpPr txBox="1"/>
          <p:nvPr/>
        </p:nvSpPr>
        <p:spPr>
          <a:xfrm>
            <a:off x="8699050" y="6457674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49</a:t>
            </a: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372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A2FDB9D-3538-414B-A7E8-AE6F3F20F94C}"/>
              </a:ext>
            </a:extLst>
          </p:cNvPr>
          <p:cNvSpPr txBox="1"/>
          <p:nvPr/>
        </p:nvSpPr>
        <p:spPr>
          <a:xfrm>
            <a:off x="6645349" y="4254331"/>
            <a:ext cx="233916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98821A-631E-2249-B1C6-D8A69E6B70A4}"/>
              </a:ext>
            </a:extLst>
          </p:cNvPr>
          <p:cNvSpPr txBox="1"/>
          <p:nvPr/>
        </p:nvSpPr>
        <p:spPr>
          <a:xfrm>
            <a:off x="6645349" y="5151056"/>
            <a:ext cx="350874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FE1913-51E5-A247-AEDD-27FA2E9072A2}"/>
              </a:ext>
            </a:extLst>
          </p:cNvPr>
          <p:cNvSpPr txBox="1"/>
          <p:nvPr/>
        </p:nvSpPr>
        <p:spPr>
          <a:xfrm>
            <a:off x="5964865" y="5539563"/>
            <a:ext cx="276446" cy="24933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1120177c77f_0_96"/>
          <p:cNvSpPr/>
          <p:nvPr/>
        </p:nvSpPr>
        <p:spPr>
          <a:xfrm>
            <a:off x="0" y="-4055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53" name="Google Shape;253;g1120177c77f_0_96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8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54" name="Google Shape;254;g1120177c77f_0_96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2723" y="2852923"/>
            <a:ext cx="1152144" cy="11521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Google Shape;125;g104476d1465_1_17"/>
          <p:cNvSpPr txBox="1"/>
          <p:nvPr/>
        </p:nvSpPr>
        <p:spPr>
          <a:xfrm>
            <a:off x="8699050" y="6457674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49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372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1120177c77f_0_105"/>
          <p:cNvSpPr txBox="1"/>
          <p:nvPr/>
        </p:nvSpPr>
        <p:spPr>
          <a:xfrm>
            <a:off x="1427650" y="48558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2800" b="1">
                <a:solidFill>
                  <a:srgbClr val="26B6D4"/>
                </a:solidFill>
                <a:latin typeface="Verdana"/>
                <a:ea typeface="Verdana"/>
                <a:cs typeface="Verdana"/>
                <a:sym typeface="Verdana"/>
              </a:rPr>
              <a:t>2.2.3 Guided Practice: Converting Between Fractions and Percentages</a:t>
            </a:r>
            <a:endParaRPr sz="2800"/>
          </a:p>
        </p:txBody>
      </p:sp>
      <p:pic>
        <p:nvPicPr>
          <p:cNvPr id="263" name="Google Shape;263;g1120177c77f_0_105" descr="Icon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7842" y="214584"/>
            <a:ext cx="749808" cy="7498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64" name="Google Shape;264;g1120177c77f_0_105"/>
          <p:cNvSpPr txBox="1"/>
          <p:nvPr/>
        </p:nvSpPr>
        <p:spPr>
          <a:xfrm>
            <a:off x="1427650" y="1276402"/>
            <a:ext cx="6014550" cy="1207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361950">
              <a:lnSpc>
                <a:spcPct val="115000"/>
              </a:lnSpc>
              <a:buClr>
                <a:schemeClr val="dk1"/>
              </a:buClr>
              <a:buSzPts val="2100"/>
              <a:buFont typeface="Verdana"/>
              <a:buAutoNum type="arabicPeriod"/>
            </a:pPr>
            <a:r>
              <a:rPr lang="en-US" sz="21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Complete the table by rewriting each value in the equivalent form indicated. Simplify where applicable.</a:t>
            </a:r>
            <a:endParaRPr sz="21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65" name="Google Shape;265;g1120177c77f_0_105"/>
          <p:cNvSpPr/>
          <p:nvPr/>
        </p:nvSpPr>
        <p:spPr>
          <a:xfrm>
            <a:off x="0" y="-8347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66" name="Google Shape;266;g1120177c77f_0_105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14562" y="1276402"/>
            <a:ext cx="4362554" cy="4819598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25;g104476d1465_1_17"/>
          <p:cNvSpPr txBox="1"/>
          <p:nvPr/>
        </p:nvSpPr>
        <p:spPr>
          <a:xfrm>
            <a:off x="8699050" y="6457674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49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372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120177c77f_0_126"/>
          <p:cNvSpPr/>
          <p:nvPr/>
        </p:nvSpPr>
        <p:spPr>
          <a:xfrm>
            <a:off x="0" y="-8347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75" name="Google Shape;275;g1120177c77f_0_126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8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76" name="Google Shape;276;g1120177c77f_0_1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Google Shape;125;g104476d1465_1_17"/>
          <p:cNvSpPr txBox="1"/>
          <p:nvPr/>
        </p:nvSpPr>
        <p:spPr>
          <a:xfrm>
            <a:off x="8699050" y="6457674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50</a:t>
            </a: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372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1120177c77f_0_135"/>
          <p:cNvSpPr txBox="1"/>
          <p:nvPr/>
        </p:nvSpPr>
        <p:spPr>
          <a:xfrm>
            <a:off x="1326050" y="177966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800" b="1" dirty="0">
                <a:solidFill>
                  <a:srgbClr val="F33D5B"/>
                </a:solidFill>
                <a:latin typeface="Verdana"/>
                <a:ea typeface="Verdana"/>
                <a:cs typeface="Verdana"/>
                <a:sym typeface="Verdana"/>
              </a:rPr>
              <a:t>2.2.4 Your Turn!</a:t>
            </a:r>
            <a:endParaRPr sz="4800" dirty="0"/>
          </a:p>
        </p:txBody>
      </p:sp>
      <p:pic>
        <p:nvPicPr>
          <p:cNvPr id="285" name="Google Shape;285;g1120177c77f_0_1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8750" y="118058"/>
            <a:ext cx="747300" cy="7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g1120177c77f_0_135"/>
          <p:cNvSpPr txBox="1"/>
          <p:nvPr/>
        </p:nvSpPr>
        <p:spPr>
          <a:xfrm>
            <a:off x="1066800" y="1190075"/>
            <a:ext cx="9352350" cy="517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381000">
              <a:lnSpc>
                <a:spcPct val="115000"/>
              </a:lnSpc>
              <a:buClr>
                <a:schemeClr val="dk1"/>
              </a:buClr>
              <a:buSzPts val="2400"/>
              <a:buFont typeface="Verdana"/>
              <a:buAutoNum type="arabicPeriod"/>
            </a:pPr>
            <a:r>
              <a:rPr lang="en-US"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Rewrite each fraction as an equivalent percentage.</a:t>
            </a:r>
            <a:endParaRPr sz="2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87" name="Google Shape;287;g1120177c77f_0_135"/>
          <p:cNvSpPr/>
          <p:nvPr/>
        </p:nvSpPr>
        <p:spPr>
          <a:xfrm>
            <a:off x="0" y="-8347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88" name="Google Shape;288;g1120177c77f_0_1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72550" y="1904900"/>
            <a:ext cx="8646684" cy="82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g1120177c77f_0_1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72550" y="4206508"/>
            <a:ext cx="8646676" cy="78013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25;g104476d1465_1_17"/>
          <p:cNvSpPr txBox="1"/>
          <p:nvPr/>
        </p:nvSpPr>
        <p:spPr>
          <a:xfrm>
            <a:off x="8699050" y="6457674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50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26;g104476d1465_1_17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372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1120177c77f_0_145"/>
          <p:cNvSpPr txBox="1"/>
          <p:nvPr/>
        </p:nvSpPr>
        <p:spPr>
          <a:xfrm>
            <a:off x="1371600" y="294748"/>
            <a:ext cx="8887957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266700">
              <a:buClr>
                <a:schemeClr val="lt1"/>
              </a:buClr>
              <a:buSzPts val="600"/>
              <a:buFont typeface="Verdana"/>
              <a:buAutoNum type="arabicPeriod"/>
            </a:pPr>
            <a:r>
              <a:rPr lang="en-US" sz="6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sz="6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indent="-393700">
              <a:buClr>
                <a:schemeClr val="dk1"/>
              </a:buClr>
              <a:buSzPts val="2600"/>
              <a:buFont typeface="Verdana"/>
              <a:buAutoNum type="arabicPeriod"/>
            </a:pPr>
            <a:r>
              <a:rPr lang="en-US" sz="26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Convert each to a fraction. Simplify where applicable.</a:t>
            </a:r>
            <a:endParaRPr sz="2600" dirty="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98" name="Google Shape;298;g1120177c77f_0_145"/>
          <p:cNvSpPr/>
          <p:nvPr/>
        </p:nvSpPr>
        <p:spPr>
          <a:xfrm>
            <a:off x="0" y="-8347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99" name="Google Shape;299;g1120177c77f_0_1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5651" y="1603350"/>
            <a:ext cx="8830901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g1120177c77f_0_145"/>
          <p:cNvPicPr preferRelativeResize="0"/>
          <p:nvPr/>
        </p:nvPicPr>
        <p:blipFill rotWithShape="1">
          <a:blip r:embed="rId4">
            <a:alphaModFix/>
          </a:blip>
          <a:srcRect l="1419"/>
          <a:stretch/>
        </p:blipFill>
        <p:spPr>
          <a:xfrm>
            <a:off x="1805650" y="3937325"/>
            <a:ext cx="8705800" cy="5828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25;g104476d1465_1_17"/>
          <p:cNvSpPr txBox="1"/>
          <p:nvPr/>
        </p:nvSpPr>
        <p:spPr>
          <a:xfrm>
            <a:off x="8699050" y="6457674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50</a:t>
            </a:r>
            <a:endParaRPr lang="en-US"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372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1120177c77f_0_160"/>
          <p:cNvSpPr/>
          <p:nvPr/>
        </p:nvSpPr>
        <p:spPr>
          <a:xfrm>
            <a:off x="0" y="-8347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09" name="Google Shape;309;g1120177c77f_0_160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8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10" name="Google Shape;310;g1120177c77f_0_1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Google Shape;125;g104476d1465_1_17"/>
          <p:cNvSpPr txBox="1"/>
          <p:nvPr/>
        </p:nvSpPr>
        <p:spPr>
          <a:xfrm>
            <a:off x="8699050" y="6457674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51</a:t>
            </a: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372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1120177c77f_0_169"/>
          <p:cNvSpPr txBox="1"/>
          <p:nvPr/>
        </p:nvSpPr>
        <p:spPr>
          <a:xfrm>
            <a:off x="1488013" y="-64043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</a:pPr>
            <a:r>
              <a:rPr lang="en-US" sz="2800" b="1" dirty="0">
                <a:solidFill>
                  <a:srgbClr val="41266B"/>
                </a:solidFill>
                <a:latin typeface="Verdana"/>
                <a:ea typeface="Verdana"/>
                <a:cs typeface="Verdana"/>
                <a:sym typeface="Verdana"/>
              </a:rPr>
              <a:t>2.2.5 Wrap-Up: Ticket Out the Door</a:t>
            </a:r>
            <a:endParaRPr sz="28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19" name="Google Shape;319;g1120177c77f_0_1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8563" y="21855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20" name="Google Shape;320;g1120177c77f_0_169"/>
          <p:cNvSpPr txBox="1"/>
          <p:nvPr/>
        </p:nvSpPr>
        <p:spPr>
          <a:xfrm>
            <a:off x="1488013" y="1101775"/>
            <a:ext cx="9128813" cy="941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381000">
              <a:lnSpc>
                <a:spcPct val="115000"/>
              </a:lnSpc>
              <a:buClr>
                <a:schemeClr val="dk1"/>
              </a:buClr>
              <a:buSzPts val="2400"/>
              <a:buFont typeface="Verdana"/>
              <a:buAutoNum type="arabicPeriod"/>
            </a:pPr>
            <a:r>
              <a:rPr lang="en-US" sz="2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Use the numbers below to create three more fractions equivalent to any three percentages in the table.</a:t>
            </a:r>
            <a:endParaRPr sz="24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21" name="Google Shape;321;g1120177c77f_0_169"/>
          <p:cNvSpPr/>
          <p:nvPr/>
        </p:nvSpPr>
        <p:spPr>
          <a:xfrm>
            <a:off x="0" y="-5709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22" name="Google Shape;322;g1120177c77f_0_169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21175" y="2413076"/>
            <a:ext cx="8019298" cy="1277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g1120177c77f_0_169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67276" y="3874151"/>
            <a:ext cx="8327101" cy="214277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25;g104476d1465_1_17"/>
          <p:cNvSpPr txBox="1"/>
          <p:nvPr/>
        </p:nvSpPr>
        <p:spPr>
          <a:xfrm>
            <a:off x="8699050" y="6457674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51</a:t>
            </a:r>
          </a:p>
        </p:txBody>
      </p:sp>
      <p:pic>
        <p:nvPicPr>
          <p:cNvPr id="11" name="Google Shape;126;g104476d1465_1_17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3727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641</Words>
  <Application>Microsoft Office PowerPoint</Application>
  <PresentationFormat>Widescreen</PresentationFormat>
  <Paragraphs>111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Arial Black</vt:lpstr>
      <vt:lpstr>Calibri</vt:lpstr>
      <vt:lpstr>Verdana</vt:lpstr>
      <vt:lpstr>1_Office Theme</vt:lpstr>
      <vt:lpstr>6th Grade Accelerated Math  Unit 2, Lesson 2  Equivalent Conversions: Fractions ↔ Percentages – Part 1  Volume 1, pg. 47  </vt:lpstr>
      <vt:lpstr>Benchmark</vt:lpstr>
      <vt:lpstr>PowerPoint Presentation</vt:lpstr>
      <vt:lpstr>PowerPoint Presentation</vt:lpstr>
      <vt:lpstr>Warm-Up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6th Grade Accelerated Math  Unit 2, Lesson 2  Equivalent Conversions: Fractions  Percentages – Part 1  Volume 1, pg. 47  </dc:title>
  <dc:creator>Karen McKenzie</dc:creator>
  <cp:lastModifiedBy>Cassie O'Connor</cp:lastModifiedBy>
  <cp:revision>5</cp:revision>
  <dcterms:created xsi:type="dcterms:W3CDTF">2015-03-17T18:51:18Z</dcterms:created>
  <dcterms:modified xsi:type="dcterms:W3CDTF">2022-06-29T04:50:24Z</dcterms:modified>
</cp:coreProperties>
</file>