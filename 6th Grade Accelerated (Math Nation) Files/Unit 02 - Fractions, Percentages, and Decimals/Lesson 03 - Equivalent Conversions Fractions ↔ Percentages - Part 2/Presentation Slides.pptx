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qRcAHtxubLqHnV7IxXZisLohF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7241"/>
    <p:restoredTop sz="94663"/>
  </p:normalViewPr>
  <p:slideViewPr>
    <p:cSldViewPr snapToGrid="0">
      <p:cViewPr varScale="1">
        <p:scale>
          <a:sx n="79" d="100"/>
          <a:sy n="79" d="100"/>
        </p:scale>
        <p:origin x="142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13766fc94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13766fc94b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g113766fc94b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13766fc94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113766fc94b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g113766fc94b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13766fc94b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113766fc94b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113766fc94b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13766fc94b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113766fc94b_0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113766fc94b_0_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13766fc94b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113766fc94b_0_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g113766fc94b_0_1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13766fc94b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g113766fc94b_0_1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" name="Google Shape;270;g113766fc94b_0_1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13766fc94b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g113766fc94b_0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g113766fc94b_0_1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13766fc94b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113766fc94b_0_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g113766fc94b_0_1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3" y="2140976"/>
            <a:ext cx="4925100" cy="3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3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Equivalent Conversions: Fractions 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</a:rPr>
              <a:t>↔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Percentages – Part 2 </a:t>
            </a:r>
            <a:endParaRPr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51</a:t>
            </a:r>
            <a:endParaRPr sz="3200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753" y="1522577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99050" y="1492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550" y="3850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51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422850" y="1600200"/>
            <a:ext cx="87879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MA.6.NSO.3.5</a:t>
            </a:r>
            <a:endParaRPr sz="3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Rewrite positive rational numbers in different but equivalent forms including fractions, terminating decimals, and percentages.</a:t>
            </a:r>
            <a:endParaRPr sz="3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750" y="3850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35" name="Google Shape;135;p1"/>
          <p:cNvSpPr txBox="1"/>
          <p:nvPr/>
        </p:nvSpPr>
        <p:spPr>
          <a:xfrm>
            <a:off x="1576400" y="1423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6" name="Google Shape;136;p1"/>
          <p:cNvSpPr txBox="1"/>
          <p:nvPr/>
        </p:nvSpPr>
        <p:spPr>
          <a:xfrm>
            <a:off x="1576400" y="1596390"/>
            <a:ext cx="86344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3600"/>
            </a:pPr>
            <a:r>
              <a:rPr lang="en-US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sz="3600"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buSzPts val="2400"/>
            </a:pP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3600"/>
            </a:pPr>
            <a:r>
              <a:rPr lang="en-US" sz="3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sz="3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51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/>
        </p:nvSpPr>
        <p:spPr>
          <a:xfrm>
            <a:off x="1475769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607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7" name="Google Shape;147;p2"/>
          <p:cNvSpPr txBox="1"/>
          <p:nvPr/>
        </p:nvSpPr>
        <p:spPr>
          <a:xfrm>
            <a:off x="1475769" y="1600200"/>
            <a:ext cx="937003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lnSpc>
                <a:spcPct val="115000"/>
              </a:lnSpc>
              <a:buClr>
                <a:srgbClr val="434343"/>
              </a:buClr>
              <a:buSzPts val="3600"/>
              <a:buFont typeface="Verdana"/>
              <a:buChar char="❏"/>
            </a:pPr>
            <a:r>
              <a:rPr lang="en-US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convert between fractions and percentages.</a:t>
            </a:r>
            <a:endParaRPr sz="3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lnSpc>
                <a:spcPct val="115000"/>
              </a:lnSpc>
              <a:buClr>
                <a:srgbClr val="434343"/>
              </a:buClr>
              <a:buSzPts val="3600"/>
              <a:buFont typeface="Verdana"/>
              <a:buChar char="❏"/>
            </a:pPr>
            <a:r>
              <a:rPr lang="en-US" sz="3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rewrite positive rational numbers in different but equivalent forms.</a:t>
            </a:r>
            <a:endParaRPr sz="3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51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1338750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300" b="1">
                <a:solidFill>
                  <a:srgbClr val="41266B"/>
                </a:solidFill>
                <a:latin typeface="Verdana"/>
                <a:ea typeface="Verdana"/>
                <a:cs typeface="Verdana"/>
                <a:sym typeface="Verdana"/>
              </a:rPr>
              <a:t>2.3.1 Warm-Up: Matching Puzzle</a:t>
            </a:r>
            <a:endParaRPr sz="3300"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450" y="2133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8" name="Google Shape;168;p4"/>
          <p:cNvSpPr txBox="1"/>
          <p:nvPr/>
        </p:nvSpPr>
        <p:spPr>
          <a:xfrm>
            <a:off x="1338750" y="1153525"/>
            <a:ext cx="9430550" cy="4658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5000"/>
              </a:lnSpc>
              <a:buSzPts val="2000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Several values, expressed as decimals and percentages, are given.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Verdana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Match the values in the left column with their equivalent form in the right column by drawing lines to connect them. 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3800"/>
            </a:pPr>
            <a:endParaRPr sz="3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01600">
              <a:lnSpc>
                <a:spcPct val="115000"/>
              </a:lnSpc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Describe how you determined which values are equivalent. 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70" name="Google Shape;170;p4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24601" y="1803976"/>
            <a:ext cx="5562899" cy="18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13766fc94b_0_12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79" name="Google Shape;179;g113766fc94b_0_12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0" name="Google Shape;180;g113766fc94b_0_12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13766fc94b_0_21"/>
          <p:cNvSpPr txBox="1"/>
          <p:nvPr/>
        </p:nvSpPr>
        <p:spPr>
          <a:xfrm>
            <a:off x="1313350" y="-82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>
                <a:solidFill>
                  <a:srgbClr val="26B6D4"/>
                </a:solidFill>
                <a:latin typeface="Verdana"/>
                <a:ea typeface="Verdana"/>
                <a:cs typeface="Verdana"/>
                <a:sym typeface="Verdana"/>
              </a:rPr>
              <a:t>2.3.2 Guided Instruction: Rewriting Rational Numbers in Equivalent Forms</a:t>
            </a:r>
            <a:endParaRPr sz="2800"/>
          </a:p>
        </p:txBody>
      </p:sp>
      <p:pic>
        <p:nvPicPr>
          <p:cNvPr id="189" name="Google Shape;189;g113766fc94b_0_21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3542" y="259400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0" name="Google Shape;190;g113766fc94b_0_21"/>
          <p:cNvSpPr txBox="1"/>
          <p:nvPr/>
        </p:nvSpPr>
        <p:spPr>
          <a:xfrm>
            <a:off x="1313350" y="1112400"/>
            <a:ext cx="9097248" cy="2357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5000"/>
              </a:lnSpc>
              <a:buSzPts val="2000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Recall from Lesson 1 that a fraction can be converted into its equivalent decimal form by dividing the </a:t>
            </a:r>
            <a:r>
              <a:rPr lang="en-US" sz="2000" b="1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numerator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by the </a:t>
            </a:r>
            <a:r>
              <a:rPr lang="en-US" sz="2000" b="1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denominator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1000"/>
            </a:pPr>
            <a:endParaRPr sz="1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Verdana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Complete the table by rewriting the fraction </a:t>
            </a:r>
          </a:p>
          <a:p>
            <a:pPr marL="101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into an equivalent decimal form.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1" name="Google Shape;191;g113766fc94b_0_2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92" name="Google Shape;192;g113766fc94b_0_2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85750" y="1944801"/>
            <a:ext cx="3709200" cy="438247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3766fc94b_0_31"/>
          <p:cNvSpPr txBox="1"/>
          <p:nvPr/>
        </p:nvSpPr>
        <p:spPr>
          <a:xfrm>
            <a:off x="1117600" y="224907"/>
            <a:ext cx="10281576" cy="533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266700">
              <a:lnSpc>
                <a:spcPct val="115000"/>
              </a:lnSpc>
              <a:buClr>
                <a:schemeClr val="lt1"/>
              </a:buClr>
              <a:buSzPts val="600"/>
              <a:buFont typeface="Verdana"/>
              <a:buAutoNum type="arabicPeriod"/>
            </a:pPr>
            <a:r>
              <a:rPr lang="en-US" sz="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42900">
              <a:lnSpc>
                <a:spcPct val="115000"/>
              </a:lnSpc>
              <a:buClr>
                <a:schemeClr val="dk1"/>
              </a:buClr>
              <a:buSzPts val="1800"/>
              <a:buFont typeface="Verdana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Complete the table by rewriting the decimal into an equivalent percentage. 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lang="en-US"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1400"/>
            </a:pPr>
            <a:endParaRPr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14300">
              <a:lnSpc>
                <a:spcPct val="115000"/>
              </a:lnSpc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14300">
              <a:lnSpc>
                <a:spcPct val="115000"/>
              </a:lnSpc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3. What is the equivalent decimal form of    ?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1800"/>
            </a:pPr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1800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1" name="Google Shape;201;g113766fc94b_0_3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02" name="Google Shape;202;g113766fc94b_0_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36976" y="1159877"/>
            <a:ext cx="7118049" cy="297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113766fc94b_0_3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0808" y="4309054"/>
            <a:ext cx="223200" cy="5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"/>
          <p:cNvSpPr txBox="1"/>
          <p:nvPr/>
        </p:nvSpPr>
        <p:spPr>
          <a:xfrm>
            <a:off x="1104900" y="520393"/>
            <a:ext cx="9229965" cy="4178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228600">
              <a:lnSpc>
                <a:spcPct val="115000"/>
              </a:lnSpc>
              <a:buClr>
                <a:schemeClr val="lt1"/>
              </a:buClr>
              <a:buSzPts val="600"/>
            </a:pPr>
            <a:endParaRPr sz="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266700">
              <a:lnSpc>
                <a:spcPct val="115000"/>
              </a:lnSpc>
              <a:buClr>
                <a:schemeClr val="lt1"/>
              </a:buClr>
              <a:buSzPts val="600"/>
              <a:buFont typeface="Verdana"/>
              <a:buAutoNum type="arabicPeriod"/>
            </a:pPr>
            <a:r>
              <a:rPr lang="en-US" sz="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266700">
              <a:lnSpc>
                <a:spcPct val="115000"/>
              </a:lnSpc>
              <a:buClr>
                <a:schemeClr val="lt1"/>
              </a:buClr>
              <a:buSzPts val="600"/>
              <a:buFont typeface="Verdana"/>
              <a:buAutoNum type="arabicPeriod"/>
            </a:pPr>
            <a:r>
              <a:rPr lang="en-US" sz="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01600">
              <a:lnSpc>
                <a:spcPct val="115000"/>
              </a:lnSpc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4. What is 0.625 rewritten as a percentage?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101600">
              <a:lnSpc>
                <a:spcPct val="115000"/>
              </a:lnSpc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101600">
              <a:lnSpc>
                <a:spcPct val="115000"/>
              </a:lnSpc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5. What is    rewritten as a percentage?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13" name="Google Shape;213;p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6622" y="3734941"/>
            <a:ext cx="223200" cy="5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3766fc94b_0_62"/>
          <p:cNvSpPr txBox="1"/>
          <p:nvPr/>
        </p:nvSpPr>
        <p:spPr>
          <a:xfrm>
            <a:off x="1193800" y="301393"/>
            <a:ext cx="9982200" cy="2744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228600">
              <a:lnSpc>
                <a:spcPct val="115000"/>
              </a:lnSpc>
              <a:buClr>
                <a:schemeClr val="lt1"/>
              </a:buClr>
              <a:buSzPts val="100"/>
            </a:pPr>
            <a:endParaRPr sz="1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234950">
              <a:lnSpc>
                <a:spcPct val="115000"/>
              </a:lnSpc>
              <a:buClr>
                <a:schemeClr val="lt1"/>
              </a:buClr>
              <a:buSzPts val="100"/>
              <a:buFont typeface="Verdana"/>
              <a:buAutoNum type="arabicPeriod"/>
            </a:pPr>
            <a:r>
              <a:rPr lang="en-US" sz="1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234950">
              <a:lnSpc>
                <a:spcPct val="115000"/>
              </a:lnSpc>
              <a:buClr>
                <a:schemeClr val="lt1"/>
              </a:buClr>
              <a:buSzPts val="100"/>
              <a:buFont typeface="Verdana"/>
              <a:buAutoNum type="arabicPeriod"/>
            </a:pPr>
            <a:r>
              <a:rPr lang="en-US" sz="1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234950">
              <a:lnSpc>
                <a:spcPct val="115000"/>
              </a:lnSpc>
              <a:buClr>
                <a:schemeClr val="lt1"/>
              </a:buClr>
              <a:buSzPts val="100"/>
              <a:buFont typeface="Verdana"/>
              <a:buAutoNum type="arabicPeriod"/>
            </a:pPr>
            <a:r>
              <a:rPr lang="en-US" sz="1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234950">
              <a:lnSpc>
                <a:spcPct val="115000"/>
              </a:lnSpc>
              <a:buClr>
                <a:schemeClr val="lt1"/>
              </a:buClr>
              <a:buSzPts val="100"/>
              <a:buFont typeface="Verdana"/>
              <a:buAutoNum type="arabicPeriod"/>
            </a:pPr>
            <a:r>
              <a:rPr lang="en-US" sz="1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55600">
              <a:lnSpc>
                <a:spcPct val="115000"/>
              </a:lnSpc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6. When rewriting a fraction as a percentage, why might it be helpful to first rewrite it in its equivalent decimal form?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55600"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55600"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55600">
              <a:lnSpc>
                <a:spcPct val="115000"/>
              </a:lnSpc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7. Complete the table by rewriting each value in its equivalent forms.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1800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600"/>
            </a:pPr>
            <a:endParaRPr sz="6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2" name="Google Shape;222;g113766fc94b_0_6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3" name="Google Shape;223;g113766fc94b_0_6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7800" y="2224264"/>
            <a:ext cx="4384950" cy="44954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32" name="Google Shape;232;p6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3" name="Google Shape;23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/>
          <p:cNvSpPr txBox="1"/>
          <p:nvPr/>
        </p:nvSpPr>
        <p:spPr>
          <a:xfrm>
            <a:off x="1426634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3400"/>
            </a:pPr>
            <a:r>
              <a:rPr lang="en-US" sz="3400" b="1" dirty="0">
                <a:solidFill>
                  <a:srgbClr val="49BEAB"/>
                </a:solidFill>
                <a:latin typeface="Verdana"/>
                <a:ea typeface="Verdana"/>
                <a:cs typeface="Verdana"/>
                <a:sym typeface="Verdana"/>
              </a:rPr>
              <a:t>2.3.3 Collaboration: Strategies for Rewriting Rational Numbers</a:t>
            </a:r>
            <a:endParaRPr sz="3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2" name="Google Shape;242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6826" y="34827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43" name="Google Shape;243;p7"/>
          <p:cNvSpPr txBox="1"/>
          <p:nvPr/>
        </p:nvSpPr>
        <p:spPr>
          <a:xfrm>
            <a:off x="1536700" y="1386025"/>
            <a:ext cx="8850848" cy="5093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5000"/>
              </a:lnSpc>
              <a:buSzPts val="2000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Working with your partner, use the words in the bank to complete each statement.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Words can be used more than once.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0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55600">
              <a:lnSpc>
                <a:spcPct val="150000"/>
              </a:lnSpc>
              <a:buClr>
                <a:srgbClr val="0D0D0D"/>
              </a:buClr>
              <a:buSzPts val="2000"/>
              <a:buFont typeface="Verdana"/>
              <a:buAutoNum type="arabicPeriod"/>
            </a:pPr>
            <a:r>
              <a:rPr lang="en-US" sz="2000" dirty="0">
                <a:solidFill>
                  <a:srgbClr val="0D0D0D"/>
                </a:solidFill>
                <a:latin typeface="Verdana"/>
                <a:ea typeface="Verdana"/>
                <a:cs typeface="Verdana"/>
                <a:sym typeface="Verdana"/>
              </a:rPr>
              <a:t>To convert a ________________ to a decimal, divide the ______________ by the _______________. </a:t>
            </a:r>
            <a:endParaRPr sz="2000" dirty="0">
              <a:solidFill>
                <a:srgbClr val="0D0D0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55600">
              <a:lnSpc>
                <a:spcPct val="150000"/>
              </a:lnSpc>
              <a:buSzPts val="1400"/>
            </a:pPr>
            <a:endParaRPr dirty="0">
              <a:solidFill>
                <a:srgbClr val="0D0D0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55600">
              <a:lnSpc>
                <a:spcPct val="150000"/>
              </a:lnSpc>
            </a:pPr>
            <a:r>
              <a:rPr lang="en-US" sz="2000" dirty="0">
                <a:solidFill>
                  <a:srgbClr val="0D0D0D"/>
                </a:solidFill>
                <a:latin typeface="Verdana"/>
                <a:ea typeface="Verdana"/>
                <a:cs typeface="Verdana"/>
                <a:sym typeface="Verdana"/>
              </a:rPr>
              <a:t>2. Multiply the _______________ by  to convert a ________________ to a ______________. 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45" name="Google Shape;245;p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14263" y="2154326"/>
            <a:ext cx="7763476" cy="18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 txBox="1"/>
          <p:nvPr/>
        </p:nvSpPr>
        <p:spPr>
          <a:xfrm>
            <a:off x="1028700" y="1860028"/>
            <a:ext cx="9870330" cy="47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228600">
              <a:lnSpc>
                <a:spcPct val="150000"/>
              </a:lnSpc>
              <a:buClr>
                <a:schemeClr val="lt1"/>
              </a:buClr>
              <a:buSzPts val="100"/>
            </a:pPr>
            <a:endParaRPr sz="1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234950">
              <a:lnSpc>
                <a:spcPct val="150000"/>
              </a:lnSpc>
              <a:buClr>
                <a:schemeClr val="lt1"/>
              </a:buClr>
              <a:buSzPts val="100"/>
              <a:buFont typeface="Verdana"/>
              <a:buAutoNum type="arabicPeriod"/>
            </a:pPr>
            <a:r>
              <a:rPr lang="en-US" sz="1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55600">
              <a:lnSpc>
                <a:spcPct val="150000"/>
              </a:lnSpc>
            </a:pPr>
            <a:r>
              <a:rPr lang="en-US" sz="2000" dirty="0">
                <a:solidFill>
                  <a:srgbClr val="0D0D0D"/>
                </a:solidFill>
                <a:latin typeface="Verdana"/>
                <a:ea typeface="Verdana"/>
                <a:cs typeface="Verdana"/>
                <a:sym typeface="Verdana"/>
              </a:rPr>
              <a:t>3. To rewrite a ________________ as a ________________, divide the ____________ by 100.</a:t>
            </a:r>
            <a:endParaRPr sz="2000" dirty="0">
              <a:solidFill>
                <a:srgbClr val="0D0D0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55600">
              <a:lnSpc>
                <a:spcPct val="150000"/>
              </a:lnSpc>
              <a:spcBef>
                <a:spcPts val="800"/>
              </a:spcBef>
              <a:buSzPts val="1000"/>
            </a:pPr>
            <a:endParaRPr sz="1000" dirty="0">
              <a:solidFill>
                <a:srgbClr val="0D0D0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55600">
              <a:lnSpc>
                <a:spcPct val="15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0D0D0D"/>
                </a:solidFill>
                <a:latin typeface="Verdana"/>
                <a:ea typeface="Verdana"/>
                <a:cs typeface="Verdana"/>
                <a:sym typeface="Verdana"/>
              </a:rPr>
              <a:t>4. Use the _______________of the final digit to determine the denominator of the decimal when rewriting a ______________ as an equivalent ___________. </a:t>
            </a:r>
            <a:endParaRPr sz="2000" dirty="0">
              <a:solidFill>
                <a:srgbClr val="0D0D0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55600">
              <a:lnSpc>
                <a:spcPct val="150000"/>
              </a:lnSpc>
              <a:spcBef>
                <a:spcPts val="800"/>
              </a:spcBef>
              <a:buSzPts val="1000"/>
            </a:pPr>
            <a:endParaRPr sz="1000" dirty="0">
              <a:solidFill>
                <a:srgbClr val="0D0D0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55600">
              <a:lnSpc>
                <a:spcPct val="15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0D0D0D"/>
                </a:solidFill>
                <a:latin typeface="Verdana"/>
                <a:ea typeface="Verdana"/>
                <a:cs typeface="Verdana"/>
                <a:sym typeface="Verdana"/>
              </a:rPr>
              <a:t>5. An equivalent fraction with a _____________ of 100 can be used to convert a _____________ to a percentage. </a:t>
            </a:r>
            <a:endParaRPr sz="2000" dirty="0"/>
          </a:p>
          <a:p>
            <a:pPr>
              <a:spcBef>
                <a:spcPts val="800"/>
              </a:spcBef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55" name="Google Shape;255;p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28439" y="216128"/>
            <a:ext cx="6870851" cy="164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13766fc94b_0_141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64" name="Google Shape;264;g113766fc94b_0_141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5" name="Google Shape;265;g113766fc94b_0_1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13766fc94b_0_150"/>
          <p:cNvSpPr txBox="1"/>
          <p:nvPr/>
        </p:nvSpPr>
        <p:spPr>
          <a:xfrm>
            <a:off x="1427888" y="904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>
                <a:solidFill>
                  <a:srgbClr val="26B6D4"/>
                </a:solidFill>
                <a:latin typeface="Verdana"/>
                <a:ea typeface="Verdana"/>
                <a:cs typeface="Verdana"/>
                <a:sym typeface="Verdana"/>
              </a:rPr>
              <a:t>2.3.4 Guided Practice: Rewriting Rational Numbers in Equivalent Forms</a:t>
            </a:r>
            <a:endParaRPr sz="2800"/>
          </a:p>
        </p:txBody>
      </p:sp>
      <p:pic>
        <p:nvPicPr>
          <p:cNvPr id="274" name="Google Shape;274;g113766fc94b_0_1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0588" y="2976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75" name="Google Shape;275;g113766fc94b_0_150"/>
          <p:cNvSpPr txBox="1"/>
          <p:nvPr/>
        </p:nvSpPr>
        <p:spPr>
          <a:xfrm>
            <a:off x="1295400" y="1278301"/>
            <a:ext cx="10401300" cy="48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368300">
              <a:lnSpc>
                <a:spcPct val="115000"/>
              </a:lnSpc>
              <a:buClr>
                <a:schemeClr val="dk1"/>
              </a:buClr>
              <a:buSzPts val="2200"/>
              <a:buFont typeface="Verdana"/>
              <a:buAutoNum type="arabicPeriod"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Complete the table by rewriting each value in its equivalent forms.</a:t>
            </a:r>
            <a:endParaRPr sz="2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6" name="Google Shape;276;g113766fc94b_0_15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77" name="Google Shape;277;g113766fc94b_0_150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06801" y="1759931"/>
            <a:ext cx="4047226" cy="502143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13766fc94b_0_114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86" name="Google Shape;286;g113766fc94b_0_114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7" name="Google Shape;287;g113766fc94b_0_1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13766fc94b_0_123"/>
          <p:cNvSpPr txBox="1"/>
          <p:nvPr/>
        </p:nvSpPr>
        <p:spPr>
          <a:xfrm>
            <a:off x="1569752" y="-11066"/>
            <a:ext cx="8535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3100"/>
            </a:pPr>
            <a:r>
              <a:rPr lang="en-US" sz="3100" b="1">
                <a:solidFill>
                  <a:srgbClr val="41266B"/>
                </a:solidFill>
                <a:latin typeface="Verdana"/>
                <a:ea typeface="Verdana"/>
                <a:cs typeface="Verdana"/>
                <a:sym typeface="Verdana"/>
              </a:rPr>
              <a:t>2.3.5 Wrap-Up: Ticket Out the Door</a:t>
            </a:r>
            <a:endParaRPr sz="3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96" name="Google Shape;296;g113766fc94b_0_1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431" y="278134"/>
            <a:ext cx="795441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97" name="Google Shape;297;g113766fc94b_0_123"/>
          <p:cNvSpPr txBox="1"/>
          <p:nvPr/>
        </p:nvSpPr>
        <p:spPr>
          <a:xfrm>
            <a:off x="1409700" y="1386026"/>
            <a:ext cx="8977848" cy="323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368300">
              <a:lnSpc>
                <a:spcPct val="115000"/>
              </a:lnSpc>
              <a:buClr>
                <a:schemeClr val="dk1"/>
              </a:buClr>
              <a:buSzPts val="2200"/>
              <a:buFont typeface="Verdana"/>
              <a:buAutoNum type="arabicPeriod"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Rewrite each value as an equivalent percentage.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115000"/>
              </a:lnSpc>
              <a:buSzPts val="2200"/>
            </a:pPr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115000"/>
              </a:lnSpc>
              <a:buSzPts val="2200"/>
            </a:pPr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115000"/>
              </a:lnSpc>
              <a:buSzPts val="2200"/>
            </a:pPr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115000"/>
              </a:lnSpc>
              <a:buSzPts val="2200"/>
            </a:pPr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SzPts val="2200"/>
            </a:pPr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88900">
              <a:lnSpc>
                <a:spcPct val="115000"/>
              </a:lnSpc>
            </a:pPr>
            <a:r>
              <a:rPr lang="en-US" sz="2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Rewrite each value as an equivalent fraction.</a:t>
            </a:r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buSzPts val="1800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8" name="Google Shape;298;g113766fc94b_0_123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99" name="Google Shape;299;g113766fc94b_0_123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98" y="1978989"/>
            <a:ext cx="6752852" cy="607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113766fc94b_0_123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48050" y="4419701"/>
            <a:ext cx="6612900" cy="4175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5;g104476d1465_1_17"/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593</Words>
  <Application>Microsoft Office PowerPoint</Application>
  <PresentationFormat>Widescreen</PresentationFormat>
  <Paragraphs>132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Black</vt:lpstr>
      <vt:lpstr>Calibri</vt:lpstr>
      <vt:lpstr>Century Gothic</vt:lpstr>
      <vt:lpstr>Verdana</vt:lpstr>
      <vt:lpstr>1_Office Theme</vt:lpstr>
      <vt:lpstr>6th Grade Accelerated Math  Unit 2, Lesson 3  Equivalent Conversions: Fractions ↔ Percentages – Part 2   Volume 1, pg. 51  </vt:lpstr>
      <vt:lpstr>Benchmark</vt:lpstr>
      <vt:lpstr>PowerPoint Presentation</vt:lpstr>
      <vt:lpstr>PowerPoint Presentation</vt:lpstr>
      <vt:lpstr>Warm-Up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Guided Instruction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Math  Unit 2, Lesson 3  Equivalent Conversions: Fractions  Percentages – Part 2   Volume 1, pg. 51  </dc:title>
  <dc:creator>Karen McKenzie</dc:creator>
  <cp:lastModifiedBy>Cassie O'Connor</cp:lastModifiedBy>
  <cp:revision>7</cp:revision>
  <dcterms:created xsi:type="dcterms:W3CDTF">2015-03-17T18:51:18Z</dcterms:created>
  <dcterms:modified xsi:type="dcterms:W3CDTF">2022-06-29T04:51:35Z</dcterms:modified>
</cp:coreProperties>
</file>