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57" r:id="rId3"/>
    <p:sldId id="285" r:id="rId4"/>
    <p:sldId id="286" r:id="rId5"/>
    <p:sldId id="261" r:id="rId6"/>
    <p:sldId id="287" r:id="rId7"/>
    <p:sldId id="288" r:id="rId8"/>
    <p:sldId id="289" r:id="rId9"/>
    <p:sldId id="290" r:id="rId10"/>
    <p:sldId id="308" r:id="rId11"/>
    <p:sldId id="326" r:id="rId12"/>
    <p:sldId id="327" r:id="rId13"/>
    <p:sldId id="328" r:id="rId14"/>
    <p:sldId id="323" r:id="rId15"/>
    <p:sldId id="324" r:id="rId16"/>
    <p:sldId id="325" r:id="rId17"/>
    <p:sldId id="329" r:id="rId18"/>
    <p:sldId id="330" r:id="rId19"/>
    <p:sldId id="306" r:id="rId20"/>
    <p:sldId id="307" r:id="rId21"/>
    <p:sldId id="310" r:id="rId22"/>
    <p:sldId id="331"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7DBF"/>
    <a:srgbClr val="F79647"/>
    <a:srgbClr val="FCBD1E"/>
    <a:srgbClr val="C9DF6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2771" autoAdjust="0"/>
    <p:restoredTop sz="94650"/>
  </p:normalViewPr>
  <p:slideViewPr>
    <p:cSldViewPr snapToGrid="0">
      <p:cViewPr varScale="1">
        <p:scale>
          <a:sx n="79" d="100"/>
          <a:sy n="79" d="100"/>
        </p:scale>
        <p:origin x="1426"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522569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2574093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0997853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2894136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28384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3484926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3233912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80.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a:t>
            </a:r>
            <a:r>
              <a:rPr lang="en-US" sz="3800" b="1">
                <a:solidFill>
                  <a:srgbClr val="417DBF"/>
                </a:solidFill>
                <a:latin typeface="Verdana"/>
                <a:ea typeface="Verdana"/>
                <a:cs typeface="Verdana"/>
                <a:sym typeface="Verdana"/>
              </a:rPr>
              <a:t>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2, Lesson 5</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200" b="1" dirty="0">
                <a:solidFill>
                  <a:srgbClr val="417DBF"/>
                </a:solidFill>
                <a:latin typeface="Verdana" panose="020B0604030504040204" pitchFamily="34" charset="0"/>
                <a:ea typeface="Verdana" panose="020B0604030504040204" pitchFamily="34" charset="0"/>
                <a:cs typeface="Verdana" panose="020B0604030504040204" pitchFamily="34" charset="0"/>
              </a:rPr>
              <a:t>Using Operations to Solve Real-World Problems – Part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60</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266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550240" y="122457"/>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726740" y="358232"/>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371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60</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5339"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674055" y="1600200"/>
            <a:ext cx="8536745"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200" dirty="0">
                <a:solidFill>
                  <a:schemeClr val="tx1"/>
                </a:solidFill>
                <a:latin typeface="Verdana"/>
                <a:ea typeface="Verdana"/>
                <a:cs typeface="Verdana"/>
                <a:sym typeface="Verdana"/>
              </a:rPr>
              <a:t>MA.</a:t>
            </a:r>
            <a:r>
              <a:rPr lang="en-US" sz="3200" dirty="0">
                <a:latin typeface="Verdana" panose="020B0604030504040204" pitchFamily="34" charset="0"/>
                <a:ea typeface="Verdana" panose="020B0604030504040204" pitchFamily="34" charset="0"/>
                <a:cs typeface="Verdana" panose="020B0604030504040204" pitchFamily="34" charset="0"/>
              </a:rPr>
              <a:t>6.NSO.2.3 Solve multi-step, real-world problems involving any of the four operations with positive multi-digit decimals or positive fractions, including mixed numbers.</a:t>
            </a:r>
            <a:endParaRPr lang="en-US" sz="20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627431" y="32531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52081" y="8267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452081" y="1596390"/>
            <a:ext cx="875871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2" name="Google Shape;278;g104476d1465_1_17">
            <a:extLst>
              <a:ext uri="{FF2B5EF4-FFF2-40B4-BE49-F238E27FC236}">
                <a16:creationId xmlns:a16="http://schemas.microsoft.com/office/drawing/2014/main" id="{79998D09-ED40-CB40-ADB3-2C926DC27F8F}"/>
              </a:ext>
            </a:extLst>
          </p:cNvPr>
          <p:cNvSpPr/>
          <p:nvPr/>
        </p:nvSpPr>
        <p:spPr>
          <a:xfrm>
            <a:off x="0" y="-8226"/>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6371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60</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53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63850" y="586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681688" y="295062"/>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463850" y="1600200"/>
            <a:ext cx="874695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600" dirty="0">
                <a:latin typeface="Verdana" panose="020B0604030504040204" pitchFamily="34" charset="0"/>
                <a:ea typeface="Verdana" panose="020B0604030504040204" pitchFamily="34" charset="0"/>
                <a:cs typeface="Verdana" panose="020B0604030504040204" pitchFamily="34" charset="0"/>
              </a:rPr>
              <a:t>I can solve real-world problems with up to two steps using decimals or fractions.</a:t>
            </a:r>
            <a:endParaRPr lang="en-US" sz="3500" dirty="0">
              <a:solidFill>
                <a:schemeClr val="tx1"/>
              </a:solidFill>
              <a:latin typeface="Verdana"/>
              <a:ea typeface="Verdana"/>
              <a:cs typeface="Verdana"/>
              <a:sym typeface="Verdana"/>
            </a:endParaRPr>
          </a:p>
        </p:txBody>
      </p:sp>
      <p:sp>
        <p:nvSpPr>
          <p:cNvPr id="9" name="Google Shape;278;g104476d1465_1_17">
            <a:extLst>
              <a:ext uri="{FF2B5EF4-FFF2-40B4-BE49-F238E27FC236}">
                <a16:creationId xmlns:a16="http://schemas.microsoft.com/office/drawing/2014/main" id="{4411E69F-FF2D-4E45-A95C-56414991DB11}"/>
              </a:ext>
            </a:extLst>
          </p:cNvPr>
          <p:cNvSpPr/>
          <p:nvPr/>
        </p:nvSpPr>
        <p:spPr>
          <a:xfrm>
            <a:off x="0" y="5862"/>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6371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60</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53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6371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61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5339"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15969"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2.5.1 Warm-Up: </a:t>
            </a:r>
            <a:r>
              <a:rPr lang="en-US" sz="3600" b="1" dirty="0">
                <a:solidFill>
                  <a:srgbClr val="41266B"/>
                </a:solidFill>
                <a:latin typeface="Verdana" panose="020B0604030504040204" pitchFamily="34" charset="0"/>
                <a:ea typeface="Verdana" panose="020B0604030504040204" pitchFamily="34" charset="0"/>
                <a:cs typeface="Verdana" panose="020B0604030504040204" pitchFamily="34" charset="0"/>
              </a:rPr>
              <a:t>Two Questions and One Wonder</a:t>
            </a:r>
            <a:endParaRPr lang="en-US" sz="3600" b="1" dirty="0">
              <a:solidFill>
                <a:srgbClr val="3F2A67"/>
              </a:solidFill>
              <a:latin typeface="Verdana"/>
              <a:ea typeface="Verdana"/>
              <a:cs typeface="Verdana"/>
              <a:sym typeface="Verdana"/>
            </a:endParaRP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68669" y="197485"/>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1153551" y="1386025"/>
            <a:ext cx="9234033" cy="882678"/>
          </a:xfrm>
          <a:prstGeom prst="rect">
            <a:avLst/>
          </a:prstGeom>
          <a:noFill/>
        </p:spPr>
        <p:txBody>
          <a:bodyPr wrap="square" rtlCol="0">
            <a:spAutoFit/>
          </a:bodyPr>
          <a:lstStyle/>
          <a:p>
            <a:pPr>
              <a:lnSpc>
                <a:spcPct val="107000"/>
              </a:lnSpc>
            </a:pPr>
            <a:endParaRPr lang="en-US" sz="2400"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Ky-</a:t>
            </a:r>
            <a:r>
              <a:rPr lang="en-US" sz="2400" dirty="0" err="1">
                <a:latin typeface="Verdana" panose="020B0604030504040204" pitchFamily="34" charset="0"/>
                <a:ea typeface="Verdana" panose="020B0604030504040204" pitchFamily="34" charset="0"/>
                <a:cs typeface="Verdana" panose="020B0604030504040204" pitchFamily="34" charset="0"/>
              </a:rPr>
              <a:t>ree</a:t>
            </a:r>
            <a:r>
              <a:rPr lang="en-US" sz="2400" dirty="0">
                <a:latin typeface="Verdana" panose="020B0604030504040204" pitchFamily="34" charset="0"/>
                <a:ea typeface="Verdana" panose="020B0604030504040204" pitchFamily="34" charset="0"/>
                <a:cs typeface="Verdana" panose="020B0604030504040204" pitchFamily="34" charset="0"/>
              </a:rPr>
              <a:t>, a firefighter in Los Angeles, budgets his paycheck.</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10" name="Google Shape;278;g104476d1465_1_17">
            <a:extLst>
              <a:ext uri="{FF2B5EF4-FFF2-40B4-BE49-F238E27FC236}">
                <a16:creationId xmlns:a16="http://schemas.microsoft.com/office/drawing/2014/main" id="{733F64CC-F62E-3D45-B066-56DBFBB732F6}"/>
              </a:ext>
            </a:extLst>
          </p:cNvPr>
          <p:cNvSpPr/>
          <p:nvPr/>
        </p:nvSpPr>
        <p:spPr>
          <a:xfrm>
            <a:off x="0" y="-8226"/>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6371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61</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53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6187820" y="225096"/>
            <a:ext cx="4251580" cy="4175823"/>
          </a:xfrm>
          <a:prstGeom prst="rect">
            <a:avLst/>
          </a:prstGeom>
          <a:noFill/>
        </p:spPr>
        <p:txBody>
          <a:bodyPr wrap="square" rtlCol="0">
            <a:spAutoFit/>
          </a:bodyPr>
          <a:lstStyle/>
          <a:p>
            <a:pPr marL="403225" indent="-403225">
              <a:lnSpc>
                <a:spcPct val="107000"/>
              </a:lnSpc>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List two questions you have about Ky-</a:t>
            </a:r>
            <a:r>
              <a:rPr lang="en-US" sz="2400" dirty="0" err="1">
                <a:latin typeface="Verdana" panose="020B0604030504040204" pitchFamily="34" charset="0"/>
                <a:ea typeface="Verdana" panose="020B0604030504040204" pitchFamily="34" charset="0"/>
                <a:cs typeface="Verdana" panose="020B0604030504040204" pitchFamily="34" charset="0"/>
              </a:rPr>
              <a:t>ree’s</a:t>
            </a:r>
            <a:r>
              <a:rPr lang="en-US" sz="2400" dirty="0">
                <a:latin typeface="Verdana" panose="020B0604030504040204" pitchFamily="34" charset="0"/>
                <a:ea typeface="Verdana" panose="020B0604030504040204" pitchFamily="34" charset="0"/>
                <a:cs typeface="Verdana" panose="020B0604030504040204" pitchFamily="34" charset="0"/>
              </a:rPr>
              <a:t> budget.</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403225" indent="-403225">
              <a:lnSpc>
                <a:spcPct val="107000"/>
              </a:lnSpc>
              <a:buFont typeface="+mj-lt"/>
              <a:buAutoNum type="arabicPeriod"/>
            </a:pP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403225" indent="-403225">
              <a:lnSpc>
                <a:spcPct val="107000"/>
              </a:lnSpc>
              <a:buFont typeface="+mj-lt"/>
              <a:buAutoNum type="arabicPeriod"/>
            </a:pP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403225" indent="-403225">
              <a:lnSpc>
                <a:spcPct val="107000"/>
              </a:lnSpc>
              <a:buFont typeface="+mj-lt"/>
              <a:buAutoNum type="arabicPeriod"/>
            </a:pP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403225" indent="-403225">
              <a:lnSpc>
                <a:spcPct val="107000"/>
              </a:lnSpc>
              <a:buFont typeface="+mj-lt"/>
              <a:buAutoNum type="arabicPeriod"/>
            </a:pP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403225" indent="-403225">
              <a:lnSpc>
                <a:spcPct val="107000"/>
              </a:lnSpc>
              <a:buFont typeface="+mj-lt"/>
              <a:buAutoNum type="arabicPeriod"/>
            </a:pP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403225" indent="-403225">
              <a:lnSpc>
                <a:spcPct val="107000"/>
              </a:lnSpc>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List one thing you wonder about Ky-</a:t>
            </a:r>
            <a:r>
              <a:rPr lang="en-US" sz="2400" dirty="0" err="1">
                <a:latin typeface="Verdana" panose="020B0604030504040204" pitchFamily="34" charset="0"/>
                <a:ea typeface="Verdana" panose="020B0604030504040204" pitchFamily="34" charset="0"/>
                <a:cs typeface="Verdana" panose="020B0604030504040204" pitchFamily="34" charset="0"/>
              </a:rPr>
              <a:t>ree’s</a:t>
            </a:r>
            <a:r>
              <a:rPr lang="en-US" sz="2400" dirty="0">
                <a:latin typeface="Verdana" panose="020B0604030504040204" pitchFamily="34" charset="0"/>
                <a:ea typeface="Verdana" panose="020B0604030504040204" pitchFamily="34" charset="0"/>
                <a:cs typeface="Verdana" panose="020B0604030504040204" pitchFamily="34" charset="0"/>
              </a:rPr>
              <a:t> budget.</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7" name="Google Shape;278;g104476d1465_1_17">
            <a:extLst>
              <a:ext uri="{FF2B5EF4-FFF2-40B4-BE49-F238E27FC236}">
                <a16:creationId xmlns:a16="http://schemas.microsoft.com/office/drawing/2014/main" id="{9B2481D9-8B52-C443-ABEF-765D2549936D}"/>
              </a:ext>
            </a:extLst>
          </p:cNvPr>
          <p:cNvSpPr/>
          <p:nvPr/>
        </p:nvSpPr>
        <p:spPr>
          <a:xfrm>
            <a:off x="0" y="-8226"/>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449158AD-6179-4DAC-B7A0-61E3A1257328}"/>
                  </a:ext>
                </a:extLst>
              </p:cNvPr>
              <p:cNvGraphicFramePr>
                <a:graphicFrameLocks noGrp="1"/>
              </p:cNvGraphicFramePr>
              <p:nvPr>
                <p:extLst>
                  <p:ext uri="{D42A27DB-BD31-4B8C-83A1-F6EECF244321}">
                    <p14:modId xmlns:p14="http://schemas.microsoft.com/office/powerpoint/2010/main" val="2528476944"/>
                  </p:ext>
                </p:extLst>
              </p:nvPr>
            </p:nvGraphicFramePr>
            <p:xfrm>
              <a:off x="1013394" y="143141"/>
              <a:ext cx="4095300" cy="6534473"/>
            </p:xfrm>
            <a:graphic>
              <a:graphicData uri="http://schemas.openxmlformats.org/drawingml/2006/table">
                <a:tbl>
                  <a:tblPr bandRow="1"/>
                  <a:tblGrid>
                    <a:gridCol w="3114190">
                      <a:extLst>
                        <a:ext uri="{9D8B030D-6E8A-4147-A177-3AD203B41FA5}">
                          <a16:colId xmlns:a16="http://schemas.microsoft.com/office/drawing/2014/main" val="4003425093"/>
                        </a:ext>
                      </a:extLst>
                    </a:gridCol>
                    <a:gridCol w="981110">
                      <a:extLst>
                        <a:ext uri="{9D8B030D-6E8A-4147-A177-3AD203B41FA5}">
                          <a16:colId xmlns:a16="http://schemas.microsoft.com/office/drawing/2014/main" val="1600998408"/>
                        </a:ext>
                      </a:extLst>
                    </a:gridCol>
                  </a:tblGrid>
                  <a:tr h="350525">
                    <a:tc gridSpan="2">
                      <a:txBody>
                        <a:bodyPr/>
                        <a:lstStyle/>
                        <a:p>
                          <a:pPr marL="0" marR="0" algn="ctr">
                            <a:lnSpc>
                              <a:spcPct val="107000"/>
                            </a:lnSpc>
                            <a:spcBef>
                              <a:spcPts val="0"/>
                            </a:spcBef>
                            <a:spcAft>
                              <a:spcPts val="800"/>
                            </a:spcAft>
                          </a:pPr>
                          <a:r>
                            <a:rPr lang="en-US" sz="2000" b="1" i="0" dirty="0">
                              <a:effectLst/>
                              <a:latin typeface="Verdana" panose="020B0604030504040204" pitchFamily="34" charset="0"/>
                              <a:ea typeface="Verdana" panose="020B0604030504040204" pitchFamily="34" charset="0"/>
                              <a:cs typeface="Verdana" panose="020B0604030504040204" pitchFamily="34" charset="0"/>
                            </a:rPr>
                            <a:t>Ky-</a:t>
                          </a:r>
                          <a:r>
                            <a:rPr lang="en-US" sz="2000" b="1" i="0" dirty="0" err="1">
                              <a:effectLst/>
                              <a:latin typeface="Verdana" panose="020B0604030504040204" pitchFamily="34" charset="0"/>
                              <a:ea typeface="Verdana" panose="020B0604030504040204" pitchFamily="34" charset="0"/>
                              <a:cs typeface="Verdana" panose="020B0604030504040204" pitchFamily="34" charset="0"/>
                            </a:rPr>
                            <a:t>ree’s</a:t>
                          </a:r>
                          <a:r>
                            <a:rPr lang="en-US" sz="2000" b="1" i="0" dirty="0">
                              <a:effectLst/>
                              <a:latin typeface="Verdana" panose="020B0604030504040204" pitchFamily="34" charset="0"/>
                              <a:ea typeface="Verdana" panose="020B0604030504040204" pitchFamily="34" charset="0"/>
                              <a:cs typeface="Verdana" panose="020B0604030504040204" pitchFamily="34" charset="0"/>
                            </a:rPr>
                            <a:t> Budget</a:t>
                          </a:r>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790299502"/>
                      </a:ext>
                    </a:extLst>
                  </a:tr>
                  <a:tr h="283243">
                    <a:tc>
                      <a:txBody>
                        <a:bodyPr/>
                        <a:lstStyle/>
                        <a:p>
                          <a:pPr marL="0" marR="0" algn="ctr">
                            <a:lnSpc>
                              <a:spcPct val="107000"/>
                            </a:lnSpc>
                            <a:spcBef>
                              <a:spcPts val="0"/>
                            </a:spcBef>
                            <a:spcAft>
                              <a:spcPts val="800"/>
                            </a:spcAft>
                          </a:pPr>
                          <a:r>
                            <a:rPr lang="en-US" sz="2000" i="0">
                              <a:effectLst/>
                              <a:latin typeface="Verdana" panose="020B0604030504040204" pitchFamily="34" charset="0"/>
                              <a:ea typeface="Verdana" panose="020B0604030504040204" pitchFamily="34" charset="0"/>
                              <a:cs typeface="Verdana" panose="020B0604030504040204" pitchFamily="34" charset="0"/>
                            </a:rPr>
                            <a:t>Monthly salary</a:t>
                          </a:r>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$5,800</m:t>
                                </m:r>
                              </m:oMath>
                            </m:oMathPara>
                          </a14:m>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0242446"/>
                      </a:ext>
                    </a:extLst>
                  </a:tr>
                  <a:tr h="318659">
                    <a:tc>
                      <a:txBody>
                        <a:bodyPr/>
                        <a:lstStyle/>
                        <a:p>
                          <a:pPr marL="0" marR="0" algn="ctr">
                            <a:lnSpc>
                              <a:spcPct val="107000"/>
                            </a:lnSpc>
                            <a:spcBef>
                              <a:spcPts val="0"/>
                            </a:spcBef>
                            <a:spcAft>
                              <a:spcPts val="800"/>
                            </a:spcAft>
                          </a:pPr>
                          <a:r>
                            <a:rPr lang="en-US" sz="2000" i="0" dirty="0">
                              <a:effectLst/>
                              <a:latin typeface="Verdana" panose="020B0604030504040204" pitchFamily="34" charset="0"/>
                              <a:ea typeface="Verdana" panose="020B0604030504040204" pitchFamily="34" charset="0"/>
                              <a:cs typeface="Verdana" panose="020B0604030504040204" pitchFamily="34" charset="0"/>
                            </a:rPr>
                            <a:t>Taxes and other deductions</a:t>
                          </a:r>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$2,900</m:t>
                                </m:r>
                              </m:oMath>
                            </m:oMathPara>
                          </a14:m>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4102238"/>
                      </a:ext>
                    </a:extLst>
                  </a:tr>
                  <a:tr h="283243">
                    <a:tc>
                      <a:txBody>
                        <a:bodyPr/>
                        <a:lstStyle/>
                        <a:p>
                          <a:pPr marL="0" marR="0" algn="ctr">
                            <a:lnSpc>
                              <a:spcPct val="107000"/>
                            </a:lnSpc>
                            <a:spcBef>
                              <a:spcPts val="0"/>
                            </a:spcBef>
                            <a:spcAft>
                              <a:spcPts val="800"/>
                            </a:spcAft>
                          </a:pPr>
                          <a:r>
                            <a:rPr lang="en-US" sz="2000" i="0" dirty="0">
                              <a:effectLst/>
                              <a:latin typeface="Verdana" panose="020B0604030504040204" pitchFamily="34" charset="0"/>
                              <a:ea typeface="Verdana" panose="020B0604030504040204" pitchFamily="34" charset="0"/>
                              <a:cs typeface="Verdana" panose="020B0604030504040204" pitchFamily="34" charset="0"/>
                            </a:rPr>
                            <a:t>Net take home income</a:t>
                          </a:r>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$2,900</m:t>
                                </m:r>
                              </m:oMath>
                            </m:oMathPara>
                          </a14:m>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9445716"/>
                      </a:ext>
                    </a:extLst>
                  </a:tr>
                  <a:tr h="283243">
                    <a:tc>
                      <a:txBody>
                        <a:bodyPr/>
                        <a:lstStyle/>
                        <a:p>
                          <a:pPr marL="0" marR="0" algn="ctr">
                            <a:lnSpc>
                              <a:spcPct val="107000"/>
                            </a:lnSpc>
                            <a:spcBef>
                              <a:spcPts val="0"/>
                            </a:spcBef>
                            <a:spcAft>
                              <a:spcPts val="800"/>
                            </a:spcAft>
                          </a:pPr>
                          <a:r>
                            <a:rPr lang="en-US" sz="2000" i="0" dirty="0">
                              <a:effectLst/>
                              <a:latin typeface="Verdana" panose="020B0604030504040204" pitchFamily="34" charset="0"/>
                              <a:ea typeface="Verdana" panose="020B0604030504040204" pitchFamily="34" charset="0"/>
                              <a:cs typeface="Verdana" panose="020B0604030504040204" pitchFamily="34" charset="0"/>
                            </a:rPr>
                            <a:t>Rent</a:t>
                          </a:r>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$1,350</m:t>
                                </m:r>
                              </m:oMath>
                            </m:oMathPara>
                          </a14:m>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45138115"/>
                      </a:ext>
                    </a:extLst>
                  </a:tr>
                  <a:tr h="283243">
                    <a:tc>
                      <a:txBody>
                        <a:bodyPr/>
                        <a:lstStyle/>
                        <a:p>
                          <a:pPr marL="0" marR="0" algn="ctr">
                            <a:lnSpc>
                              <a:spcPct val="107000"/>
                            </a:lnSpc>
                            <a:spcBef>
                              <a:spcPts val="0"/>
                            </a:spcBef>
                            <a:spcAft>
                              <a:spcPts val="800"/>
                            </a:spcAft>
                          </a:pPr>
                          <a:r>
                            <a:rPr lang="en-US" sz="2000" i="0" dirty="0">
                              <a:effectLst/>
                              <a:latin typeface="Verdana" panose="020B0604030504040204" pitchFamily="34" charset="0"/>
                              <a:ea typeface="Verdana" panose="020B0604030504040204" pitchFamily="34" charset="0"/>
                              <a:cs typeface="Verdana" panose="020B0604030504040204" pitchFamily="34" charset="0"/>
                            </a:rPr>
                            <a:t>Utilities</a:t>
                          </a:r>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$60</m:t>
                                </m:r>
                              </m:oMath>
                            </m:oMathPara>
                          </a14:m>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50507330"/>
                      </a:ext>
                    </a:extLst>
                  </a:tr>
                  <a:tr h="283243">
                    <a:tc>
                      <a:txBody>
                        <a:bodyPr/>
                        <a:lstStyle/>
                        <a:p>
                          <a:pPr marL="0" marR="0" algn="ctr">
                            <a:lnSpc>
                              <a:spcPct val="107000"/>
                            </a:lnSpc>
                            <a:spcBef>
                              <a:spcPts val="0"/>
                            </a:spcBef>
                            <a:spcAft>
                              <a:spcPts val="800"/>
                            </a:spcAft>
                          </a:pPr>
                          <a:r>
                            <a:rPr lang="en-US" sz="2000" i="0">
                              <a:effectLst/>
                              <a:latin typeface="Verdana" panose="020B0604030504040204" pitchFamily="34" charset="0"/>
                              <a:ea typeface="Verdana" panose="020B0604030504040204" pitchFamily="34" charset="0"/>
                              <a:cs typeface="Verdana" panose="020B0604030504040204" pitchFamily="34" charset="0"/>
                            </a:rPr>
                            <a:t>Internet &amp; cable</a:t>
                          </a:r>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$50</m:t>
                                </m:r>
                              </m:oMath>
                            </m:oMathPara>
                          </a14:m>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9030497"/>
                      </a:ext>
                    </a:extLst>
                  </a:tr>
                  <a:tr h="283243">
                    <a:tc>
                      <a:txBody>
                        <a:bodyPr/>
                        <a:lstStyle/>
                        <a:p>
                          <a:pPr marL="0" marR="0" algn="ctr">
                            <a:lnSpc>
                              <a:spcPct val="107000"/>
                            </a:lnSpc>
                            <a:spcBef>
                              <a:spcPts val="0"/>
                            </a:spcBef>
                            <a:spcAft>
                              <a:spcPts val="800"/>
                            </a:spcAft>
                          </a:pPr>
                          <a:r>
                            <a:rPr lang="en-US" sz="2000" i="0">
                              <a:effectLst/>
                              <a:latin typeface="Verdana" panose="020B0604030504040204" pitchFamily="34" charset="0"/>
                              <a:ea typeface="Verdana" panose="020B0604030504040204" pitchFamily="34" charset="0"/>
                              <a:cs typeface="Verdana" panose="020B0604030504040204" pitchFamily="34" charset="0"/>
                            </a:rPr>
                            <a:t>Cell phone</a:t>
                          </a:r>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$130</m:t>
                                </m:r>
                              </m:oMath>
                            </m:oMathPara>
                          </a14:m>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6918907"/>
                      </a:ext>
                    </a:extLst>
                  </a:tr>
                  <a:tr h="283243">
                    <a:tc>
                      <a:txBody>
                        <a:bodyPr/>
                        <a:lstStyle/>
                        <a:p>
                          <a:pPr marL="0" marR="0" algn="ctr">
                            <a:lnSpc>
                              <a:spcPct val="107000"/>
                            </a:lnSpc>
                            <a:spcBef>
                              <a:spcPts val="0"/>
                            </a:spcBef>
                            <a:spcAft>
                              <a:spcPts val="800"/>
                            </a:spcAft>
                          </a:pPr>
                          <a:r>
                            <a:rPr lang="en-US" sz="2000" i="0">
                              <a:effectLst/>
                              <a:latin typeface="Verdana" panose="020B0604030504040204" pitchFamily="34" charset="0"/>
                              <a:ea typeface="Verdana" panose="020B0604030504040204" pitchFamily="34" charset="0"/>
                              <a:cs typeface="Verdana" panose="020B0604030504040204" pitchFamily="34" charset="0"/>
                            </a:rPr>
                            <a:t>Car payment</a:t>
                          </a:r>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$330</m:t>
                                </m:r>
                              </m:oMath>
                            </m:oMathPara>
                          </a14:m>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4566658"/>
                      </a:ext>
                    </a:extLst>
                  </a:tr>
                  <a:tr h="283243">
                    <a:tc>
                      <a:txBody>
                        <a:bodyPr/>
                        <a:lstStyle/>
                        <a:p>
                          <a:pPr marL="0" marR="0" algn="ctr">
                            <a:lnSpc>
                              <a:spcPct val="107000"/>
                            </a:lnSpc>
                            <a:spcBef>
                              <a:spcPts val="0"/>
                            </a:spcBef>
                            <a:spcAft>
                              <a:spcPts val="800"/>
                            </a:spcAft>
                          </a:pPr>
                          <a:r>
                            <a:rPr lang="en-US" sz="2000" i="0">
                              <a:effectLst/>
                              <a:latin typeface="Verdana" panose="020B0604030504040204" pitchFamily="34" charset="0"/>
                              <a:ea typeface="Verdana" panose="020B0604030504040204" pitchFamily="34" charset="0"/>
                              <a:cs typeface="Verdana" panose="020B0604030504040204" pitchFamily="34" charset="0"/>
                            </a:rPr>
                            <a:t>Insurance</a:t>
                          </a:r>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$120</m:t>
                                </m:r>
                              </m:oMath>
                            </m:oMathPara>
                          </a14:m>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379438"/>
                      </a:ext>
                    </a:extLst>
                  </a:tr>
                  <a:tr h="283243">
                    <a:tc>
                      <a:txBody>
                        <a:bodyPr/>
                        <a:lstStyle/>
                        <a:p>
                          <a:pPr marL="0" marR="0" algn="ctr">
                            <a:lnSpc>
                              <a:spcPct val="107000"/>
                            </a:lnSpc>
                            <a:spcBef>
                              <a:spcPts val="0"/>
                            </a:spcBef>
                            <a:spcAft>
                              <a:spcPts val="800"/>
                            </a:spcAft>
                          </a:pPr>
                          <a:r>
                            <a:rPr lang="en-US" sz="2000" i="0">
                              <a:effectLst/>
                              <a:latin typeface="Verdana" panose="020B0604030504040204" pitchFamily="34" charset="0"/>
                              <a:ea typeface="Verdana" panose="020B0604030504040204" pitchFamily="34" charset="0"/>
                              <a:cs typeface="Verdana" panose="020B0604030504040204" pitchFamily="34" charset="0"/>
                            </a:rPr>
                            <a:t>Gas</a:t>
                          </a:r>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$140</m:t>
                                </m:r>
                              </m:oMath>
                            </m:oMathPara>
                          </a14:m>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9524079"/>
                      </a:ext>
                    </a:extLst>
                  </a:tr>
                  <a:tr h="283243">
                    <a:tc>
                      <a:txBody>
                        <a:bodyPr/>
                        <a:lstStyle/>
                        <a:p>
                          <a:pPr marL="0" marR="0" algn="ctr">
                            <a:lnSpc>
                              <a:spcPct val="107000"/>
                            </a:lnSpc>
                            <a:spcBef>
                              <a:spcPts val="0"/>
                            </a:spcBef>
                            <a:spcAft>
                              <a:spcPts val="800"/>
                            </a:spcAft>
                          </a:pPr>
                          <a:r>
                            <a:rPr lang="en-US" sz="2000" i="0">
                              <a:effectLst/>
                              <a:latin typeface="Verdana" panose="020B0604030504040204" pitchFamily="34" charset="0"/>
                              <a:ea typeface="Verdana" panose="020B0604030504040204" pitchFamily="34" charset="0"/>
                              <a:cs typeface="Verdana" panose="020B0604030504040204" pitchFamily="34" charset="0"/>
                            </a:rPr>
                            <a:t>Food</a:t>
                          </a:r>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$250</m:t>
                                </m:r>
                              </m:oMath>
                            </m:oMathPara>
                          </a14:m>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82145199"/>
                      </a:ext>
                    </a:extLst>
                  </a:tr>
                  <a:tr h="283243">
                    <a:tc>
                      <a:txBody>
                        <a:bodyPr/>
                        <a:lstStyle/>
                        <a:p>
                          <a:pPr marL="0" marR="0" algn="ctr">
                            <a:lnSpc>
                              <a:spcPct val="107000"/>
                            </a:lnSpc>
                            <a:spcBef>
                              <a:spcPts val="0"/>
                            </a:spcBef>
                            <a:spcAft>
                              <a:spcPts val="800"/>
                            </a:spcAft>
                          </a:pPr>
                          <a:r>
                            <a:rPr lang="en-US" sz="2000" i="0">
                              <a:effectLst/>
                              <a:latin typeface="Verdana" panose="020B0604030504040204" pitchFamily="34" charset="0"/>
                              <a:ea typeface="Verdana" panose="020B0604030504040204" pitchFamily="34" charset="0"/>
                              <a:cs typeface="Verdana" panose="020B0604030504040204" pitchFamily="34" charset="0"/>
                            </a:rPr>
                            <a:t>Gym</a:t>
                          </a:r>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$30</m:t>
                                </m:r>
                              </m:oMath>
                            </m:oMathPara>
                          </a14:m>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9999211"/>
                      </a:ext>
                    </a:extLst>
                  </a:tr>
                  <a:tr h="283243">
                    <a:tc>
                      <a:txBody>
                        <a:bodyPr/>
                        <a:lstStyle/>
                        <a:p>
                          <a:pPr marL="0" marR="0" algn="ctr">
                            <a:lnSpc>
                              <a:spcPct val="107000"/>
                            </a:lnSpc>
                            <a:spcBef>
                              <a:spcPts val="0"/>
                            </a:spcBef>
                            <a:spcAft>
                              <a:spcPts val="800"/>
                            </a:spcAft>
                          </a:pPr>
                          <a:r>
                            <a:rPr lang="en-US" sz="2000" i="0">
                              <a:effectLst/>
                              <a:latin typeface="Verdana" panose="020B0604030504040204" pitchFamily="34" charset="0"/>
                              <a:ea typeface="Verdana" panose="020B0604030504040204" pitchFamily="34" charset="0"/>
                              <a:cs typeface="Verdana" panose="020B0604030504040204" pitchFamily="34" charset="0"/>
                            </a:rPr>
                            <a:t>Entertainment</a:t>
                          </a:r>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$120</m:t>
                                </m:r>
                              </m:oMath>
                            </m:oMathPara>
                          </a14:m>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4193122"/>
                      </a:ext>
                    </a:extLst>
                  </a:tr>
                  <a:tr h="283243">
                    <a:tc>
                      <a:txBody>
                        <a:bodyPr/>
                        <a:lstStyle/>
                        <a:p>
                          <a:pPr marL="0" marR="0" algn="ctr">
                            <a:lnSpc>
                              <a:spcPct val="107000"/>
                            </a:lnSpc>
                            <a:spcBef>
                              <a:spcPts val="0"/>
                            </a:spcBef>
                            <a:spcAft>
                              <a:spcPts val="800"/>
                            </a:spcAft>
                          </a:pPr>
                          <a:r>
                            <a:rPr lang="en-US" sz="2000" i="0">
                              <a:effectLst/>
                              <a:latin typeface="Verdana" panose="020B0604030504040204" pitchFamily="34" charset="0"/>
                              <a:ea typeface="Verdana" panose="020B0604030504040204" pitchFamily="34" charset="0"/>
                              <a:cs typeface="Verdana" panose="020B0604030504040204" pitchFamily="34" charset="0"/>
                            </a:rPr>
                            <a:t>Remaining</a:t>
                          </a:r>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$320</m:t>
                                </m:r>
                              </m:oMath>
                            </m:oMathPara>
                          </a14:m>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1214094"/>
                      </a:ext>
                    </a:extLst>
                  </a:tr>
                </a:tbl>
              </a:graphicData>
            </a:graphic>
          </p:graphicFrame>
        </mc:Choice>
        <mc:Fallback xmlns="">
          <p:graphicFrame>
            <p:nvGraphicFramePr>
              <p:cNvPr id="6" name="Table 5">
                <a:extLst>
                  <a:ext uri="{FF2B5EF4-FFF2-40B4-BE49-F238E27FC236}">
                    <a16:creationId xmlns:a16="http://schemas.microsoft.com/office/drawing/2014/main" id="{449158AD-6179-4DAC-B7A0-61E3A1257328}"/>
                  </a:ext>
                </a:extLst>
              </p:cNvPr>
              <p:cNvGraphicFramePr>
                <a:graphicFrameLocks noGrp="1"/>
              </p:cNvGraphicFramePr>
              <p:nvPr>
                <p:extLst>
                  <p:ext uri="{D42A27DB-BD31-4B8C-83A1-F6EECF244321}">
                    <p14:modId xmlns:p14="http://schemas.microsoft.com/office/powerpoint/2010/main" val="2528476944"/>
                  </p:ext>
                </p:extLst>
              </p:nvPr>
            </p:nvGraphicFramePr>
            <p:xfrm>
              <a:off x="1013394" y="143141"/>
              <a:ext cx="4095300" cy="6534473"/>
            </p:xfrm>
            <a:graphic>
              <a:graphicData uri="http://schemas.openxmlformats.org/drawingml/2006/table">
                <a:tbl>
                  <a:tblPr bandRow="1"/>
                  <a:tblGrid>
                    <a:gridCol w="3114190">
                      <a:extLst>
                        <a:ext uri="{9D8B030D-6E8A-4147-A177-3AD203B41FA5}">
                          <a16:colId xmlns:a16="http://schemas.microsoft.com/office/drawing/2014/main" val="4003425093"/>
                        </a:ext>
                      </a:extLst>
                    </a:gridCol>
                    <a:gridCol w="981110">
                      <a:extLst>
                        <a:ext uri="{9D8B030D-6E8A-4147-A177-3AD203B41FA5}">
                          <a16:colId xmlns:a16="http://schemas.microsoft.com/office/drawing/2014/main" val="1600998408"/>
                        </a:ext>
                      </a:extLst>
                    </a:gridCol>
                  </a:tblGrid>
                  <a:tr h="350525">
                    <a:tc gridSpan="2">
                      <a:txBody>
                        <a:bodyPr/>
                        <a:lstStyle/>
                        <a:p>
                          <a:pPr marL="0" marR="0" algn="ctr">
                            <a:lnSpc>
                              <a:spcPct val="107000"/>
                            </a:lnSpc>
                            <a:spcBef>
                              <a:spcPts val="0"/>
                            </a:spcBef>
                            <a:spcAft>
                              <a:spcPts val="800"/>
                            </a:spcAft>
                          </a:pPr>
                          <a:r>
                            <a:rPr lang="en-US" sz="2000" b="1" i="0" dirty="0">
                              <a:effectLst/>
                              <a:latin typeface="Verdana" panose="020B0604030504040204" pitchFamily="34" charset="0"/>
                              <a:ea typeface="Verdana" panose="020B0604030504040204" pitchFamily="34" charset="0"/>
                              <a:cs typeface="Verdana" panose="020B0604030504040204" pitchFamily="34" charset="0"/>
                            </a:rPr>
                            <a:t>Ky-</a:t>
                          </a:r>
                          <a:r>
                            <a:rPr lang="en-US" sz="2000" b="1" i="0" dirty="0" err="1">
                              <a:effectLst/>
                              <a:latin typeface="Verdana" panose="020B0604030504040204" pitchFamily="34" charset="0"/>
                              <a:ea typeface="Verdana" panose="020B0604030504040204" pitchFamily="34" charset="0"/>
                              <a:cs typeface="Verdana" panose="020B0604030504040204" pitchFamily="34" charset="0"/>
                            </a:rPr>
                            <a:t>ree’s</a:t>
                          </a:r>
                          <a:r>
                            <a:rPr lang="en-US" sz="2000" b="1" i="0" dirty="0">
                              <a:effectLst/>
                              <a:latin typeface="Verdana" panose="020B0604030504040204" pitchFamily="34" charset="0"/>
                              <a:ea typeface="Verdana" panose="020B0604030504040204" pitchFamily="34" charset="0"/>
                              <a:cs typeface="Verdana" panose="020B0604030504040204" pitchFamily="34" charset="0"/>
                            </a:rPr>
                            <a:t> Budget</a:t>
                          </a:r>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790299502"/>
                      </a:ext>
                    </a:extLst>
                  </a:tr>
                  <a:tr h="427736">
                    <a:tc>
                      <a:txBody>
                        <a:bodyPr/>
                        <a:lstStyle/>
                        <a:p>
                          <a:pPr marL="0" marR="0" algn="ctr">
                            <a:lnSpc>
                              <a:spcPct val="107000"/>
                            </a:lnSpc>
                            <a:spcBef>
                              <a:spcPts val="0"/>
                            </a:spcBef>
                            <a:spcAft>
                              <a:spcPts val="800"/>
                            </a:spcAft>
                          </a:pPr>
                          <a:r>
                            <a:rPr lang="en-US" sz="2000" i="0">
                              <a:effectLst/>
                              <a:latin typeface="Verdana" panose="020B0604030504040204" pitchFamily="34" charset="0"/>
                              <a:ea typeface="Verdana" panose="020B0604030504040204" pitchFamily="34" charset="0"/>
                              <a:cs typeface="Verdana" panose="020B0604030504040204" pitchFamily="34" charset="0"/>
                            </a:rPr>
                            <a:t>Monthly salary</a:t>
                          </a:r>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15385" t="-100000" b="-1378788"/>
                          </a:stretch>
                        </a:blipFill>
                      </a:tcPr>
                    </a:tc>
                    <a:extLst>
                      <a:ext uri="{0D108BD9-81ED-4DB2-BD59-A6C34878D82A}">
                        <a16:rowId xmlns:a16="http://schemas.microsoft.com/office/drawing/2014/main" val="2330242446"/>
                      </a:ext>
                    </a:extLst>
                  </a:tr>
                  <a:tr h="623380">
                    <a:tc>
                      <a:txBody>
                        <a:bodyPr/>
                        <a:lstStyle/>
                        <a:p>
                          <a:pPr marL="0" marR="0" algn="ctr">
                            <a:lnSpc>
                              <a:spcPct val="107000"/>
                            </a:lnSpc>
                            <a:spcBef>
                              <a:spcPts val="0"/>
                            </a:spcBef>
                            <a:spcAft>
                              <a:spcPts val="800"/>
                            </a:spcAft>
                          </a:pPr>
                          <a:r>
                            <a:rPr lang="en-US" sz="2000" i="0" dirty="0">
                              <a:effectLst/>
                              <a:latin typeface="Verdana" panose="020B0604030504040204" pitchFamily="34" charset="0"/>
                              <a:ea typeface="Verdana" panose="020B0604030504040204" pitchFamily="34" charset="0"/>
                              <a:cs typeface="Verdana" panose="020B0604030504040204" pitchFamily="34" charset="0"/>
                            </a:rPr>
                            <a:t>Taxes and other deductions</a:t>
                          </a:r>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15385" t="-134694" b="-828571"/>
                          </a:stretch>
                        </a:blipFill>
                      </a:tcPr>
                    </a:tc>
                    <a:extLst>
                      <a:ext uri="{0D108BD9-81ED-4DB2-BD59-A6C34878D82A}">
                        <a16:rowId xmlns:a16="http://schemas.microsoft.com/office/drawing/2014/main" val="1124102238"/>
                      </a:ext>
                    </a:extLst>
                  </a:tr>
                  <a:tr h="427736">
                    <a:tc>
                      <a:txBody>
                        <a:bodyPr/>
                        <a:lstStyle/>
                        <a:p>
                          <a:pPr marL="0" marR="0" algn="ctr">
                            <a:lnSpc>
                              <a:spcPct val="107000"/>
                            </a:lnSpc>
                            <a:spcBef>
                              <a:spcPts val="0"/>
                            </a:spcBef>
                            <a:spcAft>
                              <a:spcPts val="800"/>
                            </a:spcAft>
                          </a:pPr>
                          <a:r>
                            <a:rPr lang="en-US" sz="2000" i="0" dirty="0">
                              <a:effectLst/>
                              <a:latin typeface="Verdana" panose="020B0604030504040204" pitchFamily="34" charset="0"/>
                              <a:ea typeface="Verdana" panose="020B0604030504040204" pitchFamily="34" charset="0"/>
                              <a:cs typeface="Verdana" panose="020B0604030504040204" pitchFamily="34" charset="0"/>
                            </a:rPr>
                            <a:t>Net take home income</a:t>
                          </a:r>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15385" t="-338235" b="-1094118"/>
                          </a:stretch>
                        </a:blipFill>
                      </a:tcPr>
                    </a:tc>
                    <a:extLst>
                      <a:ext uri="{0D108BD9-81ED-4DB2-BD59-A6C34878D82A}">
                        <a16:rowId xmlns:a16="http://schemas.microsoft.com/office/drawing/2014/main" val="849445716"/>
                      </a:ext>
                    </a:extLst>
                  </a:tr>
                  <a:tr h="427736">
                    <a:tc>
                      <a:txBody>
                        <a:bodyPr/>
                        <a:lstStyle/>
                        <a:p>
                          <a:pPr marL="0" marR="0" algn="ctr">
                            <a:lnSpc>
                              <a:spcPct val="107000"/>
                            </a:lnSpc>
                            <a:spcBef>
                              <a:spcPts val="0"/>
                            </a:spcBef>
                            <a:spcAft>
                              <a:spcPts val="800"/>
                            </a:spcAft>
                          </a:pPr>
                          <a:r>
                            <a:rPr lang="en-US" sz="2000" i="0" dirty="0">
                              <a:effectLst/>
                              <a:latin typeface="Verdana" panose="020B0604030504040204" pitchFamily="34" charset="0"/>
                              <a:ea typeface="Verdana" panose="020B0604030504040204" pitchFamily="34" charset="0"/>
                              <a:cs typeface="Verdana" panose="020B0604030504040204" pitchFamily="34" charset="0"/>
                            </a:rPr>
                            <a:t>Rent</a:t>
                          </a:r>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15385" t="-438235" b="-994118"/>
                          </a:stretch>
                        </a:blipFill>
                      </a:tcPr>
                    </a:tc>
                    <a:extLst>
                      <a:ext uri="{0D108BD9-81ED-4DB2-BD59-A6C34878D82A}">
                        <a16:rowId xmlns:a16="http://schemas.microsoft.com/office/drawing/2014/main" val="4045138115"/>
                      </a:ext>
                    </a:extLst>
                  </a:tr>
                  <a:tr h="427736">
                    <a:tc>
                      <a:txBody>
                        <a:bodyPr/>
                        <a:lstStyle/>
                        <a:p>
                          <a:pPr marL="0" marR="0" algn="ctr">
                            <a:lnSpc>
                              <a:spcPct val="107000"/>
                            </a:lnSpc>
                            <a:spcBef>
                              <a:spcPts val="0"/>
                            </a:spcBef>
                            <a:spcAft>
                              <a:spcPts val="800"/>
                            </a:spcAft>
                          </a:pPr>
                          <a:r>
                            <a:rPr lang="en-US" sz="2000" i="0" dirty="0">
                              <a:effectLst/>
                              <a:latin typeface="Verdana" panose="020B0604030504040204" pitchFamily="34" charset="0"/>
                              <a:ea typeface="Verdana" panose="020B0604030504040204" pitchFamily="34" charset="0"/>
                              <a:cs typeface="Verdana" panose="020B0604030504040204" pitchFamily="34" charset="0"/>
                            </a:rPr>
                            <a:t>Utilities</a:t>
                          </a:r>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15385" t="-538235" b="-894118"/>
                          </a:stretch>
                        </a:blipFill>
                      </a:tcPr>
                    </a:tc>
                    <a:extLst>
                      <a:ext uri="{0D108BD9-81ED-4DB2-BD59-A6C34878D82A}">
                        <a16:rowId xmlns:a16="http://schemas.microsoft.com/office/drawing/2014/main" val="2350507330"/>
                      </a:ext>
                    </a:extLst>
                  </a:tr>
                  <a:tr h="427736">
                    <a:tc>
                      <a:txBody>
                        <a:bodyPr/>
                        <a:lstStyle/>
                        <a:p>
                          <a:pPr marL="0" marR="0" algn="ctr">
                            <a:lnSpc>
                              <a:spcPct val="107000"/>
                            </a:lnSpc>
                            <a:spcBef>
                              <a:spcPts val="0"/>
                            </a:spcBef>
                            <a:spcAft>
                              <a:spcPts val="800"/>
                            </a:spcAft>
                          </a:pPr>
                          <a:r>
                            <a:rPr lang="en-US" sz="2000" i="0">
                              <a:effectLst/>
                              <a:latin typeface="Verdana" panose="020B0604030504040204" pitchFamily="34" charset="0"/>
                              <a:ea typeface="Verdana" panose="020B0604030504040204" pitchFamily="34" charset="0"/>
                              <a:cs typeface="Verdana" panose="020B0604030504040204" pitchFamily="34" charset="0"/>
                            </a:rPr>
                            <a:t>Internet &amp; cable</a:t>
                          </a:r>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15385" t="-657576" b="-821212"/>
                          </a:stretch>
                        </a:blipFill>
                      </a:tcPr>
                    </a:tc>
                    <a:extLst>
                      <a:ext uri="{0D108BD9-81ED-4DB2-BD59-A6C34878D82A}">
                        <a16:rowId xmlns:a16="http://schemas.microsoft.com/office/drawing/2014/main" val="3389030497"/>
                      </a:ext>
                    </a:extLst>
                  </a:tr>
                  <a:tr h="427736">
                    <a:tc>
                      <a:txBody>
                        <a:bodyPr/>
                        <a:lstStyle/>
                        <a:p>
                          <a:pPr marL="0" marR="0" algn="ctr">
                            <a:lnSpc>
                              <a:spcPct val="107000"/>
                            </a:lnSpc>
                            <a:spcBef>
                              <a:spcPts val="0"/>
                            </a:spcBef>
                            <a:spcAft>
                              <a:spcPts val="800"/>
                            </a:spcAft>
                          </a:pPr>
                          <a:r>
                            <a:rPr lang="en-US" sz="2000" i="0">
                              <a:effectLst/>
                              <a:latin typeface="Verdana" panose="020B0604030504040204" pitchFamily="34" charset="0"/>
                              <a:ea typeface="Verdana" panose="020B0604030504040204" pitchFamily="34" charset="0"/>
                              <a:cs typeface="Verdana" panose="020B0604030504040204" pitchFamily="34" charset="0"/>
                            </a:rPr>
                            <a:t>Cell phone</a:t>
                          </a:r>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9165" marR="491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15385" t="-735294" b="-697059"/>
                          </a:stretch>
                        </a:blipFill>
                      </a:tcPr>
                    </a:tc>
                    <a:extLst>
                      <a:ext uri="{0D108BD9-81ED-4DB2-BD59-A6C34878D82A}">
                        <a16:rowId xmlns:a16="http://schemas.microsoft.com/office/drawing/2014/main" val="2426918907"/>
                      </a:ext>
                    </a:extLst>
                  </a:tr>
                  <a:tr h="427736">
                    <a:tc>
                      <a:txBody>
                        <a:bodyPr/>
                        <a:lstStyle/>
                        <a:p>
                          <a:pPr marL="0" marR="0" algn="ctr">
                            <a:lnSpc>
                              <a:spcPct val="107000"/>
                            </a:lnSpc>
                            <a:spcBef>
                              <a:spcPts val="0"/>
                            </a:spcBef>
                            <a:spcAft>
                              <a:spcPts val="800"/>
                            </a:spcAft>
                          </a:pPr>
                          <a:r>
                            <a:rPr lang="en-US" sz="2000" i="0">
                              <a:effectLst/>
                              <a:latin typeface="Verdana" panose="020B0604030504040204" pitchFamily="34" charset="0"/>
                              <a:ea typeface="Verdana" panose="020B0604030504040204" pitchFamily="34" charset="0"/>
                              <a:cs typeface="Verdana" panose="020B0604030504040204" pitchFamily="34" charset="0"/>
                            </a:rPr>
                            <a:t>Car payment</a:t>
                          </a:r>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15385" t="-835294" b="-597059"/>
                          </a:stretch>
                        </a:blipFill>
                      </a:tcPr>
                    </a:tc>
                    <a:extLst>
                      <a:ext uri="{0D108BD9-81ED-4DB2-BD59-A6C34878D82A}">
                        <a16:rowId xmlns:a16="http://schemas.microsoft.com/office/drawing/2014/main" val="1834566658"/>
                      </a:ext>
                    </a:extLst>
                  </a:tr>
                  <a:tr h="427736">
                    <a:tc>
                      <a:txBody>
                        <a:bodyPr/>
                        <a:lstStyle/>
                        <a:p>
                          <a:pPr marL="0" marR="0" algn="ctr">
                            <a:lnSpc>
                              <a:spcPct val="107000"/>
                            </a:lnSpc>
                            <a:spcBef>
                              <a:spcPts val="0"/>
                            </a:spcBef>
                            <a:spcAft>
                              <a:spcPts val="800"/>
                            </a:spcAft>
                          </a:pPr>
                          <a:r>
                            <a:rPr lang="en-US" sz="2000" i="0">
                              <a:effectLst/>
                              <a:latin typeface="Verdana" panose="020B0604030504040204" pitchFamily="34" charset="0"/>
                              <a:ea typeface="Verdana" panose="020B0604030504040204" pitchFamily="34" charset="0"/>
                              <a:cs typeface="Verdana" panose="020B0604030504040204" pitchFamily="34" charset="0"/>
                            </a:rPr>
                            <a:t>Insurance</a:t>
                          </a:r>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15385" t="-963636" b="-515152"/>
                          </a:stretch>
                        </a:blipFill>
                      </a:tcPr>
                    </a:tc>
                    <a:extLst>
                      <a:ext uri="{0D108BD9-81ED-4DB2-BD59-A6C34878D82A}">
                        <a16:rowId xmlns:a16="http://schemas.microsoft.com/office/drawing/2014/main" val="69379438"/>
                      </a:ext>
                    </a:extLst>
                  </a:tr>
                  <a:tr h="427736">
                    <a:tc>
                      <a:txBody>
                        <a:bodyPr/>
                        <a:lstStyle/>
                        <a:p>
                          <a:pPr marL="0" marR="0" algn="ctr">
                            <a:lnSpc>
                              <a:spcPct val="107000"/>
                            </a:lnSpc>
                            <a:spcBef>
                              <a:spcPts val="0"/>
                            </a:spcBef>
                            <a:spcAft>
                              <a:spcPts val="800"/>
                            </a:spcAft>
                          </a:pPr>
                          <a:r>
                            <a:rPr lang="en-US" sz="2000" i="0">
                              <a:effectLst/>
                              <a:latin typeface="Verdana" panose="020B0604030504040204" pitchFamily="34" charset="0"/>
                              <a:ea typeface="Verdana" panose="020B0604030504040204" pitchFamily="34" charset="0"/>
                              <a:cs typeface="Verdana" panose="020B0604030504040204" pitchFamily="34" charset="0"/>
                            </a:rPr>
                            <a:t>Gas</a:t>
                          </a:r>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15385" t="-1032353" b="-400000"/>
                          </a:stretch>
                        </a:blipFill>
                      </a:tcPr>
                    </a:tc>
                    <a:extLst>
                      <a:ext uri="{0D108BD9-81ED-4DB2-BD59-A6C34878D82A}">
                        <a16:rowId xmlns:a16="http://schemas.microsoft.com/office/drawing/2014/main" val="1839524079"/>
                      </a:ext>
                    </a:extLst>
                  </a:tr>
                  <a:tr h="427736">
                    <a:tc>
                      <a:txBody>
                        <a:bodyPr/>
                        <a:lstStyle/>
                        <a:p>
                          <a:pPr marL="0" marR="0" algn="ctr">
                            <a:lnSpc>
                              <a:spcPct val="107000"/>
                            </a:lnSpc>
                            <a:spcBef>
                              <a:spcPts val="0"/>
                            </a:spcBef>
                            <a:spcAft>
                              <a:spcPts val="800"/>
                            </a:spcAft>
                          </a:pPr>
                          <a:r>
                            <a:rPr lang="en-US" sz="2000" i="0">
                              <a:effectLst/>
                              <a:latin typeface="Verdana" panose="020B0604030504040204" pitchFamily="34" charset="0"/>
                              <a:ea typeface="Verdana" panose="020B0604030504040204" pitchFamily="34" charset="0"/>
                              <a:cs typeface="Verdana" panose="020B0604030504040204" pitchFamily="34" charset="0"/>
                            </a:rPr>
                            <a:t>Food</a:t>
                          </a:r>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15385" t="-1132353" b="-300000"/>
                          </a:stretch>
                        </a:blipFill>
                      </a:tcPr>
                    </a:tc>
                    <a:extLst>
                      <a:ext uri="{0D108BD9-81ED-4DB2-BD59-A6C34878D82A}">
                        <a16:rowId xmlns:a16="http://schemas.microsoft.com/office/drawing/2014/main" val="2282145199"/>
                      </a:ext>
                    </a:extLst>
                  </a:tr>
                  <a:tr h="427736">
                    <a:tc>
                      <a:txBody>
                        <a:bodyPr/>
                        <a:lstStyle/>
                        <a:p>
                          <a:pPr marL="0" marR="0" algn="ctr">
                            <a:lnSpc>
                              <a:spcPct val="107000"/>
                            </a:lnSpc>
                            <a:spcBef>
                              <a:spcPts val="0"/>
                            </a:spcBef>
                            <a:spcAft>
                              <a:spcPts val="800"/>
                            </a:spcAft>
                          </a:pPr>
                          <a:r>
                            <a:rPr lang="en-US" sz="2000" i="0">
                              <a:effectLst/>
                              <a:latin typeface="Verdana" panose="020B0604030504040204" pitchFamily="34" charset="0"/>
                              <a:ea typeface="Verdana" panose="020B0604030504040204" pitchFamily="34" charset="0"/>
                              <a:cs typeface="Verdana" panose="020B0604030504040204" pitchFamily="34" charset="0"/>
                            </a:rPr>
                            <a:t>Gym</a:t>
                          </a:r>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15385" t="-1232353" b="-200000"/>
                          </a:stretch>
                        </a:blipFill>
                      </a:tcPr>
                    </a:tc>
                    <a:extLst>
                      <a:ext uri="{0D108BD9-81ED-4DB2-BD59-A6C34878D82A}">
                        <a16:rowId xmlns:a16="http://schemas.microsoft.com/office/drawing/2014/main" val="1889999211"/>
                      </a:ext>
                    </a:extLst>
                  </a:tr>
                  <a:tr h="427736">
                    <a:tc>
                      <a:txBody>
                        <a:bodyPr/>
                        <a:lstStyle/>
                        <a:p>
                          <a:pPr marL="0" marR="0" algn="ctr">
                            <a:lnSpc>
                              <a:spcPct val="107000"/>
                            </a:lnSpc>
                            <a:spcBef>
                              <a:spcPts val="0"/>
                            </a:spcBef>
                            <a:spcAft>
                              <a:spcPts val="800"/>
                            </a:spcAft>
                          </a:pPr>
                          <a:r>
                            <a:rPr lang="en-US" sz="2000" i="0">
                              <a:effectLst/>
                              <a:latin typeface="Verdana" panose="020B0604030504040204" pitchFamily="34" charset="0"/>
                              <a:ea typeface="Verdana" panose="020B0604030504040204" pitchFamily="34" charset="0"/>
                              <a:cs typeface="Verdana" panose="020B0604030504040204" pitchFamily="34" charset="0"/>
                            </a:rPr>
                            <a:t>Entertainment</a:t>
                          </a:r>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15385" t="-1372727" b="-106061"/>
                          </a:stretch>
                        </a:blipFill>
                      </a:tcPr>
                    </a:tc>
                    <a:extLst>
                      <a:ext uri="{0D108BD9-81ED-4DB2-BD59-A6C34878D82A}">
                        <a16:rowId xmlns:a16="http://schemas.microsoft.com/office/drawing/2014/main" val="954193122"/>
                      </a:ext>
                    </a:extLst>
                  </a:tr>
                  <a:tr h="427736">
                    <a:tc>
                      <a:txBody>
                        <a:bodyPr/>
                        <a:lstStyle/>
                        <a:p>
                          <a:pPr marL="0" marR="0" algn="ctr">
                            <a:lnSpc>
                              <a:spcPct val="107000"/>
                            </a:lnSpc>
                            <a:spcBef>
                              <a:spcPts val="0"/>
                            </a:spcBef>
                            <a:spcAft>
                              <a:spcPts val="800"/>
                            </a:spcAft>
                          </a:pPr>
                          <a:r>
                            <a:rPr lang="en-US" sz="2000" i="0">
                              <a:effectLst/>
                              <a:latin typeface="Verdana" panose="020B0604030504040204" pitchFamily="34" charset="0"/>
                              <a:ea typeface="Verdana" panose="020B0604030504040204" pitchFamily="34" charset="0"/>
                              <a:cs typeface="Verdana" panose="020B0604030504040204" pitchFamily="34" charset="0"/>
                            </a:rPr>
                            <a:t>Remaining</a:t>
                          </a:r>
                          <a:endParaRPr lang="en-US" sz="1800" i="1">
                            <a:effectLst/>
                            <a:latin typeface="Verdana" panose="020B0604030504040204" pitchFamily="34" charset="0"/>
                            <a:ea typeface="Verdana" panose="020B0604030504040204" pitchFamily="34" charset="0"/>
                            <a:cs typeface="Cambria Math" panose="02040503050406030204" pitchFamily="18" charset="0"/>
                          </a:endParaRPr>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9165" marR="491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15385" t="-1429412" b="-2941"/>
                          </a:stretch>
                        </a:blipFill>
                      </a:tcPr>
                    </a:tc>
                    <a:extLst>
                      <a:ext uri="{0D108BD9-81ED-4DB2-BD59-A6C34878D82A}">
                        <a16:rowId xmlns:a16="http://schemas.microsoft.com/office/drawing/2014/main" val="1831214094"/>
                      </a:ext>
                    </a:extLst>
                  </a:tr>
                </a:tbl>
              </a:graphicData>
            </a:graphic>
          </p:graphicFrame>
        </mc:Fallback>
      </mc:AlternateContent>
      <p:sp>
        <p:nvSpPr>
          <p:cNvPr id="8" name="Google Shape;282;g104476d1465_1_17"/>
          <p:cNvSpPr txBox="1"/>
          <p:nvPr/>
        </p:nvSpPr>
        <p:spPr>
          <a:xfrm>
            <a:off x="86371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61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53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371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61</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53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67825" y="-6056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2.5.2 Guided Instruction: </a:t>
            </a:r>
            <a:r>
              <a:rPr lang="en-US" sz="3200" b="1" dirty="0">
                <a:solidFill>
                  <a:srgbClr val="26B6D4"/>
                </a:solidFill>
                <a:latin typeface="Verdana" panose="020B0604030504040204" pitchFamily="34" charset="0"/>
                <a:ea typeface="Verdana" panose="020B0604030504040204" pitchFamily="34" charset="0"/>
                <a:cs typeface="Verdana" panose="020B0604030504040204" pitchFamily="34" charset="0"/>
              </a:rPr>
              <a:t>Real-World Contexts About Finances</a:t>
            </a:r>
            <a:endParaRPr lang="en-US" sz="3200" b="1" dirty="0">
              <a:solidFill>
                <a:srgbClr val="54B5D1"/>
              </a:solidFill>
              <a:latin typeface="Verdana"/>
              <a:ea typeface="Verdana"/>
              <a:cs typeface="Verdana"/>
              <a:sym typeface="Verdana"/>
            </a:endParaRP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520525" y="146697"/>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1267825" y="2132337"/>
                <a:ext cx="10003288" cy="2463367"/>
              </a:xfrm>
              <a:prstGeom prst="rect">
                <a:avLst/>
              </a:prstGeom>
              <a:noFill/>
            </p:spPr>
            <p:txBody>
              <a:bodyPr wrap="square" rtlCol="0">
                <a:spAutoFit/>
              </a:bodyPr>
              <a:lstStyle/>
              <a:p>
                <a:pPr marL="342900" indent="-342900">
                  <a:lnSpc>
                    <a:spcPct val="107000"/>
                  </a:lnSpc>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Recall the problem from Lesson 4.</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A Valencia orange tree that is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12</m:t>
                    </m:r>
                  </m:oMath>
                </a14:m>
                <a:r>
                  <a:rPr lang="en-US" sz="2400" dirty="0">
                    <a:latin typeface="Verdana" panose="020B0604030504040204" pitchFamily="34" charset="0"/>
                    <a:ea typeface="Verdana" panose="020B0604030504040204" pitchFamily="34" charset="0"/>
                    <a:cs typeface="Verdana" panose="020B0604030504040204" pitchFamily="34" charset="0"/>
                  </a:rPr>
                  <a:t> years old can produce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1.4</m:t>
                    </m:r>
                  </m:oMath>
                </a14:m>
                <a:r>
                  <a:rPr lang="en-US" sz="2400" dirty="0">
                    <a:latin typeface="Verdana" panose="020B0604030504040204" pitchFamily="34" charset="0"/>
                    <a:ea typeface="Verdana" panose="020B0604030504040204" pitchFamily="34" charset="0"/>
                    <a:cs typeface="Verdana" panose="020B0604030504040204" pitchFamily="34" charset="0"/>
                  </a:rPr>
                  <a:t> boxes of fruit. In May 2017, a box of fresh Valencia oranges cost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$20.45</m:t>
                    </m:r>
                  </m:oMath>
                </a14:m>
                <a:r>
                  <a:rPr lang="en-US" sz="2400" dirty="0">
                    <a:latin typeface="Verdana" panose="020B0604030504040204" pitchFamily="34" charset="0"/>
                    <a:ea typeface="Verdana" panose="020B0604030504040204" pitchFamily="34" charset="0"/>
                    <a:cs typeface="Verdana" panose="020B0604030504040204" pitchFamily="34" charset="0"/>
                  </a:rPr>
                  <a:t>. How much income would a Valencia orange tree generate?</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1267825" y="2132337"/>
                <a:ext cx="10003288" cy="2463367"/>
              </a:xfrm>
              <a:prstGeom prst="rect">
                <a:avLst/>
              </a:prstGeom>
              <a:blipFill rotWithShape="0">
                <a:blip r:embed="rId4"/>
                <a:stretch>
                  <a:fillRect l="-975" t="-2475" r="-914" b="-3218"/>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2260A17C-F127-D647-A05B-7BB351158843}"/>
              </a:ext>
            </a:extLst>
          </p:cNvPr>
          <p:cNvSpPr/>
          <p:nvPr/>
        </p:nvSpPr>
        <p:spPr>
          <a:xfrm>
            <a:off x="0" y="-8226"/>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Rounded Rectangle 258">
            <a:extLst>
              <a:ext uri="{FF2B5EF4-FFF2-40B4-BE49-F238E27FC236}">
                <a16:creationId xmlns:a16="http://schemas.microsoft.com/office/drawing/2014/main" id="{900915ED-9078-4884-8021-303671DD315D}"/>
              </a:ext>
            </a:extLst>
          </p:cNvPr>
          <p:cNvSpPr/>
          <p:nvPr/>
        </p:nvSpPr>
        <p:spPr>
          <a:xfrm>
            <a:off x="2060449" y="1442507"/>
            <a:ext cx="7028815" cy="487045"/>
          </a:xfrm>
          <a:prstGeom prst="roundRect">
            <a:avLst>
              <a:gd name="adj" fmla="val 16667"/>
            </a:avLst>
          </a:prstGeom>
          <a:solidFill>
            <a:srgbClr val="E3EFD5"/>
          </a:solidFill>
          <a:ln w="12700" cap="flat" cmpd="sng">
            <a:solidFill>
              <a:srgbClr val="E3EFD5"/>
            </a:solidFill>
            <a:prstDash val="solid"/>
            <a:miter lim="800000"/>
            <a:headEnd type="none" w="sm" len="sm"/>
            <a:tailEnd type="none" w="sm" len="sm"/>
          </a:ln>
        </p:spPr>
        <p:txBody>
          <a:bodyPr spcFirstLastPara="1" wrap="square" lIns="91425" tIns="45700" rIns="91425" bIns="45700" anchor="t" anchorCtr="0">
            <a:noAutofit/>
          </a:bodyPr>
          <a:lstStyle/>
          <a:p>
            <a:pPr>
              <a:lnSpc>
                <a:spcPct val="107000"/>
              </a:lnSpc>
              <a:spcAft>
                <a:spcPts val="800"/>
              </a:spcAft>
            </a:pPr>
            <a:r>
              <a:rPr lang="en-US" sz="2400" b="1" i="1" dirty="0">
                <a:solidFill>
                  <a:srgbClr val="6C993C"/>
                </a:solidFill>
                <a:latin typeface="Verdana" panose="020B0604030504040204" pitchFamily="34" charset="0"/>
                <a:ea typeface="Verdana" panose="020B0604030504040204" pitchFamily="34" charset="0"/>
                <a:cs typeface="Verdana" panose="020B0604030504040204" pitchFamily="34" charset="0"/>
              </a:rPr>
              <a:t>Income</a:t>
            </a:r>
            <a:r>
              <a:rPr lang="en-US" sz="2400" b="1" dirty="0">
                <a:solidFill>
                  <a:srgbClr val="6C993C"/>
                </a:solidFill>
                <a:latin typeface="Verdana" panose="020B0604030504040204" pitchFamily="34" charset="0"/>
                <a:ea typeface="Verdana" panose="020B0604030504040204" pitchFamily="34" charset="0"/>
                <a:cs typeface="Verdana" panose="020B0604030504040204" pitchFamily="34" charset="0"/>
              </a:rPr>
              <a:t> </a:t>
            </a:r>
            <a:r>
              <a:rPr lang="en-US" sz="2400" dirty="0">
                <a:solidFill>
                  <a:srgbClr val="6C993C"/>
                </a:solidFill>
                <a:latin typeface="Verdana" panose="020B0604030504040204" pitchFamily="34" charset="0"/>
                <a:ea typeface="Verdana" panose="020B0604030504040204" pitchFamily="34" charset="0"/>
                <a:cs typeface="Verdana" panose="020B0604030504040204" pitchFamily="34" charset="0"/>
              </a:rPr>
              <a:t>is the amount of money received.</a:t>
            </a:r>
            <a:endParaRPr lang="en-US" sz="24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spcAft>
                <a:spcPts val="800"/>
              </a:spcAft>
            </a:pPr>
            <a:r>
              <a:rPr lang="en-US" sz="1600" i="1" dirty="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11" name="Google Shape;282;g104476d1465_1_17"/>
          <p:cNvSpPr txBox="1"/>
          <p:nvPr/>
        </p:nvSpPr>
        <p:spPr>
          <a:xfrm>
            <a:off x="86371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61</a:t>
            </a:r>
            <a:endParaRPr i="1" dirty="0">
              <a:latin typeface="Calibri"/>
              <a:ea typeface="Calibri"/>
              <a:cs typeface="Calibri"/>
              <a:sym typeface="Calibri"/>
            </a:endParaRPr>
          </a:p>
        </p:txBody>
      </p:sp>
      <p:pic>
        <p:nvPicPr>
          <p:cNvPr id="14"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753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8AE5E1E0-A54D-BE42-84B5-F917038ADE99}"/>
              </a:ext>
            </a:extLst>
          </p:cNvPr>
          <p:cNvSpPr txBox="1"/>
          <p:nvPr/>
        </p:nvSpPr>
        <p:spPr>
          <a:xfrm>
            <a:off x="1209822" y="1203146"/>
            <a:ext cx="9923022" cy="2858539"/>
          </a:xfrm>
          <a:prstGeom prst="rect">
            <a:avLst/>
          </a:prstGeom>
          <a:noFill/>
        </p:spPr>
        <p:txBody>
          <a:bodyPr wrap="square" rtlCol="0">
            <a:spAutoFit/>
          </a:bodyPr>
          <a:lstStyle/>
          <a:p>
            <a:pPr marL="457200" indent="-457200">
              <a:lnSpc>
                <a:spcPct val="107000"/>
              </a:lnSpc>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Daniel owns a Valencia orange grove. Choose other items from the list that he should consider as a part of his finances.</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752475" indent="-334963">
              <a:lnSpc>
                <a:spcPct val="107000"/>
              </a:lnSpc>
              <a:buFont typeface="Wingdings" panose="05000000000000000000" pitchFamily="2" charset="2"/>
              <a:buChar char=""/>
              <a:tabLst>
                <a:tab pos="914400" algn="l"/>
              </a:tabLst>
            </a:pPr>
            <a:r>
              <a:rPr lang="en-US" sz="2400" dirty="0">
                <a:latin typeface="Verdana" panose="020B0604030504040204" pitchFamily="34" charset="0"/>
                <a:ea typeface="Verdana" panose="020B0604030504040204" pitchFamily="34" charset="0"/>
                <a:cs typeface="Verdana" panose="020B0604030504040204" pitchFamily="34" charset="0"/>
              </a:rPr>
              <a:t>The taxes he pays on the property.</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752475" indent="-334963">
              <a:lnSpc>
                <a:spcPct val="107000"/>
              </a:lnSpc>
              <a:buFont typeface="Wingdings" panose="05000000000000000000" pitchFamily="2" charset="2"/>
              <a:buChar char=""/>
              <a:tabLst>
                <a:tab pos="914400" algn="l"/>
              </a:tabLst>
            </a:pPr>
            <a:r>
              <a:rPr lang="en-US" sz="2400" dirty="0">
                <a:latin typeface="Verdana" panose="020B0604030504040204" pitchFamily="34" charset="0"/>
                <a:ea typeface="Verdana" panose="020B0604030504040204" pitchFamily="34" charset="0"/>
                <a:cs typeface="Verdana" panose="020B0604030504040204" pitchFamily="34" charset="0"/>
              </a:rPr>
              <a:t>The amount of money he has in the bank.</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752475" indent="-334963">
              <a:lnSpc>
                <a:spcPct val="107000"/>
              </a:lnSpc>
              <a:buFont typeface="Wingdings" panose="05000000000000000000" pitchFamily="2" charset="2"/>
              <a:buChar char=""/>
              <a:tabLst>
                <a:tab pos="914400" algn="l"/>
              </a:tabLst>
            </a:pPr>
            <a:r>
              <a:rPr lang="en-US" sz="2400" dirty="0">
                <a:latin typeface="Verdana" panose="020B0604030504040204" pitchFamily="34" charset="0"/>
                <a:ea typeface="Verdana" panose="020B0604030504040204" pitchFamily="34" charset="0"/>
                <a:cs typeface="Verdana" panose="020B0604030504040204" pitchFamily="34" charset="0"/>
              </a:rPr>
              <a:t>The cost of taking care of the orange grove.</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7" name="Google Shape;278;g104476d1465_1_17">
            <a:extLst>
              <a:ext uri="{FF2B5EF4-FFF2-40B4-BE49-F238E27FC236}">
                <a16:creationId xmlns:a16="http://schemas.microsoft.com/office/drawing/2014/main" id="{A7817ACE-0EAD-F54B-BF54-D1C44606A01D}"/>
              </a:ext>
            </a:extLst>
          </p:cNvPr>
          <p:cNvSpPr/>
          <p:nvPr/>
        </p:nvSpPr>
        <p:spPr>
          <a:xfrm>
            <a:off x="0" y="-8226"/>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Rounded Rectangle 260">
            <a:extLst>
              <a:ext uri="{FF2B5EF4-FFF2-40B4-BE49-F238E27FC236}">
                <a16:creationId xmlns:a16="http://schemas.microsoft.com/office/drawing/2014/main" id="{4BD1B78F-71C1-494C-93E3-3B6C91065582}"/>
              </a:ext>
            </a:extLst>
          </p:cNvPr>
          <p:cNvSpPr/>
          <p:nvPr/>
        </p:nvSpPr>
        <p:spPr>
          <a:xfrm>
            <a:off x="2519523" y="366079"/>
            <a:ext cx="6704330" cy="487045"/>
          </a:xfrm>
          <a:prstGeom prst="roundRect">
            <a:avLst>
              <a:gd name="adj" fmla="val 16667"/>
            </a:avLst>
          </a:prstGeom>
          <a:solidFill>
            <a:srgbClr val="E3EFD5"/>
          </a:solidFill>
          <a:ln w="12700" cap="flat" cmpd="sng">
            <a:solidFill>
              <a:srgbClr val="E3EFD5"/>
            </a:solidFill>
            <a:prstDash val="solid"/>
            <a:miter lim="800000"/>
            <a:headEnd type="none" w="sm" len="sm"/>
            <a:tailEnd type="none" w="sm" len="sm"/>
          </a:ln>
        </p:spPr>
        <p:txBody>
          <a:bodyPr spcFirstLastPara="1" wrap="square" lIns="91425" tIns="45700" rIns="91425" bIns="45700" anchor="t" anchorCtr="0">
            <a:noAutofit/>
          </a:bodyPr>
          <a:lstStyle/>
          <a:p>
            <a:pPr>
              <a:lnSpc>
                <a:spcPct val="107000"/>
              </a:lnSpc>
              <a:spcAft>
                <a:spcPts val="800"/>
              </a:spcAft>
            </a:pPr>
            <a:r>
              <a:rPr lang="en-US" sz="2400" b="1" i="1" dirty="0">
                <a:solidFill>
                  <a:srgbClr val="6C993C"/>
                </a:solidFill>
                <a:latin typeface="Verdana" panose="020B0604030504040204" pitchFamily="34" charset="0"/>
                <a:ea typeface="Verdana" panose="020B0604030504040204" pitchFamily="34" charset="0"/>
                <a:cs typeface="Verdana" panose="020B0604030504040204" pitchFamily="34" charset="0"/>
              </a:rPr>
              <a:t>Finance</a:t>
            </a:r>
            <a:r>
              <a:rPr lang="en-US" sz="2400" b="1" dirty="0">
                <a:solidFill>
                  <a:srgbClr val="6C993C"/>
                </a:solidFill>
                <a:latin typeface="Verdana" panose="020B0604030504040204" pitchFamily="34" charset="0"/>
                <a:ea typeface="Verdana" panose="020B0604030504040204" pitchFamily="34" charset="0"/>
                <a:cs typeface="Verdana" panose="020B0604030504040204" pitchFamily="34" charset="0"/>
              </a:rPr>
              <a:t> </a:t>
            </a:r>
            <a:r>
              <a:rPr lang="en-US" sz="2400" dirty="0">
                <a:solidFill>
                  <a:srgbClr val="6C993C"/>
                </a:solidFill>
                <a:latin typeface="Verdana" panose="020B0604030504040204" pitchFamily="34" charset="0"/>
                <a:ea typeface="Verdana" panose="020B0604030504040204" pitchFamily="34" charset="0"/>
                <a:cs typeface="Verdana" panose="020B0604030504040204" pitchFamily="34" charset="0"/>
              </a:rPr>
              <a:t>is the management of money.</a:t>
            </a:r>
            <a:endParaRPr lang="en-US" sz="24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8" name="Google Shape;282;g104476d1465_1_17"/>
          <p:cNvSpPr txBox="1"/>
          <p:nvPr/>
        </p:nvSpPr>
        <p:spPr>
          <a:xfrm>
            <a:off x="86371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61</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753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3813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8AE5E1E0-A54D-BE42-84B5-F917038ADE99}"/>
              </a:ext>
            </a:extLst>
          </p:cNvPr>
          <p:cNvSpPr txBox="1"/>
          <p:nvPr/>
        </p:nvSpPr>
        <p:spPr>
          <a:xfrm>
            <a:off x="1069145" y="288746"/>
            <a:ext cx="10870044" cy="5816977"/>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Use the words in the word bank to complete each statement.</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rabicPeriod" startAt="3"/>
            </a:pPr>
            <a:endParaRPr lang="en-US" sz="24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rabicPeriod" startAt="3"/>
            </a:pPr>
            <a:endParaRPr lang="en-US" sz="24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rabicPeriod" startAt="3"/>
            </a:pPr>
            <a:endParaRPr lang="en-US" sz="24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rabicPeriod" startAt="3"/>
            </a:pPr>
            <a:endParaRPr lang="en-US" sz="2400" i="1"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rabicPeriod" startAt="3"/>
            </a:pPr>
            <a:endParaRPr lang="en-US" sz="2400" i="1" dirty="0">
              <a:latin typeface="Verdana" panose="020B0604030504040204" pitchFamily="34" charset="0"/>
              <a:ea typeface="Verdana" panose="020B0604030504040204" pitchFamily="34" charset="0"/>
              <a:cs typeface="Cambria Math" panose="02040503050406030204" pitchFamily="18" charset="0"/>
            </a:endParaRPr>
          </a:p>
          <a:p>
            <a:endParaRPr lang="en-US" sz="2400" i="1" dirty="0">
              <a:latin typeface="Verdana" panose="020B0604030504040204" pitchFamily="34" charset="0"/>
              <a:ea typeface="Verdana" panose="020B0604030504040204" pitchFamily="34" charset="0"/>
              <a:cs typeface="Cambria Math" panose="02040503050406030204" pitchFamily="18" charset="0"/>
            </a:endParaRPr>
          </a:p>
          <a:p>
            <a:pPr marL="808038" indent="-3349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______________ or _____________ describe money that is spent.</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808038" indent="-334963">
              <a:buFont typeface="+mj-lt"/>
              <a:buAutoNum type="alphaLcPeriod"/>
            </a:pP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808038" indent="-3349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____________ are the amount of money that is paid to the government.</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808038" indent="-334963">
              <a:buFont typeface="+mj-lt"/>
              <a:buAutoNum type="alphaLcPeriod"/>
            </a:pP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808038" indent="-3349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A _____________ is the amount of money placed in a bank account.</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808038" indent="-334963">
              <a:buFont typeface="+mj-lt"/>
              <a:buAutoNum type="alphaLcPeriod"/>
            </a:pP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808038" indent="-3349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A ____________ is the amount of money removed from a bank account.</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808038" indent="-334963">
              <a:buFont typeface="+mj-lt"/>
              <a:buAutoNum type="alphaLcPeriod"/>
            </a:pP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808038" indent="-3349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_____________ and _____________ are types of bank accounts.</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7" name="Google Shape;278;g104476d1465_1_17">
            <a:extLst>
              <a:ext uri="{FF2B5EF4-FFF2-40B4-BE49-F238E27FC236}">
                <a16:creationId xmlns:a16="http://schemas.microsoft.com/office/drawing/2014/main" id="{A7817ACE-0EAD-F54B-BF54-D1C44606A01D}"/>
              </a:ext>
            </a:extLst>
          </p:cNvPr>
          <p:cNvSpPr/>
          <p:nvPr/>
        </p:nvSpPr>
        <p:spPr>
          <a:xfrm>
            <a:off x="0" y="-8226"/>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Rounded Rectangle 1">
            <a:extLst>
              <a:ext uri="{FF2B5EF4-FFF2-40B4-BE49-F238E27FC236}">
                <a16:creationId xmlns:a16="http://schemas.microsoft.com/office/drawing/2014/main" id="{35735CEB-04B3-4460-A9A6-536D639ECDF3}"/>
              </a:ext>
            </a:extLst>
          </p:cNvPr>
          <p:cNvSpPr/>
          <p:nvPr/>
        </p:nvSpPr>
        <p:spPr>
          <a:xfrm>
            <a:off x="2658617" y="1237454"/>
            <a:ext cx="6874766" cy="1531305"/>
          </a:xfrm>
          <a:prstGeom prst="roundRect">
            <a:avLst/>
          </a:prstGeom>
          <a:noFill/>
          <a:ln w="12700" cap="flat" cmpd="sng" algn="ctr">
            <a:solidFill>
              <a:srgbClr val="A5A5A5"/>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buClrTx/>
              <a:defRPr/>
            </a:pPr>
            <a:r>
              <a:rPr lang="en-US" sz="1600" i="1">
                <a:solidFill>
                  <a:sysClr val="windowText" lastClr="000000"/>
                </a:solidFill>
                <a:latin typeface="Cambria Math" panose="02040503050406030204" pitchFamily="18" charset="0"/>
                <a:ea typeface="Cambria Math" panose="02040503050406030204" pitchFamily="18" charset="0"/>
                <a:cs typeface="Cambria Math" panose="02040503050406030204" pitchFamily="18" charset="0"/>
              </a:rPr>
              <a:t> </a:t>
            </a:r>
          </a:p>
        </p:txBody>
      </p:sp>
      <p:graphicFrame>
        <p:nvGraphicFramePr>
          <p:cNvPr id="2" name="Table 1">
            <a:extLst>
              <a:ext uri="{FF2B5EF4-FFF2-40B4-BE49-F238E27FC236}">
                <a16:creationId xmlns:a16="http://schemas.microsoft.com/office/drawing/2014/main" id="{EE43EF6C-949E-42EB-94E9-4E4CB1FD71D2}"/>
              </a:ext>
            </a:extLst>
          </p:cNvPr>
          <p:cNvGraphicFramePr>
            <a:graphicFrameLocks noGrp="1"/>
          </p:cNvGraphicFramePr>
          <p:nvPr>
            <p:extLst>
              <p:ext uri="{D42A27DB-BD31-4B8C-83A1-F6EECF244321}">
                <p14:modId xmlns:p14="http://schemas.microsoft.com/office/powerpoint/2010/main" val="1729973201"/>
              </p:ext>
            </p:extLst>
          </p:nvPr>
        </p:nvGraphicFramePr>
        <p:xfrm>
          <a:off x="2918565" y="1370803"/>
          <a:ext cx="6354870" cy="1559262"/>
        </p:xfrm>
        <a:graphic>
          <a:graphicData uri="http://schemas.openxmlformats.org/drawingml/2006/table">
            <a:tbl>
              <a:tblPr bandRow="1"/>
              <a:tblGrid>
                <a:gridCol w="1587954">
                  <a:extLst>
                    <a:ext uri="{9D8B030D-6E8A-4147-A177-3AD203B41FA5}">
                      <a16:colId xmlns:a16="http://schemas.microsoft.com/office/drawing/2014/main" val="377117453"/>
                    </a:ext>
                  </a:extLst>
                </a:gridCol>
                <a:gridCol w="1587954">
                  <a:extLst>
                    <a:ext uri="{9D8B030D-6E8A-4147-A177-3AD203B41FA5}">
                      <a16:colId xmlns:a16="http://schemas.microsoft.com/office/drawing/2014/main" val="3079787019"/>
                    </a:ext>
                  </a:extLst>
                </a:gridCol>
                <a:gridCol w="1588565">
                  <a:extLst>
                    <a:ext uri="{9D8B030D-6E8A-4147-A177-3AD203B41FA5}">
                      <a16:colId xmlns:a16="http://schemas.microsoft.com/office/drawing/2014/main" val="1801219756"/>
                    </a:ext>
                  </a:extLst>
                </a:gridCol>
                <a:gridCol w="1590397">
                  <a:extLst>
                    <a:ext uri="{9D8B030D-6E8A-4147-A177-3AD203B41FA5}">
                      <a16:colId xmlns:a16="http://schemas.microsoft.com/office/drawing/2014/main" val="473668640"/>
                    </a:ext>
                  </a:extLst>
                </a:gridCol>
              </a:tblGrid>
              <a:tr h="470053">
                <a:tc gridSpan="4">
                  <a:txBody>
                    <a:bodyPr/>
                    <a:lstStyle/>
                    <a:p>
                      <a:pPr marL="0" marR="0" algn="ctr">
                        <a:lnSpc>
                          <a:spcPct val="107000"/>
                        </a:lnSpc>
                        <a:spcBef>
                          <a:spcPts val="0"/>
                        </a:spcBef>
                        <a:spcAft>
                          <a:spcPts val="800"/>
                        </a:spcAft>
                      </a:pPr>
                      <a:r>
                        <a:rPr lang="en-US" sz="1700" b="1" i="0" dirty="0">
                          <a:effectLst/>
                          <a:latin typeface="Verdana" panose="020B0604030504040204" pitchFamily="34" charset="0"/>
                          <a:ea typeface="Verdana" panose="020B0604030504040204" pitchFamily="34" charset="0"/>
                          <a:cs typeface="Verdana" panose="020B0604030504040204" pitchFamily="34" charset="0"/>
                        </a:rPr>
                        <a:t>Word Bank</a:t>
                      </a:r>
                      <a:endParaRPr lang="en-US" sz="1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92665" marR="92665" marT="46333" marB="46333">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2463630"/>
                  </a:ext>
                </a:extLst>
              </a:tr>
              <a:tr h="445635">
                <a:tc>
                  <a:txBody>
                    <a:bodyPr/>
                    <a:lstStyle/>
                    <a:p>
                      <a:pPr marL="0" marR="0" algn="ctr">
                        <a:lnSpc>
                          <a:spcPct val="107000"/>
                        </a:lnSpc>
                        <a:spcBef>
                          <a:spcPts val="0"/>
                        </a:spcBef>
                        <a:spcAft>
                          <a:spcPts val="800"/>
                        </a:spcAft>
                      </a:pPr>
                      <a:r>
                        <a:rPr lang="en-US" sz="1700" i="0">
                          <a:solidFill>
                            <a:srgbClr val="000000"/>
                          </a:solidFill>
                          <a:effectLst/>
                          <a:latin typeface="Verdana" panose="020B0604030504040204" pitchFamily="34" charset="0"/>
                          <a:ea typeface="Verdana" panose="020B0604030504040204" pitchFamily="34" charset="0"/>
                          <a:cs typeface="Verdana" panose="020B0604030504040204" pitchFamily="34" charset="0"/>
                        </a:rPr>
                        <a:t>withdrawal</a:t>
                      </a:r>
                      <a:endParaRPr lang="en-US" sz="1500" i="1">
                        <a:effectLst/>
                        <a:latin typeface="Cambria Math" panose="02040503050406030204" pitchFamily="18" charset="0"/>
                        <a:ea typeface="Cambria Math" panose="02040503050406030204" pitchFamily="18" charset="0"/>
                        <a:cs typeface="Cambria Math" panose="02040503050406030204" pitchFamily="18" charset="0"/>
                      </a:endParaRPr>
                    </a:p>
                  </a:txBody>
                  <a:tcPr marL="65930" marR="65930" marT="0" marB="0">
                    <a:lnL>
                      <a:noFill/>
                    </a:lnL>
                    <a:lnR>
                      <a:noFill/>
                    </a:lnR>
                    <a:lnT>
                      <a:noFill/>
                    </a:lnT>
                    <a:lnB>
                      <a:noFill/>
                    </a:lnB>
                  </a:tcPr>
                </a:tc>
                <a:tc>
                  <a:txBody>
                    <a:bodyPr/>
                    <a:lstStyle/>
                    <a:p>
                      <a:pPr marL="0" marR="0" algn="ctr">
                        <a:lnSpc>
                          <a:spcPct val="107000"/>
                        </a:lnSpc>
                        <a:spcBef>
                          <a:spcPts val="0"/>
                        </a:spcBef>
                        <a:spcAft>
                          <a:spcPts val="800"/>
                        </a:spcAft>
                      </a:pPr>
                      <a:r>
                        <a:rPr lang="en-US" sz="1700" i="0">
                          <a:solidFill>
                            <a:srgbClr val="000000"/>
                          </a:solidFill>
                          <a:effectLst/>
                          <a:latin typeface="Verdana" panose="020B0604030504040204" pitchFamily="34" charset="0"/>
                          <a:ea typeface="Verdana" panose="020B0604030504040204" pitchFamily="34" charset="0"/>
                          <a:cs typeface="Verdana" panose="020B0604030504040204" pitchFamily="34" charset="0"/>
                        </a:rPr>
                        <a:t>checking</a:t>
                      </a:r>
                      <a:endParaRPr lang="en-US" sz="1500" i="1">
                        <a:effectLst/>
                        <a:latin typeface="Cambria Math" panose="02040503050406030204" pitchFamily="18" charset="0"/>
                        <a:ea typeface="Cambria Math" panose="02040503050406030204" pitchFamily="18" charset="0"/>
                        <a:cs typeface="Cambria Math" panose="02040503050406030204" pitchFamily="18" charset="0"/>
                      </a:endParaRPr>
                    </a:p>
                  </a:txBody>
                  <a:tcPr marL="65930" marR="65930" marT="0" marB="0">
                    <a:lnL>
                      <a:noFill/>
                    </a:lnL>
                    <a:lnR>
                      <a:noFill/>
                    </a:lnR>
                    <a:lnT>
                      <a:noFill/>
                    </a:lnT>
                    <a:lnB>
                      <a:noFill/>
                    </a:lnB>
                  </a:tcPr>
                </a:tc>
                <a:tc>
                  <a:txBody>
                    <a:bodyPr/>
                    <a:lstStyle/>
                    <a:p>
                      <a:pPr marL="0" marR="0" algn="ctr">
                        <a:lnSpc>
                          <a:spcPct val="107000"/>
                        </a:lnSpc>
                        <a:spcBef>
                          <a:spcPts val="0"/>
                        </a:spcBef>
                        <a:spcAft>
                          <a:spcPts val="800"/>
                        </a:spcAft>
                      </a:pPr>
                      <a:r>
                        <a:rPr lang="en-US" sz="17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costs</a:t>
                      </a:r>
                      <a:endParaRPr lang="en-US" sz="1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5930" marR="65930" marT="0" marB="0">
                    <a:lnL>
                      <a:noFill/>
                    </a:lnL>
                    <a:lnR>
                      <a:noFill/>
                    </a:lnR>
                    <a:lnT>
                      <a:noFill/>
                    </a:lnT>
                    <a:lnB>
                      <a:noFill/>
                    </a:lnB>
                  </a:tcPr>
                </a:tc>
                <a:tc>
                  <a:txBody>
                    <a:bodyPr/>
                    <a:lstStyle/>
                    <a:p>
                      <a:pPr marL="0" marR="0" algn="ctr">
                        <a:lnSpc>
                          <a:spcPct val="107000"/>
                        </a:lnSpc>
                        <a:spcBef>
                          <a:spcPts val="0"/>
                        </a:spcBef>
                        <a:spcAft>
                          <a:spcPts val="800"/>
                        </a:spcAft>
                      </a:pPr>
                      <a:r>
                        <a:rPr lang="en-US" sz="1700" i="0">
                          <a:solidFill>
                            <a:srgbClr val="000000"/>
                          </a:solidFill>
                          <a:effectLst/>
                          <a:latin typeface="Verdana" panose="020B0604030504040204" pitchFamily="34" charset="0"/>
                          <a:ea typeface="Verdana" panose="020B0604030504040204" pitchFamily="34" charset="0"/>
                          <a:cs typeface="Verdana" panose="020B0604030504040204" pitchFamily="34" charset="0"/>
                        </a:rPr>
                        <a:t>deposit</a:t>
                      </a:r>
                      <a:endParaRPr lang="en-US" sz="1500" i="1">
                        <a:effectLst/>
                        <a:latin typeface="Cambria Math" panose="02040503050406030204" pitchFamily="18" charset="0"/>
                        <a:ea typeface="Cambria Math" panose="02040503050406030204" pitchFamily="18" charset="0"/>
                        <a:cs typeface="Cambria Math" panose="02040503050406030204" pitchFamily="18" charset="0"/>
                      </a:endParaRPr>
                    </a:p>
                  </a:txBody>
                  <a:tcPr marL="65930" marR="65930" marT="0" marB="0">
                    <a:lnL>
                      <a:noFill/>
                    </a:lnL>
                    <a:lnR>
                      <a:noFill/>
                    </a:lnR>
                    <a:lnT>
                      <a:noFill/>
                    </a:lnT>
                    <a:lnB>
                      <a:noFill/>
                    </a:lnB>
                  </a:tcPr>
                </a:tc>
                <a:extLst>
                  <a:ext uri="{0D108BD9-81ED-4DB2-BD59-A6C34878D82A}">
                    <a16:rowId xmlns:a16="http://schemas.microsoft.com/office/drawing/2014/main" val="16270393"/>
                  </a:ext>
                </a:extLst>
              </a:tr>
              <a:tr h="643574">
                <a:tc>
                  <a:txBody>
                    <a:bodyPr/>
                    <a:lstStyle/>
                    <a:p>
                      <a:pPr marL="0" marR="0" algn="ctr">
                        <a:lnSpc>
                          <a:spcPct val="107000"/>
                        </a:lnSpc>
                        <a:spcBef>
                          <a:spcPts val="0"/>
                        </a:spcBef>
                        <a:spcAft>
                          <a:spcPts val="800"/>
                        </a:spcAft>
                      </a:pPr>
                      <a:r>
                        <a:rPr lang="en-US" sz="17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expenses</a:t>
                      </a:r>
                      <a:endParaRPr lang="en-US" sz="1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5930" marR="65930" marT="0" marB="0">
                    <a:lnL>
                      <a:noFill/>
                    </a:lnL>
                    <a:lnR>
                      <a:noFill/>
                    </a:lnR>
                    <a:lnT>
                      <a:noFill/>
                    </a:lnT>
                    <a:lnB>
                      <a:noFill/>
                    </a:lnB>
                  </a:tcPr>
                </a:tc>
                <a:tc>
                  <a:txBody>
                    <a:bodyPr/>
                    <a:lstStyle/>
                    <a:p>
                      <a:pPr marL="0" marR="0" algn="ctr">
                        <a:lnSpc>
                          <a:spcPct val="107000"/>
                        </a:lnSpc>
                        <a:spcBef>
                          <a:spcPts val="0"/>
                        </a:spcBef>
                        <a:spcAft>
                          <a:spcPts val="800"/>
                        </a:spcAft>
                      </a:pPr>
                      <a:r>
                        <a:rPr lang="en-US" sz="17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savings</a:t>
                      </a:r>
                      <a:endParaRPr lang="en-US" sz="1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5930" marR="65930" marT="0" marB="0">
                    <a:lnL>
                      <a:noFill/>
                    </a:lnL>
                    <a:lnR>
                      <a:noFill/>
                    </a:lnR>
                    <a:lnT>
                      <a:noFill/>
                    </a:lnT>
                    <a:lnB>
                      <a:noFill/>
                    </a:lnB>
                  </a:tcPr>
                </a:tc>
                <a:tc>
                  <a:txBody>
                    <a:bodyPr/>
                    <a:lstStyle/>
                    <a:p>
                      <a:pPr marL="0" marR="0" algn="ctr">
                        <a:lnSpc>
                          <a:spcPct val="107000"/>
                        </a:lnSpc>
                        <a:spcBef>
                          <a:spcPts val="0"/>
                        </a:spcBef>
                        <a:spcAft>
                          <a:spcPts val="800"/>
                        </a:spcAft>
                      </a:pPr>
                      <a:r>
                        <a:rPr lang="en-US" sz="17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taxes</a:t>
                      </a:r>
                      <a:endParaRPr lang="en-US" sz="1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5930" marR="65930" marT="0" marB="0">
                    <a:lnL>
                      <a:noFill/>
                    </a:lnL>
                    <a:lnR>
                      <a:noFill/>
                    </a:lnR>
                    <a:lnT>
                      <a:noFill/>
                    </a:lnT>
                    <a:lnB>
                      <a:noFill/>
                    </a:lnB>
                  </a:tcPr>
                </a:tc>
                <a:tc>
                  <a:txBody>
                    <a:bodyPr/>
                    <a:lstStyle/>
                    <a:p>
                      <a:pPr marL="0" marR="0" algn="ctr">
                        <a:lnSpc>
                          <a:spcPct val="107000"/>
                        </a:lnSpc>
                        <a:spcBef>
                          <a:spcPts val="0"/>
                        </a:spcBef>
                        <a:spcAft>
                          <a:spcPts val="800"/>
                        </a:spcAft>
                      </a:pPr>
                      <a:r>
                        <a:rPr lang="en-US" sz="17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500" i="1" dirty="0">
                        <a:effectLst/>
                        <a:latin typeface="Cambria Math" panose="02040503050406030204" pitchFamily="18" charset="0"/>
                        <a:ea typeface="Cambria Math" panose="02040503050406030204" pitchFamily="18" charset="0"/>
                        <a:cs typeface="Cambria Math" panose="02040503050406030204" pitchFamily="18" charset="0"/>
                      </a:endParaRPr>
                    </a:p>
                    <a:p>
                      <a:pPr marL="0" marR="0" algn="ctr">
                        <a:lnSpc>
                          <a:spcPct val="107000"/>
                        </a:lnSpc>
                        <a:spcBef>
                          <a:spcPts val="0"/>
                        </a:spcBef>
                        <a:spcAft>
                          <a:spcPts val="800"/>
                        </a:spcAft>
                      </a:pPr>
                      <a:r>
                        <a:rPr lang="en-US" sz="17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5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5930" marR="65930" marT="0" marB="0">
                    <a:lnL>
                      <a:noFill/>
                    </a:lnL>
                    <a:lnR>
                      <a:noFill/>
                    </a:lnR>
                    <a:lnT>
                      <a:noFill/>
                    </a:lnT>
                    <a:lnB>
                      <a:noFill/>
                    </a:lnB>
                  </a:tcPr>
                </a:tc>
                <a:extLst>
                  <a:ext uri="{0D108BD9-81ED-4DB2-BD59-A6C34878D82A}">
                    <a16:rowId xmlns:a16="http://schemas.microsoft.com/office/drawing/2014/main" val="1291840599"/>
                  </a:ext>
                </a:extLst>
              </a:tr>
            </a:tbl>
          </a:graphicData>
        </a:graphic>
      </p:graphicFrame>
      <p:sp>
        <p:nvSpPr>
          <p:cNvPr id="8" name="Google Shape;282;g104476d1465_1_17"/>
          <p:cNvSpPr txBox="1"/>
          <p:nvPr/>
        </p:nvSpPr>
        <p:spPr>
          <a:xfrm>
            <a:off x="86371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62</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753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80011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8AE5E1E0-A54D-BE42-84B5-F917038ADE99}"/>
              </a:ext>
            </a:extLst>
          </p:cNvPr>
          <p:cNvSpPr txBox="1"/>
          <p:nvPr/>
        </p:nvSpPr>
        <p:spPr>
          <a:xfrm>
            <a:off x="1026942" y="1702685"/>
            <a:ext cx="10366252" cy="882678"/>
          </a:xfrm>
          <a:prstGeom prst="rect">
            <a:avLst/>
          </a:prstGeom>
          <a:noFill/>
        </p:spPr>
        <p:txBody>
          <a:bodyPr wrap="square" rtlCol="0">
            <a:spAutoFit/>
          </a:bodyPr>
          <a:lstStyle/>
          <a:p>
            <a:pPr marL="457200" indent="-457200">
              <a:lnSpc>
                <a:spcPct val="107000"/>
              </a:lnSpc>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For each financial transaction, write the mathematical operation that is most commonly associated with it.</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7" name="Google Shape;278;g104476d1465_1_17">
            <a:extLst>
              <a:ext uri="{FF2B5EF4-FFF2-40B4-BE49-F238E27FC236}">
                <a16:creationId xmlns:a16="http://schemas.microsoft.com/office/drawing/2014/main" id="{A7817ACE-0EAD-F54B-BF54-D1C44606A01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Rounded Rectangle 263">
            <a:extLst>
              <a:ext uri="{FF2B5EF4-FFF2-40B4-BE49-F238E27FC236}">
                <a16:creationId xmlns:a16="http://schemas.microsoft.com/office/drawing/2014/main" id="{7C94D811-C0DE-4261-A906-13BD333A629C}"/>
              </a:ext>
            </a:extLst>
          </p:cNvPr>
          <p:cNvSpPr/>
          <p:nvPr/>
        </p:nvSpPr>
        <p:spPr>
          <a:xfrm>
            <a:off x="2743835" y="353755"/>
            <a:ext cx="6704330" cy="1160780"/>
          </a:xfrm>
          <a:prstGeom prst="roundRect">
            <a:avLst>
              <a:gd name="adj" fmla="val 16667"/>
            </a:avLst>
          </a:prstGeom>
          <a:solidFill>
            <a:srgbClr val="E3EFD5"/>
          </a:solidFill>
          <a:ln w="12700" cap="flat" cmpd="sng">
            <a:solidFill>
              <a:srgbClr val="E3EFD5"/>
            </a:solidFill>
            <a:prstDash val="solid"/>
            <a:miter lim="800000"/>
            <a:headEnd type="none" w="sm" len="sm"/>
            <a:tailEnd type="none" w="sm" len="sm"/>
          </a:ln>
        </p:spPr>
        <p:txBody>
          <a:bodyPr spcFirstLastPara="1" wrap="square" lIns="91425" tIns="45700" rIns="91425" bIns="45700" anchor="t" anchorCtr="0">
            <a:noAutofit/>
          </a:bodyPr>
          <a:lstStyle/>
          <a:p>
            <a:pPr>
              <a:lnSpc>
                <a:spcPct val="107000"/>
              </a:lnSpc>
              <a:spcAft>
                <a:spcPts val="800"/>
              </a:spcAft>
            </a:pPr>
            <a:r>
              <a:rPr lang="en-US" sz="2000" dirty="0">
                <a:solidFill>
                  <a:srgbClr val="6C993C"/>
                </a:solidFill>
                <a:latin typeface="Verdana" panose="020B0604030504040204" pitchFamily="34" charset="0"/>
                <a:ea typeface="Verdana" panose="020B0604030504040204" pitchFamily="34" charset="0"/>
                <a:cs typeface="Verdana" panose="020B0604030504040204" pitchFamily="34" charset="0"/>
              </a:rPr>
              <a:t>An</a:t>
            </a:r>
            <a:r>
              <a:rPr lang="en-US" sz="2000" b="1" dirty="0">
                <a:solidFill>
                  <a:srgbClr val="6C993C"/>
                </a:solidFill>
                <a:latin typeface="Verdana" panose="020B0604030504040204" pitchFamily="34" charset="0"/>
                <a:ea typeface="Verdana" panose="020B0604030504040204" pitchFamily="34" charset="0"/>
                <a:cs typeface="Verdana" panose="020B0604030504040204" pitchFamily="34" charset="0"/>
              </a:rPr>
              <a:t> investment </a:t>
            </a:r>
            <a:r>
              <a:rPr lang="en-US" sz="2000" dirty="0">
                <a:solidFill>
                  <a:srgbClr val="6C993C"/>
                </a:solidFill>
                <a:latin typeface="Verdana" panose="020B0604030504040204" pitchFamily="34" charset="0"/>
                <a:ea typeface="Verdana" panose="020B0604030504040204" pitchFamily="34" charset="0"/>
                <a:cs typeface="Verdana" panose="020B0604030504040204" pitchFamily="34" charset="0"/>
              </a:rPr>
              <a:t>is when the initial amount of money, known as the </a:t>
            </a:r>
            <a:r>
              <a:rPr lang="en-US" sz="2000" b="1" dirty="0">
                <a:solidFill>
                  <a:srgbClr val="6C993C"/>
                </a:solidFill>
                <a:latin typeface="Verdana" panose="020B0604030504040204" pitchFamily="34" charset="0"/>
                <a:ea typeface="Verdana" panose="020B0604030504040204" pitchFamily="34" charset="0"/>
                <a:cs typeface="Verdana" panose="020B0604030504040204" pitchFamily="34" charset="0"/>
              </a:rPr>
              <a:t>principal</a:t>
            </a:r>
            <a:r>
              <a:rPr lang="en-US" sz="2000" dirty="0">
                <a:solidFill>
                  <a:srgbClr val="6C993C"/>
                </a:solidFill>
                <a:latin typeface="Verdana" panose="020B0604030504040204" pitchFamily="34" charset="0"/>
                <a:ea typeface="Verdana" panose="020B0604030504040204" pitchFamily="34" charset="0"/>
                <a:cs typeface="Verdana" panose="020B0604030504040204" pitchFamily="34" charset="0"/>
              </a:rPr>
              <a:t>, earns more money, known as the </a:t>
            </a:r>
            <a:r>
              <a:rPr lang="en-US" sz="2000" b="1" dirty="0">
                <a:solidFill>
                  <a:srgbClr val="6C993C"/>
                </a:solidFill>
                <a:latin typeface="Verdana" panose="020B0604030504040204" pitchFamily="34" charset="0"/>
                <a:ea typeface="Verdana" panose="020B0604030504040204" pitchFamily="34" charset="0"/>
                <a:cs typeface="Verdana" panose="020B0604030504040204" pitchFamily="34" charset="0"/>
              </a:rPr>
              <a:t>return</a:t>
            </a:r>
            <a:r>
              <a:rPr lang="en-US" sz="2000" dirty="0">
                <a:solidFill>
                  <a:srgbClr val="6C993C"/>
                </a:solidFill>
                <a:latin typeface="Verdana" panose="020B0604030504040204" pitchFamily="34" charset="0"/>
                <a:ea typeface="Verdana" panose="020B0604030504040204" pitchFamily="34" charset="0"/>
                <a:cs typeface="Verdana" panose="020B0604030504040204" pitchFamily="34" charset="0"/>
              </a:rPr>
              <a:t>, over time.</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spcAft>
                <a:spcPts val="800"/>
              </a:spcAft>
            </a:pPr>
            <a:r>
              <a:rPr lang="en-US" sz="1600" i="1" dirty="0">
                <a:latin typeface="Cambria Math" panose="02040503050406030204" pitchFamily="18" charset="0"/>
                <a:ea typeface="Cambria Math" panose="02040503050406030204" pitchFamily="18" charset="0"/>
                <a:cs typeface="Cambria Math" panose="02040503050406030204" pitchFamily="18" charset="0"/>
              </a:rPr>
              <a:t> </a:t>
            </a:r>
          </a:p>
        </p:txBody>
      </p:sp>
      <p:graphicFrame>
        <p:nvGraphicFramePr>
          <p:cNvPr id="2" name="Table 1">
            <a:extLst>
              <a:ext uri="{FF2B5EF4-FFF2-40B4-BE49-F238E27FC236}">
                <a16:creationId xmlns:a16="http://schemas.microsoft.com/office/drawing/2014/main" id="{F271A5FE-FE28-49FA-B656-218AF46954AB}"/>
              </a:ext>
            </a:extLst>
          </p:cNvPr>
          <p:cNvGraphicFramePr>
            <a:graphicFrameLocks noGrp="1"/>
          </p:cNvGraphicFramePr>
          <p:nvPr>
            <p:extLst>
              <p:ext uri="{D42A27DB-BD31-4B8C-83A1-F6EECF244321}">
                <p14:modId xmlns:p14="http://schemas.microsoft.com/office/powerpoint/2010/main" val="2885049263"/>
              </p:ext>
            </p:extLst>
          </p:nvPr>
        </p:nvGraphicFramePr>
        <p:xfrm>
          <a:off x="2359875" y="2963547"/>
          <a:ext cx="7472250" cy="3540699"/>
        </p:xfrm>
        <a:graphic>
          <a:graphicData uri="http://schemas.openxmlformats.org/drawingml/2006/table">
            <a:tbl>
              <a:tblPr bandRow="1"/>
              <a:tblGrid>
                <a:gridCol w="3665172">
                  <a:extLst>
                    <a:ext uri="{9D8B030D-6E8A-4147-A177-3AD203B41FA5}">
                      <a16:colId xmlns:a16="http://schemas.microsoft.com/office/drawing/2014/main" val="1141311595"/>
                    </a:ext>
                  </a:extLst>
                </a:gridCol>
                <a:gridCol w="3807078">
                  <a:extLst>
                    <a:ext uri="{9D8B030D-6E8A-4147-A177-3AD203B41FA5}">
                      <a16:colId xmlns:a16="http://schemas.microsoft.com/office/drawing/2014/main" val="442681568"/>
                    </a:ext>
                  </a:extLst>
                </a:gridCol>
              </a:tblGrid>
              <a:tr h="700866">
                <a:tc>
                  <a:txBody>
                    <a:bodyPr/>
                    <a:lstStyle/>
                    <a:p>
                      <a:pPr marL="0" marR="0" algn="ctr">
                        <a:lnSpc>
                          <a:spcPct val="107000"/>
                        </a:lnSpc>
                        <a:spcBef>
                          <a:spcPts val="0"/>
                        </a:spcBef>
                        <a:spcAft>
                          <a:spcPts val="800"/>
                        </a:spcAft>
                      </a:pPr>
                      <a:r>
                        <a:rPr lang="en-US" sz="2200" b="1" i="0" dirty="0">
                          <a:effectLst/>
                          <a:latin typeface="Verdana" panose="020B0604030504040204" pitchFamily="34" charset="0"/>
                          <a:ea typeface="Verdana" panose="020B0604030504040204" pitchFamily="34" charset="0"/>
                          <a:cs typeface="Verdana" panose="020B0604030504040204" pitchFamily="34" charset="0"/>
                        </a:rPr>
                        <a:t>Financial Transaction</a:t>
                      </a:r>
                      <a:endParaRPr lang="en-US" sz="22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800"/>
                        </a:spcAft>
                      </a:pPr>
                      <a:r>
                        <a:rPr lang="en-US" sz="21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Mathematical Operation</a:t>
                      </a:r>
                      <a:endParaRPr lang="en-US" sz="21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063256422"/>
                  </a:ext>
                </a:extLst>
              </a:tr>
              <a:tr h="359670">
                <a:tc>
                  <a:txBody>
                    <a:bodyPr/>
                    <a:lstStyle/>
                    <a:p>
                      <a:pPr marL="0" marR="0" algn="ctr">
                        <a:lnSpc>
                          <a:spcPct val="107000"/>
                        </a:lnSpc>
                        <a:spcBef>
                          <a:spcPts val="0"/>
                        </a:spcBef>
                        <a:spcAft>
                          <a:spcPts val="800"/>
                        </a:spcAft>
                      </a:pPr>
                      <a:r>
                        <a:rPr lang="en-US" sz="2000" i="0" dirty="0">
                          <a:effectLst/>
                          <a:latin typeface="Verdana" panose="020B0604030504040204" pitchFamily="34" charset="0"/>
                          <a:ea typeface="Verdana" panose="020B0604030504040204" pitchFamily="34" charset="0"/>
                          <a:cs typeface="Verdana" panose="020B0604030504040204" pitchFamily="34" charset="0"/>
                        </a:rPr>
                        <a:t>costs</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i="0" dirty="0">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15822594"/>
                  </a:ext>
                </a:extLst>
              </a:tr>
              <a:tr h="359670">
                <a:tc>
                  <a:txBody>
                    <a:bodyPr/>
                    <a:lstStyle/>
                    <a:p>
                      <a:pPr marL="0" marR="0" algn="ctr">
                        <a:lnSpc>
                          <a:spcPct val="107000"/>
                        </a:lnSpc>
                        <a:spcBef>
                          <a:spcPts val="0"/>
                        </a:spcBef>
                        <a:spcAft>
                          <a:spcPts val="800"/>
                        </a:spcAft>
                      </a:pPr>
                      <a:r>
                        <a:rPr lang="en-US" sz="2000" i="0" dirty="0">
                          <a:effectLst/>
                          <a:latin typeface="Verdana" panose="020B0604030504040204" pitchFamily="34" charset="0"/>
                          <a:ea typeface="Verdana" panose="020B0604030504040204" pitchFamily="34" charset="0"/>
                          <a:cs typeface="Verdana" panose="020B0604030504040204" pitchFamily="34" charset="0"/>
                        </a:rPr>
                        <a:t>deposit</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i="0">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87584900"/>
                  </a:ext>
                </a:extLst>
              </a:tr>
              <a:tr h="340618">
                <a:tc>
                  <a:txBody>
                    <a:bodyPr/>
                    <a:lstStyle/>
                    <a:p>
                      <a:pPr marL="0" marR="0" algn="ctr">
                        <a:lnSpc>
                          <a:spcPct val="107000"/>
                        </a:lnSpc>
                        <a:spcBef>
                          <a:spcPts val="0"/>
                        </a:spcBef>
                        <a:spcAft>
                          <a:spcPts val="800"/>
                        </a:spcAft>
                      </a:pPr>
                      <a:r>
                        <a:rPr lang="en-US" sz="2000" i="0" dirty="0">
                          <a:effectLst/>
                          <a:latin typeface="Verdana" panose="020B0604030504040204" pitchFamily="34" charset="0"/>
                          <a:ea typeface="Verdana" panose="020B0604030504040204" pitchFamily="34" charset="0"/>
                          <a:cs typeface="Verdana" panose="020B0604030504040204" pitchFamily="34" charset="0"/>
                        </a:rPr>
                        <a:t>expenses</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i="0">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64241824"/>
                  </a:ext>
                </a:extLst>
              </a:tr>
              <a:tr h="359670">
                <a:tc>
                  <a:txBody>
                    <a:bodyPr/>
                    <a:lstStyle/>
                    <a:p>
                      <a:pPr marL="0" marR="0" algn="ctr">
                        <a:lnSpc>
                          <a:spcPct val="107000"/>
                        </a:lnSpc>
                        <a:spcBef>
                          <a:spcPts val="0"/>
                        </a:spcBef>
                        <a:spcAft>
                          <a:spcPts val="800"/>
                        </a:spcAft>
                      </a:pPr>
                      <a:r>
                        <a:rPr lang="en-US" sz="2000" i="0" dirty="0">
                          <a:effectLst/>
                          <a:latin typeface="Verdana" panose="020B0604030504040204" pitchFamily="34" charset="0"/>
                          <a:ea typeface="Verdana" panose="020B0604030504040204" pitchFamily="34" charset="0"/>
                          <a:cs typeface="Verdana" panose="020B0604030504040204" pitchFamily="34" charset="0"/>
                        </a:rPr>
                        <a:t>income</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i="0">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2297383"/>
                  </a:ext>
                </a:extLst>
              </a:tr>
              <a:tr h="359670">
                <a:tc>
                  <a:txBody>
                    <a:bodyPr/>
                    <a:lstStyle/>
                    <a:p>
                      <a:pPr marL="0" marR="0" algn="ctr">
                        <a:lnSpc>
                          <a:spcPct val="107000"/>
                        </a:lnSpc>
                        <a:spcBef>
                          <a:spcPts val="0"/>
                        </a:spcBef>
                        <a:spcAft>
                          <a:spcPts val="800"/>
                        </a:spcAft>
                      </a:pPr>
                      <a:r>
                        <a:rPr lang="en-US" sz="2000" i="0" dirty="0">
                          <a:effectLst/>
                          <a:latin typeface="Verdana" panose="020B0604030504040204" pitchFamily="34" charset="0"/>
                          <a:ea typeface="Verdana" panose="020B0604030504040204" pitchFamily="34" charset="0"/>
                          <a:cs typeface="Verdana" panose="020B0604030504040204" pitchFamily="34" charset="0"/>
                        </a:rPr>
                        <a:t>taxes</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i="0">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2824933"/>
                  </a:ext>
                </a:extLst>
              </a:tr>
              <a:tr h="340618">
                <a:tc>
                  <a:txBody>
                    <a:bodyPr/>
                    <a:lstStyle/>
                    <a:p>
                      <a:pPr marL="0" marR="0" algn="ctr">
                        <a:lnSpc>
                          <a:spcPct val="107000"/>
                        </a:lnSpc>
                        <a:spcBef>
                          <a:spcPts val="0"/>
                        </a:spcBef>
                        <a:spcAft>
                          <a:spcPts val="800"/>
                        </a:spcAft>
                      </a:pPr>
                      <a:r>
                        <a:rPr lang="en-US" sz="2000" i="0" dirty="0">
                          <a:effectLst/>
                          <a:latin typeface="Verdana" panose="020B0604030504040204" pitchFamily="34" charset="0"/>
                          <a:ea typeface="Verdana" panose="020B0604030504040204" pitchFamily="34" charset="0"/>
                          <a:cs typeface="Verdana" panose="020B0604030504040204" pitchFamily="34" charset="0"/>
                        </a:rPr>
                        <a:t>withdrawal</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i="0">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25629197"/>
                  </a:ext>
                </a:extLst>
              </a:tr>
              <a:tr h="719917">
                <a:tc>
                  <a:txBody>
                    <a:bodyPr/>
                    <a:lstStyle/>
                    <a:p>
                      <a:pPr marL="0" marR="0" algn="ctr">
                        <a:lnSpc>
                          <a:spcPct val="107000"/>
                        </a:lnSpc>
                        <a:spcBef>
                          <a:spcPts val="0"/>
                        </a:spcBef>
                        <a:spcAft>
                          <a:spcPts val="800"/>
                        </a:spcAft>
                      </a:pPr>
                      <a:r>
                        <a:rPr lang="en-US" sz="2000" i="0" dirty="0">
                          <a:effectLst/>
                          <a:latin typeface="Verdana" panose="020B0604030504040204" pitchFamily="34" charset="0"/>
                          <a:ea typeface="Verdana" panose="020B0604030504040204" pitchFamily="34" charset="0"/>
                          <a:cs typeface="Verdana" panose="020B0604030504040204" pitchFamily="34" charset="0"/>
                        </a:rPr>
                        <a:t>return on an investment</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800" i="0" dirty="0">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7383787"/>
                  </a:ext>
                </a:extLst>
              </a:tr>
            </a:tbl>
          </a:graphicData>
        </a:graphic>
      </p:graphicFrame>
      <p:sp>
        <p:nvSpPr>
          <p:cNvPr id="8" name="Google Shape;282;g104476d1465_1_17"/>
          <p:cNvSpPr txBox="1"/>
          <p:nvPr/>
        </p:nvSpPr>
        <p:spPr>
          <a:xfrm>
            <a:off x="86371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62</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753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74818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1373639" y="1168142"/>
                <a:ext cx="9444722" cy="4044056"/>
              </a:xfrm>
              <a:prstGeom prst="rect">
                <a:avLst/>
              </a:prstGeom>
              <a:noFill/>
            </p:spPr>
            <p:txBody>
              <a:bodyPr wrap="square" rtlCol="0">
                <a:spAutoFit/>
              </a:bodyPr>
              <a:lstStyle/>
              <a:p>
                <a:pPr marL="457200" indent="-457200">
                  <a:lnSpc>
                    <a:spcPct val="107000"/>
                  </a:lnSpc>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Hannah earns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$9.17</m:t>
                    </m:r>
                  </m:oMath>
                </a14:m>
                <a:r>
                  <a:rPr lang="en-US" sz="2400" dirty="0">
                    <a:latin typeface="Verdana" panose="020B0604030504040204" pitchFamily="34" charset="0"/>
                    <a:ea typeface="Verdana" panose="020B0604030504040204" pitchFamily="34" charset="0"/>
                    <a:cs typeface="Verdana" panose="020B0604030504040204" pitchFamily="34" charset="0"/>
                  </a:rPr>
                  <a:t> an hour. Each week she works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14</m:t>
                    </m:r>
                  </m:oMath>
                </a14:m>
                <a:r>
                  <a:rPr lang="en-US" sz="2400" dirty="0">
                    <a:latin typeface="Verdana" panose="020B0604030504040204" pitchFamily="34" charset="0"/>
                    <a:ea typeface="Verdana" panose="020B0604030504040204" pitchFamily="34" charset="0"/>
                    <a:cs typeface="Verdana" panose="020B0604030504040204" pitchFamily="34" charset="0"/>
                  </a:rPr>
                  <a:t> hours. How much is Hannah’s weekly gross income?</a:t>
                </a:r>
              </a:p>
              <a:p>
                <a:pPr marL="457200" indent="-457200">
                  <a:lnSpc>
                    <a:spcPct val="107000"/>
                  </a:lnSpc>
                  <a:buFont typeface="+mj-lt"/>
                  <a:buAutoNum type="arabicPeriod" startAt="5"/>
                </a:pPr>
                <a:endParaRPr lang="en-US" sz="2400"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5"/>
                </a:pPr>
                <a:endParaRPr lang="en-US" sz="2400" i="1"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5"/>
                </a:pPr>
                <a:endParaRPr lang="en-US" sz="2400" i="1"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5"/>
                </a:pPr>
                <a:endParaRPr lang="en-US" sz="2400" i="1"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5"/>
                </a:pPr>
                <a:endParaRPr lang="en-US" sz="2400" i="1"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6"/>
                </a:pPr>
                <a:r>
                  <a:rPr lang="en-US" sz="2400" dirty="0">
                    <a:latin typeface="Verdana" panose="020B0604030504040204" pitchFamily="34" charset="0"/>
                    <a:ea typeface="Verdana" panose="020B0604030504040204" pitchFamily="34" charset="0"/>
                    <a:cs typeface="Verdana" panose="020B0604030504040204" pitchFamily="34" charset="0"/>
                  </a:rPr>
                  <a:t>Each week Hannah has to pay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$26.96</m:t>
                    </m:r>
                  </m:oMath>
                </a14:m>
                <a:r>
                  <a:rPr lang="en-US" sz="2400" dirty="0">
                    <a:latin typeface="Verdana" panose="020B0604030504040204" pitchFamily="34" charset="0"/>
                    <a:ea typeface="Verdana" panose="020B0604030504040204" pitchFamily="34" charset="0"/>
                    <a:cs typeface="Verdana" panose="020B0604030504040204" pitchFamily="34" charset="0"/>
                  </a:rPr>
                  <a:t> in taxes. What is Hannah’s net income?</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457200" indent="-457200">
                  <a:lnSpc>
                    <a:spcPct val="107000"/>
                  </a:lnSpc>
                  <a:buFont typeface="+mj-lt"/>
                  <a:buAutoNum type="arabicPeriod" startAt="5"/>
                </a:pPr>
                <a:endParaRPr lang="en-US" sz="2400" i="1" dirty="0">
                  <a:latin typeface="Verdana" panose="020B0604030504040204" pitchFamily="34" charset="0"/>
                  <a:ea typeface="Verdana" panose="020B0604030504040204" pitchFamily="34" charset="0"/>
                  <a:cs typeface="Cambria Math" panose="02040503050406030204" pitchFamily="18" charset="0"/>
                </a:endParaRP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1373639" y="1168142"/>
                <a:ext cx="9444722" cy="4044056"/>
              </a:xfrm>
              <a:prstGeom prst="rect">
                <a:avLst/>
              </a:prstGeom>
              <a:blipFill rotWithShape="0">
                <a:blip r:embed="rId3"/>
                <a:stretch>
                  <a:fillRect l="-968" t="-1508"/>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A7817ACE-0EAD-F54B-BF54-D1C44606A01D}"/>
              </a:ext>
            </a:extLst>
          </p:cNvPr>
          <p:cNvSpPr/>
          <p:nvPr/>
        </p:nvSpPr>
        <p:spPr>
          <a:xfrm>
            <a:off x="0" y="-8226"/>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Rounded Rectangle 262">
            <a:extLst>
              <a:ext uri="{FF2B5EF4-FFF2-40B4-BE49-F238E27FC236}">
                <a16:creationId xmlns:a16="http://schemas.microsoft.com/office/drawing/2014/main" id="{A24681FD-6666-4173-8B95-603635A1EC8B}"/>
              </a:ext>
            </a:extLst>
          </p:cNvPr>
          <p:cNvSpPr/>
          <p:nvPr/>
        </p:nvSpPr>
        <p:spPr>
          <a:xfrm>
            <a:off x="2441429" y="323101"/>
            <a:ext cx="7309142" cy="487045"/>
          </a:xfrm>
          <a:prstGeom prst="roundRect">
            <a:avLst>
              <a:gd name="adj" fmla="val 16667"/>
            </a:avLst>
          </a:prstGeom>
          <a:solidFill>
            <a:srgbClr val="E3EFD5"/>
          </a:solidFill>
          <a:ln w="12700" cap="flat" cmpd="sng">
            <a:solidFill>
              <a:srgbClr val="E3EFD5"/>
            </a:solidFill>
            <a:prstDash val="solid"/>
            <a:miter lim="800000"/>
            <a:headEnd type="none" w="sm" len="sm"/>
            <a:tailEnd type="none" w="sm" len="sm"/>
          </a:ln>
        </p:spPr>
        <p:txBody>
          <a:bodyPr spcFirstLastPara="1" wrap="square" lIns="91425" tIns="45700" rIns="91425" bIns="45700" anchor="t" anchorCtr="0">
            <a:noAutofit/>
          </a:bodyPr>
          <a:lstStyle/>
          <a:p>
            <a:pPr algn="ctr">
              <a:lnSpc>
                <a:spcPct val="107000"/>
              </a:lnSpc>
              <a:spcAft>
                <a:spcPts val="800"/>
              </a:spcAft>
            </a:pPr>
            <a:r>
              <a:rPr lang="en-US" sz="2000" b="1" i="1" dirty="0">
                <a:solidFill>
                  <a:srgbClr val="6C993C"/>
                </a:solidFill>
                <a:latin typeface="Verdana" panose="020B0604030504040204" pitchFamily="34" charset="0"/>
                <a:ea typeface="Verdana" panose="020B0604030504040204" pitchFamily="34" charset="0"/>
                <a:cs typeface="Verdana" panose="020B0604030504040204" pitchFamily="34" charset="0"/>
              </a:rPr>
              <a:t>Gross income</a:t>
            </a:r>
            <a:r>
              <a:rPr lang="en-US" sz="2000" b="1" dirty="0">
                <a:solidFill>
                  <a:srgbClr val="6C993C"/>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6C993C"/>
                </a:solidFill>
                <a:latin typeface="Verdana" panose="020B0604030504040204" pitchFamily="34" charset="0"/>
                <a:ea typeface="Verdana" panose="020B0604030504040204" pitchFamily="34" charset="0"/>
                <a:cs typeface="Verdana" panose="020B0604030504040204" pitchFamily="34" charset="0"/>
              </a:rPr>
              <a:t>is the amount of income that is earned.</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8" name="Rounded Rectangle 259">
            <a:extLst>
              <a:ext uri="{FF2B5EF4-FFF2-40B4-BE49-F238E27FC236}">
                <a16:creationId xmlns:a16="http://schemas.microsoft.com/office/drawing/2014/main" id="{8F7A98EE-9AF7-4CD4-9211-2CFD1AF27FEB}"/>
              </a:ext>
            </a:extLst>
          </p:cNvPr>
          <p:cNvSpPr/>
          <p:nvPr/>
        </p:nvSpPr>
        <p:spPr>
          <a:xfrm>
            <a:off x="2743835" y="2802502"/>
            <a:ext cx="6704330" cy="775335"/>
          </a:xfrm>
          <a:prstGeom prst="roundRect">
            <a:avLst>
              <a:gd name="adj" fmla="val 16667"/>
            </a:avLst>
          </a:prstGeom>
          <a:solidFill>
            <a:srgbClr val="E3EFD5"/>
          </a:solidFill>
          <a:ln w="12700" cap="flat" cmpd="sng">
            <a:solidFill>
              <a:srgbClr val="E3EFD5"/>
            </a:solidFill>
            <a:prstDash val="solid"/>
            <a:miter lim="800000"/>
            <a:headEnd type="none" w="sm" len="sm"/>
            <a:tailEnd type="none" w="sm" len="sm"/>
          </a:ln>
        </p:spPr>
        <p:txBody>
          <a:bodyPr spcFirstLastPara="1" wrap="square" lIns="91425" tIns="45700" rIns="91425" bIns="45700" anchor="t" anchorCtr="0">
            <a:noAutofit/>
          </a:bodyPr>
          <a:lstStyle/>
          <a:p>
            <a:pPr>
              <a:lnSpc>
                <a:spcPct val="107000"/>
              </a:lnSpc>
              <a:spcAft>
                <a:spcPts val="800"/>
              </a:spcAft>
            </a:pPr>
            <a:r>
              <a:rPr lang="en-US" sz="2000" b="1" i="1" dirty="0">
                <a:solidFill>
                  <a:srgbClr val="6C993C"/>
                </a:solidFill>
                <a:latin typeface="Verdana" panose="020B0604030504040204" pitchFamily="34" charset="0"/>
                <a:ea typeface="Verdana" panose="020B0604030504040204" pitchFamily="34" charset="0"/>
                <a:cs typeface="Verdana" panose="020B0604030504040204" pitchFamily="34" charset="0"/>
              </a:rPr>
              <a:t>Net income</a:t>
            </a:r>
            <a:r>
              <a:rPr lang="en-US" sz="2000" b="1" dirty="0">
                <a:solidFill>
                  <a:srgbClr val="6C993C"/>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6C993C"/>
                </a:solidFill>
                <a:latin typeface="Verdana" panose="020B0604030504040204" pitchFamily="34" charset="0"/>
                <a:ea typeface="Verdana" panose="020B0604030504040204" pitchFamily="34" charset="0"/>
                <a:cs typeface="Verdana" panose="020B0604030504040204" pitchFamily="34" charset="0"/>
              </a:rPr>
              <a:t>is the amount of income that is earned after expenses and taxes are deducted.</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spcAft>
                <a:spcPts val="800"/>
              </a:spcAft>
            </a:pPr>
            <a:r>
              <a:rPr lang="en-US" sz="1600" i="1" dirty="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9" name="Google Shape;282;g104476d1465_1_17"/>
          <p:cNvSpPr txBox="1"/>
          <p:nvPr/>
        </p:nvSpPr>
        <p:spPr>
          <a:xfrm>
            <a:off x="86371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62</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53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89522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6371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53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3014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2519850" y="-3721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2.5.3 Guided Practice: </a:t>
            </a:r>
            <a:r>
              <a:rPr lang="en-US" sz="3600" b="1" dirty="0">
                <a:solidFill>
                  <a:srgbClr val="26B6D4"/>
                </a:solidFill>
                <a:latin typeface="Verdana" panose="020B0604030504040204" pitchFamily="34" charset="0"/>
                <a:ea typeface="Verdana" panose="020B0604030504040204" pitchFamily="34" charset="0"/>
                <a:cs typeface="Verdana" panose="020B0604030504040204" pitchFamily="34" charset="0"/>
              </a:rPr>
              <a:t>Solving Real-World Finance Problems</a:t>
            </a:r>
            <a:endParaRPr lang="en-US" sz="3600" b="1" dirty="0">
              <a:solidFill>
                <a:srgbClr val="54B5D1"/>
              </a:solidFill>
              <a:latin typeface="Verdana"/>
              <a:ea typeface="Verdana"/>
              <a:cs typeface="Verdana"/>
              <a:sym typeface="Verdana"/>
            </a:endParaRP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770042" y="12881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1195754" y="1386025"/>
                <a:ext cx="10056524" cy="3948260"/>
              </a:xfrm>
              <a:prstGeom prst="rect">
                <a:avLst/>
              </a:prstGeom>
              <a:noFill/>
            </p:spPr>
            <p:txBody>
              <a:bodyPr wrap="square" rtlCol="0">
                <a:spAutoFit/>
              </a:bodyPr>
              <a:lstStyle/>
              <a:p>
                <a:pPr marL="342900" indent="-342900">
                  <a:lnSpc>
                    <a:spcPct val="107000"/>
                  </a:lnSpc>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 A trampoline park charges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$26.88</m:t>
                    </m:r>
                  </m:oMath>
                </a14:m>
                <a:r>
                  <a:rPr lang="en-US" sz="2400" dirty="0">
                    <a:latin typeface="Cambria Math" panose="02040503050406030204" pitchFamily="18" charset="0"/>
                    <a:ea typeface="Cambria Math" panose="02040503050406030204" pitchFamily="18" charset="0"/>
                    <a:cs typeface="Cambria Math" panose="02040503050406030204" pitchFamily="18" charset="0"/>
                  </a:rPr>
                  <a:t> </a:t>
                </a:r>
                <a:r>
                  <a:rPr lang="en-US" sz="2400" dirty="0">
                    <a:latin typeface="Verdana" panose="020B0604030504040204" pitchFamily="34" charset="0"/>
                    <a:ea typeface="Verdana" panose="020B0604030504040204" pitchFamily="34" charset="0"/>
                    <a:cs typeface="Verdana" panose="020B0604030504040204" pitchFamily="34" charset="0"/>
                  </a:rPr>
                  <a:t>for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hours.</a:t>
                </a:r>
                <a:endParaRPr lang="en-US" sz="2000" i="1" dirty="0">
                  <a:latin typeface="Cambria Math" panose="02040503050406030204" pitchFamily="18" charset="0"/>
                  <a:ea typeface="Cambria Math" panose="02040503050406030204" pitchFamily="18" charset="0"/>
                  <a:cs typeface="Verdana" panose="020B0604030504040204" pitchFamily="34" charset="0"/>
                </a:endParaRPr>
              </a:p>
              <a:p>
                <a:pPr marL="342900" indent="-342900">
                  <a:lnSpc>
                    <a:spcPct val="107000"/>
                  </a:lnSpc>
                  <a:buFont typeface="+mj-lt"/>
                  <a:buAutoNum type="arabicPeriod"/>
                </a:pP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920750" indent="-447675">
                  <a:lnSpc>
                    <a:spcPct val="107000"/>
                  </a:lnSpc>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How much is the cost for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hour?</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920750" indent="-447675">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920750" indent="-447675">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920750" indent="-447675">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920750" indent="-447675">
                  <a:lnSpc>
                    <a:spcPct val="107000"/>
                  </a:lnSpc>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The manager of the trampoline park knows that during a Saturday there are typically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125</m:t>
                    </m:r>
                  </m:oMath>
                </a14:m>
                <a:r>
                  <a:rPr lang="en-US" sz="2400" dirty="0">
                    <a:latin typeface="Verdana" panose="020B0604030504040204" pitchFamily="34" charset="0"/>
                    <a:ea typeface="Verdana" panose="020B0604030504040204" pitchFamily="34" charset="0"/>
                    <a:cs typeface="Verdana" panose="020B0604030504040204" pitchFamily="34" charset="0"/>
                  </a:rPr>
                  <a:t> people at the park. If each person only pays for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hours, what is the park’s typical income on Saturdays?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0" name="TextBox 9">
                <a:extLst>
                  <a:ext uri="{FF2B5EF4-FFF2-40B4-BE49-F238E27FC236}">
                    <a16:creationId xmlns:a16="http://schemas.microsoft.com/office/drawing/2014/main" xmlns:a14="http://schemas.microsoft.com/office/drawing/2010/main" xmlns="" id="{31D40250-DEDD-2C41-8538-3D4DD18CCC4A}"/>
                  </a:ext>
                </a:extLst>
              </p:cNvPr>
              <p:cNvSpPr txBox="1">
                <a:spLocks noRot="1" noChangeAspect="1" noMove="1" noResize="1" noEditPoints="1" noAdjustHandles="1" noChangeArrowheads="1" noChangeShapeType="1" noTextEdit="1"/>
              </p:cNvSpPr>
              <p:nvPr/>
            </p:nvSpPr>
            <p:spPr>
              <a:xfrm>
                <a:off x="1195754" y="1386025"/>
                <a:ext cx="10056524" cy="3948260"/>
              </a:xfrm>
              <a:prstGeom prst="rect">
                <a:avLst/>
              </a:prstGeom>
              <a:blipFill rotWithShape="0">
                <a:blip r:embed="rId4"/>
                <a:stretch>
                  <a:fillRect l="-909" t="-1543" r="-121" b="-2315"/>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46CE9362-15C8-D54E-981B-E2717DFC6652}"/>
              </a:ext>
            </a:extLst>
          </p:cNvPr>
          <p:cNvSpPr/>
          <p:nvPr/>
        </p:nvSpPr>
        <p:spPr>
          <a:xfrm>
            <a:off x="0" y="-8226"/>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6371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63</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753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5523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3BC97A7-8575-5A46-8E72-A886A83AEC7E}"/>
                  </a:ext>
                </a:extLst>
              </p:cNvPr>
              <p:cNvSpPr txBox="1"/>
              <p:nvPr/>
            </p:nvSpPr>
            <p:spPr>
              <a:xfrm>
                <a:off x="816661" y="386282"/>
                <a:ext cx="10558678" cy="4044056"/>
              </a:xfrm>
              <a:prstGeom prst="rect">
                <a:avLst/>
              </a:prstGeom>
              <a:noFill/>
            </p:spPr>
            <p:txBody>
              <a:bodyPr wrap="square" rtlCol="0">
                <a:spAutoFit/>
              </a:bodyPr>
              <a:lstStyle/>
              <a:p>
                <a:pPr marL="342900" indent="-342900">
                  <a:lnSpc>
                    <a:spcPct val="107000"/>
                  </a:lnSpc>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 A trampoline park charges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$26.88</m:t>
                    </m:r>
                  </m:oMath>
                </a14:m>
                <a:r>
                  <a:rPr lang="en-US" sz="2400" dirty="0">
                    <a:latin typeface="Cambria Math" panose="02040503050406030204" pitchFamily="18" charset="0"/>
                    <a:ea typeface="Cambria Math" panose="02040503050406030204" pitchFamily="18" charset="0"/>
                    <a:cs typeface="Cambria Math" panose="02040503050406030204" pitchFamily="18" charset="0"/>
                  </a:rPr>
                  <a:t> </a:t>
                </a:r>
                <a:r>
                  <a:rPr lang="en-US" sz="2400" dirty="0">
                    <a:latin typeface="Verdana" panose="020B0604030504040204" pitchFamily="34" charset="0"/>
                    <a:ea typeface="Verdana" panose="020B0604030504040204" pitchFamily="34" charset="0"/>
                    <a:cs typeface="Verdana" panose="020B0604030504040204" pitchFamily="34" charset="0"/>
                  </a:rPr>
                  <a:t>for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hours.</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342900" indent="-342900">
                  <a:lnSpc>
                    <a:spcPct val="107000"/>
                  </a:lnSpc>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0750" indent="-447675">
                  <a:lnSpc>
                    <a:spcPct val="107000"/>
                  </a:lnSpc>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The manager of the trampoline park lists the costs for Saturday as follows: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$119.50</m:t>
                    </m:r>
                  </m:oMath>
                </a14:m>
                <a:r>
                  <a:rPr lang="en-US" sz="2400" dirty="0">
                    <a:latin typeface="Verdana" panose="020B0604030504040204" pitchFamily="34" charset="0"/>
                    <a:ea typeface="Verdana" panose="020B0604030504040204" pitchFamily="34" charset="0"/>
                    <a:cs typeface="Verdana" panose="020B0604030504040204" pitchFamily="34" charset="0"/>
                  </a:rPr>
                  <a:t> to pay the employees and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$256.73</m:t>
                    </m:r>
                  </m:oMath>
                </a14:m>
                <a:r>
                  <a:rPr lang="en-US" sz="2400" dirty="0">
                    <a:latin typeface="Verdana" panose="020B0604030504040204" pitchFamily="34" charset="0"/>
                    <a:ea typeface="Verdana" panose="020B0604030504040204" pitchFamily="34" charset="0"/>
                    <a:cs typeface="Verdana" panose="020B0604030504040204" pitchFamily="34" charset="0"/>
                  </a:rPr>
                  <a:t> for all other costs. What are the park’s typical costs?</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920750" indent="-447675">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920750" indent="-447675">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920750" indent="-447675">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920750" indent="-447675">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920750" indent="-447675">
                  <a:lnSpc>
                    <a:spcPct val="107000"/>
                  </a:lnSpc>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Determine the park’s net income for a typical Saturday.</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5" name="TextBox 4">
                <a:extLst>
                  <a:ext uri="{FF2B5EF4-FFF2-40B4-BE49-F238E27FC236}">
                    <a16:creationId xmlns:a16="http://schemas.microsoft.com/office/drawing/2014/main" xmlns:a14="http://schemas.microsoft.com/office/drawing/2010/main" xmlns="" id="{A3BC97A7-8575-5A46-8E72-A886A83AEC7E}"/>
                  </a:ext>
                </a:extLst>
              </p:cNvPr>
              <p:cNvSpPr txBox="1">
                <a:spLocks noRot="1" noChangeAspect="1" noMove="1" noResize="1" noEditPoints="1" noAdjustHandles="1" noChangeArrowheads="1" noChangeShapeType="1" noTextEdit="1"/>
              </p:cNvSpPr>
              <p:nvPr/>
            </p:nvSpPr>
            <p:spPr>
              <a:xfrm>
                <a:off x="816661" y="386282"/>
                <a:ext cx="10558678" cy="4044056"/>
              </a:xfrm>
              <a:prstGeom prst="rect">
                <a:avLst/>
              </a:prstGeom>
              <a:blipFill rotWithShape="0">
                <a:blip r:embed="rId3"/>
                <a:stretch>
                  <a:fillRect l="-924" t="-1506" b="-1506"/>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01E1BEEC-C47B-3A48-99B3-7CB267A11974}"/>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6371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63</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53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18385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CE9D117-FAE6-F74F-940B-9CD1479755BE}"/>
                  </a:ext>
                </a:extLst>
              </p:cNvPr>
              <p:cNvSpPr txBox="1"/>
              <p:nvPr/>
            </p:nvSpPr>
            <p:spPr>
              <a:xfrm>
                <a:off x="1111348" y="422858"/>
                <a:ext cx="9969304" cy="4834400"/>
              </a:xfrm>
              <a:prstGeom prst="rect">
                <a:avLst/>
              </a:prstGeom>
              <a:noFill/>
            </p:spPr>
            <p:txBody>
              <a:bodyPr wrap="square" rtlCol="0">
                <a:spAutoFit/>
              </a:bodyPr>
              <a:lstStyle/>
              <a:p>
                <a:pPr marL="457200" indent="-457200">
                  <a:lnSpc>
                    <a:spcPct val="107000"/>
                  </a:lnSpc>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Emmanuel invested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$12,500</m:t>
                    </m:r>
                  </m:oMath>
                </a14:m>
                <a:r>
                  <a:rPr lang="en-US" sz="2400" dirty="0">
                    <a:latin typeface="Verdana" panose="020B0604030504040204" pitchFamily="34" charset="0"/>
                    <a:ea typeface="Verdana" panose="020B0604030504040204" pitchFamily="34" charset="0"/>
                    <a:cs typeface="Verdana" panose="020B0604030504040204" pitchFamily="34" charset="0"/>
                  </a:rPr>
                  <a:t> into the stock market. His return, the money he earned on his investment, was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$281.25</m:t>
                    </m:r>
                  </m:oMath>
                </a14:m>
                <a:r>
                  <a:rPr lang="en-US" sz="2400" dirty="0">
                    <a:latin typeface="Verdana" panose="020B0604030504040204" pitchFamily="34" charset="0"/>
                    <a:ea typeface="Verdana" panose="020B0604030504040204" pitchFamily="34" charset="0"/>
                    <a:cs typeface="Verdana" panose="020B0604030504040204" pitchFamily="34" charset="0"/>
                  </a:rPr>
                  <a:t> for each of the first three quarters of the year. He combines his returns with his initial investment. How much does Emmanuel have invested after the third quarter of the year?</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5" name="TextBox 4">
                <a:extLst>
                  <a:ext uri="{FF2B5EF4-FFF2-40B4-BE49-F238E27FC236}">
                    <a16:creationId xmlns:a16="http://schemas.microsoft.com/office/drawing/2014/main" xmlns:a14="http://schemas.microsoft.com/office/drawing/2010/main" xmlns="" id="{4CE9D117-FAE6-F74F-940B-9CD1479755BE}"/>
                  </a:ext>
                </a:extLst>
              </p:cNvPr>
              <p:cNvSpPr txBox="1">
                <a:spLocks noRot="1" noChangeAspect="1" noMove="1" noResize="1" noEditPoints="1" noAdjustHandles="1" noChangeArrowheads="1" noChangeShapeType="1" noTextEdit="1"/>
              </p:cNvSpPr>
              <p:nvPr/>
            </p:nvSpPr>
            <p:spPr>
              <a:xfrm>
                <a:off x="1111348" y="422858"/>
                <a:ext cx="9969304" cy="4834400"/>
              </a:xfrm>
              <a:prstGeom prst="rect">
                <a:avLst/>
              </a:prstGeom>
              <a:blipFill rotWithShape="0">
                <a:blip r:embed="rId3"/>
                <a:stretch>
                  <a:fillRect l="-917" t="-1261" r="-1161"/>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BEF6C55E-B3A1-F64B-8B75-315832270770}"/>
              </a:ext>
            </a:extLst>
          </p:cNvPr>
          <p:cNvSpPr/>
          <p:nvPr/>
        </p:nvSpPr>
        <p:spPr>
          <a:xfrm>
            <a:off x="0" y="-8226"/>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6371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63</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53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62030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CE9D117-FAE6-F74F-940B-9CD1479755BE}"/>
                  </a:ext>
                </a:extLst>
              </p:cNvPr>
              <p:cNvSpPr txBox="1"/>
              <p:nvPr/>
            </p:nvSpPr>
            <p:spPr>
              <a:xfrm>
                <a:off x="998806" y="422857"/>
                <a:ext cx="10194388" cy="4044056"/>
              </a:xfrm>
              <a:prstGeom prst="rect">
                <a:avLst/>
              </a:prstGeom>
              <a:noFill/>
            </p:spPr>
            <p:txBody>
              <a:bodyPr wrap="square" rtlCol="0">
                <a:spAutoFit/>
              </a:bodyPr>
              <a:lstStyle/>
              <a:p>
                <a:pPr marL="457200" indent="-457200">
                  <a:lnSpc>
                    <a:spcPct val="107000"/>
                  </a:lnSpc>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Aaron has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$2,478.23</m:t>
                    </m:r>
                  </m:oMath>
                </a14:m>
                <a:r>
                  <a:rPr lang="en-US" sz="2400" dirty="0">
                    <a:latin typeface="Verdana" panose="020B0604030504040204" pitchFamily="34" charset="0"/>
                    <a:ea typeface="Verdana" panose="020B0604030504040204" pitchFamily="34" charset="0"/>
                    <a:cs typeface="Verdana" panose="020B0604030504040204" pitchFamily="34" charset="0"/>
                  </a:rPr>
                  <a:t> in his checking account. He writes a check for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$637.89</m:t>
                    </m:r>
                  </m:oMath>
                </a14:m>
                <a:r>
                  <a:rPr lang="en-US" sz="2400" dirty="0">
                    <a:latin typeface="Verdana" panose="020B0604030504040204" pitchFamily="34" charset="0"/>
                    <a:ea typeface="Verdana" panose="020B0604030504040204" pitchFamily="34" charset="0"/>
                    <a:cs typeface="Verdana" panose="020B0604030504040204" pitchFamily="34" charset="0"/>
                  </a:rPr>
                  <a:t> to pay for new tires on his truck. How much money does he have in his checking account now?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457200" indent="-457200">
                  <a:lnSpc>
                    <a:spcPct val="107000"/>
                  </a:lnSpc>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Violeta has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$5,734.49</m:t>
                    </m:r>
                  </m:oMath>
                </a14:m>
                <a:r>
                  <a:rPr lang="en-US" sz="2400" dirty="0">
                    <a:latin typeface="Verdana" panose="020B0604030504040204" pitchFamily="34" charset="0"/>
                    <a:ea typeface="Verdana" panose="020B0604030504040204" pitchFamily="34" charset="0"/>
                    <a:cs typeface="Verdana" panose="020B0604030504040204" pitchFamily="34" charset="0"/>
                  </a:rPr>
                  <a:t> in her savings account. She deposits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$218.56</m:t>
                    </m:r>
                  </m:oMath>
                </a14:m>
                <a:r>
                  <a:rPr lang="en-US" sz="2400" dirty="0">
                    <a:latin typeface="Verdana" panose="020B0604030504040204" pitchFamily="34" charset="0"/>
                    <a:ea typeface="Verdana" panose="020B0604030504040204" pitchFamily="34" charset="0"/>
                    <a:cs typeface="Verdana" panose="020B0604030504040204" pitchFamily="34" charset="0"/>
                  </a:rPr>
                  <a:t> and withdraws </a:t>
                </a:r>
                <a14:m>
                  <m:oMath xmlns:m="http://schemas.openxmlformats.org/officeDocument/2006/math">
                    <m:r>
                      <a:rPr lang="en-US" sz="2400" i="1">
                        <a:latin typeface="Cambria Math" panose="02040503050406030204" pitchFamily="18" charset="0"/>
                        <a:ea typeface="Verdana" panose="020B0604030504040204" pitchFamily="34" charset="0"/>
                        <a:cs typeface="Verdana" panose="020B0604030504040204" pitchFamily="34" charset="0"/>
                      </a:rPr>
                      <m:t>$</m:t>
                    </m:r>
                    <m:r>
                      <a:rPr lang="en-US" sz="2400" i="1">
                        <a:latin typeface="Cambria Math" panose="02040503050406030204" pitchFamily="18" charset="0"/>
                        <a:ea typeface="Cambria Math" panose="02040503050406030204" pitchFamily="18" charset="0"/>
                        <a:cs typeface="Cambria Math" panose="02040503050406030204" pitchFamily="18" charset="0"/>
                      </a:rPr>
                      <m:t>92.50</m:t>
                    </m:r>
                  </m:oMath>
                </a14:m>
                <a:r>
                  <a:rPr lang="en-US" sz="2400" dirty="0">
                    <a:latin typeface="Verdana" panose="020B0604030504040204" pitchFamily="34" charset="0"/>
                    <a:ea typeface="Verdana" panose="020B0604030504040204" pitchFamily="34" charset="0"/>
                    <a:cs typeface="Verdana" panose="020B0604030504040204" pitchFamily="34" charset="0"/>
                  </a:rPr>
                  <a:t>. How much does she have in her savings account now?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5" name="TextBox 4">
                <a:extLst>
                  <a:ext uri="{FF2B5EF4-FFF2-40B4-BE49-F238E27FC236}">
                    <a16:creationId xmlns:a16="http://schemas.microsoft.com/office/drawing/2014/main" xmlns:a14="http://schemas.microsoft.com/office/drawing/2010/main" xmlns="" id="{4CE9D117-FAE6-F74F-940B-9CD1479755BE}"/>
                  </a:ext>
                </a:extLst>
              </p:cNvPr>
              <p:cNvSpPr txBox="1">
                <a:spLocks noRot="1" noChangeAspect="1" noMove="1" noResize="1" noEditPoints="1" noAdjustHandles="1" noChangeArrowheads="1" noChangeShapeType="1" noTextEdit="1"/>
              </p:cNvSpPr>
              <p:nvPr/>
            </p:nvSpPr>
            <p:spPr>
              <a:xfrm>
                <a:off x="998806" y="422857"/>
                <a:ext cx="10194388" cy="4044056"/>
              </a:xfrm>
              <a:prstGeom prst="rect">
                <a:avLst/>
              </a:prstGeom>
              <a:blipFill rotWithShape="0">
                <a:blip r:embed="rId3"/>
                <a:stretch>
                  <a:fillRect l="-957" t="-1506" r="-1854" b="-1506"/>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BEF6C55E-B3A1-F64B-8B75-315832270770}"/>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6371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63</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53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37762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6371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53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23126" y="-38190"/>
            <a:ext cx="962001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2.5.4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593677" y="132842"/>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593677" y="1186040"/>
            <a:ext cx="11155312" cy="5097870"/>
          </a:xfrm>
          <a:prstGeom prst="rect">
            <a:avLst/>
          </a:prstGeom>
          <a:noFill/>
        </p:spPr>
        <p:txBody>
          <a:bodyPr wrap="square" rtlCol="0">
            <a:spAutoFit/>
          </a:bodyPr>
          <a:lstStyle/>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Mishka is planning to host a music festival to raise funds for a local food bank. Her budget is shown.</a:t>
            </a:r>
          </a:p>
          <a:p>
            <a:pPr>
              <a:lnSpc>
                <a:spcPct val="107000"/>
              </a:lnSpc>
            </a:pPr>
            <a:endParaRPr lang="en-US" sz="2400"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endParaRPr lang="en-US" sz="24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endParaRPr lang="en-US" sz="24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endParaRPr lang="en-US" sz="24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endParaRPr lang="en-US" sz="24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endParaRPr lang="en-US" sz="24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endParaRPr lang="en-US" sz="24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endParaRPr lang="en-US" sz="24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endParaRPr lang="en-US" sz="2400" i="1" dirty="0">
              <a:latin typeface="Verdana" panose="020B0604030504040204" pitchFamily="34" charset="0"/>
              <a:ea typeface="Verdana" panose="020B0604030504040204" pitchFamily="34" charset="0"/>
              <a:cs typeface="Cambria Math" panose="02040503050406030204" pitchFamily="18" charset="0"/>
            </a:endParaRPr>
          </a:p>
          <a:p>
            <a:pPr marL="342900" indent="-3429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In order to find the </a:t>
            </a:r>
            <a:r>
              <a:rPr lang="en-US" sz="2000" b="1" dirty="0">
                <a:latin typeface="Verdana" panose="020B0604030504040204" pitchFamily="34" charset="0"/>
                <a:ea typeface="Verdana" panose="020B0604030504040204" pitchFamily="34" charset="0"/>
                <a:cs typeface="Verdana" panose="020B0604030504040204" pitchFamily="34" charset="0"/>
              </a:rPr>
              <a:t>gross income</a:t>
            </a:r>
            <a:r>
              <a:rPr lang="en-US" sz="2000" dirty="0">
                <a:latin typeface="Verdana" panose="020B0604030504040204" pitchFamily="34" charset="0"/>
                <a:ea typeface="Verdana" panose="020B0604030504040204" pitchFamily="34" charset="0"/>
                <a:cs typeface="Verdana" panose="020B0604030504040204" pitchFamily="34" charset="0"/>
              </a:rPr>
              <a:t> for the music festival, I need to know ________________________ and __________________________________.</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10" name="Google Shape;278;g104476d1465_1_17">
            <a:extLst>
              <a:ext uri="{FF2B5EF4-FFF2-40B4-BE49-F238E27FC236}">
                <a16:creationId xmlns:a16="http://schemas.microsoft.com/office/drawing/2014/main" id="{69767437-9B0B-9D43-A596-1373A90D9FE8}"/>
              </a:ext>
            </a:extLst>
          </p:cNvPr>
          <p:cNvSpPr/>
          <p:nvPr/>
        </p:nvSpPr>
        <p:spPr>
          <a:xfrm>
            <a:off x="-36838" y="-8226"/>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A881A14F-5E7D-4944-AA9F-C0087C0777A6}"/>
                  </a:ext>
                </a:extLst>
              </p:cNvPr>
              <p:cNvGraphicFramePr>
                <a:graphicFrameLocks noGrp="1"/>
              </p:cNvGraphicFramePr>
              <p:nvPr>
                <p:extLst>
                  <p:ext uri="{D42A27DB-BD31-4B8C-83A1-F6EECF244321}">
                    <p14:modId xmlns:p14="http://schemas.microsoft.com/office/powerpoint/2010/main" val="2570630338"/>
                  </p:ext>
                </p:extLst>
              </p:nvPr>
            </p:nvGraphicFramePr>
            <p:xfrm>
              <a:off x="3443288" y="2136174"/>
              <a:ext cx="5305425" cy="3171381"/>
            </p:xfrm>
            <a:graphic>
              <a:graphicData uri="http://schemas.openxmlformats.org/drawingml/2006/table">
                <a:tbl>
                  <a:tblPr bandRow="1"/>
                  <a:tblGrid>
                    <a:gridCol w="3318351">
                      <a:extLst>
                        <a:ext uri="{9D8B030D-6E8A-4147-A177-3AD203B41FA5}">
                          <a16:colId xmlns:a16="http://schemas.microsoft.com/office/drawing/2014/main" val="2331848151"/>
                        </a:ext>
                      </a:extLst>
                    </a:gridCol>
                    <a:gridCol w="1987074">
                      <a:extLst>
                        <a:ext uri="{9D8B030D-6E8A-4147-A177-3AD203B41FA5}">
                          <a16:colId xmlns:a16="http://schemas.microsoft.com/office/drawing/2014/main" val="353496765"/>
                        </a:ext>
                      </a:extLst>
                    </a:gridCol>
                  </a:tblGrid>
                  <a:tr h="405130">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Item</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a:solidFill>
                                <a:srgbClr val="000000"/>
                              </a:solidFill>
                              <a:effectLst/>
                              <a:latin typeface="Verdana" panose="020B0604030504040204" pitchFamily="34" charset="0"/>
                              <a:ea typeface="Verdana" panose="020B0604030504040204" pitchFamily="34" charset="0"/>
                              <a:cs typeface="Verdana" panose="020B0604030504040204" pitchFamily="34" charset="0"/>
                            </a:rPr>
                            <a:t>Amount</a:t>
                          </a:r>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150956797"/>
                      </a:ext>
                    </a:extLst>
                  </a:tr>
                  <a:tr h="346710">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Ticket price at the door</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$9.00</m:t>
                                </m:r>
                              </m:oMath>
                            </m:oMathPara>
                          </a14:m>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97342671"/>
                      </a:ext>
                    </a:extLst>
                  </a:tr>
                  <a:tr h="346710">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Fee paid to each band</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$175.00</m:t>
                                </m:r>
                              </m:oMath>
                            </m:oMathPara>
                          </a14:m>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3651443"/>
                      </a:ext>
                    </a:extLst>
                  </a:tr>
                  <a:tr h="346710">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Early-bird ticket price</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$6.50</m:t>
                                </m:r>
                              </m:oMath>
                            </m:oMathPara>
                          </a14:m>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0799889"/>
                      </a:ext>
                    </a:extLst>
                  </a:tr>
                  <a:tr h="346710">
                    <a:tc>
                      <a:txBody>
                        <a:bodyPr/>
                        <a:lstStyle/>
                        <a:p>
                          <a:pPr marL="0" marR="0" algn="ctr">
                            <a:lnSpc>
                              <a:spcPct val="107000"/>
                            </a:lnSpc>
                            <a:spcBef>
                              <a:spcPts val="0"/>
                            </a:spcBef>
                            <a:spcAft>
                              <a:spcPts val="0"/>
                            </a:spcAft>
                          </a:pPr>
                          <a:r>
                            <a:rPr lang="en-US" sz="2000" i="0">
                              <a:solidFill>
                                <a:srgbClr val="000000"/>
                              </a:solidFill>
                              <a:effectLst/>
                              <a:latin typeface="Verdana" panose="020B0604030504040204" pitchFamily="34" charset="0"/>
                              <a:ea typeface="Verdana" panose="020B0604030504040204" pitchFamily="34" charset="0"/>
                              <a:cs typeface="Verdana" panose="020B0604030504040204" pitchFamily="34" charset="0"/>
                            </a:rPr>
                            <a:t>Equipment rental</a:t>
                          </a:r>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$225.00</m:t>
                                </m:r>
                              </m:oMath>
                            </m:oMathPara>
                          </a14:m>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39725549"/>
                      </a:ext>
                    </a:extLst>
                  </a:tr>
                  <a:tr h="346710">
                    <a:tc>
                      <a:txBody>
                        <a:bodyPr/>
                        <a:lstStyle/>
                        <a:p>
                          <a:pPr marL="0" marR="0" algn="ctr">
                            <a:lnSpc>
                              <a:spcPct val="107000"/>
                            </a:lnSpc>
                            <a:spcBef>
                              <a:spcPts val="0"/>
                            </a:spcBef>
                            <a:spcAft>
                              <a:spcPts val="0"/>
                            </a:spcAft>
                          </a:pPr>
                          <a:r>
                            <a:rPr lang="en-US" sz="2000" i="0">
                              <a:solidFill>
                                <a:srgbClr val="000000"/>
                              </a:solidFill>
                              <a:effectLst/>
                              <a:latin typeface="Verdana" panose="020B0604030504040204" pitchFamily="34" charset="0"/>
                              <a:ea typeface="Verdana" panose="020B0604030504040204" pitchFamily="34" charset="0"/>
                              <a:cs typeface="Verdana" panose="020B0604030504040204" pitchFamily="34" charset="0"/>
                            </a:rPr>
                            <a:t>Publicity (flyers/artwork)</a:t>
                          </a:r>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$64.57</m:t>
                                </m:r>
                              </m:oMath>
                            </m:oMathPara>
                          </a14:m>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3331914"/>
                      </a:ext>
                    </a:extLst>
                  </a:tr>
                  <a:tr h="346710">
                    <a:tc>
                      <a:txBody>
                        <a:bodyPr/>
                        <a:lstStyle/>
                        <a:p>
                          <a:pPr marL="0" marR="0" algn="ctr">
                            <a:lnSpc>
                              <a:spcPct val="107000"/>
                            </a:lnSpc>
                            <a:spcBef>
                              <a:spcPts val="0"/>
                            </a:spcBef>
                            <a:spcAft>
                              <a:spcPts val="0"/>
                            </a:spcAft>
                          </a:pPr>
                          <a:r>
                            <a:rPr lang="en-US" sz="2000" i="0">
                              <a:solidFill>
                                <a:srgbClr val="000000"/>
                              </a:solidFill>
                              <a:effectLst/>
                              <a:latin typeface="Verdana" panose="020B0604030504040204" pitchFamily="34" charset="0"/>
                              <a:ea typeface="Verdana" panose="020B0604030504040204" pitchFamily="34" charset="0"/>
                              <a:cs typeface="Verdana" panose="020B0604030504040204" pitchFamily="34" charset="0"/>
                            </a:rPr>
                            <a:t>Stage rental</a:t>
                          </a:r>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$187.50</m:t>
                                </m:r>
                              </m:oMath>
                            </m:oMathPara>
                          </a14:m>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22500615"/>
                      </a:ext>
                    </a:extLst>
                  </a:tr>
                </a:tbl>
              </a:graphicData>
            </a:graphic>
          </p:graphicFrame>
        </mc:Choice>
        <mc:Fallback xmlns="">
          <p:graphicFrame>
            <p:nvGraphicFramePr>
              <p:cNvPr id="3" name="Table 2">
                <a:extLst>
                  <a:ext uri="{FF2B5EF4-FFF2-40B4-BE49-F238E27FC236}">
                    <a16:creationId xmlns:a16="http://schemas.microsoft.com/office/drawing/2014/main" id="{A881A14F-5E7D-4944-AA9F-C0087C0777A6}"/>
                  </a:ext>
                </a:extLst>
              </p:cNvPr>
              <p:cNvGraphicFramePr>
                <a:graphicFrameLocks noGrp="1"/>
              </p:cNvGraphicFramePr>
              <p:nvPr>
                <p:extLst>
                  <p:ext uri="{D42A27DB-BD31-4B8C-83A1-F6EECF244321}">
                    <p14:modId xmlns:p14="http://schemas.microsoft.com/office/powerpoint/2010/main" val="2570630338"/>
                  </p:ext>
                </p:extLst>
              </p:nvPr>
            </p:nvGraphicFramePr>
            <p:xfrm>
              <a:off x="1919287" y="2136174"/>
              <a:ext cx="5305425" cy="3171381"/>
            </p:xfrm>
            <a:graphic>
              <a:graphicData uri="http://schemas.openxmlformats.org/drawingml/2006/table">
                <a:tbl>
                  <a:tblPr bandRow="1"/>
                  <a:tblGrid>
                    <a:gridCol w="3318351">
                      <a:extLst>
                        <a:ext uri="{9D8B030D-6E8A-4147-A177-3AD203B41FA5}">
                          <a16:colId xmlns:a16="http://schemas.microsoft.com/office/drawing/2014/main" val="2331848151"/>
                        </a:ext>
                      </a:extLst>
                    </a:gridCol>
                    <a:gridCol w="1987074">
                      <a:extLst>
                        <a:ext uri="{9D8B030D-6E8A-4147-A177-3AD203B41FA5}">
                          <a16:colId xmlns:a16="http://schemas.microsoft.com/office/drawing/2014/main" val="353496765"/>
                        </a:ext>
                      </a:extLst>
                    </a:gridCol>
                  </a:tblGrid>
                  <a:tr h="405130">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Item</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a:solidFill>
                                <a:srgbClr val="000000"/>
                              </a:solidFill>
                              <a:effectLst/>
                              <a:latin typeface="Verdana" panose="020B0604030504040204" pitchFamily="34" charset="0"/>
                              <a:ea typeface="Verdana" panose="020B0604030504040204" pitchFamily="34" charset="0"/>
                              <a:cs typeface="Verdana" panose="020B0604030504040204" pitchFamily="34" charset="0"/>
                            </a:rPr>
                            <a:t>Amount</a:t>
                          </a:r>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150956797"/>
                      </a:ext>
                    </a:extLst>
                  </a:tr>
                  <a:tr h="427736">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Ticket price at the door</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6972" t="-102857" r="-612" b="-568571"/>
                          </a:stretch>
                        </a:blipFill>
                      </a:tcPr>
                    </a:tc>
                    <a:extLst>
                      <a:ext uri="{0D108BD9-81ED-4DB2-BD59-A6C34878D82A}">
                        <a16:rowId xmlns:a16="http://schemas.microsoft.com/office/drawing/2014/main" val="2197342671"/>
                      </a:ext>
                    </a:extLst>
                  </a:tr>
                  <a:tr h="427736">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Fee paid to each band</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6972" t="-202857" r="-612" b="-468571"/>
                          </a:stretch>
                        </a:blipFill>
                      </a:tcPr>
                    </a:tc>
                    <a:extLst>
                      <a:ext uri="{0D108BD9-81ED-4DB2-BD59-A6C34878D82A}">
                        <a16:rowId xmlns:a16="http://schemas.microsoft.com/office/drawing/2014/main" val="3153651443"/>
                      </a:ext>
                    </a:extLst>
                  </a:tr>
                  <a:tr h="427736">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Early-bird ticket price</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6972" t="-302857" r="-612" b="-368571"/>
                          </a:stretch>
                        </a:blipFill>
                      </a:tcPr>
                    </a:tc>
                    <a:extLst>
                      <a:ext uri="{0D108BD9-81ED-4DB2-BD59-A6C34878D82A}">
                        <a16:rowId xmlns:a16="http://schemas.microsoft.com/office/drawing/2014/main" val="1280799889"/>
                      </a:ext>
                    </a:extLst>
                  </a:tr>
                  <a:tr h="427736">
                    <a:tc>
                      <a:txBody>
                        <a:bodyPr/>
                        <a:lstStyle/>
                        <a:p>
                          <a:pPr marL="0" marR="0" algn="ctr">
                            <a:lnSpc>
                              <a:spcPct val="107000"/>
                            </a:lnSpc>
                            <a:spcBef>
                              <a:spcPts val="0"/>
                            </a:spcBef>
                            <a:spcAft>
                              <a:spcPts val="0"/>
                            </a:spcAft>
                          </a:pPr>
                          <a:r>
                            <a:rPr lang="en-US" sz="2000" i="0">
                              <a:solidFill>
                                <a:srgbClr val="000000"/>
                              </a:solidFill>
                              <a:effectLst/>
                              <a:latin typeface="Verdana" panose="020B0604030504040204" pitchFamily="34" charset="0"/>
                              <a:ea typeface="Verdana" panose="020B0604030504040204" pitchFamily="34" charset="0"/>
                              <a:cs typeface="Verdana" panose="020B0604030504040204" pitchFamily="34" charset="0"/>
                            </a:rPr>
                            <a:t>Equipment rental</a:t>
                          </a:r>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6972" t="-397183" r="-612" b="-263380"/>
                          </a:stretch>
                        </a:blipFill>
                      </a:tcPr>
                    </a:tc>
                    <a:extLst>
                      <a:ext uri="{0D108BD9-81ED-4DB2-BD59-A6C34878D82A}">
                        <a16:rowId xmlns:a16="http://schemas.microsoft.com/office/drawing/2014/main" val="2839725549"/>
                      </a:ext>
                    </a:extLst>
                  </a:tr>
                  <a:tr h="627571">
                    <a:tc>
                      <a:txBody>
                        <a:bodyPr/>
                        <a:lstStyle/>
                        <a:p>
                          <a:pPr marL="0" marR="0" algn="ctr">
                            <a:lnSpc>
                              <a:spcPct val="107000"/>
                            </a:lnSpc>
                            <a:spcBef>
                              <a:spcPts val="0"/>
                            </a:spcBef>
                            <a:spcAft>
                              <a:spcPts val="0"/>
                            </a:spcAft>
                          </a:pPr>
                          <a:r>
                            <a:rPr lang="en-US" sz="2000" i="0">
                              <a:solidFill>
                                <a:srgbClr val="000000"/>
                              </a:solidFill>
                              <a:effectLst/>
                              <a:latin typeface="Verdana" panose="020B0604030504040204" pitchFamily="34" charset="0"/>
                              <a:ea typeface="Verdana" panose="020B0604030504040204" pitchFamily="34" charset="0"/>
                              <a:cs typeface="Verdana" panose="020B0604030504040204" pitchFamily="34" charset="0"/>
                            </a:rPr>
                            <a:t>Publicity (flyers/artwork)</a:t>
                          </a:r>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6972" t="-342718" r="-612" b="-81553"/>
                          </a:stretch>
                        </a:blipFill>
                      </a:tcPr>
                    </a:tc>
                    <a:extLst>
                      <a:ext uri="{0D108BD9-81ED-4DB2-BD59-A6C34878D82A}">
                        <a16:rowId xmlns:a16="http://schemas.microsoft.com/office/drawing/2014/main" val="2513331914"/>
                      </a:ext>
                    </a:extLst>
                  </a:tr>
                  <a:tr h="427736">
                    <a:tc>
                      <a:txBody>
                        <a:bodyPr/>
                        <a:lstStyle/>
                        <a:p>
                          <a:pPr marL="0" marR="0" algn="ctr">
                            <a:lnSpc>
                              <a:spcPct val="107000"/>
                            </a:lnSpc>
                            <a:spcBef>
                              <a:spcPts val="0"/>
                            </a:spcBef>
                            <a:spcAft>
                              <a:spcPts val="0"/>
                            </a:spcAft>
                          </a:pPr>
                          <a:r>
                            <a:rPr lang="en-US" sz="2000" i="0">
                              <a:solidFill>
                                <a:srgbClr val="000000"/>
                              </a:solidFill>
                              <a:effectLst/>
                              <a:latin typeface="Verdana" panose="020B0604030504040204" pitchFamily="34" charset="0"/>
                              <a:ea typeface="Verdana" panose="020B0604030504040204" pitchFamily="34" charset="0"/>
                              <a:cs typeface="Verdana" panose="020B0604030504040204" pitchFamily="34" charset="0"/>
                            </a:rPr>
                            <a:t>Stage rental</a:t>
                          </a:r>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6972" t="-651429" r="-612" b="-20000"/>
                          </a:stretch>
                        </a:blipFill>
                      </a:tcPr>
                    </a:tc>
                    <a:extLst>
                      <a:ext uri="{0D108BD9-81ED-4DB2-BD59-A6C34878D82A}">
                        <a16:rowId xmlns:a16="http://schemas.microsoft.com/office/drawing/2014/main" val="3422500615"/>
                      </a:ext>
                    </a:extLst>
                  </a:tr>
                </a:tbl>
              </a:graphicData>
            </a:graphic>
          </p:graphicFrame>
        </mc:Fallback>
      </mc:AlternateContent>
      <p:sp>
        <p:nvSpPr>
          <p:cNvPr id="11" name="Google Shape;282;g104476d1465_1_17"/>
          <p:cNvSpPr txBox="1"/>
          <p:nvPr/>
        </p:nvSpPr>
        <p:spPr>
          <a:xfrm>
            <a:off x="86371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64</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753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4CE9D117-FAE6-F74F-940B-9CD1479755BE}"/>
              </a:ext>
            </a:extLst>
          </p:cNvPr>
          <p:cNvSpPr txBox="1"/>
          <p:nvPr/>
        </p:nvSpPr>
        <p:spPr>
          <a:xfrm>
            <a:off x="942535" y="4029736"/>
            <a:ext cx="10457594" cy="487506"/>
          </a:xfrm>
          <a:prstGeom prst="rect">
            <a:avLst/>
          </a:prstGeom>
          <a:noFill/>
        </p:spPr>
        <p:txBody>
          <a:bodyPr wrap="square" rtlCol="0">
            <a:spAutoFit/>
          </a:bodyPr>
          <a:lstStyle/>
          <a:p>
            <a:pPr marL="457200" indent="-457200">
              <a:lnSpc>
                <a:spcPct val="107000"/>
              </a:lnSpc>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List the items in Mishka’s budget that are </a:t>
            </a:r>
            <a:r>
              <a:rPr lang="en-US" sz="2400" b="1" dirty="0">
                <a:latin typeface="Verdana" panose="020B0604030504040204" pitchFamily="34" charset="0"/>
                <a:ea typeface="Verdana" panose="020B0604030504040204" pitchFamily="34" charset="0"/>
                <a:cs typeface="Verdana" panose="020B0604030504040204" pitchFamily="34" charset="0"/>
              </a:rPr>
              <a:t>expenses</a:t>
            </a:r>
            <a:r>
              <a:rPr lang="en-US" sz="2400" dirty="0">
                <a:latin typeface="Verdana" panose="020B0604030504040204" pitchFamily="34" charset="0"/>
                <a:ea typeface="Verdana" panose="020B0604030504040204" pitchFamily="34" charset="0"/>
                <a:cs typeface="Verdana" panose="020B0604030504040204" pitchFamily="34" charset="0"/>
              </a:rPr>
              <a:t>.</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7" name="Google Shape;278;g104476d1465_1_17">
            <a:extLst>
              <a:ext uri="{FF2B5EF4-FFF2-40B4-BE49-F238E27FC236}">
                <a16:creationId xmlns:a16="http://schemas.microsoft.com/office/drawing/2014/main" id="{BEF6C55E-B3A1-F64B-8B75-315832270770}"/>
              </a:ext>
            </a:extLst>
          </p:cNvPr>
          <p:cNvSpPr/>
          <p:nvPr/>
        </p:nvSpPr>
        <p:spPr>
          <a:xfrm>
            <a:off x="0" y="-8226"/>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8F695740-079B-4B04-AD40-8D46119E6E17}"/>
                  </a:ext>
                </a:extLst>
              </p:cNvPr>
              <p:cNvGraphicFramePr>
                <a:graphicFrameLocks noGrp="1"/>
              </p:cNvGraphicFramePr>
              <p:nvPr>
                <p:extLst>
                  <p:ext uri="{D42A27DB-BD31-4B8C-83A1-F6EECF244321}">
                    <p14:modId xmlns:p14="http://schemas.microsoft.com/office/powerpoint/2010/main" val="599066907"/>
                  </p:ext>
                </p:extLst>
              </p:nvPr>
            </p:nvGraphicFramePr>
            <p:xfrm>
              <a:off x="3518620" y="448172"/>
              <a:ext cx="5305425" cy="3171381"/>
            </p:xfrm>
            <a:graphic>
              <a:graphicData uri="http://schemas.openxmlformats.org/drawingml/2006/table">
                <a:tbl>
                  <a:tblPr bandRow="1"/>
                  <a:tblGrid>
                    <a:gridCol w="3318351">
                      <a:extLst>
                        <a:ext uri="{9D8B030D-6E8A-4147-A177-3AD203B41FA5}">
                          <a16:colId xmlns:a16="http://schemas.microsoft.com/office/drawing/2014/main" val="2331848151"/>
                        </a:ext>
                      </a:extLst>
                    </a:gridCol>
                    <a:gridCol w="1987074">
                      <a:extLst>
                        <a:ext uri="{9D8B030D-6E8A-4147-A177-3AD203B41FA5}">
                          <a16:colId xmlns:a16="http://schemas.microsoft.com/office/drawing/2014/main" val="353496765"/>
                        </a:ext>
                      </a:extLst>
                    </a:gridCol>
                  </a:tblGrid>
                  <a:tr h="405130">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Item</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a:solidFill>
                                <a:srgbClr val="000000"/>
                              </a:solidFill>
                              <a:effectLst/>
                              <a:latin typeface="Verdana" panose="020B0604030504040204" pitchFamily="34" charset="0"/>
                              <a:ea typeface="Verdana" panose="020B0604030504040204" pitchFamily="34" charset="0"/>
                              <a:cs typeface="Verdana" panose="020B0604030504040204" pitchFamily="34" charset="0"/>
                            </a:rPr>
                            <a:t>Amount</a:t>
                          </a:r>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150956797"/>
                      </a:ext>
                    </a:extLst>
                  </a:tr>
                  <a:tr h="346710">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Ticket price at the door</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$9.00</m:t>
                                </m:r>
                              </m:oMath>
                            </m:oMathPara>
                          </a14:m>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97342671"/>
                      </a:ext>
                    </a:extLst>
                  </a:tr>
                  <a:tr h="346710">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Fee paid to each band</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$175.00</m:t>
                                </m:r>
                              </m:oMath>
                            </m:oMathPara>
                          </a14:m>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3651443"/>
                      </a:ext>
                    </a:extLst>
                  </a:tr>
                  <a:tr h="346710">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Early-bird ticket price</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$6.50</m:t>
                                </m:r>
                              </m:oMath>
                            </m:oMathPara>
                          </a14:m>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0799889"/>
                      </a:ext>
                    </a:extLst>
                  </a:tr>
                  <a:tr h="346710">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Equipment rental</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$225.00</m:t>
                                </m:r>
                              </m:oMath>
                            </m:oMathPara>
                          </a14:m>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39725549"/>
                      </a:ext>
                    </a:extLst>
                  </a:tr>
                  <a:tr h="346710">
                    <a:tc>
                      <a:txBody>
                        <a:bodyPr/>
                        <a:lstStyle/>
                        <a:p>
                          <a:pPr marL="0" marR="0" algn="ctr">
                            <a:lnSpc>
                              <a:spcPct val="107000"/>
                            </a:lnSpc>
                            <a:spcBef>
                              <a:spcPts val="0"/>
                            </a:spcBef>
                            <a:spcAft>
                              <a:spcPts val="0"/>
                            </a:spcAft>
                          </a:pPr>
                          <a:r>
                            <a:rPr lang="en-US" sz="2000" i="0">
                              <a:solidFill>
                                <a:srgbClr val="000000"/>
                              </a:solidFill>
                              <a:effectLst/>
                              <a:latin typeface="Verdana" panose="020B0604030504040204" pitchFamily="34" charset="0"/>
                              <a:ea typeface="Verdana" panose="020B0604030504040204" pitchFamily="34" charset="0"/>
                              <a:cs typeface="Verdana" panose="020B0604030504040204" pitchFamily="34" charset="0"/>
                            </a:rPr>
                            <a:t>Publicity (flyers/artwork)</a:t>
                          </a:r>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$64.57</m:t>
                                </m:r>
                              </m:oMath>
                            </m:oMathPara>
                          </a14:m>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3331914"/>
                      </a:ext>
                    </a:extLst>
                  </a:tr>
                  <a:tr h="346710">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Stage rental</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$187.50</m:t>
                                </m:r>
                              </m:oMath>
                            </m:oMathPara>
                          </a14:m>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22500615"/>
                      </a:ext>
                    </a:extLst>
                  </a:tr>
                </a:tbl>
              </a:graphicData>
            </a:graphic>
          </p:graphicFrame>
        </mc:Choice>
        <mc:Fallback xmlns="">
          <p:graphicFrame>
            <p:nvGraphicFramePr>
              <p:cNvPr id="6" name="Table 5">
                <a:extLst>
                  <a:ext uri="{FF2B5EF4-FFF2-40B4-BE49-F238E27FC236}">
                    <a16:creationId xmlns:a16="http://schemas.microsoft.com/office/drawing/2014/main" xmlns:a14="http://schemas.microsoft.com/office/drawing/2010/main" xmlns="" id="{8F695740-079B-4B04-AD40-8D46119E6E17}"/>
                  </a:ext>
                </a:extLst>
              </p:cNvPr>
              <p:cNvGraphicFramePr>
                <a:graphicFrameLocks noGrp="1"/>
              </p:cNvGraphicFramePr>
              <p:nvPr>
                <p:extLst>
                  <p:ext uri="{D42A27DB-BD31-4B8C-83A1-F6EECF244321}">
                    <p14:modId xmlns:p14="http://schemas.microsoft.com/office/powerpoint/2010/main" val="599066907"/>
                  </p:ext>
                </p:extLst>
              </p:nvPr>
            </p:nvGraphicFramePr>
            <p:xfrm>
              <a:off x="3518620" y="448172"/>
              <a:ext cx="5305425" cy="3196082"/>
            </p:xfrm>
            <a:graphic>
              <a:graphicData uri="http://schemas.openxmlformats.org/drawingml/2006/table">
                <a:tbl>
                  <a:tblPr bandRow="1"/>
                  <a:tblGrid>
                    <a:gridCol w="3318351">
                      <a:extLst>
                        <a:ext uri="{9D8B030D-6E8A-4147-A177-3AD203B41FA5}">
                          <a16:colId xmlns:a16="http://schemas.microsoft.com/office/drawing/2014/main" xmlns:a14="http://schemas.microsoft.com/office/drawing/2010/main" xmlns="" val="2331848151"/>
                        </a:ext>
                      </a:extLst>
                    </a:gridCol>
                    <a:gridCol w="1987074">
                      <a:extLst>
                        <a:ext uri="{9D8B030D-6E8A-4147-A177-3AD203B41FA5}">
                          <a16:colId xmlns:a16="http://schemas.microsoft.com/office/drawing/2014/main" xmlns:a14="http://schemas.microsoft.com/office/drawing/2010/main" xmlns="" val="353496765"/>
                        </a:ext>
                      </a:extLst>
                    </a:gridCol>
                  </a:tblGrid>
                  <a:tr h="405130">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Item</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a:solidFill>
                                <a:srgbClr val="000000"/>
                              </a:solidFill>
                              <a:effectLst/>
                              <a:latin typeface="Verdana" panose="020B0604030504040204" pitchFamily="34" charset="0"/>
                              <a:ea typeface="Verdana" panose="020B0604030504040204" pitchFamily="34" charset="0"/>
                              <a:cs typeface="Verdana" panose="020B0604030504040204" pitchFamily="34" charset="0"/>
                            </a:rPr>
                            <a:t>Amount</a:t>
                          </a:r>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2150956797"/>
                      </a:ext>
                    </a:extLst>
                  </a:tr>
                  <a:tr h="427736">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Ticket price at the door</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167485" t="-105714" r="-613" b="-571429"/>
                          </a:stretch>
                        </a:blipFill>
                      </a:tcPr>
                    </a:tc>
                    <a:extLst>
                      <a:ext uri="{0D108BD9-81ED-4DB2-BD59-A6C34878D82A}">
                        <a16:rowId xmlns:a16="http://schemas.microsoft.com/office/drawing/2014/main" xmlns:a14="http://schemas.microsoft.com/office/drawing/2010/main" xmlns="" val="2197342671"/>
                      </a:ext>
                    </a:extLst>
                  </a:tr>
                  <a:tr h="427736">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Fee paid to each band</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167485" t="-205714" r="-613" b="-471429"/>
                          </a:stretch>
                        </a:blipFill>
                      </a:tcPr>
                    </a:tc>
                    <a:extLst>
                      <a:ext uri="{0D108BD9-81ED-4DB2-BD59-A6C34878D82A}">
                        <a16:rowId xmlns:a16="http://schemas.microsoft.com/office/drawing/2014/main" xmlns:a14="http://schemas.microsoft.com/office/drawing/2010/main" xmlns="" val="3153651443"/>
                      </a:ext>
                    </a:extLst>
                  </a:tr>
                  <a:tr h="427736">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Early-bird ticket price</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167485" t="-305714" r="-613" b="-371429"/>
                          </a:stretch>
                        </a:blipFill>
                      </a:tcPr>
                    </a:tc>
                    <a:extLst>
                      <a:ext uri="{0D108BD9-81ED-4DB2-BD59-A6C34878D82A}">
                        <a16:rowId xmlns:a16="http://schemas.microsoft.com/office/drawing/2014/main" xmlns:a14="http://schemas.microsoft.com/office/drawing/2010/main" xmlns="" val="1280799889"/>
                      </a:ext>
                    </a:extLst>
                  </a:tr>
                  <a:tr h="427736">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Equipment rental</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167485" t="-400000" r="-613" b="-266197"/>
                          </a:stretch>
                        </a:blipFill>
                      </a:tcPr>
                    </a:tc>
                    <a:extLst>
                      <a:ext uri="{0D108BD9-81ED-4DB2-BD59-A6C34878D82A}">
                        <a16:rowId xmlns:a16="http://schemas.microsoft.com/office/drawing/2014/main" xmlns:a14="http://schemas.microsoft.com/office/drawing/2010/main" xmlns="" val="2839725549"/>
                      </a:ext>
                    </a:extLst>
                  </a:tr>
                  <a:tr h="652272">
                    <a:tc>
                      <a:txBody>
                        <a:bodyPr/>
                        <a:lstStyle/>
                        <a:p>
                          <a:pPr marL="0" marR="0" algn="ctr">
                            <a:lnSpc>
                              <a:spcPct val="107000"/>
                            </a:lnSpc>
                            <a:spcBef>
                              <a:spcPts val="0"/>
                            </a:spcBef>
                            <a:spcAft>
                              <a:spcPts val="0"/>
                            </a:spcAft>
                          </a:pPr>
                          <a:r>
                            <a:rPr lang="en-US" sz="2000" i="0">
                              <a:solidFill>
                                <a:srgbClr val="000000"/>
                              </a:solidFill>
                              <a:effectLst/>
                              <a:latin typeface="Verdana" panose="020B0604030504040204" pitchFamily="34" charset="0"/>
                              <a:ea typeface="Verdana" panose="020B0604030504040204" pitchFamily="34" charset="0"/>
                              <a:cs typeface="Verdana" panose="020B0604030504040204" pitchFamily="34" charset="0"/>
                            </a:rPr>
                            <a:t>Publicity (flyers/artwork)</a:t>
                          </a:r>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167485" t="-331776" r="-613" b="-76636"/>
                          </a:stretch>
                        </a:blipFill>
                      </a:tcPr>
                    </a:tc>
                    <a:extLst>
                      <a:ext uri="{0D108BD9-81ED-4DB2-BD59-A6C34878D82A}">
                        <a16:rowId xmlns:a16="http://schemas.microsoft.com/office/drawing/2014/main" xmlns:a14="http://schemas.microsoft.com/office/drawing/2010/main" xmlns="" val="2513331914"/>
                      </a:ext>
                    </a:extLst>
                  </a:tr>
                  <a:tr h="427736">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Stage rental</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167485" t="-660000" r="-613" b="-17143"/>
                          </a:stretch>
                        </a:blipFill>
                      </a:tcPr>
                    </a:tc>
                    <a:extLst>
                      <a:ext uri="{0D108BD9-81ED-4DB2-BD59-A6C34878D82A}">
                        <a16:rowId xmlns:a16="http://schemas.microsoft.com/office/drawing/2014/main" xmlns:a14="http://schemas.microsoft.com/office/drawing/2010/main" xmlns="" val="3422500615"/>
                      </a:ext>
                    </a:extLst>
                  </a:tr>
                </a:tbl>
              </a:graphicData>
            </a:graphic>
          </p:graphicFrame>
        </mc:Fallback>
      </mc:AlternateContent>
      <p:sp>
        <p:nvSpPr>
          <p:cNvPr id="8" name="Google Shape;282;g104476d1465_1_17"/>
          <p:cNvSpPr txBox="1"/>
          <p:nvPr/>
        </p:nvSpPr>
        <p:spPr>
          <a:xfrm>
            <a:off x="86371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64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53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233964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CE9D117-FAE6-F74F-940B-9CD1479755BE}"/>
                  </a:ext>
                </a:extLst>
              </p:cNvPr>
              <p:cNvSpPr txBox="1"/>
              <p:nvPr/>
            </p:nvSpPr>
            <p:spPr>
              <a:xfrm>
                <a:off x="717452" y="3424825"/>
                <a:ext cx="10907762" cy="882678"/>
              </a:xfrm>
              <a:prstGeom prst="rect">
                <a:avLst/>
              </a:prstGeom>
              <a:noFill/>
            </p:spPr>
            <p:txBody>
              <a:bodyPr wrap="square" rtlCol="0">
                <a:spAutoFit/>
              </a:bodyPr>
              <a:lstStyle/>
              <a:p>
                <a:pPr marL="457200" indent="-457200">
                  <a:lnSpc>
                    <a:spcPct val="107000"/>
                  </a:lnSpc>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If Mishka had a gross income of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$1,166.50</m:t>
                    </m:r>
                  </m:oMath>
                </a14:m>
                <a:r>
                  <a:rPr lang="en-US" sz="2400" dirty="0">
                    <a:latin typeface="Verdana" panose="020B0604030504040204" pitchFamily="34" charset="0"/>
                    <a:ea typeface="Verdana" panose="020B0604030504040204" pitchFamily="34" charset="0"/>
                    <a:cs typeface="Verdana" panose="020B0604030504040204" pitchFamily="34" charset="0"/>
                  </a:rPr>
                  <a:t> and expenses totaling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$827.07</m:t>
                    </m:r>
                  </m:oMath>
                </a14:m>
                <a:r>
                  <a:rPr lang="en-US" sz="2400" dirty="0">
                    <a:latin typeface="Cambria Math" panose="02040503050406030204" pitchFamily="18" charset="0"/>
                    <a:ea typeface="Cambria Math" panose="02040503050406030204" pitchFamily="18" charset="0"/>
                    <a:cs typeface="Cambria Math" panose="02040503050406030204" pitchFamily="18" charset="0"/>
                  </a:rPr>
                  <a:t>,</a:t>
                </a:r>
                <a:r>
                  <a:rPr lang="en-US" sz="2400" dirty="0">
                    <a:latin typeface="Verdana" panose="020B0604030504040204" pitchFamily="34" charset="0"/>
                    <a:ea typeface="Verdana" panose="020B0604030504040204" pitchFamily="34" charset="0"/>
                    <a:cs typeface="Verdana" panose="020B0604030504040204" pitchFamily="34" charset="0"/>
                  </a:rPr>
                  <a:t> what is her net income for the music festival?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5" name="TextBox 4">
                <a:extLst>
                  <a:ext uri="{FF2B5EF4-FFF2-40B4-BE49-F238E27FC236}">
                    <a16:creationId xmlns:a16="http://schemas.microsoft.com/office/drawing/2014/main" xmlns:a14="http://schemas.microsoft.com/office/drawing/2010/main" xmlns="" id="{4CE9D117-FAE6-F74F-940B-9CD1479755BE}"/>
                  </a:ext>
                </a:extLst>
              </p:cNvPr>
              <p:cNvSpPr txBox="1">
                <a:spLocks noRot="1" noChangeAspect="1" noMove="1" noResize="1" noEditPoints="1" noAdjustHandles="1" noChangeArrowheads="1" noChangeShapeType="1" noTextEdit="1"/>
              </p:cNvSpPr>
              <p:nvPr/>
            </p:nvSpPr>
            <p:spPr>
              <a:xfrm>
                <a:off x="717452" y="3424825"/>
                <a:ext cx="10907762" cy="882678"/>
              </a:xfrm>
              <a:prstGeom prst="rect">
                <a:avLst/>
              </a:prstGeom>
              <a:blipFill rotWithShape="0">
                <a:blip r:embed="rId3"/>
                <a:stretch>
                  <a:fillRect l="-894" t="-6897" b="-11034"/>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BEF6C55E-B3A1-F64B-8B75-315832270770}"/>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8F695740-079B-4B04-AD40-8D46119E6E17}"/>
                  </a:ext>
                </a:extLst>
              </p:cNvPr>
              <p:cNvGraphicFramePr>
                <a:graphicFrameLocks noGrp="1"/>
              </p:cNvGraphicFramePr>
              <p:nvPr/>
            </p:nvGraphicFramePr>
            <p:xfrm>
              <a:off x="3443288" y="82412"/>
              <a:ext cx="5305425" cy="3171381"/>
            </p:xfrm>
            <a:graphic>
              <a:graphicData uri="http://schemas.openxmlformats.org/drawingml/2006/table">
                <a:tbl>
                  <a:tblPr bandRow="1"/>
                  <a:tblGrid>
                    <a:gridCol w="3318351">
                      <a:extLst>
                        <a:ext uri="{9D8B030D-6E8A-4147-A177-3AD203B41FA5}">
                          <a16:colId xmlns:a16="http://schemas.microsoft.com/office/drawing/2014/main" val="2331848151"/>
                        </a:ext>
                      </a:extLst>
                    </a:gridCol>
                    <a:gridCol w="1987074">
                      <a:extLst>
                        <a:ext uri="{9D8B030D-6E8A-4147-A177-3AD203B41FA5}">
                          <a16:colId xmlns:a16="http://schemas.microsoft.com/office/drawing/2014/main" val="353496765"/>
                        </a:ext>
                      </a:extLst>
                    </a:gridCol>
                  </a:tblGrid>
                  <a:tr h="405130">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Item</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a:solidFill>
                                <a:srgbClr val="000000"/>
                              </a:solidFill>
                              <a:effectLst/>
                              <a:latin typeface="Verdana" panose="020B0604030504040204" pitchFamily="34" charset="0"/>
                              <a:ea typeface="Verdana" panose="020B0604030504040204" pitchFamily="34" charset="0"/>
                              <a:cs typeface="Verdana" panose="020B0604030504040204" pitchFamily="34" charset="0"/>
                            </a:rPr>
                            <a:t>Amount</a:t>
                          </a:r>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150956797"/>
                      </a:ext>
                    </a:extLst>
                  </a:tr>
                  <a:tr h="346710">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Ticket price at the door</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$9.00</m:t>
                                </m:r>
                              </m:oMath>
                            </m:oMathPara>
                          </a14:m>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97342671"/>
                      </a:ext>
                    </a:extLst>
                  </a:tr>
                  <a:tr h="346710">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Fee paid to each band</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$175.00</m:t>
                                </m:r>
                              </m:oMath>
                            </m:oMathPara>
                          </a14:m>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3651443"/>
                      </a:ext>
                    </a:extLst>
                  </a:tr>
                  <a:tr h="346710">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Early-bird ticket price</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$6.50</m:t>
                                </m:r>
                              </m:oMath>
                            </m:oMathPara>
                          </a14:m>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0799889"/>
                      </a:ext>
                    </a:extLst>
                  </a:tr>
                  <a:tr h="346710">
                    <a:tc>
                      <a:txBody>
                        <a:bodyPr/>
                        <a:lstStyle/>
                        <a:p>
                          <a:pPr marL="0" marR="0" algn="ctr">
                            <a:lnSpc>
                              <a:spcPct val="107000"/>
                            </a:lnSpc>
                            <a:spcBef>
                              <a:spcPts val="0"/>
                            </a:spcBef>
                            <a:spcAft>
                              <a:spcPts val="0"/>
                            </a:spcAft>
                          </a:pPr>
                          <a:r>
                            <a:rPr lang="en-US" sz="2000" i="0">
                              <a:solidFill>
                                <a:srgbClr val="000000"/>
                              </a:solidFill>
                              <a:effectLst/>
                              <a:latin typeface="Verdana" panose="020B0604030504040204" pitchFamily="34" charset="0"/>
                              <a:ea typeface="Verdana" panose="020B0604030504040204" pitchFamily="34" charset="0"/>
                              <a:cs typeface="Verdana" panose="020B0604030504040204" pitchFamily="34" charset="0"/>
                            </a:rPr>
                            <a:t>Equipment rental</a:t>
                          </a:r>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$225.00</m:t>
                                </m:r>
                              </m:oMath>
                            </m:oMathPara>
                          </a14:m>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39725549"/>
                      </a:ext>
                    </a:extLst>
                  </a:tr>
                  <a:tr h="346710">
                    <a:tc>
                      <a:txBody>
                        <a:bodyPr/>
                        <a:lstStyle/>
                        <a:p>
                          <a:pPr marL="0" marR="0" algn="ctr">
                            <a:lnSpc>
                              <a:spcPct val="107000"/>
                            </a:lnSpc>
                            <a:spcBef>
                              <a:spcPts val="0"/>
                            </a:spcBef>
                            <a:spcAft>
                              <a:spcPts val="0"/>
                            </a:spcAft>
                          </a:pPr>
                          <a:r>
                            <a:rPr lang="en-US" sz="2000" i="0">
                              <a:solidFill>
                                <a:srgbClr val="000000"/>
                              </a:solidFill>
                              <a:effectLst/>
                              <a:latin typeface="Verdana" panose="020B0604030504040204" pitchFamily="34" charset="0"/>
                              <a:ea typeface="Verdana" panose="020B0604030504040204" pitchFamily="34" charset="0"/>
                              <a:cs typeface="Verdana" panose="020B0604030504040204" pitchFamily="34" charset="0"/>
                            </a:rPr>
                            <a:t>Publicity (flyers/artwork)</a:t>
                          </a:r>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$64.57</m:t>
                                </m:r>
                              </m:oMath>
                            </m:oMathPara>
                          </a14:m>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3331914"/>
                      </a:ext>
                    </a:extLst>
                  </a:tr>
                  <a:tr h="346710">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Stage rental</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ambria Math" panose="02040503050406030204" pitchFamily="18" charset="0"/>
                                    <a:cs typeface="Cambria Math" panose="02040503050406030204" pitchFamily="18" charset="0"/>
                                  </a:rPr>
                                  <m:t>$187.50</m:t>
                                </m:r>
                              </m:oMath>
                            </m:oMathPara>
                          </a14:m>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22500615"/>
                      </a:ext>
                    </a:extLst>
                  </a:tr>
                </a:tbl>
              </a:graphicData>
            </a:graphic>
          </p:graphicFrame>
        </mc:Choice>
        <mc:Fallback xmlns="">
          <p:graphicFrame>
            <p:nvGraphicFramePr>
              <p:cNvPr id="6" name="Table 5">
                <a:extLst>
                  <a:ext uri="{FF2B5EF4-FFF2-40B4-BE49-F238E27FC236}">
                    <a16:creationId xmlns:a16="http://schemas.microsoft.com/office/drawing/2014/main" id="{8F695740-079B-4B04-AD40-8D46119E6E17}"/>
                  </a:ext>
                </a:extLst>
              </p:cNvPr>
              <p:cNvGraphicFramePr>
                <a:graphicFrameLocks noGrp="1"/>
              </p:cNvGraphicFramePr>
              <p:nvPr/>
            </p:nvGraphicFramePr>
            <p:xfrm>
              <a:off x="1919287" y="82412"/>
              <a:ext cx="5305425" cy="3171381"/>
            </p:xfrm>
            <a:graphic>
              <a:graphicData uri="http://schemas.openxmlformats.org/drawingml/2006/table">
                <a:tbl>
                  <a:tblPr bandRow="1"/>
                  <a:tblGrid>
                    <a:gridCol w="3318351">
                      <a:extLst>
                        <a:ext uri="{9D8B030D-6E8A-4147-A177-3AD203B41FA5}">
                          <a16:colId xmlns:a16="http://schemas.microsoft.com/office/drawing/2014/main" val="2331848151"/>
                        </a:ext>
                      </a:extLst>
                    </a:gridCol>
                    <a:gridCol w="1987074">
                      <a:extLst>
                        <a:ext uri="{9D8B030D-6E8A-4147-A177-3AD203B41FA5}">
                          <a16:colId xmlns:a16="http://schemas.microsoft.com/office/drawing/2014/main" val="353496765"/>
                        </a:ext>
                      </a:extLst>
                    </a:gridCol>
                  </a:tblGrid>
                  <a:tr h="405130">
                    <a:tc>
                      <a:txBody>
                        <a:bodyPr/>
                        <a:lstStyle/>
                        <a:p>
                          <a:pPr marL="0" marR="0" algn="ctr">
                            <a:lnSpc>
                              <a:spcPct val="107000"/>
                            </a:lnSpc>
                            <a:spcBef>
                              <a:spcPts val="0"/>
                            </a:spcBef>
                            <a:spcAft>
                              <a:spcPts val="0"/>
                            </a:spcAft>
                          </a:pPr>
                          <a:r>
                            <a:rPr lang="en-US" sz="20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Item</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a:solidFill>
                                <a:srgbClr val="000000"/>
                              </a:solidFill>
                              <a:effectLst/>
                              <a:latin typeface="Verdana" panose="020B0604030504040204" pitchFamily="34" charset="0"/>
                              <a:ea typeface="Verdana" panose="020B0604030504040204" pitchFamily="34" charset="0"/>
                              <a:cs typeface="Verdana" panose="020B0604030504040204" pitchFamily="34" charset="0"/>
                            </a:rPr>
                            <a:t>Amount</a:t>
                          </a:r>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150956797"/>
                      </a:ext>
                    </a:extLst>
                  </a:tr>
                  <a:tr h="427736">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Ticket price at the door</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6972" t="-102857" r="-612" b="-568571"/>
                          </a:stretch>
                        </a:blipFill>
                      </a:tcPr>
                    </a:tc>
                    <a:extLst>
                      <a:ext uri="{0D108BD9-81ED-4DB2-BD59-A6C34878D82A}">
                        <a16:rowId xmlns:a16="http://schemas.microsoft.com/office/drawing/2014/main" val="2197342671"/>
                      </a:ext>
                    </a:extLst>
                  </a:tr>
                  <a:tr h="427736">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Fee paid to each band</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6972" t="-202857" r="-612" b="-468571"/>
                          </a:stretch>
                        </a:blipFill>
                      </a:tcPr>
                    </a:tc>
                    <a:extLst>
                      <a:ext uri="{0D108BD9-81ED-4DB2-BD59-A6C34878D82A}">
                        <a16:rowId xmlns:a16="http://schemas.microsoft.com/office/drawing/2014/main" val="3153651443"/>
                      </a:ext>
                    </a:extLst>
                  </a:tr>
                  <a:tr h="427736">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Early-bird ticket price</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6972" t="-302857" r="-612" b="-368571"/>
                          </a:stretch>
                        </a:blipFill>
                      </a:tcPr>
                    </a:tc>
                    <a:extLst>
                      <a:ext uri="{0D108BD9-81ED-4DB2-BD59-A6C34878D82A}">
                        <a16:rowId xmlns:a16="http://schemas.microsoft.com/office/drawing/2014/main" val="1280799889"/>
                      </a:ext>
                    </a:extLst>
                  </a:tr>
                  <a:tr h="427736">
                    <a:tc>
                      <a:txBody>
                        <a:bodyPr/>
                        <a:lstStyle/>
                        <a:p>
                          <a:pPr marL="0" marR="0" algn="ctr">
                            <a:lnSpc>
                              <a:spcPct val="107000"/>
                            </a:lnSpc>
                            <a:spcBef>
                              <a:spcPts val="0"/>
                            </a:spcBef>
                            <a:spcAft>
                              <a:spcPts val="0"/>
                            </a:spcAft>
                          </a:pPr>
                          <a:r>
                            <a:rPr lang="en-US" sz="2000" i="0">
                              <a:solidFill>
                                <a:srgbClr val="000000"/>
                              </a:solidFill>
                              <a:effectLst/>
                              <a:latin typeface="Verdana" panose="020B0604030504040204" pitchFamily="34" charset="0"/>
                              <a:ea typeface="Verdana" panose="020B0604030504040204" pitchFamily="34" charset="0"/>
                              <a:cs typeface="Verdana" panose="020B0604030504040204" pitchFamily="34" charset="0"/>
                            </a:rPr>
                            <a:t>Equipment rental</a:t>
                          </a:r>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6972" t="-397183" r="-612" b="-263380"/>
                          </a:stretch>
                        </a:blipFill>
                      </a:tcPr>
                    </a:tc>
                    <a:extLst>
                      <a:ext uri="{0D108BD9-81ED-4DB2-BD59-A6C34878D82A}">
                        <a16:rowId xmlns:a16="http://schemas.microsoft.com/office/drawing/2014/main" val="2839725549"/>
                      </a:ext>
                    </a:extLst>
                  </a:tr>
                  <a:tr h="627571">
                    <a:tc>
                      <a:txBody>
                        <a:bodyPr/>
                        <a:lstStyle/>
                        <a:p>
                          <a:pPr marL="0" marR="0" algn="ctr">
                            <a:lnSpc>
                              <a:spcPct val="107000"/>
                            </a:lnSpc>
                            <a:spcBef>
                              <a:spcPts val="0"/>
                            </a:spcBef>
                            <a:spcAft>
                              <a:spcPts val="0"/>
                            </a:spcAft>
                          </a:pPr>
                          <a:r>
                            <a:rPr lang="en-US" sz="2000" i="0">
                              <a:solidFill>
                                <a:srgbClr val="000000"/>
                              </a:solidFill>
                              <a:effectLst/>
                              <a:latin typeface="Verdana" panose="020B0604030504040204" pitchFamily="34" charset="0"/>
                              <a:ea typeface="Verdana" panose="020B0604030504040204" pitchFamily="34" charset="0"/>
                              <a:cs typeface="Verdana" panose="020B0604030504040204" pitchFamily="34" charset="0"/>
                            </a:rPr>
                            <a:t>Publicity (flyers/artwork)</a:t>
                          </a:r>
                          <a:endParaRPr lang="en-US" sz="18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6972" t="-342718" r="-612" b="-81553"/>
                          </a:stretch>
                        </a:blipFill>
                      </a:tcPr>
                    </a:tc>
                    <a:extLst>
                      <a:ext uri="{0D108BD9-81ED-4DB2-BD59-A6C34878D82A}">
                        <a16:rowId xmlns:a16="http://schemas.microsoft.com/office/drawing/2014/main" val="2513331914"/>
                      </a:ext>
                    </a:extLst>
                  </a:tr>
                  <a:tr h="427736">
                    <a:tc>
                      <a:txBody>
                        <a:bodyPr/>
                        <a:lstStyle/>
                        <a:p>
                          <a:pPr marL="0" marR="0" algn="ctr">
                            <a:lnSpc>
                              <a:spcPct val="107000"/>
                            </a:lnSpc>
                            <a:spcBef>
                              <a:spcPts val="0"/>
                            </a:spcBef>
                            <a:spcAft>
                              <a:spcPts val="0"/>
                            </a:spcAft>
                          </a:pPr>
                          <a:r>
                            <a:rPr lang="en-US" sz="20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Stage rental</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6972" t="-651429" r="-612" b="-20000"/>
                          </a:stretch>
                        </a:blipFill>
                      </a:tcPr>
                    </a:tc>
                    <a:extLst>
                      <a:ext uri="{0D108BD9-81ED-4DB2-BD59-A6C34878D82A}">
                        <a16:rowId xmlns:a16="http://schemas.microsoft.com/office/drawing/2014/main" val="3422500615"/>
                      </a:ext>
                    </a:extLst>
                  </a:tr>
                </a:tbl>
              </a:graphicData>
            </a:graphic>
          </p:graphicFrame>
        </mc:Fallback>
      </mc:AlternateContent>
      <p:sp>
        <p:nvSpPr>
          <p:cNvPr id="8" name="Google Shape;282;g104476d1465_1_17"/>
          <p:cNvSpPr txBox="1"/>
          <p:nvPr/>
        </p:nvSpPr>
        <p:spPr>
          <a:xfrm>
            <a:off x="86371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64</a:t>
            </a:r>
            <a:endParaRPr i="1" dirty="0">
              <a:latin typeface="Calibri"/>
              <a:ea typeface="Calibri"/>
              <a:cs typeface="Calibri"/>
              <a:sym typeface="Calibri"/>
            </a:endParaRPr>
          </a:p>
        </p:txBody>
      </p:sp>
      <p:pic>
        <p:nvPicPr>
          <p:cNvPr id="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3753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6103612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1319</TotalTime>
  <Words>1158</Words>
  <Application>Microsoft Office PowerPoint</Application>
  <PresentationFormat>Widescreen</PresentationFormat>
  <Paragraphs>250</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Arial Black</vt:lpstr>
      <vt:lpstr>Calibri</vt:lpstr>
      <vt:lpstr>Cambria Math</vt:lpstr>
      <vt:lpstr>Century Gothic</vt:lpstr>
      <vt:lpstr>Verdana</vt:lpstr>
      <vt:lpstr>Wingdings</vt:lpstr>
      <vt:lpstr>1_Office Theme</vt:lpstr>
      <vt:lpstr>6th Grade Accelerated Math  Unit 2, Lesson 5  Using Operations to Solve Real-World Problems – Part 2  Volume 1, pg. 60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Wrap-Up</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23</cp:revision>
  <dcterms:created xsi:type="dcterms:W3CDTF">2015-03-17T18:51:18Z</dcterms:created>
  <dcterms:modified xsi:type="dcterms:W3CDTF">2022-06-29T04:54:18Z</dcterms:modified>
</cp:coreProperties>
</file>