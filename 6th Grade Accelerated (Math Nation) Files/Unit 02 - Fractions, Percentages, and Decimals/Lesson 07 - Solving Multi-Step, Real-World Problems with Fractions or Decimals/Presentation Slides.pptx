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19" r:id="rId12"/>
    <p:sldId id="317" r:id="rId13"/>
    <p:sldId id="314" r:id="rId14"/>
    <p:sldId id="315" r:id="rId15"/>
    <p:sldId id="316" r:id="rId16"/>
    <p:sldId id="320" r:id="rId17"/>
    <p:sldId id="302" r:id="rId18"/>
    <p:sldId id="303" r:id="rId19"/>
    <p:sldId id="309" r:id="rId20"/>
    <p:sldId id="306" r:id="rId21"/>
    <p:sldId id="307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F79647"/>
    <a:srgbClr val="FCBD1E"/>
    <a:srgbClr val="C9DF6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60"/>
    <p:restoredTop sz="94767"/>
  </p:normalViewPr>
  <p:slideViewPr>
    <p:cSldViewPr snapToGrid="0">
      <p:cViewPr varScale="1">
        <p:scale>
          <a:sx n="84" d="100"/>
          <a:sy n="84" d="100"/>
        </p:scale>
        <p:origin x="216" y="7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073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9001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2745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30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7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Solving Multi‑Step, Real-World </a:t>
            </a:r>
            <a:r>
              <a:rPr lang="en-US" sz="2800" b="1">
                <a:solidFill>
                  <a:srgbClr val="417DBF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Problems </a:t>
            </a:r>
            <a:r>
              <a:rPr lang="en-US" sz="2800" b="1">
                <a:solidFill>
                  <a:srgbClr val="417DBF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800" b="1" smtClean="0">
                <a:solidFill>
                  <a:srgbClr val="417DBF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ith </a:t>
            </a:r>
            <a:r>
              <a:rPr lang="en-US" sz="2800" b="1" dirty="0">
                <a:solidFill>
                  <a:srgbClr val="417DBF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Fractions or Decimals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68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600650" y="15176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150" y="38754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24450" y="1600200"/>
            <a:ext cx="86863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6.NSO.2.3 </a:t>
            </a:r>
            <a:r>
              <a:rPr lang="en-US" sz="36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Solve multi-step, real-world problems involving any of the four operations with positive multi-digit decimals or positive fractions, including mixed numbers.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150" y="38754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601800" y="14490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601800" y="1596390"/>
            <a:ext cx="8609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xmlns="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6560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447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65609" y="1600200"/>
            <a:ext cx="874519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can solve real-world problems with three steps using decimals or fractions.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4411E69F-FF2D-4E45-A95C-56414991DB1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29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71525" y="39195"/>
            <a:ext cx="88590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2.7.1 Warm-Up: Short Division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25" y="26779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371525" y="1386025"/>
                <a:ext cx="9016059" cy="4923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 Mexico, when dividing by a single-digit divisor, sometimes a method called “short division” is used. Consider the example shown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74÷4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7000"/>
                  </a:lnSpc>
                </a:pPr>
                <a:endParaRPr lang="en-US" sz="24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4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4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4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4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4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4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Using your knowledge of division, explain where you think the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ED7D3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𝟖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ED7D3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came from in the process. 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525" y="1386025"/>
                <a:ext cx="9016059" cy="4923014"/>
              </a:xfrm>
              <a:prstGeom prst="rect">
                <a:avLst/>
              </a:prstGeom>
              <a:blipFill rotWithShape="0">
                <a:blip r:embed="rId4"/>
                <a:stretch>
                  <a:fillRect l="-1082" t="-1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733F64CC-F62E-3D45-B066-56DBFBB732F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xmlns="" id="{935BDB92-D7C3-4B9F-B2F5-BF0598868B9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3453" y="2631774"/>
            <a:ext cx="2792095" cy="256921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219200" y="2569210"/>
            <a:ext cx="9904266" cy="882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how you might represent the same division problem using a method different from “short division.”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9B2481D9-8B52-C443-ABEF-765D2549936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xmlns="" id="{6429F970-DFDE-4211-8612-81F35F69EB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9953" y="0"/>
            <a:ext cx="2792095" cy="256921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00650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2.7.2 Guided Instruction: </a:t>
            </a:r>
            <a:r>
              <a:rPr lang="en-US" sz="3600" b="1" dirty="0">
                <a:solidFill>
                  <a:srgbClr val="26B6D4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Three-Step Rational Problems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630" y="20726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254930" y="1386025"/>
                <a:ext cx="9132654" cy="1673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his recital, a student practiced the piano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2.18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hours each day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 last week. This week, he practiced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hours each day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days. How many hours did he spend practicing?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930" y="1386025"/>
                <a:ext cx="9132654" cy="1673022"/>
              </a:xfrm>
              <a:prstGeom prst="rect">
                <a:avLst/>
              </a:prstGeom>
              <a:blipFill rotWithShape="0">
                <a:blip r:embed="rId4"/>
                <a:stretch>
                  <a:fillRect l="-1068" t="-3636" r="-1268" b="-5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2260A17C-F127-D647-A05B-7BB35115884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143000" y="288746"/>
                <a:ext cx="9906000" cy="45711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Across Florida 200 Trail Run is an event where participants run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of trails between the Withlacoochee Bay Trail and Crescent Beach. To prepare for the Across Florida 200 Trail Run, Walt ran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hours each day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 last week. This week, he ran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hours each day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days. Walt runs at an average pace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6.23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per hour. 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52438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many hours has Walt run over the last two weeks?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52438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52438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52438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52438">
                  <a:lnSpc>
                    <a:spcPct val="107000"/>
                  </a:lnSpc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52438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52438">
                  <a:lnSpc>
                    <a:spcPct val="107000"/>
                  </a:lnSpc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many miles has Walt run over the last two weeks? 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88746"/>
                <a:ext cx="9906000" cy="4571123"/>
              </a:xfrm>
              <a:prstGeom prst="rect">
                <a:avLst/>
              </a:prstGeom>
              <a:blipFill rotWithShape="0">
                <a:blip r:embed="rId3"/>
                <a:stretch>
                  <a:fillRect l="-677" t="-933" r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90600" y="288746"/>
                <a:ext cx="10210800" cy="3253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Across Florida 200 Trail Run is an event where participants run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of trails between the Withlacoochee Bay Trail and Crescent Beach. To prepare for the Across Florida 200 Trail Run, Walt ran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hours each day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 last week. This week, he ran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hours each day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days. Walt runs at an average pace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6.23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per hour. 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82663" indent="-514350">
                  <a:lnSpc>
                    <a:spcPct val="107000"/>
                  </a:lnSpc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Based on Walt’s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average pace, how much longer would it take him to run the Across Florida 200 Trail Run than the amount of time he has spent practicing the last two weeks?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88746"/>
                <a:ext cx="10210800" cy="3253839"/>
              </a:xfrm>
              <a:prstGeom prst="rect">
                <a:avLst/>
              </a:prstGeom>
              <a:blipFill rotWithShape="0">
                <a:blip r:embed="rId3"/>
                <a:stretch>
                  <a:fillRect l="-657" t="-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3464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07720" y="89489"/>
                <a:ext cx="10576560" cy="582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Across Florida 200 Trail Run offers a team competition where a team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runners take turns to run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team of runners and their average pace is shown.</a:t>
                </a: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prepare for the race the team ran part of the trail. </a:t>
                </a: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long did it take the team to run the practice run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miles?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" y="89489"/>
                <a:ext cx="10576560" cy="5823133"/>
              </a:xfrm>
              <a:prstGeom prst="rect">
                <a:avLst/>
              </a:prstGeom>
              <a:blipFill rotWithShape="0">
                <a:blip r:embed="rId3"/>
                <a:stretch>
                  <a:fillRect l="-634" t="-838" b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F2BCEF52-7116-4ECD-A9F4-C5C7E87ACE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2487970"/>
                  </p:ext>
                </p:extLst>
              </p:nvPr>
            </p:nvGraphicFramePr>
            <p:xfrm>
              <a:off x="2469731" y="1206785"/>
              <a:ext cx="7252538" cy="88049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34897">
                      <a:extLst>
                        <a:ext uri="{9D8B030D-6E8A-4147-A177-3AD203B41FA5}">
                          <a16:colId xmlns:a16="http://schemas.microsoft.com/office/drawing/2014/main" xmlns="" val="2306864153"/>
                        </a:ext>
                      </a:extLst>
                    </a:gridCol>
                    <a:gridCol w="1242170">
                      <a:extLst>
                        <a:ext uri="{9D8B030D-6E8A-4147-A177-3AD203B41FA5}">
                          <a16:colId xmlns:a16="http://schemas.microsoft.com/office/drawing/2014/main" xmlns="" val="948045633"/>
                        </a:ext>
                      </a:extLst>
                    </a:gridCol>
                    <a:gridCol w="1242847">
                      <a:extLst>
                        <a:ext uri="{9D8B030D-6E8A-4147-A177-3AD203B41FA5}">
                          <a16:colId xmlns:a16="http://schemas.microsoft.com/office/drawing/2014/main" xmlns="" val="4245570429"/>
                        </a:ext>
                      </a:extLst>
                    </a:gridCol>
                    <a:gridCol w="1242847">
                      <a:extLst>
                        <a:ext uri="{9D8B030D-6E8A-4147-A177-3AD203B41FA5}">
                          <a16:colId xmlns:a16="http://schemas.microsoft.com/office/drawing/2014/main" xmlns="" val="596812130"/>
                        </a:ext>
                      </a:extLst>
                    </a:gridCol>
                    <a:gridCol w="1089777">
                      <a:extLst>
                        <a:ext uri="{9D8B030D-6E8A-4147-A177-3AD203B41FA5}">
                          <a16:colId xmlns:a16="http://schemas.microsoft.com/office/drawing/2014/main" xmlns="" val="81302195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Name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Molly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Reginald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Tyler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Liz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919739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Average Pace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(miles per hour)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6.75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6.75</m:t>
                                </m:r>
                              </m:oMath>
                            </m:oMathPara>
                          </a14:m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8.2</m:t>
                                </m:r>
                              </m:oMath>
                            </m:oMathPara>
                          </a14:m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9.58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102198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2BCEF52-7116-4ECD-A9F4-C5C7E87ACE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2487970"/>
                  </p:ext>
                </p:extLst>
              </p:nvPr>
            </p:nvGraphicFramePr>
            <p:xfrm>
              <a:off x="945731" y="1206784"/>
              <a:ext cx="7252538" cy="8489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34897">
                      <a:extLst>
                        <a:ext uri="{9D8B030D-6E8A-4147-A177-3AD203B41FA5}">
                          <a16:colId xmlns:a16="http://schemas.microsoft.com/office/drawing/2014/main" val="2306864153"/>
                        </a:ext>
                      </a:extLst>
                    </a:gridCol>
                    <a:gridCol w="1242170">
                      <a:extLst>
                        <a:ext uri="{9D8B030D-6E8A-4147-A177-3AD203B41FA5}">
                          <a16:colId xmlns:a16="http://schemas.microsoft.com/office/drawing/2014/main" val="948045633"/>
                        </a:ext>
                      </a:extLst>
                    </a:gridCol>
                    <a:gridCol w="1242847">
                      <a:extLst>
                        <a:ext uri="{9D8B030D-6E8A-4147-A177-3AD203B41FA5}">
                          <a16:colId xmlns:a16="http://schemas.microsoft.com/office/drawing/2014/main" val="4245570429"/>
                        </a:ext>
                      </a:extLst>
                    </a:gridCol>
                    <a:gridCol w="1242847">
                      <a:extLst>
                        <a:ext uri="{9D8B030D-6E8A-4147-A177-3AD203B41FA5}">
                          <a16:colId xmlns:a16="http://schemas.microsoft.com/office/drawing/2014/main" val="596812130"/>
                        </a:ext>
                      </a:extLst>
                    </a:gridCol>
                    <a:gridCol w="1089777">
                      <a:extLst>
                        <a:ext uri="{9D8B030D-6E8A-4147-A177-3AD203B41FA5}">
                          <a16:colId xmlns:a16="http://schemas.microsoft.com/office/drawing/2014/main" val="813021952"/>
                        </a:ext>
                      </a:extLst>
                    </a:gridCol>
                  </a:tblGrid>
                  <a:tr h="27774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Name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Molly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Reginald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Tyler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Liz</a:t>
                          </a:r>
                          <a:endParaRPr lang="en-US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1973900"/>
                      </a:ext>
                    </a:extLst>
                  </a:tr>
                  <a:tr h="5712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Average Pace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(miles per hour)</a:t>
                          </a:r>
                          <a:endParaRPr lang="en-US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537" t="-62105" r="-290148" b="-2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6078" t="-62105" r="-188725" b="-2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6078" t="-62105" r="-88725" b="-2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5363" t="-62105" r="-1117" b="-2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21980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EF3AF18E-601C-4DDF-AE8E-021AE6E959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4641472"/>
                  </p:ext>
                </p:extLst>
              </p:nvPr>
            </p:nvGraphicFramePr>
            <p:xfrm>
              <a:off x="2724785" y="2585615"/>
              <a:ext cx="6742430" cy="284086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9875">
                      <a:extLst>
                        <a:ext uri="{9D8B030D-6E8A-4147-A177-3AD203B41FA5}">
                          <a16:colId xmlns:a16="http://schemas.microsoft.com/office/drawing/2014/main" xmlns="" val="30397784"/>
                        </a:ext>
                      </a:extLst>
                    </a:gridCol>
                    <a:gridCol w="4286250">
                      <a:extLst>
                        <a:ext uri="{9D8B030D-6E8A-4147-A177-3AD203B41FA5}">
                          <a16:colId xmlns:a16="http://schemas.microsoft.com/office/drawing/2014/main" xmlns="" val="817526603"/>
                        </a:ext>
                      </a:extLst>
                    </a:gridCol>
                    <a:gridCol w="916305">
                      <a:extLst>
                        <a:ext uri="{9D8B030D-6E8A-4147-A177-3AD203B41FA5}">
                          <a16:colId xmlns:a16="http://schemas.microsoft.com/office/drawing/2014/main" xmlns="" val="273010955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Team Member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Miles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927024518"/>
                      </a:ext>
                    </a:extLst>
                  </a:tr>
                  <a:tr h="5556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Tyler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Withlacoochee Bay Trail to Lake Rousseau Dam &amp; Recreational Area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49652227"/>
                      </a:ext>
                    </a:extLst>
                  </a:tr>
                  <a:tr h="5556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Liz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Lake Rousseau to Florida Trail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26326932"/>
                      </a:ext>
                    </a:extLst>
                  </a:tr>
                  <a:tr h="5556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Molly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Florida Trail Part 1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90266270"/>
                      </a:ext>
                    </a:extLst>
                  </a:tr>
                  <a:tr h="5556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Reginald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Florida Trail Part 2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8915011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F3AF18E-601C-4DDF-AE8E-021AE6E959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4641472"/>
                  </p:ext>
                </p:extLst>
              </p:nvPr>
            </p:nvGraphicFramePr>
            <p:xfrm>
              <a:off x="1200785" y="2585614"/>
              <a:ext cx="6742430" cy="280936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9875">
                      <a:extLst>
                        <a:ext uri="{9D8B030D-6E8A-4147-A177-3AD203B41FA5}">
                          <a16:colId xmlns:a16="http://schemas.microsoft.com/office/drawing/2014/main" val="30397784"/>
                        </a:ext>
                      </a:extLst>
                    </a:gridCol>
                    <a:gridCol w="4286250">
                      <a:extLst>
                        <a:ext uri="{9D8B030D-6E8A-4147-A177-3AD203B41FA5}">
                          <a16:colId xmlns:a16="http://schemas.microsoft.com/office/drawing/2014/main" val="817526603"/>
                        </a:ext>
                      </a:extLst>
                    </a:gridCol>
                    <a:gridCol w="916305">
                      <a:extLst>
                        <a:ext uri="{9D8B030D-6E8A-4147-A177-3AD203B41FA5}">
                          <a16:colId xmlns:a16="http://schemas.microsoft.com/office/drawing/2014/main" val="2730109556"/>
                        </a:ext>
                      </a:extLst>
                    </a:gridCol>
                  </a:tblGrid>
                  <a:tr h="5712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Team Member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Miles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7024518"/>
                      </a:ext>
                    </a:extLst>
                  </a:tr>
                  <a:tr h="5712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Tyler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Withlacoochee Bay Trail to Lake Rousseau Dam &amp; Recreational Area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34437" t="-114894" r="-1325" b="-2936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9652227"/>
                      </a:ext>
                    </a:extLst>
                  </a:tr>
                  <a:tr h="5556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Liz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Lake Rousseau to Florida Trail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34437" t="-221978" r="-1325" b="-20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6326932"/>
                      </a:ext>
                    </a:extLst>
                  </a:tr>
                  <a:tr h="5556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Molly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Florida Trail Part 1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34437" t="-318478" r="-1325" b="-1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0266270"/>
                      </a:ext>
                    </a:extLst>
                  </a:tr>
                  <a:tr h="5556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Reginald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Florida Trail Part 2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34437" t="-423077" r="-1325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15011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8349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16191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2.7.3 Collaboration: </a:t>
            </a:r>
            <a:r>
              <a:rPr lang="en-US" sz="3600" b="1" dirty="0">
                <a:solidFill>
                  <a:srgbClr val="49BEAB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Distance Between Two Hurdles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6383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416191" y="1386025"/>
                <a:ext cx="5308159" cy="4627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equally spaced hurdles on a racetrack. The first hurdle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13.72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meters from the start line. The final hurdle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14.02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meters from the finish line. The racetrack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meters long.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 diagram below represents what the track would look like if the track were straight and not curved.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191" y="1386025"/>
                <a:ext cx="5308159" cy="4627677"/>
              </a:xfrm>
              <a:prstGeom prst="rect">
                <a:avLst/>
              </a:prstGeom>
              <a:blipFill rotWithShape="0">
                <a:blip r:embed="rId4"/>
                <a:stretch>
                  <a:fillRect l="-1722" t="-1186" r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xmlns="" id="{6A18DD6C-446D-A641-972C-BC7EF386945F}"/>
              </a:ext>
            </a:extLst>
          </p:cNvPr>
          <p:cNvSpPr/>
          <p:nvPr/>
        </p:nvSpPr>
        <p:spPr>
          <a:xfrm>
            <a:off x="-566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10" descr="A group of people running on a track&#10;&#10;Description automatically generated with medium confidence">
            <a:extLst>
              <a:ext uri="{FF2B5EF4-FFF2-40B4-BE49-F238E27FC236}">
                <a16:creationId xmlns:a16="http://schemas.microsoft.com/office/drawing/2014/main" xmlns="" id="{D6207D3C-3C45-4861-A355-2012CCF533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3027" y="1877060"/>
            <a:ext cx="3817446" cy="3095530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1234440" y="410666"/>
                <a:ext cx="9873786" cy="5690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Use the diagram below to show the placement of the hurdles on the racetrack. Label all known measurements.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how many spaces there are between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hurdles.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far are the hurdles from one another? Explain or show your reasoning.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" y="410666"/>
                <a:ext cx="9873786" cy="5690789"/>
              </a:xfrm>
              <a:prstGeom prst="rect">
                <a:avLst/>
              </a:prstGeom>
              <a:blipFill rotWithShape="0">
                <a:blip r:embed="rId3"/>
                <a:stretch>
                  <a:fillRect l="-679" t="-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C2F4C951-E46B-E944-87E2-3B81D09643B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xmlns="" id="{EFCDB8E7-1C8A-43C2-96A3-F5988E42E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857100" y="1667356"/>
            <a:ext cx="8588807" cy="17616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944880" y="410666"/>
                <a:ext cx="10452906" cy="4373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professional runner takes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strides between each pair of hurdles. The runner leaves the ground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meters before the hurdle and returns to the ground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meter after the hurdle. 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Draw a diagram to model the runner’s strides between the hurdles. Label all known measurements.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About how long are each of the runner’s strides between the hurdles? Show your reasoning.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80" y="410666"/>
                <a:ext cx="10452906" cy="4373505"/>
              </a:xfrm>
              <a:prstGeom prst="rect">
                <a:avLst/>
              </a:prstGeom>
              <a:blipFill rotWithShape="0">
                <a:blip r:embed="rId3"/>
                <a:stretch>
                  <a:fillRect l="-641" t="-975" b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C2F4C951-E46B-E944-87E2-3B81D09643B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6515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17728" y="29328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2.7.4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428" y="26280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417728" y="1314905"/>
                <a:ext cx="9494112" cy="2858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8313" indent="-468313">
                  <a:lnSpc>
                    <a:spcPct val="107000"/>
                  </a:lnSpc>
                  <a:buFont typeface="+mj-lt"/>
                  <a:buAutoNum type="arabicPeriod"/>
                  <a:tabLst>
                    <a:tab pos="51435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pool that holds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273.68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gallons of water lost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4.79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gallons of water each day while there was a leak that went unnoticed. Tad noticed the water was lower, so he added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20.45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gallons of water before he realized there was a leak on the side. If Tad fixed the leak after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days of leaking, how many gallons of water does he currently have in the pool?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728" y="1314905"/>
                <a:ext cx="9494112" cy="2858539"/>
              </a:xfrm>
              <a:prstGeom prst="rect">
                <a:avLst/>
              </a:prstGeom>
              <a:blipFill rotWithShape="0">
                <a:blip r:embed="rId4"/>
                <a:stretch>
                  <a:fillRect l="-1028" t="-2132" r="-1734" b="-2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134A47CD-5DBB-654A-843E-9182A1B8FB7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1143000" y="398474"/>
                <a:ext cx="9906000" cy="2792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51435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grocery store opens a new wing bar that charges by the pound. Yasmine wants to purchase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pound of garlic parmesan wings,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pound of mild wings,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pound of teriyaki wings. She also wants to purchase some hot wings. If Yasmine wants to purchase a total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pounds of wings, how many pounds of hot wings should she buy?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98474"/>
                <a:ext cx="9906000" cy="2792431"/>
              </a:xfrm>
              <a:prstGeom prst="rect">
                <a:avLst/>
              </a:prstGeom>
              <a:blipFill rotWithShape="0">
                <a:blip r:embed="rId3"/>
                <a:stretch>
                  <a:fillRect l="-985" t="-2183" r="-1415" b="-2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252468F9-493F-EA4F-B8D7-90F86F60BD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58803" y="-4366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2.7.5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353" y="19067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1036320" y="1124818"/>
            <a:ext cx="10375392" cy="882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8313" indent="-468313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each statement, write whether you agree with it, disagree with it, or are unsure.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69767437-9B0B-9D43-A596-1373A90D9FE8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04D2B4D7-61DC-4DB7-B9C9-3F6448496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779560"/>
              </p:ext>
            </p:extLst>
          </p:nvPr>
        </p:nvGraphicFramePr>
        <p:xfrm>
          <a:off x="2060448" y="2042704"/>
          <a:ext cx="7652512" cy="4341973"/>
        </p:xfrm>
        <a:graphic>
          <a:graphicData uri="http://schemas.openxmlformats.org/drawingml/2006/table">
            <a:tbl>
              <a:tblPr firstRow="1" firstCol="1" bandRow="1"/>
              <a:tblGrid>
                <a:gridCol w="3827320">
                  <a:extLst>
                    <a:ext uri="{9D8B030D-6E8A-4147-A177-3AD203B41FA5}">
                      <a16:colId xmlns:a16="http://schemas.microsoft.com/office/drawing/2014/main" xmlns="" val="398512834"/>
                    </a:ext>
                  </a:extLst>
                </a:gridCol>
                <a:gridCol w="3825192">
                  <a:extLst>
                    <a:ext uri="{9D8B030D-6E8A-4147-A177-3AD203B41FA5}">
                      <a16:colId xmlns:a16="http://schemas.microsoft.com/office/drawing/2014/main" xmlns="" val="521170071"/>
                    </a:ext>
                  </a:extLst>
                </a:gridCol>
              </a:tblGrid>
              <a:tr h="2939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Agree/Disagree/Unsure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15879269"/>
                  </a:ext>
                </a:extLst>
              </a:tr>
              <a:tr h="6045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more digits a number has, the larger it is.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40846020"/>
                  </a:ext>
                </a:extLst>
              </a:tr>
              <a:tr h="9151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When you add two positive decimals together, the value is always larger.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08566359"/>
                  </a:ext>
                </a:extLst>
              </a:tr>
              <a:tr h="7988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 add fractions, their denominators must be the same.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69947577"/>
                  </a:ext>
                </a:extLst>
              </a:tr>
              <a:tr h="7988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product of two fractions is always a larger number.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01838093"/>
                  </a:ext>
                </a:extLst>
              </a:tr>
              <a:tr h="7988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When you put a zero on the end of any number, it makes it larger.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02" marR="379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90510240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64063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85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1044</Words>
  <Application>Microsoft Macintosh PowerPoint</Application>
  <PresentationFormat>Widescreen</PresentationFormat>
  <Paragraphs>169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Calibri</vt:lpstr>
      <vt:lpstr>Cambria Math</vt:lpstr>
      <vt:lpstr>Century Gothic</vt:lpstr>
      <vt:lpstr>Times New Roman</vt:lpstr>
      <vt:lpstr>Verdana</vt:lpstr>
      <vt:lpstr>1_Office Theme</vt:lpstr>
      <vt:lpstr>6th Grade Accelerated Math  Unit 2, Lesson 7  Solving Multi‑Step, Real-World Problems With Fractions or Decimals  Volume 1, pg. 68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jslater9816@gmail.com</cp:lastModifiedBy>
  <cp:revision>24</cp:revision>
  <dcterms:created xsi:type="dcterms:W3CDTF">2015-03-17T18:51:18Z</dcterms:created>
  <dcterms:modified xsi:type="dcterms:W3CDTF">2022-07-25T23:28:48Z</dcterms:modified>
</cp:coreProperties>
</file>