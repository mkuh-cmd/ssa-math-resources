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23" r:id="rId9"/>
    <p:sldId id="324" r:id="rId10"/>
    <p:sldId id="329" r:id="rId11"/>
    <p:sldId id="325" r:id="rId12"/>
    <p:sldId id="327" r:id="rId13"/>
    <p:sldId id="330" r:id="rId14"/>
    <p:sldId id="314" r:id="rId15"/>
    <p:sldId id="315" r:id="rId16"/>
    <p:sldId id="316" r:id="rId17"/>
    <p:sldId id="331" r:id="rId18"/>
    <p:sldId id="302" r:id="rId19"/>
    <p:sldId id="303" r:id="rId20"/>
    <p:sldId id="309" r:id="rId21"/>
    <p:sldId id="332" r:id="rId22"/>
    <p:sldId id="333" r:id="rId23"/>
    <p:sldId id="306" r:id="rId24"/>
    <p:sldId id="307" r:id="rId25"/>
    <p:sldId id="310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7DBF"/>
    <a:srgbClr val="F79647"/>
    <a:srgbClr val="FCBD1E"/>
    <a:srgbClr val="C9DF6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600"/>
    <p:restoredTop sz="94695"/>
  </p:normalViewPr>
  <p:slideViewPr>
    <p:cSldViewPr snapToGrid="0">
      <p:cViewPr varScale="1">
        <p:scale>
          <a:sx n="79" d="100"/>
          <a:sy n="79" d="100"/>
        </p:scale>
        <p:origin x="226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56643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977375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12140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42050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02362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19506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92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://en.wikipedia.org/wiki/File:Skittles-Wrapper-Small.jpg" TargetMode="External"/><Relationship Id="rId5" Type="http://schemas.openxmlformats.org/officeDocument/2006/relationships/image" Target="../media/image13.jp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Grade Accelerated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6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Solving Two‑Step, Real-World Problems with Fractions or Decimals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64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1852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25912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77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6101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483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981200" y="1600200"/>
            <a:ext cx="8229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</a:t>
            </a: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6.NSO.2.3 </a:t>
            </a:r>
            <a:r>
              <a:rPr lang="en-US" sz="3600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Solve multi-step, real-world problems involving any of the four operations with positive multi-digit decimals or positive fractions, including mixed numbers.</a:t>
            </a:r>
            <a:endParaRPr lang="en-US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950" y="30653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438600" y="63901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438600" y="1596390"/>
            <a:ext cx="87722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79998D09-ED40-CB40-ADB3-2C926DC27F8F}"/>
              </a:ext>
            </a:extLst>
          </p:cNvPr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101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483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450369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207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415507" y="1600200"/>
            <a:ext cx="879529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600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can solve real-world problems with two steps using decimals or fractions.</a:t>
            </a: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4411E69F-FF2D-4E45-A95C-56414991DB11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101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483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2487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101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483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74858" y="-63533"/>
            <a:ext cx="939237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2.6.1 Warm-Up: </a:t>
            </a:r>
            <a:r>
              <a:rPr lang="en-US" sz="3600" b="1" dirty="0">
                <a:solidFill>
                  <a:srgbClr val="41266B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Would You Rather?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558" y="18030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1374858" y="1386026"/>
                <a:ext cx="9012726" cy="45339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latin typeface="Verdan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Would you rather buy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8</m:t>
                    </m:r>
                  </m:oMath>
                </a14:m>
                <a:r>
                  <a:rPr lang="en-US" sz="2800" dirty="0">
                    <a:latin typeface="Verdan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Skittles for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25</m:t>
                    </m:r>
                  </m:oMath>
                </a14:m>
                <a:r>
                  <a:rPr lang="en-US" sz="2800" dirty="0">
                    <a:latin typeface="Verdan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cents or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62</m:t>
                    </m:r>
                  </m:oMath>
                </a14:m>
                <a:r>
                  <a:rPr lang="en-US" sz="2800" dirty="0">
                    <a:latin typeface="Verdan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Skittles for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$1.49</m:t>
                    </m:r>
                  </m:oMath>
                </a14:m>
                <a:r>
                  <a:rPr lang="en-US" sz="2800" dirty="0">
                    <a:latin typeface="Verdan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?</a:t>
                </a:r>
              </a:p>
              <a:p>
                <a:endParaRPr lang="en-US" sz="28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endParaRPr lang="en-US" sz="28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endParaRPr lang="en-US" sz="28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endParaRPr lang="en-US" sz="28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endParaRPr lang="en-US" sz="28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endParaRPr lang="en-US" sz="28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r>
                  <a:rPr lang="en-US" sz="2800" dirty="0">
                    <a:latin typeface="Verdan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Explain your choice.</a:t>
                </a:r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28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4858" y="1386026"/>
                <a:ext cx="9012726" cy="4533933"/>
              </a:xfrm>
              <a:prstGeom prst="rect">
                <a:avLst/>
              </a:prstGeom>
              <a:blipFill rotWithShape="0">
                <a:blip r:embed="rId4"/>
                <a:stretch>
                  <a:fillRect l="-1421" t="-1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733F64CC-F62E-3D45-B066-56DBFBB732F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EB9875-1267-45F2-9AFB-670E6C4FB8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3204049" y="2456787"/>
            <a:ext cx="5354343" cy="2392410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6101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483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97280" y="520394"/>
                <a:ext cx="10148106" cy="14754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 startAt="2"/>
                </a:pPr>
                <a:r>
                  <a:rPr lang="en-US" sz="2800" dirty="0">
                    <a:latin typeface="Verdan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Would your answer change if you could choose what flavor the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8</m:t>
                    </m:r>
                  </m:oMath>
                </a14:m>
                <a:r>
                  <a:rPr lang="en-US" sz="2800" dirty="0">
                    <a:latin typeface="Verdan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Skittles were but you could not choose the flavors from the bag?</a:t>
                </a:r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520394"/>
                <a:ext cx="10148106" cy="1475404"/>
              </a:xfrm>
              <a:prstGeom prst="rect">
                <a:avLst/>
              </a:prstGeom>
              <a:blipFill rotWithShape="0">
                <a:blip r:embed="rId3"/>
                <a:stretch>
                  <a:fillRect l="-1201" t="-4959" r="-2042" b="-78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B2481D9-8B52-C443-ABEF-765D2549936D}"/>
              </a:ext>
            </a:extLst>
          </p:cNvPr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6101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483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6101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483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01234" y="-3254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2.6.2 Guided Practice: </a:t>
            </a:r>
            <a:r>
              <a:rPr lang="en-US" sz="3600" b="1" dirty="0">
                <a:solidFill>
                  <a:srgbClr val="26B6D4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Two-Step Rational Problems</a:t>
            </a:r>
            <a:endParaRPr lang="en-US" sz="36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1426" y="162772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1401234" y="1386025"/>
                <a:ext cx="9842916" cy="4381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68313" indent="-468313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Sophie grew her hair out for a long period of time. Her hair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feet long. She donated her hair by cutting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of a foot off. Sophie’s hair then grew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feet. 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82663" indent="-560388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operations are needed to determine the length of Sophie’s hair?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 indent="-457200">
                  <a:lnSpc>
                    <a:spcPct val="107000"/>
                  </a:lnSpc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 indent="-457200">
                  <a:lnSpc>
                    <a:spcPct val="107000"/>
                  </a:lnSpc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 indent="-457200">
                  <a:lnSpc>
                    <a:spcPct val="107000"/>
                  </a:lnSpc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 indent="-457200">
                  <a:lnSpc>
                    <a:spcPct val="107000"/>
                  </a:lnSpc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1234" y="1386025"/>
                <a:ext cx="9842916" cy="4381520"/>
              </a:xfrm>
              <a:prstGeom prst="rect">
                <a:avLst/>
              </a:prstGeom>
              <a:blipFill rotWithShape="0">
                <a:blip r:embed="rId4"/>
                <a:stretch>
                  <a:fillRect l="-991" t="-1391" r="-1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46CE9362-15C8-D54E-981B-E2717DFC665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101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483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1082040" y="386281"/>
                <a:ext cx="10027920" cy="4546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68313" indent="-468313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Sophie grew her hair out for a long period of time. Her hair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feet long. She donated her hair by cutting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of a foot off. Sophie’s hair then grew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feet. </a:t>
                </a: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498475">
                  <a:lnSpc>
                    <a:spcPct val="107000"/>
                  </a:lnSpc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values are necessary to determine the length of Sophie’s hair?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498475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498475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498475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498475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498475">
                  <a:lnSpc>
                    <a:spcPct val="107000"/>
                  </a:lnSpc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Write the numeric expression that can be used to determine the length of Sophie’s hair.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040" y="386281"/>
                <a:ext cx="10027920" cy="4546245"/>
              </a:xfrm>
              <a:prstGeom prst="rect">
                <a:avLst/>
              </a:prstGeom>
              <a:blipFill rotWithShape="0">
                <a:blip r:embed="rId3"/>
                <a:stretch>
                  <a:fillRect l="-6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01E1BEEC-C47B-3A48-99B3-7CB267A11974}"/>
              </a:ext>
            </a:extLst>
          </p:cNvPr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6101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483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33667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944880" y="386281"/>
                <a:ext cx="10299270" cy="46405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68313" indent="-468313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Sophie grew her hair out for a long period of time. Her hair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feet long. She donated her hair by cutting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of a foot off. Sophie’s hair then grew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feet. </a:t>
                </a: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498475">
                  <a:lnSpc>
                    <a:spcPct val="107000"/>
                  </a:lnSpc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Determine the length of Sophie’s hair.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498475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498475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498475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498475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20750" indent="-498475">
                  <a:lnSpc>
                    <a:spcPct val="107000"/>
                  </a:lnSpc>
                </a:pP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498475">
                  <a:lnSpc>
                    <a:spcPct val="107000"/>
                  </a:lnSpc>
                  <a:buFont typeface="+mj-lt"/>
                  <a:buAutoNum type="alphaLcPeriod" startAt="5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Determine if the length of Sophie’s hair makes sense. Support your answer.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880" y="386281"/>
                <a:ext cx="10299270" cy="4640501"/>
              </a:xfrm>
              <a:prstGeom prst="rect">
                <a:avLst/>
              </a:prstGeom>
              <a:blipFill rotWithShape="0">
                <a:blip r:embed="rId3"/>
                <a:stretch>
                  <a:fillRect l="-651" r="-4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01E1BEEC-C47B-3A48-99B3-7CB267A11974}"/>
              </a:ext>
            </a:extLst>
          </p:cNvPr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6101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483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18385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1082040" y="386282"/>
                <a:ext cx="10027920" cy="40264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  <a:tabLst>
                    <a:tab pos="59055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Tiffany has a balance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$167.32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 her checking account. She deposits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$58.16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 her checking account and then writes a check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$97.27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  <a:tabLst>
                    <a:tab pos="590550" algn="l"/>
                  </a:tabLst>
                </a:pPr>
                <a:endParaRPr lang="en-US" sz="2000" dirty="0">
                  <a:latin typeface="Verdan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512763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operations are needed to determine the amount of money in Tiffany’s bank account?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512763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512763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512763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512763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512763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512763">
                  <a:lnSpc>
                    <a:spcPct val="107000"/>
                  </a:lnSpc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values are necessary to determine the amount of money in Tiffany’s bank account?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040" y="386282"/>
                <a:ext cx="10027920" cy="4026487"/>
              </a:xfrm>
              <a:prstGeom prst="rect">
                <a:avLst/>
              </a:prstGeom>
              <a:blipFill rotWithShape="0">
                <a:blip r:embed="rId3"/>
                <a:stretch>
                  <a:fillRect l="-669" t="-1059" b="-15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01E1BEEC-C47B-3A48-99B3-7CB267A11974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6101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483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6952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1005840" y="386282"/>
                <a:ext cx="10180320" cy="43735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  <a:tabLst>
                    <a:tab pos="59055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Tiffany has a balance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$167.32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 her checking account. She deposits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$58.16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 her checking account and then writes a check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$97.27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  <a:tabLst>
                    <a:tab pos="590550" algn="l"/>
                  </a:tabLst>
                </a:pPr>
                <a:endParaRPr lang="en-US" sz="2000" dirty="0">
                  <a:latin typeface="Verdan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468313">
                  <a:lnSpc>
                    <a:spcPct val="107000"/>
                  </a:lnSpc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Write the numeric expression that can be used to determine the amount of money in Tiffany’s bank account.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468313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468313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468313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468313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468313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0" indent="-468313">
                  <a:lnSpc>
                    <a:spcPct val="107000"/>
                  </a:lnSpc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Determine the amount of money Tiffany has left in her checking account.  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  <a:tabLst>
                    <a:tab pos="590550" algn="l"/>
                  </a:tabLst>
                </a:pP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" y="386282"/>
                <a:ext cx="10180320" cy="4373505"/>
              </a:xfrm>
              <a:prstGeom prst="rect">
                <a:avLst/>
              </a:prstGeom>
              <a:blipFill rotWithShape="0">
                <a:blip r:embed="rId3"/>
                <a:stretch>
                  <a:fillRect l="-659" t="-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01E1BEEC-C47B-3A48-99B3-7CB267A11974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6101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483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09555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6101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483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92090" y="60326"/>
            <a:ext cx="915399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2.6.3 Collaboration: </a:t>
            </a:r>
            <a:r>
              <a:rPr lang="en-US" sz="3600" b="1" dirty="0">
                <a:solidFill>
                  <a:srgbClr val="49BEAB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Error Analysis</a:t>
            </a:r>
            <a:endParaRPr lang="en-US" sz="36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2282" y="348272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973008" y="1386026"/>
            <a:ext cx="10502712" cy="12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8313" indent="-468313">
              <a:lnSpc>
                <a:spcPct val="107000"/>
              </a:lnSpc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Stefanie solved the following word problem. Her work is shown.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2400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20750" indent="-498475">
              <a:lnSpc>
                <a:spcPct val="107000"/>
              </a:lnSpc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Evaluate her work and determine where she made mistakes.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6A18DD6C-446D-A641-972C-BC7EF386945F}"/>
              </a:ext>
            </a:extLst>
          </p:cNvPr>
          <p:cNvSpPr/>
          <p:nvPr/>
        </p:nvSpPr>
        <p:spPr>
          <a:xfrm>
            <a:off x="0" y="-8224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88617A8-7D0D-4106-9F07-916B1C122E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0412119"/>
                  </p:ext>
                </p:extLst>
              </p:nvPr>
            </p:nvGraphicFramePr>
            <p:xfrm>
              <a:off x="2060449" y="3424826"/>
              <a:ext cx="8352323" cy="263053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033836">
                      <a:extLst>
                        <a:ext uri="{9D8B030D-6E8A-4147-A177-3AD203B41FA5}">
                          <a16:colId xmlns:a16="http://schemas.microsoft.com/office/drawing/2014/main" val="584359587"/>
                        </a:ext>
                      </a:extLst>
                    </a:gridCol>
                    <a:gridCol w="4318487">
                      <a:extLst>
                        <a:ext uri="{9D8B030D-6E8A-4147-A177-3AD203B41FA5}">
                          <a16:colId xmlns:a16="http://schemas.microsoft.com/office/drawing/2014/main" val="1838677604"/>
                        </a:ext>
                      </a:extLst>
                    </a:gridCol>
                  </a:tblGrid>
                  <a:tr h="313736">
                    <a:tc>
                      <a:txBody>
                        <a:bodyPr/>
                        <a:lstStyle/>
                        <a:p>
                          <a:pPr marL="36830" marR="0" indent="-3683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90550" algn="l"/>
                            </a:tabLs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Problem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7466" marR="774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90550" algn="l"/>
                            </a:tabLs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Stefanie’s Work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7466" marR="774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0146574"/>
                      </a:ext>
                    </a:extLst>
                  </a:tr>
                  <a:tr h="2316799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Janelle has</a:t>
                          </a:r>
                          <a:r>
                            <a:rPr lang="en-US" sz="20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pans of brownies. Each pan made</a:t>
                          </a:r>
                          <a:r>
                            <a:rPr lang="en-US" sz="200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8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brownies.</a:t>
                          </a:r>
                          <a:r>
                            <a:rPr lang="en-US" sz="200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She gave</a:t>
                          </a:r>
                          <a:r>
                            <a:rPr lang="en-US" sz="200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of the brownies to her friends. How many brownies did Janelle give away?</a:t>
                          </a:r>
                          <a:endParaRPr lang="en-US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7466" marR="774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Step 1:</a:t>
                          </a:r>
                          <a:r>
                            <a:rPr lang="en-US" sz="200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 ×  8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=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sz="2000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× 8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18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lang="en-US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Step 2:</a:t>
                          </a:r>
                          <a:r>
                            <a:rPr lang="en-US" sz="200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18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÷ 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18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×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=6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lang="en-US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endParaRPr lang="en-US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Answer: She gave away</a:t>
                          </a:r>
                          <a:r>
                            <a:rPr lang="en-US" sz="200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brownies.</a:t>
                          </a:r>
                          <a:endParaRPr lang="en-US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7466" marR="774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97512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88617A8-7D0D-4106-9F07-916B1C122E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0412119"/>
                  </p:ext>
                </p:extLst>
              </p:nvPr>
            </p:nvGraphicFramePr>
            <p:xfrm>
              <a:off x="536448" y="3424825"/>
              <a:ext cx="8352323" cy="263053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033836">
                      <a:extLst>
                        <a:ext uri="{9D8B030D-6E8A-4147-A177-3AD203B41FA5}">
                          <a16:colId xmlns:a16="http://schemas.microsoft.com/office/drawing/2014/main" val="584359587"/>
                        </a:ext>
                      </a:extLst>
                    </a:gridCol>
                    <a:gridCol w="4318487">
                      <a:extLst>
                        <a:ext uri="{9D8B030D-6E8A-4147-A177-3AD203B41FA5}">
                          <a16:colId xmlns:a16="http://schemas.microsoft.com/office/drawing/2014/main" val="1838677604"/>
                        </a:ext>
                      </a:extLst>
                    </a:gridCol>
                  </a:tblGrid>
                  <a:tr h="313736">
                    <a:tc>
                      <a:txBody>
                        <a:bodyPr/>
                        <a:lstStyle/>
                        <a:p>
                          <a:pPr marL="36830" marR="0" indent="-3683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90550" algn="l"/>
                            </a:tabLs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Problem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7466" marR="774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90550" algn="l"/>
                            </a:tabLs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Stefanie’s Work</a:t>
                          </a:r>
                          <a:endParaRPr lang="en-US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7466" marR="774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0146574"/>
                      </a:ext>
                    </a:extLst>
                  </a:tr>
                  <a:tr h="23167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7466" marR="774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2" t="-17060" r="-107402" b="-41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7466" marR="774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3653" t="-17060" r="-282" b="-41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75127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6101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483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701040" y="410665"/>
            <a:ext cx="10940586" cy="12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lphaLcPeriod" startAt="2"/>
              <a:tabLst>
                <a:tab pos="590550" algn="l"/>
              </a:tabLst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Help Stefanie understand and learn from her mistakes. Write a brief note to Stefanie explaining what her mistakes were and how she could learn from those mistakes.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C2F4C951-E46B-E944-87E2-3B81D09643B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Rounded Rectangle 218">
            <a:extLst>
              <a:ext uri="{FF2B5EF4-FFF2-40B4-BE49-F238E27FC236}">
                <a16:creationId xmlns:a16="http://schemas.microsoft.com/office/drawing/2014/main" id="{BFE3A4E8-1AC1-4748-ACD9-8108F425F149}"/>
              </a:ext>
            </a:extLst>
          </p:cNvPr>
          <p:cNvSpPr/>
          <p:nvPr/>
        </p:nvSpPr>
        <p:spPr>
          <a:xfrm>
            <a:off x="4408663" y="2062527"/>
            <a:ext cx="5540087" cy="4384808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7000"/>
              </a:lnSpc>
            </a:pPr>
            <a:r>
              <a:rPr lang="en-US" sz="1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5A0A8D94-EEFA-48B0-BCBB-606BA12C19E9}"/>
              </a:ext>
            </a:extLst>
          </p:cNvPr>
          <p:cNvSpPr/>
          <p:nvPr/>
        </p:nvSpPr>
        <p:spPr>
          <a:xfrm>
            <a:off x="2002017" y="2621076"/>
            <a:ext cx="2296672" cy="3267711"/>
          </a:xfrm>
          <a:prstGeom prst="roundRect">
            <a:avLst/>
          </a:prstGeom>
          <a:solidFill>
            <a:srgbClr val="4472C4">
              <a:lumMod val="20000"/>
              <a:lumOff val="80000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buClrTx/>
              <a:defRPr/>
            </a:pPr>
            <a:r>
              <a:rPr lang="en-US" sz="2000" b="1" dirty="0">
                <a:solidFill>
                  <a:srgbClr val="DB2B2A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eans</a:t>
            </a:r>
            <a:endParaRPr lang="en-US" sz="2000" dirty="0">
              <a:solidFill>
                <a:sysClr val="window" lastClr="FFFFFF"/>
              </a:solidFill>
              <a:latin typeface="Calibri" panose="020F0502020204030204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ClrTx/>
              <a:defRPr/>
            </a:pPr>
            <a:r>
              <a:rPr lang="en-US" sz="2000" b="1" dirty="0">
                <a:solidFill>
                  <a:srgbClr val="F25756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endParaRPr lang="en-US" sz="2000" dirty="0">
              <a:solidFill>
                <a:sysClr val="window" lastClr="FFFFFF"/>
              </a:solidFill>
              <a:latin typeface="Calibri" panose="020F0502020204030204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ClrTx/>
              <a:defRPr/>
            </a:pPr>
            <a:r>
              <a:rPr lang="en-US" sz="2000" b="1" dirty="0">
                <a:solidFill>
                  <a:srgbClr val="E9923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tart</a:t>
            </a:r>
            <a:endParaRPr lang="en-US" sz="2000" dirty="0">
              <a:solidFill>
                <a:sysClr val="window" lastClr="FFFFFF"/>
              </a:solidFill>
              <a:latin typeface="Calibri" panose="020F0502020204030204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ClrTx/>
              <a:defRPr/>
            </a:pPr>
            <a:r>
              <a:rPr lang="en-US" sz="2000" b="1" dirty="0">
                <a:solidFill>
                  <a:srgbClr val="FACD1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</a:t>
            </a:r>
            <a:endParaRPr lang="en-US" sz="2000" dirty="0">
              <a:solidFill>
                <a:sysClr val="window" lastClr="FFFFFF"/>
              </a:solidFill>
              <a:latin typeface="Calibri" panose="020F0502020204030204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ClrTx/>
              <a:defRPr/>
            </a:pPr>
            <a:r>
              <a:rPr lang="en-US" sz="2000" b="1" dirty="0">
                <a:solidFill>
                  <a:srgbClr val="7BA43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cquire</a:t>
            </a:r>
            <a:endParaRPr lang="en-US" sz="2000" dirty="0">
              <a:solidFill>
                <a:sysClr val="window" lastClr="FFFFFF"/>
              </a:solidFill>
              <a:latin typeface="Calibri" panose="020F0502020204030204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ClrTx/>
              <a:defRPr/>
            </a:pPr>
            <a:r>
              <a:rPr lang="en-US" sz="2000" b="1" dirty="0">
                <a:solidFill>
                  <a:srgbClr val="24B7D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nowledge</a:t>
            </a:r>
            <a:endParaRPr lang="en-US" sz="2000" dirty="0">
              <a:solidFill>
                <a:sysClr val="window" lastClr="FFFFFF"/>
              </a:solidFill>
              <a:latin typeface="Calibri" panose="020F0502020204030204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ClrTx/>
              <a:defRPr/>
            </a:pPr>
            <a:r>
              <a:rPr lang="en-US" sz="2000" b="1" dirty="0">
                <a:solidFill>
                  <a:srgbClr val="1B74B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xperience </a:t>
            </a:r>
            <a:endParaRPr lang="en-US" sz="2000" dirty="0">
              <a:solidFill>
                <a:sysClr val="window" lastClr="FFFFFF"/>
              </a:solidFill>
              <a:latin typeface="Calibri" panose="020F0502020204030204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ClrTx/>
              <a:defRPr/>
            </a:pPr>
            <a:r>
              <a:rPr lang="en-US" sz="2000" b="1" dirty="0">
                <a:solidFill>
                  <a:srgbClr val="4A2B7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kills</a:t>
            </a:r>
            <a:endParaRPr lang="en-US" sz="2000" dirty="0">
              <a:solidFill>
                <a:sysClr val="window" lastClr="FFFFFF"/>
              </a:solidFill>
              <a:latin typeface="Calibri" panose="020F0502020204030204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ClrTx/>
              <a:defRPr/>
            </a:pPr>
            <a:r>
              <a:rPr lang="en-US" sz="1100" dirty="0">
                <a:solidFill>
                  <a:sysClr val="window" lastClr="FFFFFF"/>
                </a:solidFill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101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483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8C67FCF-92C3-654A-BF40-5BDF7A4F9271}"/>
              </a:ext>
            </a:extLst>
          </p:cNvPr>
          <p:cNvSpPr txBox="1"/>
          <p:nvPr/>
        </p:nvSpPr>
        <p:spPr>
          <a:xfrm>
            <a:off x="914400" y="398474"/>
            <a:ext cx="10363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Read your partner’s note to Stefanie and offer suggestions for how to improve their note.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252468F9-493F-EA4F-B8D7-90F86F60BDF9}"/>
              </a:ext>
            </a:extLst>
          </p:cNvPr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6101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483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48902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6101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483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402488" y="24320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2.6.4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188" y="243205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1402488" y="1386025"/>
                <a:ext cx="9555072" cy="2187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68313" indent="-468313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Martha fills her ice cream bowl with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cup of ice cream,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cup of candy toppings, and the rest with fruit toppings. If the bowl contains a total of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8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cups, how much of the bowl is made up of fruit toppings?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488" y="1386025"/>
                <a:ext cx="9555072" cy="2187715"/>
              </a:xfrm>
              <a:prstGeom prst="rect">
                <a:avLst/>
              </a:prstGeom>
              <a:blipFill rotWithShape="0">
                <a:blip r:embed="rId4"/>
                <a:stretch>
                  <a:fillRect l="-957" r="-1531" b="-3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134A47CD-5DBB-654A-843E-9182A1B8FB7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101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483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960120" y="398474"/>
                <a:ext cx="10271760" cy="1277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Jasmine has a ribbon that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12.6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meters long. Sharon has a ribbon that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3.8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meters shorter. What is the total length of the two ribbons?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0" y="398474"/>
                <a:ext cx="10271760" cy="1277850"/>
              </a:xfrm>
              <a:prstGeom prst="rect">
                <a:avLst/>
              </a:prstGeom>
              <a:blipFill rotWithShape="0">
                <a:blip r:embed="rId3"/>
                <a:stretch>
                  <a:fillRect l="-950" t="-4762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252468F9-493F-EA4F-B8D7-90F86F60BDF9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6101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483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929640" y="398474"/>
                <a:ext cx="10332720" cy="2449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Before soccer practice, Hernando puts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4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cups of sports drink in </a:t>
                </a:r>
                <a:r>
                  <a:rPr lang="en-US" sz="2400" dirty="0">
                    <a:latin typeface="Verdan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 water bottle with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1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cups of ice. After a hot afternoon of practice, he drinks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cups of the sports drink and melted ice. How many cups of this mixture are left in the water bottle?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640" y="398474"/>
                <a:ext cx="10332720" cy="2449710"/>
              </a:xfrm>
              <a:prstGeom prst="rect">
                <a:avLst/>
              </a:prstGeom>
              <a:blipFill rotWithShape="0">
                <a:blip r:embed="rId3"/>
                <a:stretch>
                  <a:fillRect l="-944" r="-1003" b="-32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252468F9-493F-EA4F-B8D7-90F86F60BDF9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6101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483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705035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853440" y="398473"/>
                <a:ext cx="10485120" cy="1277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 bag of chocolates weighs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1.384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pounds. If Luis gives each of his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friends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0.23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pounds of chocolate, how many pounds of chocolate does Luis have left?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440" y="398473"/>
                <a:ext cx="10485120" cy="1277850"/>
              </a:xfrm>
              <a:prstGeom prst="rect">
                <a:avLst/>
              </a:prstGeom>
              <a:blipFill rotWithShape="0">
                <a:blip r:embed="rId3"/>
                <a:stretch>
                  <a:fillRect l="-872" t="-4762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252468F9-493F-EA4F-B8D7-90F86F60BDF9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6101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483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63599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890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6101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483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43563" y="43054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2.6.5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4113" y="26215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944880" y="1386026"/>
            <a:ext cx="10558272" cy="3089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Place an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on the line to indicate your understanding of each of today’s learning targets. Then, provide a brief explanation or evidence to support your self-assessment.</a:t>
            </a:r>
          </a:p>
          <a:p>
            <a:pPr>
              <a:lnSpc>
                <a:spcPct val="107000"/>
              </a:lnSpc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468313" indent="-468313">
              <a:lnSpc>
                <a:spcPct val="107000"/>
              </a:lnSpc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can solve real-world problems with two steps using decimals.</a:t>
            </a: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69767437-9B0B-9D43-A596-1373A90D9FE8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3990E8B-D38A-4D8C-9F75-97F6ED3A5655}"/>
              </a:ext>
            </a:extLst>
          </p:cNvPr>
          <p:cNvCxnSpPr>
            <a:cxnSpLocks/>
          </p:cNvCxnSpPr>
          <p:nvPr/>
        </p:nvCxnSpPr>
        <p:spPr>
          <a:xfrm>
            <a:off x="2060447" y="5669324"/>
            <a:ext cx="8160512" cy="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headEnd type="triangle"/>
            <a:tailEnd type="triangle"/>
          </a:ln>
          <a:effectLst/>
        </p:spPr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43137F2-0CEE-463E-9857-6FD3ACBE1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716913"/>
              </p:ext>
            </p:extLst>
          </p:nvPr>
        </p:nvGraphicFramePr>
        <p:xfrm>
          <a:off x="2155534" y="4460783"/>
          <a:ext cx="7897442" cy="1011192"/>
        </p:xfrm>
        <a:graphic>
          <a:graphicData uri="http://schemas.openxmlformats.org/drawingml/2006/table">
            <a:tbl>
              <a:tblPr firstRow="1" firstCol="1" bandRow="1"/>
              <a:tblGrid>
                <a:gridCol w="2531602">
                  <a:extLst>
                    <a:ext uri="{9D8B030D-6E8A-4147-A177-3AD203B41FA5}">
                      <a16:colId xmlns:a16="http://schemas.microsoft.com/office/drawing/2014/main" val="2673106963"/>
                    </a:ext>
                  </a:extLst>
                </a:gridCol>
                <a:gridCol w="2733119">
                  <a:extLst>
                    <a:ext uri="{9D8B030D-6E8A-4147-A177-3AD203B41FA5}">
                      <a16:colId xmlns:a16="http://schemas.microsoft.com/office/drawing/2014/main" val="1663500518"/>
                    </a:ext>
                  </a:extLst>
                </a:gridCol>
                <a:gridCol w="2632721">
                  <a:extLst>
                    <a:ext uri="{9D8B030D-6E8A-4147-A177-3AD203B41FA5}">
                      <a16:colId xmlns:a16="http://schemas.microsoft.com/office/drawing/2014/main" val="975241138"/>
                    </a:ext>
                  </a:extLst>
                </a:gridCol>
              </a:tblGrid>
              <a:tr h="1011192">
                <a:tc>
                  <a:txBody>
                    <a:bodyPr/>
                    <a:lstStyle/>
                    <a:p>
                      <a:pPr marL="0" marR="5016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need help.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5016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can’t get started.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429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I’m getting there.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429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understand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3429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and have evidence.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0638950"/>
                  </a:ext>
                </a:extLst>
              </a:tr>
            </a:tbl>
          </a:graphicData>
        </a:graphic>
      </p:graphicFrame>
      <p:sp>
        <p:nvSpPr>
          <p:cNvPr id="13" name="Google Shape;282;g104476d1465_1_17"/>
          <p:cNvSpPr txBox="1"/>
          <p:nvPr/>
        </p:nvSpPr>
        <p:spPr>
          <a:xfrm>
            <a:off x="86101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483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E9D117-FAE6-F74F-940B-9CD1479755BE}"/>
              </a:ext>
            </a:extLst>
          </p:cNvPr>
          <p:cNvSpPr txBox="1"/>
          <p:nvPr/>
        </p:nvSpPr>
        <p:spPr>
          <a:xfrm>
            <a:off x="883920" y="422857"/>
            <a:ext cx="10424160" cy="2298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defRPr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Place an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on the line to indicate your understanding of each of today’s learning targets. Then, provide a brief explanation or evidence to support your self-assessment.</a:t>
            </a:r>
          </a:p>
          <a:p>
            <a:pPr>
              <a:lnSpc>
                <a:spcPct val="107000"/>
              </a:lnSpc>
              <a:defRPr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can solve real-world problems with two steps using fractions.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defRPr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BEF6C55E-B3A1-F64B-8B75-31583227077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CEE6C8A-74C0-4680-89F0-17A7EEBE64A5}"/>
              </a:ext>
            </a:extLst>
          </p:cNvPr>
          <p:cNvCxnSpPr>
            <a:cxnSpLocks/>
          </p:cNvCxnSpPr>
          <p:nvPr/>
        </p:nvCxnSpPr>
        <p:spPr>
          <a:xfrm>
            <a:off x="2060447" y="4710254"/>
            <a:ext cx="8160512" cy="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headEnd type="triangle"/>
            <a:tailEnd type="triangle"/>
          </a:ln>
          <a:effectLst/>
        </p:spPr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2F8DF3E-8950-4B78-98B3-7533EB86B3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558415"/>
              </p:ext>
            </p:extLst>
          </p:nvPr>
        </p:nvGraphicFramePr>
        <p:xfrm>
          <a:off x="2155534" y="3501713"/>
          <a:ext cx="7897442" cy="1011192"/>
        </p:xfrm>
        <a:graphic>
          <a:graphicData uri="http://schemas.openxmlformats.org/drawingml/2006/table">
            <a:tbl>
              <a:tblPr firstRow="1" firstCol="1" bandRow="1"/>
              <a:tblGrid>
                <a:gridCol w="2531602">
                  <a:extLst>
                    <a:ext uri="{9D8B030D-6E8A-4147-A177-3AD203B41FA5}">
                      <a16:colId xmlns:a16="http://schemas.microsoft.com/office/drawing/2014/main" val="2673106963"/>
                    </a:ext>
                  </a:extLst>
                </a:gridCol>
                <a:gridCol w="2733119">
                  <a:extLst>
                    <a:ext uri="{9D8B030D-6E8A-4147-A177-3AD203B41FA5}">
                      <a16:colId xmlns:a16="http://schemas.microsoft.com/office/drawing/2014/main" val="1663500518"/>
                    </a:ext>
                  </a:extLst>
                </a:gridCol>
                <a:gridCol w="2632721">
                  <a:extLst>
                    <a:ext uri="{9D8B030D-6E8A-4147-A177-3AD203B41FA5}">
                      <a16:colId xmlns:a16="http://schemas.microsoft.com/office/drawing/2014/main" val="975241138"/>
                    </a:ext>
                  </a:extLst>
                </a:gridCol>
              </a:tblGrid>
              <a:tr h="1011192">
                <a:tc>
                  <a:txBody>
                    <a:bodyPr/>
                    <a:lstStyle/>
                    <a:p>
                      <a:pPr marL="0" marR="5016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need help.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5016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can’t get started.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429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I’m getting there.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429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understand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3429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81600" algn="l"/>
                        </a:tabLs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and have evidence.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0638950"/>
                  </a:ext>
                </a:extLst>
              </a:tr>
            </a:tbl>
          </a:graphicData>
        </a:graphic>
      </p:graphicFrame>
      <p:sp>
        <p:nvSpPr>
          <p:cNvPr id="9" name="Google Shape;282;g104476d1465_1_17"/>
          <p:cNvSpPr txBox="1"/>
          <p:nvPr/>
        </p:nvSpPr>
        <p:spPr>
          <a:xfrm>
            <a:off x="861015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483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33964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1259</TotalTime>
  <Words>1149</Words>
  <Application>Microsoft Office PowerPoint</Application>
  <PresentationFormat>Widescreen</PresentationFormat>
  <Paragraphs>166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Arial Black</vt:lpstr>
      <vt:lpstr>Calibri</vt:lpstr>
      <vt:lpstr>Cambria Math</vt:lpstr>
      <vt:lpstr>Century Gothic</vt:lpstr>
      <vt:lpstr>Verdana</vt:lpstr>
      <vt:lpstr>1_Office Theme</vt:lpstr>
      <vt:lpstr>6th Grade Accelerated Math  Unit 2, Lesson 6  Solving Two‑Step, Real-World Problems with Fractions or Decimals  Volume 1, pg. 64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22</cp:revision>
  <dcterms:created xsi:type="dcterms:W3CDTF">2015-03-17T18:51:18Z</dcterms:created>
  <dcterms:modified xsi:type="dcterms:W3CDTF">2022-06-29T04:54:47Z</dcterms:modified>
</cp:coreProperties>
</file>