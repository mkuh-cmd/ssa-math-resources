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46" r:id="rId8"/>
    <p:sldId id="311" r:id="rId9"/>
    <p:sldId id="312" r:id="rId10"/>
    <p:sldId id="333" r:id="rId11"/>
    <p:sldId id="345" r:id="rId12"/>
    <p:sldId id="344" r:id="rId13"/>
    <p:sldId id="343" r:id="rId14"/>
    <p:sldId id="289" r:id="rId15"/>
    <p:sldId id="290" r:id="rId16"/>
    <p:sldId id="336" r:id="rId17"/>
    <p:sldId id="337" r:id="rId18"/>
    <p:sldId id="347" r:id="rId19"/>
    <p:sldId id="348" r:id="rId20"/>
    <p:sldId id="349" r:id="rId21"/>
    <p:sldId id="323" r:id="rId22"/>
    <p:sldId id="324" r:id="rId23"/>
    <p:sldId id="350" r:id="rId24"/>
    <p:sldId id="302" r:id="rId25"/>
    <p:sldId id="303" r:id="rId26"/>
    <p:sldId id="306" r:id="rId27"/>
    <p:sldId id="307" r:id="rId28"/>
    <p:sldId id="351"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BF5F"/>
    <a:srgbClr val="BFB6F6"/>
    <a:srgbClr val="26B7D4"/>
    <a:srgbClr val="276C46"/>
    <a:srgbClr val="C9DF6F"/>
    <a:srgbClr val="417DBF"/>
    <a:srgbClr val="3F2A67"/>
    <a:srgbClr val="E24E5F"/>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96"/>
    <p:restoredTop sz="94840"/>
  </p:normalViewPr>
  <p:slideViewPr>
    <p:cSldViewPr snapToGrid="0">
      <p:cViewPr varScale="1">
        <p:scale>
          <a:sx n="79" d="100"/>
          <a:sy n="79" d="100"/>
        </p:scale>
        <p:origin x="105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451718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736336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70904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03096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79969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681381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055657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4.png"/><Relationship Id="rId10" Type="http://schemas.openxmlformats.org/officeDocument/2006/relationships/image" Target="../media/image10.png"/><Relationship Id="rId4" Type="http://schemas.openxmlformats.org/officeDocument/2006/relationships/image" Target="../media/image330.pn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3.png"/><Relationship Id="rId9"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5, Lesson 8</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Ratio Relationships to Percentages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209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74970" y="197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51470" y="23775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398770" y="1600200"/>
            <a:ext cx="881203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MA.6.AR.3.4</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ratio relationships to solve mathematical and real-world problems involving percentages using the relationship between two quantities. </a:t>
            </a: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43143" y="292665"/>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67793" y="5003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67793" y="1596390"/>
            <a:ext cx="874300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79562"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97400"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79562" y="1547093"/>
            <a:ext cx="892210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make connections between ratios and percentages.</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double-line diagrams, tape diagrams, and ratio tables to solve problems involving percentages. </a:t>
            </a:r>
          </a:p>
        </p:txBody>
      </p:sp>
      <p:sp>
        <p:nvSpPr>
          <p:cNvPr id="8"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1681" y="3872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5.8.1 Warm-Up: Estimate the Percentage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84381" y="322692"/>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1341913" y="1544461"/>
            <a:ext cx="4568352" cy="341632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photo of blue and pink thumb tacks is shown.</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Based on what is shown in the picture, predict the percentage of thumb tacks that are blue by completing each statement.</a:t>
            </a:r>
          </a:p>
        </p:txBody>
      </p:sp>
      <p:pic>
        <p:nvPicPr>
          <p:cNvPr id="10" name="Picture 9">
            <a:extLst>
              <a:ext uri="{FF2B5EF4-FFF2-40B4-BE49-F238E27FC236}">
                <a16:creationId xmlns:a16="http://schemas.microsoft.com/office/drawing/2014/main" id="{37ED9542-2B59-D145-A1A0-6D572DEF4360}"/>
              </a:ext>
            </a:extLst>
          </p:cNvPr>
          <p:cNvPicPr>
            <a:picLocks noChangeAspect="1"/>
          </p:cNvPicPr>
          <p:nvPr/>
        </p:nvPicPr>
        <p:blipFill rotWithShape="1">
          <a:blip r:embed="rId4" cstate="screen">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a:ext>
            </a:extLst>
          </a:blip>
          <a:srcRect l="6666" t="16491" r="5490" b="10811"/>
          <a:stretch/>
        </p:blipFill>
        <p:spPr bwMode="auto">
          <a:xfrm>
            <a:off x="6436437" y="1544460"/>
            <a:ext cx="3765494" cy="3227566"/>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2">
            <a:extLst>
              <a:ext uri="{FF2B5EF4-FFF2-40B4-BE49-F238E27FC236}">
                <a16:creationId xmlns:a16="http://schemas.microsoft.com/office/drawing/2014/main" id="{079F083F-A67E-0047-8E64-5125815AF3D8}"/>
              </a:ext>
            </a:extLst>
          </p:cNvPr>
          <p:cNvSpPr/>
          <p:nvPr/>
        </p:nvSpPr>
        <p:spPr>
          <a:xfrm>
            <a:off x="1199409" y="887184"/>
            <a:ext cx="10171434" cy="341632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 know for sure that more than _____% of the thumb tacks are blue.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I know for sure that less than _____% of the thumb tacks are blue.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My best estimate is that _____% of the thumb tacks are blue.</a:t>
            </a:r>
          </a:p>
        </p:txBody>
      </p:sp>
      <p:sp>
        <p:nvSpPr>
          <p:cNvPr id="6"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10786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63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Refresher</a:t>
            </a:r>
            <a:endParaRPr sz="5100" b="1" dirty="0">
              <a:solidFill>
                <a:srgbClr val="26B7D4"/>
              </a:solidFill>
              <a:latin typeface="Verdana"/>
              <a:ea typeface="Verdana"/>
              <a:cs typeface="Verdana"/>
              <a:sym typeface="Verdana"/>
            </a:endParaRPr>
          </a:p>
        </p:txBody>
      </p:sp>
      <p:pic>
        <p:nvPicPr>
          <p:cNvPr id="8" name="Picture 7">
            <a:extLst>
              <a:ext uri="{FF2B5EF4-FFF2-40B4-BE49-F238E27FC236}">
                <a16:creationId xmlns:a16="http://schemas.microsoft.com/office/drawing/2014/main" id="{3432D0E4-0530-474B-9711-E4C5FD6B46B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630951" y="2814307"/>
            <a:ext cx="1156227" cy="1156227"/>
          </a:xfrm>
          <a:prstGeom prst="rect">
            <a:avLst/>
          </a:prstGeom>
          <a:effectLst>
            <a:outerShdw blurRad="50800" dist="38100" dir="2700000" algn="tl" rotWithShape="0">
              <a:prstClr val="black">
                <a:alpha val="40000"/>
              </a:prstClr>
            </a:outerShdw>
          </a:effectLst>
        </p:spPr>
      </p:pic>
      <p:sp>
        <p:nvSpPr>
          <p:cNvPr id="9"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9800" y="-2031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26B7D4"/>
                </a:solidFill>
                <a:latin typeface="Verdana"/>
                <a:ea typeface="Verdana"/>
                <a:cs typeface="Verdana"/>
                <a:sym typeface="Verdana"/>
              </a:rPr>
              <a:t>5.8.2 Refresher: Percentages</a:t>
            </a:r>
          </a:p>
        </p:txBody>
      </p:sp>
      <p:sp>
        <p:nvSpPr>
          <p:cNvPr id="2" name="Rectangle 1">
            <a:extLst>
              <a:ext uri="{FF2B5EF4-FFF2-40B4-BE49-F238E27FC236}">
                <a16:creationId xmlns:a16="http://schemas.microsoft.com/office/drawing/2014/main" id="{B05AB5A2-AF35-B14C-AE54-D2A0628C823C}"/>
              </a:ext>
            </a:extLst>
          </p:cNvPr>
          <p:cNvSpPr/>
          <p:nvPr/>
        </p:nvSpPr>
        <p:spPr>
          <a:xfrm>
            <a:off x="1579419" y="1521194"/>
            <a:ext cx="9374522"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percentage</a:t>
            </a:r>
            <a:r>
              <a:rPr lang="en-US" sz="2400" dirty="0">
                <a:latin typeface="Verdana" panose="020B0604030504040204" pitchFamily="34" charset="0"/>
                <a:ea typeface="Times New Roman" panose="02020603050405020304" pitchFamily="18" charset="0"/>
                <a:cs typeface="Times New Roman" panose="02020603050405020304" pitchFamily="18" charset="0"/>
              </a:rPr>
              <a:t> is a ratio expressed as a fraction of 100. </a:t>
            </a:r>
            <a:endParaRPr lang="en-US" sz="2400" dirty="0"/>
          </a:p>
        </p:txBody>
      </p:sp>
      <p:pic>
        <p:nvPicPr>
          <p:cNvPr id="9" name="Picture 8">
            <a:extLst>
              <a:ext uri="{FF2B5EF4-FFF2-40B4-BE49-F238E27FC236}">
                <a16:creationId xmlns:a16="http://schemas.microsoft.com/office/drawing/2014/main" id="{2EB7292F-AFAA-3948-B740-97C696AED8D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46352" y="227815"/>
            <a:ext cx="752255" cy="752255"/>
          </a:xfrm>
          <a:prstGeom prst="rect">
            <a:avLst/>
          </a:prstGeom>
        </p:spPr>
      </p:pic>
      <p:grpSp>
        <p:nvGrpSpPr>
          <p:cNvPr id="10" name="Group 9">
            <a:extLst>
              <a:ext uri="{FF2B5EF4-FFF2-40B4-BE49-F238E27FC236}">
                <a16:creationId xmlns:a16="http://schemas.microsoft.com/office/drawing/2014/main" id="{5E68E4D8-00DF-6143-A3B6-433B9E98144E}"/>
              </a:ext>
            </a:extLst>
          </p:cNvPr>
          <p:cNvGrpSpPr/>
          <p:nvPr/>
        </p:nvGrpSpPr>
        <p:grpSpPr>
          <a:xfrm>
            <a:off x="2345411" y="2860993"/>
            <a:ext cx="7707565" cy="1136015"/>
            <a:chOff x="1756694" y="3161572"/>
            <a:chExt cx="7707731" cy="1247428"/>
          </a:xfrm>
        </p:grpSpPr>
        <p:sp>
          <p:nvSpPr>
            <p:cNvPr id="12" name="Rectangle 11">
              <a:extLst>
                <a:ext uri="{FF2B5EF4-FFF2-40B4-BE49-F238E27FC236}">
                  <a16:creationId xmlns:a16="http://schemas.microsoft.com/office/drawing/2014/main" id="{3A4A2ABC-9256-6245-B8A1-2608308D7352}"/>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422CE1BD-1CAC-7E47-8D82-3021BD1C463D}"/>
                </a:ext>
              </a:extLst>
            </p:cNvPr>
            <p:cNvGrpSpPr/>
            <p:nvPr/>
          </p:nvGrpSpPr>
          <p:grpSpPr>
            <a:xfrm>
              <a:off x="1756694" y="3161572"/>
              <a:ext cx="7707731" cy="1024828"/>
              <a:chOff x="1756694" y="3161572"/>
              <a:chExt cx="7707731" cy="1024828"/>
            </a:xfrm>
          </p:grpSpPr>
          <p:sp>
            <p:nvSpPr>
              <p:cNvPr id="14" name="Rectangle 13">
                <a:extLst>
                  <a:ext uri="{FF2B5EF4-FFF2-40B4-BE49-F238E27FC236}">
                    <a16:creationId xmlns:a16="http://schemas.microsoft.com/office/drawing/2014/main" id="{DB218FBE-62C2-3F45-8E5B-B7ACBF8C7EF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FAEB4083-A79C-8243-84C8-B83738166963}"/>
                  </a:ext>
                </a:extLst>
              </p:cNvPr>
              <p:cNvGrpSpPr/>
              <p:nvPr/>
            </p:nvGrpSpPr>
            <p:grpSpPr>
              <a:xfrm>
                <a:off x="1756694" y="3161572"/>
                <a:ext cx="7707731" cy="1024828"/>
                <a:chOff x="-274606" y="-212028"/>
                <a:chExt cx="7707731" cy="1024828"/>
              </a:xfrm>
            </p:grpSpPr>
            <p:sp>
              <p:nvSpPr>
                <p:cNvPr id="16" name="Rectangle 15">
                  <a:extLst>
                    <a:ext uri="{FF2B5EF4-FFF2-40B4-BE49-F238E27FC236}">
                      <a16:creationId xmlns:a16="http://schemas.microsoft.com/office/drawing/2014/main" id="{942158FC-672A-A546-8753-C938DB298064}"/>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3367732A-EBA0-BD48-9A5F-56D5E2D03958}"/>
                        </a:ext>
                      </a:extLst>
                    </p:cNvPr>
                    <p:cNvSpPr/>
                    <p:nvPr/>
                  </p:nvSpPr>
                  <p:spPr>
                    <a:xfrm>
                      <a:off x="-274606" y="-212028"/>
                      <a:ext cx="7707731" cy="82890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r>
                        <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Percent</a:t>
                      </a: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means “per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“for every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or “out of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t>
                      </a:r>
                      <a:r>
                        <a:rPr lang="en-US" sz="1200" dirty="0">
                          <a:latin typeface="Cambria" panose="02040503050406030204" pitchFamily="18" charset="0"/>
                          <a:ea typeface="Times New Roman" panose="02020603050405020304" pitchFamily="18" charset="0"/>
                          <a:cs typeface="Times New Roman" panose="02020603050405020304" pitchFamily="18" charset="0"/>
                        </a:rPr>
                        <a:t>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7" name="Rounded Rectangle 16">
                      <a:extLst>
                        <a:ext uri="{FF2B5EF4-FFF2-40B4-BE49-F238E27FC236}">
                          <a16:creationId xmlns:a16="http://schemas.microsoft.com/office/drawing/2014/main" id="{3367732A-EBA0-BD48-9A5F-56D5E2D03958}"/>
                        </a:ext>
                      </a:extLst>
                    </p:cNvPr>
                    <p:cNvSpPr>
                      <a:spLocks noRot="1" noChangeAspect="1" noMove="1" noResize="1" noEditPoints="1" noAdjustHandles="1" noChangeArrowheads="1" noChangeShapeType="1" noTextEdit="1"/>
                    </p:cNvSpPr>
                    <p:nvPr/>
                  </p:nvSpPr>
                  <p:spPr>
                    <a:xfrm>
                      <a:off x="-274606" y="-212028"/>
                      <a:ext cx="7707731" cy="828905"/>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CO">
                          <a:noFill/>
                        </a:rPr>
                        <a:t> </a:t>
                      </a:r>
                    </a:p>
                  </p:txBody>
                </p:sp>
              </mc:Fallback>
            </mc:AlternateContent>
          </p:grpSp>
        </p:grpSp>
      </p:grpSp>
      <p:sp>
        <p:nvSpPr>
          <p:cNvPr id="18" name="Rectangle 17">
            <a:extLst>
              <a:ext uri="{FF2B5EF4-FFF2-40B4-BE49-F238E27FC236}">
                <a16:creationId xmlns:a16="http://schemas.microsoft.com/office/drawing/2014/main" id="{2C82A76A-30BF-6C46-ADF0-57DE3A6A2311}"/>
              </a:ext>
            </a:extLst>
          </p:cNvPr>
          <p:cNvSpPr/>
          <p:nvPr/>
        </p:nvSpPr>
        <p:spPr>
          <a:xfrm>
            <a:off x="1579419" y="4760339"/>
            <a:ext cx="9374522"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complete the following.</a:t>
            </a:r>
          </a:p>
        </p:txBody>
      </p:sp>
      <p:sp>
        <p:nvSpPr>
          <p:cNvPr id="19"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210</a:t>
            </a:r>
            <a:endParaRPr i="1" dirty="0">
              <a:latin typeface="Calibri"/>
              <a:ea typeface="Calibri"/>
              <a:cs typeface="Calibri"/>
              <a:sym typeface="Calibri"/>
            </a:endParaRPr>
          </a:p>
        </p:txBody>
      </p:sp>
      <p:pic>
        <p:nvPicPr>
          <p:cNvPr id="2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6EBC228-FF81-F24F-AEB8-9068AF825BE0}"/>
                  </a:ext>
                </a:extLst>
              </p:cNvPr>
              <p:cNvSpPr/>
              <p:nvPr/>
            </p:nvSpPr>
            <p:spPr>
              <a:xfrm>
                <a:off x="1092530" y="263236"/>
                <a:ext cx="10171394" cy="2376163"/>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Each of the large squares shown are the same size.</a:t>
                </a:r>
              </a:p>
              <a:p>
                <a:pPr marL="123825"/>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333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Shade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of each model.</a:t>
                </a:r>
              </a:p>
              <a:p>
                <a:pPr marL="925513" indent="-333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333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333375">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Then, express the shaded part of each model as a fraction and as a percentage.</a:t>
                </a:r>
              </a:p>
            </p:txBody>
          </p:sp>
        </mc:Choice>
        <mc:Fallback xmlns="">
          <p:sp>
            <p:nvSpPr>
              <p:cNvPr id="3" name="Rectangle 2">
                <a:extLst>
                  <a:ext uri="{FF2B5EF4-FFF2-40B4-BE49-F238E27FC236}">
                    <a16:creationId xmlns="" xmlns:a16="http://schemas.microsoft.com/office/drawing/2014/main" xmlns:a14="http://schemas.microsoft.com/office/drawing/2010/main" id="{96EBC228-FF81-F24F-AEB8-9068AF825BE0}"/>
                  </a:ext>
                </a:extLst>
              </p:cNvPr>
              <p:cNvSpPr>
                <a:spLocks noRot="1" noChangeAspect="1" noMove="1" noResize="1" noEditPoints="1" noAdjustHandles="1" noChangeArrowheads="1" noChangeShapeType="1" noTextEdit="1"/>
              </p:cNvSpPr>
              <p:nvPr/>
            </p:nvSpPr>
            <p:spPr>
              <a:xfrm>
                <a:off x="1092530" y="263236"/>
                <a:ext cx="10171394" cy="2376163"/>
              </a:xfrm>
              <a:prstGeom prst="rect">
                <a:avLst/>
              </a:prstGeom>
              <a:blipFill rotWithShape="0">
                <a:blip r:embed="rId3"/>
                <a:stretch>
                  <a:fillRect t="-1795" b="-3590"/>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A371E017-77EE-B147-A991-CA9844C0D56B}"/>
              </a:ext>
            </a:extLst>
          </p:cNvPr>
          <p:cNvGraphicFramePr>
            <a:graphicFrameLocks noGrp="1"/>
          </p:cNvGraphicFramePr>
          <p:nvPr>
            <p:extLst>
              <p:ext uri="{D42A27DB-BD31-4B8C-83A1-F6EECF244321}">
                <p14:modId xmlns:p14="http://schemas.microsoft.com/office/powerpoint/2010/main" val="29385844"/>
              </p:ext>
            </p:extLst>
          </p:nvPr>
        </p:nvGraphicFramePr>
        <p:xfrm>
          <a:off x="2757805" y="2988074"/>
          <a:ext cx="6676390" cy="2863850"/>
        </p:xfrm>
        <a:graphic>
          <a:graphicData uri="http://schemas.openxmlformats.org/drawingml/2006/table">
            <a:tbl>
              <a:tblPr firstRow="1" firstCol="1" bandRow="1">
                <a:tableStyleId>{A91F0D33-8C57-4600-99A7-42BC86742BE1}</a:tableStyleId>
              </a:tblPr>
              <a:tblGrid>
                <a:gridCol w="1637665">
                  <a:extLst>
                    <a:ext uri="{9D8B030D-6E8A-4147-A177-3AD203B41FA5}">
                      <a16:colId xmlns:a16="http://schemas.microsoft.com/office/drawing/2014/main" val="1591092576"/>
                    </a:ext>
                  </a:extLst>
                </a:gridCol>
                <a:gridCol w="1931035">
                  <a:extLst>
                    <a:ext uri="{9D8B030D-6E8A-4147-A177-3AD203B41FA5}">
                      <a16:colId xmlns:a16="http://schemas.microsoft.com/office/drawing/2014/main" val="1785260022"/>
                    </a:ext>
                  </a:extLst>
                </a:gridCol>
                <a:gridCol w="1553845">
                  <a:extLst>
                    <a:ext uri="{9D8B030D-6E8A-4147-A177-3AD203B41FA5}">
                      <a16:colId xmlns:a16="http://schemas.microsoft.com/office/drawing/2014/main" val="4120921378"/>
                    </a:ext>
                  </a:extLst>
                </a:gridCol>
                <a:gridCol w="1553845">
                  <a:extLst>
                    <a:ext uri="{9D8B030D-6E8A-4147-A177-3AD203B41FA5}">
                      <a16:colId xmlns:a16="http://schemas.microsoft.com/office/drawing/2014/main" val="652343778"/>
                    </a:ext>
                  </a:extLst>
                </a:gridCol>
              </a:tblGrid>
              <a:tr h="171831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Model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0814816"/>
                  </a:ext>
                </a:extLst>
              </a:tr>
              <a:tr h="5727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Fraction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7711134"/>
                  </a:ext>
                </a:extLst>
              </a:tr>
              <a:tr h="5727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244623"/>
                  </a:ext>
                </a:extLst>
              </a:tr>
            </a:tbl>
          </a:graphicData>
        </a:graphic>
      </p:graphicFrame>
      <p:pic>
        <p:nvPicPr>
          <p:cNvPr id="11" name="Picture 10">
            <a:extLst>
              <a:ext uri="{FF2B5EF4-FFF2-40B4-BE49-F238E27FC236}">
                <a16:creationId xmlns:a16="http://schemas.microsoft.com/office/drawing/2014/main" id="{2101062F-F5A8-4742-9CEB-350694B883E5}"/>
              </a:ext>
            </a:extLst>
          </p:cNvPr>
          <p:cNvPicPr>
            <a:picLocks noChangeAspect="1"/>
          </p:cNvPicPr>
          <p:nvPr/>
        </p:nvPicPr>
        <p:blipFill>
          <a:blip r:embed="rId4"/>
          <a:stretch>
            <a:fillRect/>
          </a:stretch>
        </p:blipFill>
        <p:spPr>
          <a:xfrm>
            <a:off x="4707354" y="3221882"/>
            <a:ext cx="1280160" cy="1280160"/>
          </a:xfrm>
          <a:prstGeom prst="rect">
            <a:avLst/>
          </a:prstGeom>
        </p:spPr>
      </p:pic>
      <p:pic>
        <p:nvPicPr>
          <p:cNvPr id="12" name="Picture 11">
            <a:extLst>
              <a:ext uri="{FF2B5EF4-FFF2-40B4-BE49-F238E27FC236}">
                <a16:creationId xmlns:a16="http://schemas.microsoft.com/office/drawing/2014/main" id="{3782163E-EFBE-914C-A0F6-DB5336327D7C}"/>
              </a:ext>
            </a:extLst>
          </p:cNvPr>
          <p:cNvPicPr>
            <a:picLocks noChangeAspect="1"/>
          </p:cNvPicPr>
          <p:nvPr/>
        </p:nvPicPr>
        <p:blipFill>
          <a:blip r:embed="rId5"/>
          <a:stretch>
            <a:fillRect/>
          </a:stretch>
        </p:blipFill>
        <p:spPr>
          <a:xfrm>
            <a:off x="6459150" y="3221882"/>
            <a:ext cx="1282700" cy="1280160"/>
          </a:xfrm>
          <a:prstGeom prst="rect">
            <a:avLst/>
          </a:prstGeom>
        </p:spPr>
      </p:pic>
      <p:pic>
        <p:nvPicPr>
          <p:cNvPr id="13" name="Picture 12">
            <a:extLst>
              <a:ext uri="{FF2B5EF4-FFF2-40B4-BE49-F238E27FC236}">
                <a16:creationId xmlns:a16="http://schemas.microsoft.com/office/drawing/2014/main" id="{459FAF19-8430-6244-8438-5F36FF69718E}"/>
              </a:ext>
            </a:extLst>
          </p:cNvPr>
          <p:cNvPicPr>
            <a:picLocks noChangeAspect="1"/>
          </p:cNvPicPr>
          <p:nvPr/>
        </p:nvPicPr>
        <p:blipFill>
          <a:blip r:embed="rId6"/>
          <a:stretch>
            <a:fillRect/>
          </a:stretch>
        </p:blipFill>
        <p:spPr>
          <a:xfrm>
            <a:off x="8007168" y="3221882"/>
            <a:ext cx="1280160" cy="1280160"/>
          </a:xfrm>
          <a:prstGeom prst="rect">
            <a:avLst/>
          </a:prstGeom>
        </p:spPr>
      </p:pic>
      <p:sp>
        <p:nvSpPr>
          <p:cNvPr id="10"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210</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2D32FB2E-EC85-7547-997A-F8CC3AB0EE91}"/>
              </a:ext>
            </a:extLst>
          </p:cNvPr>
          <p:cNvSpPr/>
          <p:nvPr/>
        </p:nvSpPr>
        <p:spPr>
          <a:xfrm>
            <a:off x="1876701" y="710292"/>
            <a:ext cx="8458200" cy="830997"/>
          </a:xfrm>
          <a:prstGeom prst="rect">
            <a:avLst/>
          </a:prstGeom>
        </p:spPr>
        <p:txBody>
          <a:bodyPr wrap="square">
            <a:spAutoFit/>
          </a:bodyPr>
          <a:lstStyle/>
          <a:p>
            <a:pPr marL="46831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Label the identified tick marks on each number line below to match the models.</a:t>
            </a:r>
          </a:p>
        </p:txBody>
      </p:sp>
      <p:pic>
        <p:nvPicPr>
          <p:cNvPr id="7" name="Picture 6" descr="Chart, box and whisker chart&#10;&#10;Description automatically generated">
            <a:extLst>
              <a:ext uri="{FF2B5EF4-FFF2-40B4-BE49-F238E27FC236}">
                <a16:creationId xmlns:a16="http://schemas.microsoft.com/office/drawing/2014/main" id="{8318BA61-04D3-9C4D-A5F8-4B3C61882332}"/>
              </a:ext>
            </a:extLst>
          </p:cNvPr>
          <p:cNvPicPr>
            <a:picLocks noChangeAspect="1"/>
          </p:cNvPicPr>
          <p:nvPr/>
        </p:nvPicPr>
        <p:blipFill>
          <a:blip r:embed="rId3"/>
          <a:stretch>
            <a:fillRect/>
          </a:stretch>
        </p:blipFill>
        <p:spPr>
          <a:xfrm>
            <a:off x="3902075" y="2066968"/>
            <a:ext cx="4387850" cy="3034030"/>
          </a:xfrm>
          <a:prstGeom prst="rect">
            <a:avLst/>
          </a:prstGeom>
        </p:spPr>
      </p:pic>
      <p:sp>
        <p:nvSpPr>
          <p:cNvPr id="8"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71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70349866-9A2F-9642-8136-D99DA46E15A8}"/>
              </a:ext>
            </a:extLst>
          </p:cNvPr>
          <p:cNvSpPr/>
          <p:nvPr/>
        </p:nvSpPr>
        <p:spPr>
          <a:xfrm>
            <a:off x="1068779" y="648990"/>
            <a:ext cx="10180172"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Express the shaded part of each model as a fraction and as a percentage.</a:t>
            </a:r>
          </a:p>
        </p:txBody>
      </p:sp>
      <p:graphicFrame>
        <p:nvGraphicFramePr>
          <p:cNvPr id="3" name="Table 2">
            <a:extLst>
              <a:ext uri="{FF2B5EF4-FFF2-40B4-BE49-F238E27FC236}">
                <a16:creationId xmlns:a16="http://schemas.microsoft.com/office/drawing/2014/main" id="{60CB3116-8B82-3A41-A4CD-7F7E1AB13504}"/>
              </a:ext>
            </a:extLst>
          </p:cNvPr>
          <p:cNvGraphicFramePr>
            <a:graphicFrameLocks noGrp="1"/>
          </p:cNvGraphicFramePr>
          <p:nvPr>
            <p:extLst>
              <p:ext uri="{D42A27DB-BD31-4B8C-83A1-F6EECF244321}">
                <p14:modId xmlns:p14="http://schemas.microsoft.com/office/powerpoint/2010/main" val="3462605139"/>
              </p:ext>
            </p:extLst>
          </p:nvPr>
        </p:nvGraphicFramePr>
        <p:xfrm>
          <a:off x="2376407" y="1833367"/>
          <a:ext cx="7676568" cy="3668533"/>
        </p:xfrm>
        <a:graphic>
          <a:graphicData uri="http://schemas.openxmlformats.org/drawingml/2006/table">
            <a:tbl>
              <a:tblPr firstRow="1" firstCol="1" bandRow="1">
                <a:tableStyleId>{A91F0D33-8C57-4600-99A7-42BC86742BE1}</a:tableStyleId>
              </a:tblPr>
              <a:tblGrid>
                <a:gridCol w="1896208">
                  <a:extLst>
                    <a:ext uri="{9D8B030D-6E8A-4147-A177-3AD203B41FA5}">
                      <a16:colId xmlns:a16="http://schemas.microsoft.com/office/drawing/2014/main" val="2868549115"/>
                    </a:ext>
                  </a:extLst>
                </a:gridCol>
                <a:gridCol w="1926534">
                  <a:extLst>
                    <a:ext uri="{9D8B030D-6E8A-4147-A177-3AD203B41FA5}">
                      <a16:colId xmlns:a16="http://schemas.microsoft.com/office/drawing/2014/main" val="1977205066"/>
                    </a:ext>
                  </a:extLst>
                </a:gridCol>
                <a:gridCol w="1926534">
                  <a:extLst>
                    <a:ext uri="{9D8B030D-6E8A-4147-A177-3AD203B41FA5}">
                      <a16:colId xmlns:a16="http://schemas.microsoft.com/office/drawing/2014/main" val="4008043827"/>
                    </a:ext>
                  </a:extLst>
                </a:gridCol>
                <a:gridCol w="1927292">
                  <a:extLst>
                    <a:ext uri="{9D8B030D-6E8A-4147-A177-3AD203B41FA5}">
                      <a16:colId xmlns:a16="http://schemas.microsoft.com/office/drawing/2014/main" val="154749931"/>
                    </a:ext>
                  </a:extLst>
                </a:gridCol>
              </a:tblGrid>
              <a:tr h="220146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Model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199237"/>
                  </a:ext>
                </a:extLst>
              </a:tr>
              <a:tr h="733533">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Fraction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2878970"/>
                  </a:ext>
                </a:extLst>
              </a:tr>
              <a:tr h="733533">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9945502"/>
                  </a:ext>
                </a:extLst>
              </a:tr>
            </a:tbl>
          </a:graphicData>
        </a:graphic>
      </p:graphicFrame>
      <p:pic>
        <p:nvPicPr>
          <p:cNvPr id="10" name="Picture 9">
            <a:extLst>
              <a:ext uri="{FF2B5EF4-FFF2-40B4-BE49-F238E27FC236}">
                <a16:creationId xmlns:a16="http://schemas.microsoft.com/office/drawing/2014/main" id="{19499DAA-4CE9-3649-B93D-D7603204A035}"/>
              </a:ext>
            </a:extLst>
          </p:cNvPr>
          <p:cNvPicPr>
            <a:picLocks noChangeAspect="1"/>
          </p:cNvPicPr>
          <p:nvPr/>
        </p:nvPicPr>
        <p:blipFill>
          <a:blip r:embed="rId3"/>
          <a:stretch>
            <a:fillRect/>
          </a:stretch>
        </p:blipFill>
        <p:spPr>
          <a:xfrm>
            <a:off x="4603514" y="2308473"/>
            <a:ext cx="1280160" cy="1280160"/>
          </a:xfrm>
          <a:prstGeom prst="rect">
            <a:avLst/>
          </a:prstGeom>
        </p:spPr>
      </p:pic>
      <p:pic>
        <p:nvPicPr>
          <p:cNvPr id="11" name="Picture 10">
            <a:extLst>
              <a:ext uri="{FF2B5EF4-FFF2-40B4-BE49-F238E27FC236}">
                <a16:creationId xmlns:a16="http://schemas.microsoft.com/office/drawing/2014/main" id="{ACDB2D4B-6DD3-9C4C-9696-5E94A63981EA}"/>
              </a:ext>
            </a:extLst>
          </p:cNvPr>
          <p:cNvPicPr>
            <a:picLocks noChangeAspect="1"/>
          </p:cNvPicPr>
          <p:nvPr/>
        </p:nvPicPr>
        <p:blipFill>
          <a:blip r:embed="rId4"/>
          <a:stretch>
            <a:fillRect/>
          </a:stretch>
        </p:blipFill>
        <p:spPr>
          <a:xfrm>
            <a:off x="6507689" y="2308473"/>
            <a:ext cx="1280160" cy="1280160"/>
          </a:xfrm>
          <a:prstGeom prst="rect">
            <a:avLst/>
          </a:prstGeom>
        </p:spPr>
      </p:pic>
      <p:pic>
        <p:nvPicPr>
          <p:cNvPr id="12" name="Picture 11">
            <a:extLst>
              <a:ext uri="{FF2B5EF4-FFF2-40B4-BE49-F238E27FC236}">
                <a16:creationId xmlns:a16="http://schemas.microsoft.com/office/drawing/2014/main" id="{E50C0446-EA17-3C48-9FC7-60B40C38F64E}"/>
              </a:ext>
            </a:extLst>
          </p:cNvPr>
          <p:cNvPicPr>
            <a:picLocks noChangeAspect="1"/>
          </p:cNvPicPr>
          <p:nvPr/>
        </p:nvPicPr>
        <p:blipFill>
          <a:blip r:embed="rId5"/>
          <a:stretch>
            <a:fillRect/>
          </a:stretch>
        </p:blipFill>
        <p:spPr>
          <a:xfrm>
            <a:off x="8427362" y="2308473"/>
            <a:ext cx="1280160" cy="1280160"/>
          </a:xfrm>
          <a:prstGeom prst="rect">
            <a:avLst/>
          </a:prstGeom>
        </p:spPr>
      </p:pic>
      <p:sp>
        <p:nvSpPr>
          <p:cNvPr id="13"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210</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71072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8803"/>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4" name="Rectangle 3">
            <a:extLst>
              <a:ext uri="{FF2B5EF4-FFF2-40B4-BE49-F238E27FC236}">
                <a16:creationId xmlns:a16="http://schemas.microsoft.com/office/drawing/2014/main" id="{28853ABC-DADE-924D-B06F-31B56BCC7722}"/>
              </a:ext>
            </a:extLst>
          </p:cNvPr>
          <p:cNvSpPr/>
          <p:nvPr/>
        </p:nvSpPr>
        <p:spPr>
          <a:xfrm>
            <a:off x="1918445" y="506033"/>
            <a:ext cx="8355110" cy="3631763"/>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8788">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Percentages represent                            relationships where each percentage is a part per 100. In this case, 100% is  </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a:extLst>
              <a:ext uri="{FF2B5EF4-FFF2-40B4-BE49-F238E27FC236}">
                <a16:creationId xmlns:a16="http://schemas.microsoft.com/office/drawing/2014/main" id="{DBE364A8-E426-8E43-93CB-24845E9896C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544541" y="1538829"/>
            <a:ext cx="2094811" cy="783084"/>
          </a:xfrm>
          <a:prstGeom prst="rect">
            <a:avLst/>
          </a:prstGeom>
        </p:spPr>
      </p:pic>
      <p:pic>
        <p:nvPicPr>
          <p:cNvPr id="11" name="Picture 10">
            <a:extLst>
              <a:ext uri="{FF2B5EF4-FFF2-40B4-BE49-F238E27FC236}">
                <a16:creationId xmlns:a16="http://schemas.microsoft.com/office/drawing/2014/main" id="{4DF37AB9-C4B7-0043-90B3-CCF2184777B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76566" y="3086001"/>
            <a:ext cx="3735949" cy="791704"/>
          </a:xfrm>
          <a:prstGeom prst="rect">
            <a:avLst/>
          </a:prstGeom>
        </p:spPr>
      </p:pic>
      <p:sp>
        <p:nvSpPr>
          <p:cNvPr id="8"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210</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5802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1681" y="546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5.8.3 Guided Instruction: Using Ratio Models to Represent Percentages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84381" y="280731"/>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B2BE9AFC-D858-8947-AE27-3738478587E3}"/>
              </a:ext>
            </a:extLst>
          </p:cNvPr>
          <p:cNvSpPr/>
          <p:nvPr/>
        </p:nvSpPr>
        <p:spPr>
          <a:xfrm>
            <a:off x="970500" y="1331161"/>
            <a:ext cx="10555650" cy="2677656"/>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Double number lines, tape diagrams, and ratio tables can be used to model percentages similarly to other ratios. These can be helpful for determining equivalent ratios and solving problems involving percentages.</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Consider a cooking pot that can hold 36 liters of water. The double number line diagram models this situation.</a:t>
            </a:r>
          </a:p>
        </p:txBody>
      </p:sp>
      <p:pic>
        <p:nvPicPr>
          <p:cNvPr id="8" name="Picture 7" descr="Chart&#10;&#10;Description automatically generated">
            <a:extLst>
              <a:ext uri="{FF2B5EF4-FFF2-40B4-BE49-F238E27FC236}">
                <a16:creationId xmlns:a16="http://schemas.microsoft.com/office/drawing/2014/main" id="{A408A115-8B54-594A-BA85-54A1BD53C67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41290" b="13870"/>
          <a:stretch/>
        </p:blipFill>
        <p:spPr bwMode="auto">
          <a:xfrm>
            <a:off x="2668270" y="4868078"/>
            <a:ext cx="6855460" cy="1661160"/>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211</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1448790" y="241676"/>
                <a:ext cx="9047760" cy="4708981"/>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percentage of the pot is filled when it contains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liters of water?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Circle where the answer to the previous question is represented on the number line diagram.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How many parts were the totals on each number line,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liters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split into?</a:t>
                </a:r>
              </a:p>
            </p:txBody>
          </p:sp>
        </mc:Choice>
        <mc:Fallback xmlns="">
          <p:sp>
            <p:nvSpPr>
              <p:cNvPr id="2" name="Rectangle 1">
                <a:extLst>
                  <a:ext uri="{FF2B5EF4-FFF2-40B4-BE49-F238E27FC236}">
                    <a16:creationId xmlns="" xmlns:a16="http://schemas.microsoft.com/office/drawing/2014/main" xmlns:a14="http://schemas.microsoft.com/office/drawing/2010/main" id="{22E7CAFC-319F-CE4F-8B26-ED2749A56CDA}"/>
                  </a:ext>
                </a:extLst>
              </p:cNvPr>
              <p:cNvSpPr>
                <a:spLocks noRot="1" noChangeAspect="1" noMove="1" noResize="1" noEditPoints="1" noAdjustHandles="1" noChangeArrowheads="1" noChangeShapeType="1" noTextEdit="1"/>
              </p:cNvSpPr>
              <p:nvPr/>
            </p:nvSpPr>
            <p:spPr>
              <a:xfrm>
                <a:off x="1448790" y="241676"/>
                <a:ext cx="9047760" cy="4708981"/>
              </a:xfrm>
              <a:prstGeom prst="rect">
                <a:avLst/>
              </a:prstGeom>
              <a:blipFill rotWithShape="0">
                <a:blip r:embed="rId3"/>
                <a:stretch>
                  <a:fillRect l="-741" t="-907" b="-1425"/>
                </a:stretch>
              </a:blipFill>
            </p:spPr>
            <p:txBody>
              <a:bodyPr/>
              <a:lstStyle/>
              <a:p>
                <a:r>
                  <a:rPr lang="en-US">
                    <a:noFill/>
                  </a:rPr>
                  <a:t> </a:t>
                </a:r>
              </a:p>
            </p:txBody>
          </p:sp>
        </mc:Fallback>
      </mc:AlternateContent>
      <p:sp>
        <p:nvSpPr>
          <p:cNvPr id="6"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330036" y="469911"/>
                <a:ext cx="9829108" cy="1015663"/>
              </a:xfrm>
              <a:prstGeom prst="rect">
                <a:avLst/>
              </a:prstGeom>
            </p:spPr>
            <p:txBody>
              <a:bodyPr wrap="square">
                <a:spAutoFit/>
              </a:bodyPr>
              <a:lstStyle/>
              <a:p>
                <a:pPr marL="4572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An equivalent ratio table can also be used to model similar thinking. Determine the factor that was multiplied by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36</m:t>
                    </m:r>
                  </m:oMath>
                </a14:m>
                <a:r>
                  <a:rPr lang="en-US" sz="2000" dirty="0">
                    <a:latin typeface="Verdana" panose="020B0604030504040204" pitchFamily="34" charset="0"/>
                    <a:ea typeface="Verdana" panose="020B0604030504040204" pitchFamily="34" charset="0"/>
                    <a:cs typeface="Verdana" panose="020B0604030504040204" pitchFamily="34" charset="0"/>
                  </a:rPr>
                  <a:t> to get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and use it to complete the blanks below.</a:t>
                </a:r>
              </a:p>
            </p:txBody>
          </p:sp>
        </mc:Choice>
        <mc:Fallback xmlns="">
          <p:sp>
            <p:nvSpPr>
              <p:cNvPr id="8" name="Rectangle 7">
                <a:extLst>
                  <a:ext uri="{FF2B5EF4-FFF2-40B4-BE49-F238E27FC236}">
                    <a16:creationId xmlns="" xmlns:a16="http://schemas.microsoft.com/office/drawing/2014/main" xmlns:a14="http://schemas.microsoft.com/office/drawing/2010/main" id="{CECD6B6F-929B-8F47-BFEE-44ED1D0E863F}"/>
                  </a:ext>
                </a:extLst>
              </p:cNvPr>
              <p:cNvSpPr>
                <a:spLocks noRot="1" noChangeAspect="1" noMove="1" noResize="1" noEditPoints="1" noAdjustHandles="1" noChangeArrowheads="1" noChangeShapeType="1" noTextEdit="1"/>
              </p:cNvSpPr>
              <p:nvPr/>
            </p:nvSpPr>
            <p:spPr>
              <a:xfrm>
                <a:off x="1330036" y="469911"/>
                <a:ext cx="9829108" cy="1015663"/>
              </a:xfrm>
              <a:prstGeom prst="rect">
                <a:avLst/>
              </a:prstGeom>
              <a:blipFill rotWithShape="0">
                <a:blip r:embed="rId3"/>
                <a:stretch>
                  <a:fillRect l="-682" t="-4192" b="-958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7F24CDF-E4D6-D742-B7D0-916C7FC8E5D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09151" y="1582036"/>
            <a:ext cx="6973698" cy="1593059"/>
          </a:xfrm>
          <a:prstGeom prst="rect">
            <a:avLst/>
          </a:prstGeom>
        </p:spPr>
      </p:pic>
      <p:sp>
        <p:nvSpPr>
          <p:cNvPr id="10" name="Rectangle 9">
            <a:extLst>
              <a:ext uri="{FF2B5EF4-FFF2-40B4-BE49-F238E27FC236}">
                <a16:creationId xmlns:a16="http://schemas.microsoft.com/office/drawing/2014/main" id="{A7D0EB25-29A6-5443-BFDE-AB65B4EECCBD}"/>
              </a:ext>
            </a:extLst>
          </p:cNvPr>
          <p:cNvSpPr/>
          <p:nvPr/>
        </p:nvSpPr>
        <p:spPr>
          <a:xfrm>
            <a:off x="1330036" y="3548391"/>
            <a:ext cx="9829108" cy="1015663"/>
          </a:xfrm>
          <a:prstGeom prst="rect">
            <a:avLst/>
          </a:prstGeom>
        </p:spPr>
        <p:txBody>
          <a:bodyPr wrap="square">
            <a:spAutoFit/>
          </a:bodyPr>
          <a:lstStyle/>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Describe how the factor used to find the equivalent ratio in the table relates to how the number lines were divided in the number line diagram.</a:t>
            </a:r>
          </a:p>
        </p:txBody>
      </p:sp>
      <p:sp>
        <p:nvSpPr>
          <p:cNvPr id="9"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211</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no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199408" y="469911"/>
                <a:ext cx="10090364" cy="2554545"/>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Tape diagrams can also be used to represent problems involving percentages.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At Millennium Middle School, there are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70</m:t>
                    </m:r>
                  </m:oMath>
                </a14:m>
                <a:r>
                  <a:rPr lang="en-US" sz="2000" dirty="0">
                    <a:latin typeface="Verdana" panose="020B0604030504040204" pitchFamily="34" charset="0"/>
                    <a:ea typeface="Verdana" panose="020B0604030504040204" pitchFamily="34" charset="0"/>
                    <a:cs typeface="Verdana" panose="020B0604030504040204" pitchFamily="34" charset="0"/>
                  </a:rPr>
                  <a:t> students in the school band. Of the band members,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40%</m:t>
                    </m:r>
                  </m:oMath>
                </a14:m>
                <a:r>
                  <a:rPr lang="en-US" sz="2000" dirty="0">
                    <a:latin typeface="Verdana" panose="020B0604030504040204" pitchFamily="34" charset="0"/>
                    <a:ea typeface="Verdana" panose="020B0604030504040204" pitchFamily="34" charset="0"/>
                    <a:cs typeface="Verdana" panose="020B0604030504040204" pitchFamily="34" charset="0"/>
                  </a:rPr>
                  <a:t> are sixth graders,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are seventh graders, and the rest are eighth graders.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     The tape diagrams shown represent the situation.</a:t>
                </a:r>
              </a:p>
            </p:txBody>
          </p:sp>
        </mc:Choice>
        <mc:Fallback xmlns="">
          <p:sp>
            <p:nvSpPr>
              <p:cNvPr id="8" name="Rectangle 7">
                <a:extLst>
                  <a:ext uri="{FF2B5EF4-FFF2-40B4-BE49-F238E27FC236}">
                    <a16:creationId xmlns="" xmlns:a16="http://schemas.microsoft.com/office/drawing/2014/main" xmlns:a14="http://schemas.microsoft.com/office/drawing/2010/main" id="{CECD6B6F-929B-8F47-BFEE-44ED1D0E863F}"/>
                  </a:ext>
                </a:extLst>
              </p:cNvPr>
              <p:cNvSpPr>
                <a:spLocks noRot="1" noChangeAspect="1" noMove="1" noResize="1" noEditPoints="1" noAdjustHandles="1" noChangeArrowheads="1" noChangeShapeType="1" noTextEdit="1"/>
              </p:cNvSpPr>
              <p:nvPr/>
            </p:nvSpPr>
            <p:spPr>
              <a:xfrm>
                <a:off x="1199408" y="469911"/>
                <a:ext cx="10090364" cy="2554545"/>
              </a:xfrm>
              <a:prstGeom prst="rect">
                <a:avLst/>
              </a:prstGeom>
              <a:blipFill rotWithShape="0">
                <a:blip r:embed="rId3"/>
                <a:stretch>
                  <a:fillRect l="-665" t="-1193" r="-785" b="-3341"/>
                </a:stretch>
              </a:blipFill>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3D19C65F-690C-3F43-A7DA-10B0706D5C26}"/>
              </a:ext>
            </a:extLst>
          </p:cNvPr>
          <p:cNvGraphicFramePr>
            <a:graphicFrameLocks noGrp="1"/>
          </p:cNvGraphicFramePr>
          <p:nvPr>
            <p:extLst>
              <p:ext uri="{D42A27DB-BD31-4B8C-83A1-F6EECF244321}">
                <p14:modId xmlns:p14="http://schemas.microsoft.com/office/powerpoint/2010/main" val="2104565649"/>
              </p:ext>
            </p:extLst>
          </p:nvPr>
        </p:nvGraphicFramePr>
        <p:xfrm>
          <a:off x="2225040" y="3315615"/>
          <a:ext cx="7341234" cy="1035925"/>
        </p:xfrm>
        <a:graphic>
          <a:graphicData uri="http://schemas.openxmlformats.org/drawingml/2006/table">
            <a:tbl>
              <a:tblPr firstRow="1" firstCol="1" bandRow="1">
                <a:tableStyleId>{A91F0D33-8C57-4600-99A7-42BC86742BE1}</a:tableStyleId>
              </a:tblPr>
              <a:tblGrid>
                <a:gridCol w="3657600">
                  <a:extLst>
                    <a:ext uri="{9D8B030D-6E8A-4147-A177-3AD203B41FA5}">
                      <a16:colId xmlns:a16="http://schemas.microsoft.com/office/drawing/2014/main" val="2536226388"/>
                    </a:ext>
                  </a:extLst>
                </a:gridCol>
                <a:gridCol w="731520">
                  <a:extLst>
                    <a:ext uri="{9D8B030D-6E8A-4147-A177-3AD203B41FA5}">
                      <a16:colId xmlns:a16="http://schemas.microsoft.com/office/drawing/2014/main" val="2551055131"/>
                    </a:ext>
                  </a:extLst>
                </a:gridCol>
                <a:gridCol w="746760">
                  <a:extLst>
                    <a:ext uri="{9D8B030D-6E8A-4147-A177-3AD203B41FA5}">
                      <a16:colId xmlns:a16="http://schemas.microsoft.com/office/drawing/2014/main" val="2034071266"/>
                    </a:ext>
                  </a:extLst>
                </a:gridCol>
                <a:gridCol w="746760">
                  <a:extLst>
                    <a:ext uri="{9D8B030D-6E8A-4147-A177-3AD203B41FA5}">
                      <a16:colId xmlns:a16="http://schemas.microsoft.com/office/drawing/2014/main" val="2211273914"/>
                    </a:ext>
                  </a:extLst>
                </a:gridCol>
                <a:gridCol w="746760">
                  <a:extLst>
                    <a:ext uri="{9D8B030D-6E8A-4147-A177-3AD203B41FA5}">
                      <a16:colId xmlns:a16="http://schemas.microsoft.com/office/drawing/2014/main" val="397194361"/>
                    </a:ext>
                  </a:extLst>
                </a:gridCol>
                <a:gridCol w="711834">
                  <a:extLst>
                    <a:ext uri="{9D8B030D-6E8A-4147-A177-3AD203B41FA5}">
                      <a16:colId xmlns:a16="http://schemas.microsoft.com/office/drawing/2014/main" val="3570021579"/>
                    </a:ext>
                  </a:extLst>
                </a:gridCol>
              </a:tblGrid>
              <a:tr h="423284">
                <a:tc>
                  <a:txBody>
                    <a:bodyPr/>
                    <a:lstStyle/>
                    <a:p>
                      <a:pPr marL="72771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band members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14957409"/>
                  </a:ext>
                </a:extLst>
              </a:tr>
              <a:tr h="164932">
                <a:tc>
                  <a:txBody>
                    <a:bodyPr/>
                    <a:lstStyle/>
                    <a:p>
                      <a:pPr marL="72771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7283324"/>
                  </a:ext>
                </a:extLst>
              </a:tr>
              <a:tr h="423284">
                <a:tc>
                  <a:txBody>
                    <a:bodyPr/>
                    <a:lstStyle/>
                    <a:p>
                      <a:pPr marL="72771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04431074"/>
                  </a:ext>
                </a:extLst>
              </a:tr>
            </a:tbl>
          </a:graphicData>
        </a:graphic>
      </p:graphicFrame>
      <p:sp>
        <p:nvSpPr>
          <p:cNvPr id="7"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91989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ectangle 7">
            <a:extLst>
              <a:ext uri="{FF2B5EF4-FFF2-40B4-BE49-F238E27FC236}">
                <a16:creationId xmlns:a16="http://schemas.microsoft.com/office/drawing/2014/main" id="{CECD6B6F-929B-8F47-BFEE-44ED1D0E863F}"/>
              </a:ext>
            </a:extLst>
          </p:cNvPr>
          <p:cNvSpPr/>
          <p:nvPr/>
        </p:nvSpPr>
        <p:spPr>
          <a:xfrm>
            <a:off x="1389413" y="469911"/>
            <a:ext cx="9710354" cy="5016758"/>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each small rectangle in the tape diagram of the band members with the number of students it represents.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each small rectangle in the tape diagram of the percentage of band members with the value it represents.</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band members are sixth graders?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Circle the part of the tape diagram that represents these students.</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13564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ectangle 7">
            <a:extLst>
              <a:ext uri="{FF2B5EF4-FFF2-40B4-BE49-F238E27FC236}">
                <a16:creationId xmlns:a16="http://schemas.microsoft.com/office/drawing/2014/main" id="{CECD6B6F-929B-8F47-BFEE-44ED1D0E863F}"/>
              </a:ext>
            </a:extLst>
          </p:cNvPr>
          <p:cNvSpPr/>
          <p:nvPr/>
        </p:nvSpPr>
        <p:spPr>
          <a:xfrm>
            <a:off x="1246909" y="469910"/>
            <a:ext cx="9995362" cy="5016758"/>
          </a:xfrm>
          <a:prstGeom prst="rect">
            <a:avLst/>
          </a:prstGeom>
        </p:spPr>
        <p:txBody>
          <a:bodyPr wrap="square">
            <a:spAutoFit/>
          </a:bodyPr>
          <a:lstStyle/>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How many band members are seventh graders?</a:t>
            </a: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Draw a rectangle around the part of the diagram that represents these students.</a:t>
            </a: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What percentage of the band members are eighth graders?</a:t>
            </a: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How many band members are eighth graders?</a:t>
            </a:r>
          </a:p>
        </p:txBody>
      </p:sp>
      <p:sp>
        <p:nvSpPr>
          <p:cNvPr id="6"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83073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0427" y="14540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5.8.4 Guided Practice: Using Ratio Models to Represent Percentages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0619" y="31142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591294" y="1378316"/>
                <a:ext cx="8813816" cy="646331"/>
              </a:xfrm>
              <a:prstGeom prst="rect">
                <a:avLst/>
              </a:prstGeom>
            </p:spPr>
            <p:txBody>
              <a:bodyPr wrap="square">
                <a:spAutoFit/>
              </a:bodyPr>
              <a:lstStyle/>
              <a:p>
                <a:pPr marL="342900" indent="-342900">
                  <a:buFont typeface="+mj-lt"/>
                  <a:buAutoNum type="arabi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Use the number line diagram to determine what percentage of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Then, complete the statement.</a:t>
                </a:r>
              </a:p>
            </p:txBody>
          </p:sp>
        </mc:Choice>
        <mc:Fallback xmlns="">
          <p:sp>
            <p:nvSpPr>
              <p:cNvPr id="2" name="Rectangle 1">
                <a:extLst>
                  <a:ext uri="{FF2B5EF4-FFF2-40B4-BE49-F238E27FC236}">
                    <a16:creationId xmlns="" xmlns:a16="http://schemas.microsoft.com/office/drawing/2014/main" xmlns:a14="http://schemas.microsoft.com/office/drawing/2010/main" id="{684678E3-B391-614C-B449-94320C557524}"/>
                  </a:ext>
                </a:extLst>
              </p:cNvPr>
              <p:cNvSpPr>
                <a:spLocks noRot="1" noChangeAspect="1" noMove="1" noResize="1" noEditPoints="1" noAdjustHandles="1" noChangeArrowheads="1" noChangeShapeType="1" noTextEdit="1"/>
              </p:cNvSpPr>
              <p:nvPr/>
            </p:nvSpPr>
            <p:spPr>
              <a:xfrm>
                <a:off x="1591294" y="1378316"/>
                <a:ext cx="8813816" cy="646331"/>
              </a:xfrm>
              <a:prstGeom prst="rect">
                <a:avLst/>
              </a:prstGeom>
              <a:blipFill rotWithShape="0">
                <a:blip r:embed="rId4"/>
                <a:stretch>
                  <a:fillRect l="-553" t="-4717" r="-968" b="-14151"/>
                </a:stretch>
              </a:blipFill>
            </p:spPr>
            <p:txBody>
              <a:bodyPr/>
              <a:lstStyle/>
              <a:p>
                <a:r>
                  <a:rPr lang="en-US">
                    <a:noFill/>
                  </a:rPr>
                  <a:t> </a:t>
                </a:r>
              </a:p>
            </p:txBody>
          </p:sp>
        </mc:Fallback>
      </mc:AlternateContent>
      <p:pic>
        <p:nvPicPr>
          <p:cNvPr id="9" name="Picture 8" descr="Shape, rectangle&#10;&#10;Description automatically generated">
            <a:extLst>
              <a:ext uri="{FF2B5EF4-FFF2-40B4-BE49-F238E27FC236}">
                <a16:creationId xmlns:a16="http://schemas.microsoft.com/office/drawing/2014/main" id="{814E9BA6-99BA-424F-A481-0255125C2445}"/>
              </a:ext>
            </a:extLst>
          </p:cNvPr>
          <p:cNvPicPr>
            <a:picLocks noChangeAspect="1"/>
          </p:cNvPicPr>
          <p:nvPr/>
        </p:nvPicPr>
        <p:blipFill>
          <a:blip r:embed="rId5"/>
          <a:stretch>
            <a:fillRect/>
          </a:stretch>
        </p:blipFill>
        <p:spPr>
          <a:xfrm>
            <a:off x="4484328" y="2259695"/>
            <a:ext cx="3581400" cy="1054100"/>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36B6A1FE-742A-1B43-BA88-2D7FC8EA8C04}"/>
                  </a:ext>
                </a:extLst>
              </p:cNvPr>
              <p:cNvSpPr/>
              <p:nvPr/>
            </p:nvSpPr>
            <p:spPr>
              <a:xfrm>
                <a:off x="2144946" y="3313795"/>
                <a:ext cx="8260164" cy="400110"/>
              </a:xfrm>
              <a:prstGeom prst="rect">
                <a:avLst/>
              </a:prstGeom>
            </p:spPr>
            <p:txBody>
              <a:bodyPr wrap="square">
                <a:spAutoFit/>
              </a:bodyPr>
              <a:lstStyle/>
              <a:p>
                <a:pPr algn="ctr">
                  <a:tabLst>
                    <a:tab pos="6788150" algn="l"/>
                  </a:tabLst>
                </a:pP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____</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0" name="Rectangle 9">
                <a:extLst>
                  <a:ext uri="{FF2B5EF4-FFF2-40B4-BE49-F238E27FC236}">
                    <a16:creationId xmlns:a16="http://schemas.microsoft.com/office/drawing/2014/main" id="{36B6A1FE-742A-1B43-BA88-2D7FC8EA8C04}"/>
                  </a:ext>
                </a:extLst>
              </p:cNvPr>
              <p:cNvSpPr>
                <a:spLocks noRot="1" noChangeAspect="1" noMove="1" noResize="1" noEditPoints="1" noAdjustHandles="1" noChangeArrowheads="1" noChangeShapeType="1" noTextEdit="1"/>
              </p:cNvSpPr>
              <p:nvPr/>
            </p:nvSpPr>
            <p:spPr>
              <a:xfrm>
                <a:off x="620946" y="3313795"/>
                <a:ext cx="8260164" cy="400110"/>
              </a:xfrm>
              <a:prstGeom prst="rect">
                <a:avLst/>
              </a:prstGeom>
              <a:blipFill>
                <a:blip r:embed="rId7"/>
                <a:stretch>
                  <a:fillRect t="-9375" b="-25000"/>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3F0B51E-A0B8-7545-9ABD-EC38DCA9A1E5}"/>
                  </a:ext>
                </a:extLst>
              </p:cNvPr>
              <p:cNvSpPr/>
              <p:nvPr/>
            </p:nvSpPr>
            <p:spPr>
              <a:xfrm>
                <a:off x="1591294" y="3953876"/>
                <a:ext cx="8813816" cy="646331"/>
              </a:xfrm>
              <a:prstGeom prst="rect">
                <a:avLst/>
              </a:prstGeom>
            </p:spPr>
            <p:txBody>
              <a:bodyPr wrap="square">
                <a:spAutoFit/>
              </a:bodyPr>
              <a:lstStyle/>
              <a:p>
                <a:pPr marL="457200" indent="-457200">
                  <a:buFont typeface="+mj-lt"/>
                  <a:buAutoNum type="arabicPeriod" startAt="2"/>
                </a:pPr>
                <a:r>
                  <a:rPr lang="en-US" sz="1800" dirty="0">
                    <a:latin typeface="Verdana" panose="020B0604030504040204" pitchFamily="34" charset="0"/>
                    <a:ea typeface="Times New Roman" panose="02020603050405020304" pitchFamily="18" charset="0"/>
                    <a:cs typeface="Times New Roman" panose="02020603050405020304" pitchFamily="18" charset="0"/>
                  </a:rPr>
                  <a:t>Use the tape diagram to determine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70%</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$60</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Then, complete the statement.</a:t>
                </a:r>
              </a:p>
            </p:txBody>
          </p:sp>
        </mc:Choice>
        <mc:Fallback xmlns="">
          <p:sp>
            <p:nvSpPr>
              <p:cNvPr id="12" name="Rectangle 11">
                <a:extLst>
                  <a:ext uri="{FF2B5EF4-FFF2-40B4-BE49-F238E27FC236}">
                    <a16:creationId xmlns="" xmlns:a16="http://schemas.microsoft.com/office/drawing/2014/main" xmlns:a14="http://schemas.microsoft.com/office/drawing/2010/main" id="{B3F0B51E-A0B8-7545-9ABD-EC38DCA9A1E5}"/>
                  </a:ext>
                </a:extLst>
              </p:cNvPr>
              <p:cNvSpPr>
                <a:spLocks noRot="1" noChangeAspect="1" noMove="1" noResize="1" noEditPoints="1" noAdjustHandles="1" noChangeArrowheads="1" noChangeShapeType="1" noTextEdit="1"/>
              </p:cNvSpPr>
              <p:nvPr/>
            </p:nvSpPr>
            <p:spPr>
              <a:xfrm>
                <a:off x="1591294" y="3953876"/>
                <a:ext cx="8813816" cy="646331"/>
              </a:xfrm>
              <a:prstGeom prst="rect">
                <a:avLst/>
              </a:prstGeom>
              <a:blipFill rotWithShape="0">
                <a:blip r:embed="rId8"/>
                <a:stretch>
                  <a:fillRect l="-553" t="-5660" b="-14151"/>
                </a:stretch>
              </a:blipFill>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2124EA82-F031-0843-96C2-3F5779B1B24D}"/>
              </a:ext>
            </a:extLst>
          </p:cNvPr>
          <p:cNvGraphicFramePr>
            <a:graphicFrameLocks noGrp="1"/>
          </p:cNvGraphicFramePr>
          <p:nvPr>
            <p:extLst>
              <p:ext uri="{D42A27DB-BD31-4B8C-83A1-F6EECF244321}">
                <p14:modId xmlns:p14="http://schemas.microsoft.com/office/powerpoint/2010/main" val="3319804806"/>
              </p:ext>
            </p:extLst>
          </p:nvPr>
        </p:nvGraphicFramePr>
        <p:xfrm>
          <a:off x="2425384" y="4768005"/>
          <a:ext cx="7228827" cy="1035925"/>
        </p:xfrm>
        <a:graphic>
          <a:graphicData uri="http://schemas.openxmlformats.org/drawingml/2006/table">
            <a:tbl>
              <a:tblPr firstRow="1" firstCol="1" bandRow="1">
                <a:tableStyleId>{A91F0D33-8C57-4600-99A7-42BC86742BE1}</a:tableStyleId>
              </a:tblPr>
              <a:tblGrid>
                <a:gridCol w="2336111">
                  <a:extLst>
                    <a:ext uri="{9D8B030D-6E8A-4147-A177-3AD203B41FA5}">
                      <a16:colId xmlns:a16="http://schemas.microsoft.com/office/drawing/2014/main" val="2536226388"/>
                    </a:ext>
                  </a:extLst>
                </a:gridCol>
                <a:gridCol w="493678">
                  <a:extLst>
                    <a:ext uri="{9D8B030D-6E8A-4147-A177-3AD203B41FA5}">
                      <a16:colId xmlns:a16="http://schemas.microsoft.com/office/drawing/2014/main" val="2551055131"/>
                    </a:ext>
                  </a:extLst>
                </a:gridCol>
                <a:gridCol w="486409">
                  <a:extLst>
                    <a:ext uri="{9D8B030D-6E8A-4147-A177-3AD203B41FA5}">
                      <a16:colId xmlns:a16="http://schemas.microsoft.com/office/drawing/2014/main" val="2034071266"/>
                    </a:ext>
                  </a:extLst>
                </a:gridCol>
                <a:gridCol w="503275">
                  <a:extLst>
                    <a:ext uri="{9D8B030D-6E8A-4147-A177-3AD203B41FA5}">
                      <a16:colId xmlns:a16="http://schemas.microsoft.com/office/drawing/2014/main" val="2211273914"/>
                    </a:ext>
                  </a:extLst>
                </a:gridCol>
                <a:gridCol w="474921">
                  <a:extLst>
                    <a:ext uri="{9D8B030D-6E8A-4147-A177-3AD203B41FA5}">
                      <a16:colId xmlns:a16="http://schemas.microsoft.com/office/drawing/2014/main" val="397194361"/>
                    </a:ext>
                  </a:extLst>
                </a:gridCol>
                <a:gridCol w="496186">
                  <a:extLst>
                    <a:ext uri="{9D8B030D-6E8A-4147-A177-3AD203B41FA5}">
                      <a16:colId xmlns:a16="http://schemas.microsoft.com/office/drawing/2014/main" val="3570021579"/>
                    </a:ext>
                  </a:extLst>
                </a:gridCol>
                <a:gridCol w="482009">
                  <a:extLst>
                    <a:ext uri="{9D8B030D-6E8A-4147-A177-3AD203B41FA5}">
                      <a16:colId xmlns:a16="http://schemas.microsoft.com/office/drawing/2014/main" val="3879633782"/>
                    </a:ext>
                  </a:extLst>
                </a:gridCol>
                <a:gridCol w="510363">
                  <a:extLst>
                    <a:ext uri="{9D8B030D-6E8A-4147-A177-3AD203B41FA5}">
                      <a16:colId xmlns:a16="http://schemas.microsoft.com/office/drawing/2014/main" val="29231295"/>
                    </a:ext>
                  </a:extLst>
                </a:gridCol>
                <a:gridCol w="474921">
                  <a:extLst>
                    <a:ext uri="{9D8B030D-6E8A-4147-A177-3AD203B41FA5}">
                      <a16:colId xmlns:a16="http://schemas.microsoft.com/office/drawing/2014/main" val="881934165"/>
                    </a:ext>
                  </a:extLst>
                </a:gridCol>
                <a:gridCol w="453656">
                  <a:extLst>
                    <a:ext uri="{9D8B030D-6E8A-4147-A177-3AD203B41FA5}">
                      <a16:colId xmlns:a16="http://schemas.microsoft.com/office/drawing/2014/main" val="2813721163"/>
                    </a:ext>
                  </a:extLst>
                </a:gridCol>
                <a:gridCol w="517298">
                  <a:extLst>
                    <a:ext uri="{9D8B030D-6E8A-4147-A177-3AD203B41FA5}">
                      <a16:colId xmlns:a16="http://schemas.microsoft.com/office/drawing/2014/main" val="3208194087"/>
                    </a:ext>
                  </a:extLst>
                </a:gridCol>
              </a:tblGrid>
              <a:tr h="423284">
                <a:tc>
                  <a:txBody>
                    <a:bodyPr/>
                    <a:lstStyle/>
                    <a:p>
                      <a:pPr marL="727710" marR="0" algn="r">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dollars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314957409"/>
                  </a:ext>
                </a:extLst>
              </a:tr>
              <a:tr h="164932">
                <a:tc>
                  <a:txBody>
                    <a:bodyPr/>
                    <a:lstStyle/>
                    <a:p>
                      <a:pPr marL="727710" marR="0" algn="r">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7283324"/>
                  </a:ext>
                </a:extLst>
              </a:tr>
              <a:tr h="423284">
                <a:tc>
                  <a:txBody>
                    <a:bodyPr/>
                    <a:lstStyle/>
                    <a:p>
                      <a:pPr marL="727710" marR="0" algn="r">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extLst>
                  <a:ext uri="{0D108BD9-81ED-4DB2-BD59-A6C34878D82A}">
                    <a16:rowId xmlns:a16="http://schemas.microsoft.com/office/drawing/2014/main" val="404431074"/>
                  </a:ext>
                </a:extLst>
              </a:tr>
            </a:tbl>
          </a:graphicData>
        </a:graphic>
      </p:graphicFrame>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FDFF92EA-B8F2-B14A-8BD3-0D15E0AFD6BC}"/>
                  </a:ext>
                </a:extLst>
              </p:cNvPr>
              <p:cNvSpPr/>
              <p:nvPr/>
            </p:nvSpPr>
            <p:spPr>
              <a:xfrm>
                <a:off x="2144946" y="6040061"/>
                <a:ext cx="8260164" cy="400110"/>
              </a:xfrm>
              <a:prstGeom prst="rect">
                <a:avLst/>
              </a:prstGeom>
            </p:spPr>
            <p:txBody>
              <a:bodyPr wrap="square">
                <a:spAutoFit/>
              </a:bodyPr>
              <a:lstStyle/>
              <a:p>
                <a:pPr algn="ctr">
                  <a:tabLst>
                    <a:tab pos="6788150" algn="l"/>
                  </a:tabLst>
                </a:pP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70%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s-ES" sz="2000"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6</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$_______</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5" name="Rectangle 14">
                <a:extLst>
                  <a:ext uri="{FF2B5EF4-FFF2-40B4-BE49-F238E27FC236}">
                    <a16:creationId xmlns:a16="http://schemas.microsoft.com/office/drawing/2014/main" id="{FDFF92EA-B8F2-B14A-8BD3-0D15E0AFD6BC}"/>
                  </a:ext>
                </a:extLst>
              </p:cNvPr>
              <p:cNvSpPr>
                <a:spLocks noRot="1" noChangeAspect="1" noMove="1" noResize="1" noEditPoints="1" noAdjustHandles="1" noChangeArrowheads="1" noChangeShapeType="1" noTextEdit="1"/>
              </p:cNvSpPr>
              <p:nvPr/>
            </p:nvSpPr>
            <p:spPr>
              <a:xfrm>
                <a:off x="620946" y="6040061"/>
                <a:ext cx="8260164" cy="400110"/>
              </a:xfrm>
              <a:prstGeom prst="rect">
                <a:avLst/>
              </a:prstGeom>
              <a:blipFill>
                <a:blip r:embed="rId9"/>
                <a:stretch>
                  <a:fillRect t="-9375" b="-28125"/>
                </a:stretch>
              </a:blipFill>
            </p:spPr>
            <p:txBody>
              <a:bodyPr/>
              <a:lstStyle/>
              <a:p>
                <a:r>
                  <a:rPr lang="en-CO">
                    <a:noFill/>
                  </a:rPr>
                  <a:t> </a:t>
                </a:r>
              </a:p>
            </p:txBody>
          </p:sp>
        </mc:Fallback>
      </mc:AlternateContent>
      <p:sp>
        <p:nvSpPr>
          <p:cNvPr id="14"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212</a:t>
            </a:r>
            <a:endParaRPr i="1" dirty="0">
              <a:latin typeface="Calibri"/>
              <a:ea typeface="Calibri"/>
              <a:cs typeface="Calibri"/>
              <a:sym typeface="Calibri"/>
            </a:endParaRPr>
          </a:p>
        </p:txBody>
      </p:sp>
      <p:pic>
        <p:nvPicPr>
          <p:cNvPr id="16" name="Google Shape;283;g104476d1465_1_17"/>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341912" y="480848"/>
                <a:ext cx="8992989" cy="1569660"/>
              </a:xfrm>
              <a:prstGeom prst="rect">
                <a:avLst/>
              </a:prstGeom>
            </p:spPr>
            <p:txBody>
              <a:bodyPr wrap="square">
                <a:spAutoFit/>
              </a:bodyPr>
              <a:lstStyle/>
              <a:p>
                <a:pPr marL="342900" indent="-3429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During a sale, a pair of jeans is on sale for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its regular price. The regular price of the jeans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Complete the ratio table to determine the sale price. Then, complete the statement.</a:t>
                </a:r>
              </a:p>
            </p:txBody>
          </p:sp>
        </mc:Choice>
        <mc:Fallback xmlns="">
          <p:sp>
            <p:nvSpPr>
              <p:cNvPr id="2" name="Rectangle 1">
                <a:extLst>
                  <a:ext uri="{FF2B5EF4-FFF2-40B4-BE49-F238E27FC236}">
                    <a16:creationId xmlns="" xmlns:a16="http://schemas.microsoft.com/office/drawing/2014/main" xmlns:a14="http://schemas.microsoft.com/office/drawing/2010/main" id="{684678E3-B391-614C-B449-94320C557524}"/>
                  </a:ext>
                </a:extLst>
              </p:cNvPr>
              <p:cNvSpPr>
                <a:spLocks noRot="1" noChangeAspect="1" noMove="1" noResize="1" noEditPoints="1" noAdjustHandles="1" noChangeArrowheads="1" noChangeShapeType="1" noTextEdit="1"/>
              </p:cNvSpPr>
              <p:nvPr/>
            </p:nvSpPr>
            <p:spPr>
              <a:xfrm>
                <a:off x="1341912" y="480848"/>
                <a:ext cx="8992989" cy="1569660"/>
              </a:xfrm>
              <a:prstGeom prst="rect">
                <a:avLst/>
              </a:prstGeom>
              <a:blipFill rotWithShape="0">
                <a:blip r:embed="rId3"/>
                <a:stretch>
                  <a:fillRect l="-1017" t="-3502"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0553FEE-FB4F-3A4E-9784-E41E53586307}"/>
                  </a:ext>
                </a:extLst>
              </p:cNvPr>
              <p:cNvGraphicFramePr>
                <a:graphicFrameLocks noGrp="1"/>
              </p:cNvGraphicFramePr>
              <p:nvPr>
                <p:extLst>
                  <p:ext uri="{D42A27DB-BD31-4B8C-83A1-F6EECF244321}">
                    <p14:modId xmlns:p14="http://schemas.microsoft.com/office/powerpoint/2010/main" val="3483146050"/>
                  </p:ext>
                </p:extLst>
              </p:nvPr>
            </p:nvGraphicFramePr>
            <p:xfrm>
              <a:off x="4120833" y="2502292"/>
              <a:ext cx="3950335" cy="1204595"/>
            </p:xfrm>
            <a:graphic>
              <a:graphicData uri="http://schemas.openxmlformats.org/drawingml/2006/table">
                <a:tbl>
                  <a:tblPr firstRow="1" firstCol="1" bandRow="1">
                    <a:tableStyleId>{A91F0D33-8C57-4600-99A7-42BC86742BE1}</a:tableStyleId>
                  </a:tblPr>
                  <a:tblGrid>
                    <a:gridCol w="1946275">
                      <a:extLst>
                        <a:ext uri="{9D8B030D-6E8A-4147-A177-3AD203B41FA5}">
                          <a16:colId xmlns:a16="http://schemas.microsoft.com/office/drawing/2014/main" val="1256253583"/>
                        </a:ext>
                      </a:extLst>
                    </a:gridCol>
                    <a:gridCol w="2004060">
                      <a:extLst>
                        <a:ext uri="{9D8B030D-6E8A-4147-A177-3AD203B41FA5}">
                          <a16:colId xmlns:a16="http://schemas.microsoft.com/office/drawing/2014/main" val="1917099839"/>
                        </a:ext>
                      </a:extLst>
                    </a:gridCol>
                  </a:tblGrid>
                  <a:tr h="4057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Price ($)</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36113685"/>
                      </a:ext>
                    </a:extLst>
                  </a:tr>
                  <a:tr h="4057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80</m:t>
                                </m:r>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5191401"/>
                      </a:ext>
                    </a:extLst>
                  </a:tr>
                  <a:tr h="3930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100</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1005700"/>
                      </a:ext>
                    </a:extLst>
                  </a:tr>
                </a:tbl>
              </a:graphicData>
            </a:graphic>
          </p:graphicFrame>
        </mc:Choice>
        <mc:Fallback xmlns="">
          <p:graphicFrame>
            <p:nvGraphicFramePr>
              <p:cNvPr id="3" name="Table 2">
                <a:extLst>
                  <a:ext uri="{FF2B5EF4-FFF2-40B4-BE49-F238E27FC236}">
                    <a16:creationId xmlns:a16="http://schemas.microsoft.com/office/drawing/2014/main" id="{A0553FEE-FB4F-3A4E-9784-E41E53586307}"/>
                  </a:ext>
                </a:extLst>
              </p:cNvPr>
              <p:cNvGraphicFramePr>
                <a:graphicFrameLocks noGrp="1"/>
              </p:cNvGraphicFramePr>
              <p:nvPr>
                <p:extLst>
                  <p:ext uri="{D42A27DB-BD31-4B8C-83A1-F6EECF244321}">
                    <p14:modId xmlns:p14="http://schemas.microsoft.com/office/powerpoint/2010/main" val="3483146050"/>
                  </p:ext>
                </p:extLst>
              </p:nvPr>
            </p:nvGraphicFramePr>
            <p:xfrm>
              <a:off x="2596832" y="2502291"/>
              <a:ext cx="3950335" cy="1204595"/>
            </p:xfrm>
            <a:graphic>
              <a:graphicData uri="http://schemas.openxmlformats.org/drawingml/2006/table">
                <a:tbl>
                  <a:tblPr firstRow="1" firstCol="1" bandRow="1">
                    <a:tableStyleId>{A91F0D33-8C57-4600-99A7-42BC86742BE1}</a:tableStyleId>
                  </a:tblPr>
                  <a:tblGrid>
                    <a:gridCol w="1946275">
                      <a:extLst>
                        <a:ext uri="{9D8B030D-6E8A-4147-A177-3AD203B41FA5}">
                          <a16:colId xmlns:a16="http://schemas.microsoft.com/office/drawing/2014/main" val="1256253583"/>
                        </a:ext>
                      </a:extLst>
                    </a:gridCol>
                    <a:gridCol w="2004060">
                      <a:extLst>
                        <a:ext uri="{9D8B030D-6E8A-4147-A177-3AD203B41FA5}">
                          <a16:colId xmlns:a16="http://schemas.microsoft.com/office/drawing/2014/main" val="1917099839"/>
                        </a:ext>
                      </a:extLst>
                    </a:gridCol>
                  </a:tblGrid>
                  <a:tr h="4057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Price ($)</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36113685"/>
                      </a:ext>
                    </a:extLst>
                  </a:tr>
                  <a:tr h="4057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101" t="-109375" r="-633" b="-103125"/>
                          </a:stretch>
                        </a:blipFill>
                      </a:tcPr>
                    </a:tc>
                    <a:extLst>
                      <a:ext uri="{0D108BD9-81ED-4DB2-BD59-A6C34878D82A}">
                        <a16:rowId xmlns:a16="http://schemas.microsoft.com/office/drawing/2014/main" val="2265191401"/>
                      </a:ext>
                    </a:extLst>
                  </a:tr>
                  <a:tr h="3930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101" t="-216129" r="-633" b="-6452"/>
                          </a:stretch>
                        </a:blipFill>
                      </a:tcPr>
                    </a:tc>
                    <a:extLst>
                      <a:ext uri="{0D108BD9-81ED-4DB2-BD59-A6C34878D82A}">
                        <a16:rowId xmlns:a16="http://schemas.microsoft.com/office/drawing/2014/main" val="4231005700"/>
                      </a:ext>
                    </a:extLst>
                  </a:tr>
                </a:tbl>
              </a:graphicData>
            </a:graphic>
          </p:graphicFrame>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CAC6E80F-8760-034E-8F15-75B050A1DD41}"/>
                  </a:ext>
                </a:extLst>
              </p:cNvPr>
              <p:cNvSpPr/>
              <p:nvPr/>
            </p:nvSpPr>
            <p:spPr>
              <a:xfrm>
                <a:off x="2074737" y="4225041"/>
                <a:ext cx="8260164" cy="400110"/>
              </a:xfrm>
              <a:prstGeom prst="rect">
                <a:avLst/>
              </a:prstGeom>
            </p:spPr>
            <p:txBody>
              <a:bodyPr wrap="square">
                <a:spAutoFit/>
              </a:bodyPr>
              <a:lstStyle/>
              <a:p>
                <a:pPr algn="ctr">
                  <a:tabLst>
                    <a:tab pos="6788150" algn="l"/>
                  </a:tabLst>
                </a:pP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s-ES" sz="2000"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75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$_______</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4" name="Rectangle 13">
                <a:extLst>
                  <a:ext uri="{FF2B5EF4-FFF2-40B4-BE49-F238E27FC236}">
                    <a16:creationId xmlns:a16="http://schemas.microsoft.com/office/drawing/2014/main" id="{CAC6E80F-8760-034E-8F15-75B050A1DD41}"/>
                  </a:ext>
                </a:extLst>
              </p:cNvPr>
              <p:cNvSpPr>
                <a:spLocks noRot="1" noChangeAspect="1" noMove="1" noResize="1" noEditPoints="1" noAdjustHandles="1" noChangeArrowheads="1" noChangeShapeType="1" noTextEdit="1"/>
              </p:cNvSpPr>
              <p:nvPr/>
            </p:nvSpPr>
            <p:spPr>
              <a:xfrm>
                <a:off x="550737" y="4225041"/>
                <a:ext cx="8260164" cy="400110"/>
              </a:xfrm>
              <a:prstGeom prst="rect">
                <a:avLst/>
              </a:prstGeom>
              <a:blipFill>
                <a:blip r:embed="rId6"/>
                <a:stretch>
                  <a:fillRect t="-6061" b="-24242"/>
                </a:stretch>
              </a:blipFill>
            </p:spPr>
            <p:txBody>
              <a:bodyPr/>
              <a:lstStyle/>
              <a:p>
                <a:r>
                  <a:rPr lang="en-CO">
                    <a:noFill/>
                  </a:rPr>
                  <a:t> </a:t>
                </a:r>
              </a:p>
            </p:txBody>
          </p:sp>
        </mc:Fallback>
      </mc:AlternateContent>
      <p:sp>
        <p:nvSpPr>
          <p:cNvPr id="8"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212</a:t>
            </a:r>
            <a:endParaRPr i="1" dirty="0">
              <a:latin typeface="Calibri"/>
              <a:ea typeface="Calibri"/>
              <a:cs typeface="Calibri"/>
              <a:sym typeface="Calibri"/>
            </a:endParaRPr>
          </a:p>
        </p:txBody>
      </p:sp>
      <p:pic>
        <p:nvPicPr>
          <p:cNvPr id="9"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07003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062"/>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31681" y="17410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5.8.5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84381" y="174106"/>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A66A031F-2EC8-DF4C-B3F5-E7AC5B8F3239}"/>
              </a:ext>
            </a:extLst>
          </p:cNvPr>
          <p:cNvSpPr/>
          <p:nvPr/>
        </p:nvSpPr>
        <p:spPr>
          <a:xfrm>
            <a:off x="1199408" y="1126600"/>
            <a:ext cx="9861764" cy="1323439"/>
          </a:xfrm>
          <a:prstGeom prst="rect">
            <a:avLst/>
          </a:prstGeom>
        </p:spPr>
        <p:txBody>
          <a:bodyPr wrap="square">
            <a:spAutoFit/>
          </a:bodyPr>
          <a:lstStyle/>
          <a:p>
            <a:pPr marL="468312" indent="-457200">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models to find the values that complete each statement. Show your work.</a:t>
            </a:r>
          </a:p>
          <a:p>
            <a:pPr marL="468312" indent="-457200">
              <a:buSzPts val="18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07988" indent="-7938">
              <a:buSzPts val="1800"/>
            </a:pPr>
            <a:r>
              <a:rPr lang="en-US" sz="2000" dirty="0">
                <a:latin typeface="Verdana" panose="020B0604030504040204" pitchFamily="34" charset="0"/>
                <a:ea typeface="Verdana" panose="020B0604030504040204" pitchFamily="34" charset="0"/>
                <a:cs typeface="Verdana" panose="020B0604030504040204" pitchFamily="34" charset="0"/>
              </a:rPr>
              <a:t>For the last row, use the model of your choice.</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289ABF59-0D02-5C4F-A9E7-0DEE2B73BF2D}"/>
                  </a:ext>
                </a:extLst>
              </p:cNvPr>
              <p:cNvGraphicFramePr>
                <a:graphicFrameLocks noGrp="1"/>
              </p:cNvGraphicFramePr>
              <p:nvPr>
                <p:extLst>
                  <p:ext uri="{D42A27DB-BD31-4B8C-83A1-F6EECF244321}">
                    <p14:modId xmlns:p14="http://schemas.microsoft.com/office/powerpoint/2010/main" val="3992741768"/>
                  </p:ext>
                </p:extLst>
              </p:nvPr>
            </p:nvGraphicFramePr>
            <p:xfrm>
              <a:off x="2065868" y="2551636"/>
              <a:ext cx="7987108" cy="3883552"/>
            </p:xfrm>
            <a:graphic>
              <a:graphicData uri="http://schemas.openxmlformats.org/drawingml/2006/table">
                <a:tbl>
                  <a:tblPr firstRow="1" firstCol="1" bandRow="1">
                    <a:tableStyleId>{A91F0D33-8C57-4600-99A7-42BC86742BE1}</a:tableStyleId>
                  </a:tblPr>
                  <a:tblGrid>
                    <a:gridCol w="2991469">
                      <a:extLst>
                        <a:ext uri="{9D8B030D-6E8A-4147-A177-3AD203B41FA5}">
                          <a16:colId xmlns:a16="http://schemas.microsoft.com/office/drawing/2014/main" val="831578889"/>
                        </a:ext>
                      </a:extLst>
                    </a:gridCol>
                    <a:gridCol w="4995639">
                      <a:extLst>
                        <a:ext uri="{9D8B030D-6E8A-4147-A177-3AD203B41FA5}">
                          <a16:colId xmlns:a16="http://schemas.microsoft.com/office/drawing/2014/main" val="3007372335"/>
                        </a:ext>
                      </a:extLst>
                    </a:gridCol>
                  </a:tblGrid>
                  <a:tr h="117693">
                    <a:tc>
                      <a:txBody>
                        <a:bodyPr/>
                        <a:lstStyle/>
                        <a:p>
                          <a:pPr marL="0" marR="0" algn="ctr">
                            <a:spcBef>
                              <a:spcPts val="0"/>
                            </a:spcBef>
                            <a:spcAft>
                              <a:spcPts val="0"/>
                            </a:spcAft>
                          </a:pPr>
                          <a:r>
                            <a:rPr lang="en-US" sz="1800" b="1">
                              <a:effectLst/>
                              <a:latin typeface="Verdana" panose="020B0604030504040204" pitchFamily="34" charset="0"/>
                              <a:ea typeface="Times New Roman" panose="02020603050405020304" pitchFamily="18" charset="0"/>
                              <a:cs typeface="Times New Roman" panose="02020603050405020304" pitchFamily="18" charset="0"/>
                            </a:rPr>
                            <a:t>Statement</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Model</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523411705"/>
                      </a:ext>
                    </a:extLst>
                  </a:tr>
                  <a:tr h="902308">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20%</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1800">
                                  <a:effectLst/>
                                  <a:latin typeface="Cambria Math" panose="02040503050406030204" pitchFamily="18" charset="0"/>
                                </a:rPr>
                                <m:t>60</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____.</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192894"/>
                      </a:ext>
                    </a:extLst>
                  </a:tr>
                  <a:tr h="902308">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____</a:t>
                          </a:r>
                          <a14:m>
                            <m:oMath xmlns:m="http://schemas.openxmlformats.org/officeDocument/2006/math">
                              <m:r>
                                <a:rPr lang="en-US" sz="1800">
                                  <a:effectLst/>
                                  <a:latin typeface="Cambria Math" panose="02040503050406030204" pitchFamily="18" charset="0"/>
                                </a:rPr>
                                <m:t>%</m:t>
                              </m:r>
                            </m:oMath>
                          </a14:m>
                          <a:r>
                            <a:rPr lang="en-US" sz="1800">
                              <a:effectLst/>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1800">
                                  <a:effectLst/>
                                  <a:latin typeface="Cambria Math" panose="02040503050406030204" pitchFamily="18" charset="0"/>
                                </a:rPr>
                                <m:t>25</m:t>
                              </m:r>
                            </m:oMath>
                          </a14:m>
                          <a:r>
                            <a:rPr lang="en-US" sz="180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rPr>
                                <m:t>12</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8291501"/>
                      </a:ext>
                    </a:extLst>
                  </a:tr>
                  <a:tr h="902308">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40%</m:t>
                              </m:r>
                            </m:oMath>
                          </a14:m>
                          <a:r>
                            <a:rPr lang="en-US" sz="1800">
                              <a:effectLst/>
                              <a:latin typeface="Verdana" panose="020B0604030504040204" pitchFamily="34" charset="0"/>
                              <a:ea typeface="Verdana" panose="020B0604030504040204" pitchFamily="34" charset="0"/>
                              <a:cs typeface="Verdana" panose="020B0604030504040204" pitchFamily="34" charset="0"/>
                            </a:rPr>
                            <a:t> of ____ is </a:t>
                          </a:r>
                          <a14:m>
                            <m:oMath xmlns:m="http://schemas.openxmlformats.org/officeDocument/2006/math">
                              <m:r>
                                <a:rPr lang="en-US" sz="1800">
                                  <a:effectLst/>
                                  <a:latin typeface="Cambria Math" panose="02040503050406030204" pitchFamily="18" charset="0"/>
                                </a:rPr>
                                <m:t>28</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5352811"/>
                      </a:ext>
                    </a:extLst>
                  </a:tr>
                  <a:tr h="902308">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16%</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1800">
                                  <a:effectLst/>
                                  <a:latin typeface="Cambria Math" panose="02040503050406030204" pitchFamily="18" charset="0"/>
                                </a:rPr>
                                <m:t>125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____.</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7031988"/>
                      </a:ext>
                    </a:extLst>
                  </a:tr>
                </a:tbl>
              </a:graphicData>
            </a:graphic>
          </p:graphicFrame>
        </mc:Choice>
        <mc:Fallback xmlns="">
          <p:graphicFrame>
            <p:nvGraphicFramePr>
              <p:cNvPr id="3" name="Table 2">
                <a:extLst>
                  <a:ext uri="{FF2B5EF4-FFF2-40B4-BE49-F238E27FC236}">
                    <a16:creationId xmlns:a16="http://schemas.microsoft.com/office/drawing/2014/main" id="{289ABF59-0D02-5C4F-A9E7-0DEE2B73BF2D}"/>
                  </a:ext>
                </a:extLst>
              </p:cNvPr>
              <p:cNvGraphicFramePr>
                <a:graphicFrameLocks noGrp="1"/>
              </p:cNvGraphicFramePr>
              <p:nvPr>
                <p:extLst>
                  <p:ext uri="{D42A27DB-BD31-4B8C-83A1-F6EECF244321}">
                    <p14:modId xmlns:p14="http://schemas.microsoft.com/office/powerpoint/2010/main" val="3992741768"/>
                  </p:ext>
                </p:extLst>
              </p:nvPr>
            </p:nvGraphicFramePr>
            <p:xfrm>
              <a:off x="541868" y="2551636"/>
              <a:ext cx="7987108" cy="3883552"/>
            </p:xfrm>
            <a:graphic>
              <a:graphicData uri="http://schemas.openxmlformats.org/drawingml/2006/table">
                <a:tbl>
                  <a:tblPr firstRow="1" firstCol="1" bandRow="1">
                    <a:tableStyleId>{A91F0D33-8C57-4600-99A7-42BC86742BE1}</a:tableStyleId>
                  </a:tblPr>
                  <a:tblGrid>
                    <a:gridCol w="2991469">
                      <a:extLst>
                        <a:ext uri="{9D8B030D-6E8A-4147-A177-3AD203B41FA5}">
                          <a16:colId xmlns:a16="http://schemas.microsoft.com/office/drawing/2014/main" val="831578889"/>
                        </a:ext>
                      </a:extLst>
                    </a:gridCol>
                    <a:gridCol w="4995639">
                      <a:extLst>
                        <a:ext uri="{9D8B030D-6E8A-4147-A177-3AD203B41FA5}">
                          <a16:colId xmlns:a16="http://schemas.microsoft.com/office/drawing/2014/main" val="3007372335"/>
                        </a:ext>
                      </a:extLst>
                    </a:gridCol>
                  </a:tblGrid>
                  <a:tr h="274320">
                    <a:tc>
                      <a:txBody>
                        <a:bodyPr/>
                        <a:lstStyle/>
                        <a:p>
                          <a:pPr marL="0" marR="0" algn="ctr">
                            <a:spcBef>
                              <a:spcPts val="0"/>
                            </a:spcBef>
                            <a:spcAft>
                              <a:spcPts val="0"/>
                            </a:spcAft>
                          </a:pPr>
                          <a:r>
                            <a:rPr lang="en-US" sz="1800" b="1">
                              <a:effectLst/>
                              <a:latin typeface="Verdana" panose="020B0604030504040204" pitchFamily="34" charset="0"/>
                              <a:ea typeface="Times New Roman" panose="02020603050405020304" pitchFamily="18" charset="0"/>
                              <a:cs typeface="Times New Roman" panose="02020603050405020304" pitchFamily="18" charset="0"/>
                            </a:rPr>
                            <a:t>Statement</a:t>
                          </a:r>
                          <a:endParaRPr lang="en-CO"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Model</a:t>
                          </a:r>
                          <a:endParaRPr lang="en-CO"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523411705"/>
                      </a:ext>
                    </a:extLst>
                  </a:tr>
                  <a:tr h="902308">
                    <a:tc>
                      <a:txBody>
                        <a:bodyPr/>
                        <a:lstStyle/>
                        <a:p>
                          <a:endParaRPr lang="en-CO"/>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4" t="-38028" r="-167373" b="-302817"/>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192894"/>
                      </a:ext>
                    </a:extLst>
                  </a:tr>
                  <a:tr h="902308">
                    <a:tc>
                      <a:txBody>
                        <a:bodyPr/>
                        <a:lstStyle/>
                        <a:p>
                          <a:endParaRPr lang="en-CO"/>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4" t="-138028" r="-167373" b="-202817"/>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8291501"/>
                      </a:ext>
                    </a:extLst>
                  </a:tr>
                  <a:tr h="902308">
                    <a:tc>
                      <a:txBody>
                        <a:bodyPr/>
                        <a:lstStyle/>
                        <a:p>
                          <a:endParaRPr lang="en-CO"/>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4" t="-234722" r="-167373" b="-100000"/>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5352811"/>
                      </a:ext>
                    </a:extLst>
                  </a:tr>
                  <a:tr h="902308">
                    <a:tc>
                      <a:txBody>
                        <a:bodyPr/>
                        <a:lstStyle/>
                        <a:p>
                          <a:endParaRPr lang="en-CO"/>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4" t="-339437" r="-167373" b="-1408"/>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7031988"/>
                      </a:ext>
                    </a:extLst>
                  </a:tr>
                </a:tbl>
              </a:graphicData>
            </a:graphic>
          </p:graphicFrame>
        </mc:Fallback>
      </mc:AlternateContent>
      <p:pic>
        <p:nvPicPr>
          <p:cNvPr id="14" name="Picture 13" descr="Shape, rectangle&#10;&#10;Description automatically generated">
            <a:extLst>
              <a:ext uri="{FF2B5EF4-FFF2-40B4-BE49-F238E27FC236}">
                <a16:creationId xmlns:a16="http://schemas.microsoft.com/office/drawing/2014/main" id="{C8D40956-F987-EA4A-B300-2886B57A0CED}"/>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228572" y="2898641"/>
            <a:ext cx="2658533" cy="782380"/>
          </a:xfrm>
          <a:prstGeom prst="rect">
            <a:avLst/>
          </a:prstGeom>
        </p:spPr>
      </p:pic>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80FE3C4D-D44B-204A-8199-4314BEB078CE}"/>
                  </a:ext>
                </a:extLst>
              </p:cNvPr>
              <p:cNvGraphicFramePr>
                <a:graphicFrameLocks noGrp="1"/>
              </p:cNvGraphicFramePr>
              <p:nvPr>
                <p:extLst>
                  <p:ext uri="{D42A27DB-BD31-4B8C-83A1-F6EECF244321}">
                    <p14:modId xmlns:p14="http://schemas.microsoft.com/office/powerpoint/2010/main" val="3866654563"/>
                  </p:ext>
                </p:extLst>
              </p:nvPr>
            </p:nvGraphicFramePr>
            <p:xfrm>
              <a:off x="5923771" y="3806731"/>
              <a:ext cx="3200400" cy="731520"/>
            </p:xfrm>
            <a:graphic>
              <a:graphicData uri="http://schemas.openxmlformats.org/drawingml/2006/table">
                <a:tbl>
                  <a:tblPr firstRow="1" firstCol="1" bandRow="1">
                    <a:tableStyleId>{A91F0D33-8C57-4600-99A7-42BC86742BE1}</a:tableStyleId>
                  </a:tblPr>
                  <a:tblGrid>
                    <a:gridCol w="1600200">
                      <a:extLst>
                        <a:ext uri="{9D8B030D-6E8A-4147-A177-3AD203B41FA5}">
                          <a16:colId xmlns:a16="http://schemas.microsoft.com/office/drawing/2014/main" val="864486572"/>
                        </a:ext>
                      </a:extLst>
                    </a:gridCol>
                    <a:gridCol w="1600200">
                      <a:extLst>
                        <a:ext uri="{9D8B030D-6E8A-4147-A177-3AD203B41FA5}">
                          <a16:colId xmlns:a16="http://schemas.microsoft.com/office/drawing/2014/main" val="2767218157"/>
                        </a:ext>
                      </a:extLst>
                    </a:gridCol>
                  </a:tblGrid>
                  <a:tr h="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Value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74338332"/>
                      </a:ext>
                    </a:extLst>
                  </a:tr>
                  <a:tr h="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100</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7032190"/>
                      </a:ext>
                    </a:extLst>
                  </a:tr>
                  <a:tr h="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915977"/>
                      </a:ext>
                    </a:extLst>
                  </a:tr>
                </a:tbl>
              </a:graphicData>
            </a:graphic>
          </p:graphicFrame>
        </mc:Choice>
        <mc:Fallback xmlns="">
          <p:graphicFrame>
            <p:nvGraphicFramePr>
              <p:cNvPr id="15" name="Table 14">
                <a:extLst>
                  <a:ext uri="{FF2B5EF4-FFF2-40B4-BE49-F238E27FC236}">
                    <a16:creationId xmlns:a16="http://schemas.microsoft.com/office/drawing/2014/main" id="{80FE3C4D-D44B-204A-8199-4314BEB078CE}"/>
                  </a:ext>
                </a:extLst>
              </p:cNvPr>
              <p:cNvGraphicFramePr>
                <a:graphicFrameLocks noGrp="1"/>
              </p:cNvGraphicFramePr>
              <p:nvPr>
                <p:extLst>
                  <p:ext uri="{D42A27DB-BD31-4B8C-83A1-F6EECF244321}">
                    <p14:modId xmlns:p14="http://schemas.microsoft.com/office/powerpoint/2010/main" val="3866654563"/>
                  </p:ext>
                </p:extLst>
              </p:nvPr>
            </p:nvGraphicFramePr>
            <p:xfrm>
              <a:off x="4399771" y="3806731"/>
              <a:ext cx="3200400" cy="731520"/>
            </p:xfrm>
            <a:graphic>
              <a:graphicData uri="http://schemas.openxmlformats.org/drawingml/2006/table">
                <a:tbl>
                  <a:tblPr firstRow="1" firstCol="1" bandRow="1">
                    <a:tableStyleId>{A91F0D33-8C57-4600-99A7-42BC86742BE1}</a:tableStyleId>
                  </a:tblPr>
                  <a:tblGrid>
                    <a:gridCol w="1600200">
                      <a:extLst>
                        <a:ext uri="{9D8B030D-6E8A-4147-A177-3AD203B41FA5}">
                          <a16:colId xmlns:a16="http://schemas.microsoft.com/office/drawing/2014/main" val="864486572"/>
                        </a:ext>
                      </a:extLst>
                    </a:gridCol>
                    <a:gridCol w="1600200">
                      <a:extLst>
                        <a:ext uri="{9D8B030D-6E8A-4147-A177-3AD203B41FA5}">
                          <a16:colId xmlns:a16="http://schemas.microsoft.com/office/drawing/2014/main" val="2767218157"/>
                        </a:ext>
                      </a:extLst>
                    </a:gridCol>
                  </a:tblGrid>
                  <a:tr h="24384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Percentage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74338332"/>
                      </a:ext>
                    </a:extLst>
                  </a:tr>
                  <a:tr h="24384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1587" t="-131579" r="-794" b="-110526"/>
                          </a:stretch>
                        </a:blipFill>
                      </a:tcPr>
                    </a:tc>
                    <a:extLst>
                      <a:ext uri="{0D108BD9-81ED-4DB2-BD59-A6C34878D82A}">
                        <a16:rowId xmlns:a16="http://schemas.microsoft.com/office/drawing/2014/main" val="3527032190"/>
                      </a:ext>
                    </a:extLst>
                  </a:tr>
                  <a:tr h="24384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915977"/>
                      </a:ext>
                    </a:extLst>
                  </a:tr>
                </a:tbl>
              </a:graphicData>
            </a:graphic>
          </p:graphicFrame>
        </mc:Fallback>
      </mc:AlternateContent>
      <p:graphicFrame>
        <p:nvGraphicFramePr>
          <p:cNvPr id="16" name="Table 15">
            <a:extLst>
              <a:ext uri="{FF2B5EF4-FFF2-40B4-BE49-F238E27FC236}">
                <a16:creationId xmlns:a16="http://schemas.microsoft.com/office/drawing/2014/main" id="{2D742288-F5FD-8B4A-9379-9E3526551352}"/>
              </a:ext>
            </a:extLst>
          </p:cNvPr>
          <p:cNvGraphicFramePr>
            <a:graphicFrameLocks noGrp="1"/>
          </p:cNvGraphicFramePr>
          <p:nvPr>
            <p:extLst>
              <p:ext uri="{D42A27DB-BD31-4B8C-83A1-F6EECF244321}">
                <p14:modId xmlns:p14="http://schemas.microsoft.com/office/powerpoint/2010/main" val="4045784309"/>
              </p:ext>
            </p:extLst>
          </p:nvPr>
        </p:nvGraphicFramePr>
        <p:xfrm>
          <a:off x="5730931" y="4807325"/>
          <a:ext cx="3167639" cy="549077"/>
        </p:xfrm>
        <a:graphic>
          <a:graphicData uri="http://schemas.openxmlformats.org/drawingml/2006/table">
            <a:tbl>
              <a:tblPr firstRow="1" firstCol="1" bandRow="1">
                <a:tableStyleId>{A91F0D33-8C57-4600-99A7-42BC86742BE1}</a:tableStyleId>
              </a:tblPr>
              <a:tblGrid>
                <a:gridCol w="1058267">
                  <a:extLst>
                    <a:ext uri="{9D8B030D-6E8A-4147-A177-3AD203B41FA5}">
                      <a16:colId xmlns:a16="http://schemas.microsoft.com/office/drawing/2014/main" val="2536226388"/>
                    </a:ext>
                  </a:extLst>
                </a:gridCol>
                <a:gridCol w="212837">
                  <a:extLst>
                    <a:ext uri="{9D8B030D-6E8A-4147-A177-3AD203B41FA5}">
                      <a16:colId xmlns:a16="http://schemas.microsoft.com/office/drawing/2014/main" val="2551055131"/>
                    </a:ext>
                  </a:extLst>
                </a:gridCol>
                <a:gridCol w="209703">
                  <a:extLst>
                    <a:ext uri="{9D8B030D-6E8A-4147-A177-3AD203B41FA5}">
                      <a16:colId xmlns:a16="http://schemas.microsoft.com/office/drawing/2014/main" val="2034071266"/>
                    </a:ext>
                  </a:extLst>
                </a:gridCol>
                <a:gridCol w="216974">
                  <a:extLst>
                    <a:ext uri="{9D8B030D-6E8A-4147-A177-3AD203B41FA5}">
                      <a16:colId xmlns:a16="http://schemas.microsoft.com/office/drawing/2014/main" val="2211273914"/>
                    </a:ext>
                  </a:extLst>
                </a:gridCol>
                <a:gridCol w="204750">
                  <a:extLst>
                    <a:ext uri="{9D8B030D-6E8A-4147-A177-3AD203B41FA5}">
                      <a16:colId xmlns:a16="http://schemas.microsoft.com/office/drawing/2014/main" val="397194361"/>
                    </a:ext>
                  </a:extLst>
                </a:gridCol>
                <a:gridCol w="213918">
                  <a:extLst>
                    <a:ext uri="{9D8B030D-6E8A-4147-A177-3AD203B41FA5}">
                      <a16:colId xmlns:a16="http://schemas.microsoft.com/office/drawing/2014/main" val="3570021579"/>
                    </a:ext>
                  </a:extLst>
                </a:gridCol>
                <a:gridCol w="207806">
                  <a:extLst>
                    <a:ext uri="{9D8B030D-6E8A-4147-A177-3AD203B41FA5}">
                      <a16:colId xmlns:a16="http://schemas.microsoft.com/office/drawing/2014/main" val="3879633782"/>
                    </a:ext>
                  </a:extLst>
                </a:gridCol>
                <a:gridCol w="220030">
                  <a:extLst>
                    <a:ext uri="{9D8B030D-6E8A-4147-A177-3AD203B41FA5}">
                      <a16:colId xmlns:a16="http://schemas.microsoft.com/office/drawing/2014/main" val="29231295"/>
                    </a:ext>
                  </a:extLst>
                </a:gridCol>
                <a:gridCol w="204750">
                  <a:extLst>
                    <a:ext uri="{9D8B030D-6E8A-4147-A177-3AD203B41FA5}">
                      <a16:colId xmlns:a16="http://schemas.microsoft.com/office/drawing/2014/main" val="881934165"/>
                    </a:ext>
                  </a:extLst>
                </a:gridCol>
                <a:gridCol w="195583">
                  <a:extLst>
                    <a:ext uri="{9D8B030D-6E8A-4147-A177-3AD203B41FA5}">
                      <a16:colId xmlns:a16="http://schemas.microsoft.com/office/drawing/2014/main" val="2813721163"/>
                    </a:ext>
                  </a:extLst>
                </a:gridCol>
                <a:gridCol w="223021">
                  <a:extLst>
                    <a:ext uri="{9D8B030D-6E8A-4147-A177-3AD203B41FA5}">
                      <a16:colId xmlns:a16="http://schemas.microsoft.com/office/drawing/2014/main" val="3208194087"/>
                    </a:ext>
                  </a:extLst>
                </a:gridCol>
              </a:tblGrid>
              <a:tr h="220504">
                <a:tc>
                  <a:txBody>
                    <a:bodyPr/>
                    <a:lstStyle/>
                    <a:p>
                      <a:pPr marL="727710" marR="0" algn="r">
                        <a:lnSpc>
                          <a:spcPct val="115000"/>
                        </a:lnSpc>
                        <a:spcBef>
                          <a:spcPts val="0"/>
                        </a:spcBef>
                        <a:spcAft>
                          <a:spcPts val="0"/>
                        </a:spcAft>
                      </a:pPr>
                      <a:r>
                        <a:rPr lang="en-US" sz="700" dirty="0">
                          <a:effectLst/>
                          <a:latin typeface="Verdana" panose="020B0604030504040204" pitchFamily="34" charset="0"/>
                          <a:ea typeface="Verdana" panose="020B0604030504040204" pitchFamily="34" charset="0"/>
                          <a:cs typeface="Verdana" panose="020B0604030504040204" pitchFamily="34" charset="0"/>
                        </a:rPr>
                        <a:t>value</a:t>
                      </a:r>
                      <a:endParaRPr lang="x-none" sz="4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4957409"/>
                  </a:ext>
                </a:extLst>
              </a:tr>
              <a:tr h="101533">
                <a:tc>
                  <a:txBody>
                    <a:bodyPr/>
                    <a:lstStyle/>
                    <a:p>
                      <a:pPr marL="727710" marR="0" algn="r">
                        <a:lnSpc>
                          <a:spcPct val="115000"/>
                        </a:lnSpc>
                        <a:spcBef>
                          <a:spcPts val="0"/>
                        </a:spcBef>
                        <a:spcAft>
                          <a:spcPts val="0"/>
                        </a:spcAft>
                      </a:pPr>
                      <a:endParaRPr lang="x-none" sz="4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7283324"/>
                  </a:ext>
                </a:extLst>
              </a:tr>
              <a:tr h="227040">
                <a:tc>
                  <a:txBody>
                    <a:bodyPr/>
                    <a:lstStyle/>
                    <a:p>
                      <a:pPr marL="727710" marR="0" algn="r">
                        <a:lnSpc>
                          <a:spcPct val="115000"/>
                        </a:lnSpc>
                        <a:spcBef>
                          <a:spcPts val="0"/>
                        </a:spcBef>
                        <a:spcAft>
                          <a:spcPts val="0"/>
                        </a:spcAft>
                      </a:pPr>
                      <a:r>
                        <a:rPr lang="en-US" sz="700" dirty="0">
                          <a:effectLst/>
                          <a:latin typeface="Verdana" panose="020B0604030504040204" pitchFamily="34" charset="0"/>
                          <a:ea typeface="Verdana" panose="020B0604030504040204" pitchFamily="34" charset="0"/>
                          <a:cs typeface="Verdana" panose="020B0604030504040204" pitchFamily="34" charset="0"/>
                        </a:rPr>
                        <a:t>%</a:t>
                      </a:r>
                      <a:endParaRPr lang="x-none" sz="4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431074"/>
                  </a:ext>
                </a:extLst>
              </a:tr>
            </a:tbl>
          </a:graphicData>
        </a:graphic>
      </p:graphicFrame>
      <p:sp>
        <p:nvSpPr>
          <p:cNvPr id="12"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213</a:t>
            </a:r>
            <a:endParaRPr i="1" dirty="0">
              <a:latin typeface="Calibri"/>
              <a:ea typeface="Calibri"/>
              <a:cs typeface="Calibri"/>
              <a:sym typeface="Calibri"/>
            </a:endParaRPr>
          </a:p>
        </p:txBody>
      </p:sp>
      <p:pic>
        <p:nvPicPr>
          <p:cNvPr id="17"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2756" y="-1492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5.8.6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3306" y="96495"/>
            <a:ext cx="747300" cy="747300"/>
          </a:xfrm>
          <a:prstGeom prst="rect">
            <a:avLst/>
          </a:prstGeom>
          <a:noFill/>
          <a:ln>
            <a:noFill/>
          </a:ln>
          <a:effectLst>
            <a:outerShdw blurRad="50800" dist="38100" dir="2700000" algn="tl" rotWithShape="0">
              <a:prstClr val="black">
                <a:alpha val="40000"/>
              </a:prstClr>
            </a:outerShdw>
          </a:effectLst>
        </p:spPr>
      </p:pic>
      <p:sp>
        <p:nvSpPr>
          <p:cNvPr id="10" name="Rectangle 9">
            <a:extLst>
              <a:ext uri="{FF2B5EF4-FFF2-40B4-BE49-F238E27FC236}">
                <a16:creationId xmlns:a16="http://schemas.microsoft.com/office/drawing/2014/main" id="{DEA87E55-5B6F-F845-8E4D-C1BC9143F86F}"/>
              </a:ext>
            </a:extLst>
          </p:cNvPr>
          <p:cNvSpPr/>
          <p:nvPr/>
        </p:nvSpPr>
        <p:spPr>
          <a:xfrm>
            <a:off x="1912291" y="996826"/>
            <a:ext cx="8422610" cy="1785104"/>
          </a:xfrm>
          <a:prstGeom prst="rect">
            <a:avLst/>
          </a:prstGeom>
        </p:spPr>
        <p:txBody>
          <a:bodyPr wrap="square">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Draw an </a:t>
            </a:r>
            <a:r>
              <a:rPr lang="en-US" sz="2200" b="1" dirty="0">
                <a:latin typeface="Verdana" panose="020B0604030504040204" pitchFamily="34" charset="0"/>
                <a:ea typeface="Verdana" panose="020B0604030504040204" pitchFamily="34" charset="0"/>
                <a:cs typeface="Verdana" panose="020B0604030504040204" pitchFamily="34" charset="0"/>
              </a:rPr>
              <a:t>X</a:t>
            </a:r>
            <a:r>
              <a:rPr lang="en-US" sz="2200" dirty="0">
                <a:latin typeface="Verdana" panose="020B0604030504040204" pitchFamily="34" charset="0"/>
                <a:ea typeface="Verdana" panose="020B0604030504040204" pitchFamily="34" charset="0"/>
                <a:cs typeface="Verdana" panose="020B0604030504040204" pitchFamily="34" charset="0"/>
              </a:rPr>
              <a:t> on each line to indicate where your current learning is related to each target.</a:t>
            </a:r>
          </a:p>
          <a:p>
            <a:pPr marL="342900" indent="-3429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 can make connections between ratios and percentages.</a:t>
            </a:r>
          </a:p>
        </p:txBody>
      </p:sp>
      <p:graphicFrame>
        <p:nvGraphicFramePr>
          <p:cNvPr id="12" name="Table 11">
            <a:extLst>
              <a:ext uri="{FF2B5EF4-FFF2-40B4-BE49-F238E27FC236}">
                <a16:creationId xmlns:a16="http://schemas.microsoft.com/office/drawing/2014/main" id="{D91BBBFF-72EB-314D-AEC7-156AF5239C23}"/>
              </a:ext>
            </a:extLst>
          </p:cNvPr>
          <p:cNvGraphicFramePr>
            <a:graphicFrameLocks noGrp="1"/>
          </p:cNvGraphicFramePr>
          <p:nvPr>
            <p:extLst>
              <p:ext uri="{D42A27DB-BD31-4B8C-83A1-F6EECF244321}">
                <p14:modId xmlns:p14="http://schemas.microsoft.com/office/powerpoint/2010/main" val="1659980516"/>
              </p:ext>
            </p:extLst>
          </p:nvPr>
        </p:nvGraphicFramePr>
        <p:xfrm>
          <a:off x="2259182" y="2884457"/>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val="1620700420"/>
                    </a:ext>
                  </a:extLst>
                </a:gridCol>
                <a:gridCol w="2557879">
                  <a:extLst>
                    <a:ext uri="{9D8B030D-6E8A-4147-A177-3AD203B41FA5}">
                      <a16:colId xmlns:a16="http://schemas.microsoft.com/office/drawing/2014/main" val="4291088732"/>
                    </a:ext>
                  </a:extLst>
                </a:gridCol>
                <a:gridCol w="2557879">
                  <a:extLst>
                    <a:ext uri="{9D8B030D-6E8A-4147-A177-3AD203B41FA5}">
                      <a16:colId xmlns:a16="http://schemas.microsoft.com/office/drawing/2014/main" val="1130624003"/>
                    </a:ext>
                  </a:extLst>
                </a:gridCol>
              </a:tblGrid>
              <a:tr h="0">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help.</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0158941"/>
                  </a:ext>
                </a:extLst>
              </a:tr>
            </a:tbl>
          </a:graphicData>
        </a:graphic>
      </p:graphicFrame>
      <p:cxnSp>
        <p:nvCxnSpPr>
          <p:cNvPr id="13" name="Straight Arrow Connector 12">
            <a:extLst>
              <a:ext uri="{FF2B5EF4-FFF2-40B4-BE49-F238E27FC236}">
                <a16:creationId xmlns:a16="http://schemas.microsoft.com/office/drawing/2014/main" id="{1A6854E7-C66F-2143-903B-7F4A8D69799E}"/>
              </a:ext>
            </a:extLst>
          </p:cNvPr>
          <p:cNvCxnSpPr>
            <a:cxnSpLocks/>
          </p:cNvCxnSpPr>
          <p:nvPr/>
        </p:nvCxnSpPr>
        <p:spPr>
          <a:xfrm>
            <a:off x="2146200" y="3539126"/>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A808557C-BC09-8449-89C3-3AD6E1E047DA}"/>
              </a:ext>
            </a:extLst>
          </p:cNvPr>
          <p:cNvSpPr/>
          <p:nvPr/>
        </p:nvSpPr>
        <p:spPr>
          <a:xfrm>
            <a:off x="1912291" y="4014089"/>
            <a:ext cx="8422610" cy="769441"/>
          </a:xfrm>
          <a:prstGeom prst="rect">
            <a:avLst/>
          </a:prstGeom>
        </p:spPr>
        <p:txBody>
          <a:bodyPr wrap="square">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I can use double-line diagrams, tape diagrams, and ratio tables to solve problems involving percentages.</a:t>
            </a:r>
          </a:p>
        </p:txBody>
      </p:sp>
      <p:graphicFrame>
        <p:nvGraphicFramePr>
          <p:cNvPr id="15" name="Table 14">
            <a:extLst>
              <a:ext uri="{FF2B5EF4-FFF2-40B4-BE49-F238E27FC236}">
                <a16:creationId xmlns:a16="http://schemas.microsoft.com/office/drawing/2014/main" id="{85CB4B92-4750-A34A-B9BC-51D6A3DF57F8}"/>
              </a:ext>
            </a:extLst>
          </p:cNvPr>
          <p:cNvGraphicFramePr>
            <a:graphicFrameLocks noGrp="1"/>
          </p:cNvGraphicFramePr>
          <p:nvPr>
            <p:extLst>
              <p:ext uri="{D42A27DB-BD31-4B8C-83A1-F6EECF244321}">
                <p14:modId xmlns:p14="http://schemas.microsoft.com/office/powerpoint/2010/main" val="2089693457"/>
              </p:ext>
            </p:extLst>
          </p:nvPr>
        </p:nvGraphicFramePr>
        <p:xfrm>
          <a:off x="2259182" y="5098972"/>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val="1620700420"/>
                    </a:ext>
                  </a:extLst>
                </a:gridCol>
                <a:gridCol w="2557879">
                  <a:extLst>
                    <a:ext uri="{9D8B030D-6E8A-4147-A177-3AD203B41FA5}">
                      <a16:colId xmlns:a16="http://schemas.microsoft.com/office/drawing/2014/main" val="4291088732"/>
                    </a:ext>
                  </a:extLst>
                </a:gridCol>
                <a:gridCol w="2557879">
                  <a:extLst>
                    <a:ext uri="{9D8B030D-6E8A-4147-A177-3AD203B41FA5}">
                      <a16:colId xmlns:a16="http://schemas.microsoft.com/office/drawing/2014/main" val="1130624003"/>
                    </a:ext>
                  </a:extLst>
                </a:gridCol>
              </a:tblGrid>
              <a:tr h="0">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need help.</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0158941"/>
                  </a:ext>
                </a:extLst>
              </a:tr>
            </a:tbl>
          </a:graphicData>
        </a:graphic>
      </p:graphicFrame>
      <p:cxnSp>
        <p:nvCxnSpPr>
          <p:cNvPr id="16" name="Straight Arrow Connector 15">
            <a:extLst>
              <a:ext uri="{FF2B5EF4-FFF2-40B4-BE49-F238E27FC236}">
                <a16:creationId xmlns:a16="http://schemas.microsoft.com/office/drawing/2014/main" id="{B0E514F0-20F8-744B-BC46-F80A92534B9C}"/>
              </a:ext>
            </a:extLst>
          </p:cNvPr>
          <p:cNvCxnSpPr>
            <a:cxnSpLocks/>
          </p:cNvCxnSpPr>
          <p:nvPr/>
        </p:nvCxnSpPr>
        <p:spPr>
          <a:xfrm>
            <a:off x="2146200" y="5753641"/>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213</a:t>
            </a:r>
            <a:endParaRPr i="1" dirty="0">
              <a:latin typeface="Calibri"/>
              <a:ea typeface="Calibri"/>
              <a:cs typeface="Calibri"/>
              <a:sym typeface="Calibri"/>
            </a:endParaRPr>
          </a:p>
        </p:txBody>
      </p:sp>
      <p:pic>
        <p:nvPicPr>
          <p:cNvPr id="1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Rectangle 9">
            <a:extLst>
              <a:ext uri="{FF2B5EF4-FFF2-40B4-BE49-F238E27FC236}">
                <a16:creationId xmlns:a16="http://schemas.microsoft.com/office/drawing/2014/main" id="{DEA87E55-5B6F-F845-8E4D-C1BC9143F86F}"/>
              </a:ext>
            </a:extLst>
          </p:cNvPr>
          <p:cNvSpPr/>
          <p:nvPr/>
        </p:nvSpPr>
        <p:spPr>
          <a:xfrm>
            <a:off x="1175657" y="638239"/>
            <a:ext cx="9895878" cy="830997"/>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Write one question you still have about solving problems involving percentages after today’s lesson.</a:t>
            </a:r>
          </a:p>
        </p:txBody>
      </p:sp>
      <p:sp>
        <p:nvSpPr>
          <p:cNvPr id="6" name="Google Shape;282;g104476d1465_1_17"/>
          <p:cNvSpPr txBox="1"/>
          <p:nvPr/>
        </p:nvSpPr>
        <p:spPr>
          <a:xfrm>
            <a:off x="866853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213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676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55235110"/>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1354</TotalTime>
  <Words>1230</Words>
  <Application>Microsoft Office PowerPoint</Application>
  <PresentationFormat>Widescreen</PresentationFormat>
  <Paragraphs>242</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Black</vt:lpstr>
      <vt:lpstr>Calibri</vt:lpstr>
      <vt:lpstr>Cambria</vt:lpstr>
      <vt:lpstr>Cambria Math</vt:lpstr>
      <vt:lpstr>Century Gothic</vt:lpstr>
      <vt:lpstr>Verdana</vt:lpstr>
      <vt:lpstr>Wingdings</vt:lpstr>
      <vt:lpstr>1_Office Theme</vt:lpstr>
      <vt:lpstr>6th Grade Accelerated Math  Unit 5, Lesson 8  Applying Ratio Relationships to Percentages  Volume 1, pg. 209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24</cp:revision>
  <dcterms:created xsi:type="dcterms:W3CDTF">2015-03-17T18:51:18Z</dcterms:created>
  <dcterms:modified xsi:type="dcterms:W3CDTF">2022-06-29T18:51:21Z</dcterms:modified>
</cp:coreProperties>
</file>