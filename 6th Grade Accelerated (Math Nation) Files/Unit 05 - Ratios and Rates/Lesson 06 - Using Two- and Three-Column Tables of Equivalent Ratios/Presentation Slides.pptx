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11" r:id="rId8"/>
    <p:sldId id="371" r:id="rId9"/>
    <p:sldId id="333" r:id="rId10"/>
    <p:sldId id="345" r:id="rId11"/>
    <p:sldId id="344" r:id="rId12"/>
    <p:sldId id="343" r:id="rId13"/>
    <p:sldId id="289" r:id="rId14"/>
    <p:sldId id="290" r:id="rId15"/>
    <p:sldId id="365" r:id="rId16"/>
    <p:sldId id="372" r:id="rId17"/>
    <p:sldId id="373" r:id="rId18"/>
    <p:sldId id="374" r:id="rId19"/>
    <p:sldId id="323" r:id="rId20"/>
    <p:sldId id="324" r:id="rId21"/>
    <p:sldId id="366" r:id="rId22"/>
    <p:sldId id="375" r:id="rId23"/>
    <p:sldId id="306" r:id="rId24"/>
    <p:sldId id="37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089"/>
    <p:restoredTop sz="94695"/>
  </p:normalViewPr>
  <p:slideViewPr>
    <p:cSldViewPr snapToGrid="0">
      <p:cViewPr varScale="1">
        <p:scale>
          <a:sx n="79" d="100"/>
          <a:sy n="79" d="100"/>
        </p:scale>
        <p:origin x="20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87025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274798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240415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754621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1882847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75987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0.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6</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5, Lesson 6</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Using Two- and Three-Column Tables of Equivalent Ratios</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a:t>
            </a:r>
            <a:r>
              <a:rPr lang="en-US" sz="2800" b="1" dirty="0">
                <a:solidFill>
                  <a:srgbClr val="417DBF"/>
                </a:solidFill>
                <a:latin typeface="Verdana"/>
                <a:ea typeface="Verdana"/>
                <a:cs typeface="Verdana"/>
                <a:sym typeface="Verdana"/>
              </a:rPr>
              <a:t>pg. 198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622538"/>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695288" y="119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71788" y="355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95288" y="1445450"/>
            <a:ext cx="8515512" cy="451485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fractions and numerical patterns to generate or complete a two- or three-column table to display equivalent part-to-part ratios and part-to-part-to-whole ratios. </a:t>
            </a:r>
          </a:p>
          <a:p>
            <a:pPr indent="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MA.6.AR.3.5</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ratios, rates, and unit rates, including comparisons, mixtures, ratios of lengths, and conversions within the same measurement system.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13950" y="38754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38600" y="14490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38600" y="1596390"/>
            <a:ext cx="87722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60389" y="10763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58186" y="35034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47D0272A-11B2-2D41-B623-95F5642FED5D}"/>
              </a:ext>
            </a:extLst>
          </p:cNvPr>
          <p:cNvSpPr/>
          <p:nvPr/>
        </p:nvSpPr>
        <p:spPr>
          <a:xfrm>
            <a:off x="1460389" y="1589491"/>
            <a:ext cx="8713835" cy="1938992"/>
          </a:xfrm>
          <a:prstGeom prst="rect">
            <a:avLst/>
          </a:prstGeom>
        </p:spPr>
        <p:txBody>
          <a:bodyPr wrap="square">
            <a:spAutoFit/>
          </a:bodyPr>
          <a:lstStyle/>
          <a:p>
            <a:pPr marL="342900" indent="-342900">
              <a:buFont typeface="Wingdings" pitchFamily="2" charset="2"/>
              <a:buChar char="q"/>
            </a:pPr>
            <a:r>
              <a:rPr lang="en-US" sz="2400" dirty="0">
                <a:latin typeface="Verdana" panose="020B0604030504040204" pitchFamily="34" charset="0"/>
                <a:ea typeface="Times New Roman" panose="02020603050405020304" pitchFamily="18" charset="0"/>
                <a:cs typeface="Times New Roman" panose="02020603050405020304" pitchFamily="18" charset="0"/>
              </a:rPr>
              <a:t>I can use two- and three-column tables to display equivalent ratios. </a:t>
            </a:r>
          </a:p>
          <a:p>
            <a:pPr marL="342900" indent="-342900">
              <a:buFont typeface="Wingdings" pitchFamily="2" charset="2"/>
              <a:buChar char="q"/>
            </a:pP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buFont typeface="Wingdings" pitchFamily="2" charset="2"/>
              <a:buChar char="q"/>
            </a:pPr>
            <a:r>
              <a:rPr lang="en-US" sz="2400" dirty="0">
                <a:latin typeface="Verdana" panose="020B0604030504040204" pitchFamily="34" charset="0"/>
                <a:ea typeface="Times New Roman" panose="02020603050405020304" pitchFamily="18" charset="0"/>
                <a:cs typeface="Times New Roman" panose="02020603050405020304" pitchFamily="18" charset="0"/>
              </a:rPr>
              <a:t>I can solve problems using two- and three-column tables of equivalent ratios.</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02488" y="5571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5.6.1 Warm-Up: Different Ways of Expressing Division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55188" y="26046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C3D5BA3-F841-5640-8871-BFB21088BBE9}"/>
                  </a:ext>
                </a:extLst>
              </p:cNvPr>
              <p:cNvSpPr/>
              <p:nvPr/>
            </p:nvSpPr>
            <p:spPr>
              <a:xfrm>
                <a:off x="1524001" y="1386026"/>
                <a:ext cx="9015150" cy="452431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In many Latin American countries and other countries around the world, the colon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used instead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 express division. Therefore, the expression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divided by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would be expressed as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instead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Using what you have learned about ratios, explain how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28÷4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used to express the same value.</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2. Write one question that comes to your mind after reading the information shown.</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xmlns:a14="http://schemas.microsoft.com/office/drawing/2010/main" xmlns="" id="{DC3D5BA3-F841-5640-8871-BFB21088BBE9}"/>
                  </a:ext>
                </a:extLst>
              </p:cNvPr>
              <p:cNvSpPr>
                <a:spLocks noRot="1" noChangeAspect="1" noMove="1" noResize="1" noEditPoints="1" noAdjustHandles="1" noChangeArrowheads="1" noChangeShapeType="1" noTextEdit="1"/>
              </p:cNvSpPr>
              <p:nvPr/>
            </p:nvSpPr>
            <p:spPr>
              <a:xfrm>
                <a:off x="1524001" y="1386026"/>
                <a:ext cx="9015150" cy="4524315"/>
              </a:xfrm>
              <a:prstGeom prst="rect">
                <a:avLst/>
              </a:prstGeom>
              <a:blipFill rotWithShape="0">
                <a:blip r:embed="rId4"/>
                <a:stretch>
                  <a:fillRect l="-1014" t="-1077" r="-2028" b="-1884"/>
                </a:stretch>
              </a:blipFill>
            </p:spPr>
            <p:txBody>
              <a:bodyPr/>
              <a:lstStyle/>
              <a:p>
                <a:r>
                  <a:rPr lang="en-US">
                    <a:noFill/>
                  </a:rPr>
                  <a:t> </a:t>
                </a:r>
              </a:p>
            </p:txBody>
          </p:sp>
        </mc:Fallback>
      </mc:AlternateContent>
      <p:sp>
        <p:nvSpPr>
          <p:cNvPr id="10"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198</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0608" y="3378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5.6.2 Exploration: Double Number Lines Versus Two-Column Tables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17159" y="29868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05AB5A2-AF35-B14C-AE54-D2A0628C823C}"/>
                  </a:ext>
                </a:extLst>
              </p:cNvPr>
              <p:cNvSpPr/>
              <p:nvPr/>
            </p:nvSpPr>
            <p:spPr>
              <a:xfrm>
                <a:off x="1569721" y="1521193"/>
                <a:ext cx="8823960"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on the following.</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In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2016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128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gigabytes (GB) of portable computer memory cost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$32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A double number line diagram that represents the situation is shown.</a:t>
                </a:r>
                <a:r>
                  <a:rPr lang="en-US" sz="2400" dirty="0"/>
                  <a:t> </a:t>
                </a:r>
              </a:p>
            </p:txBody>
          </p:sp>
        </mc:Choice>
        <mc:Fallback xmlns="">
          <p:sp>
            <p:nvSpPr>
              <p:cNvPr id="2" name="Rectangle 1">
                <a:extLst>
                  <a:ext uri="{FF2B5EF4-FFF2-40B4-BE49-F238E27FC236}">
                    <a16:creationId xmlns:a16="http://schemas.microsoft.com/office/drawing/2014/main" xmlns:a14="http://schemas.microsoft.com/office/drawing/2010/main" xmlns="" id="{B05AB5A2-AF35-B14C-AE54-D2A0628C823C}"/>
                  </a:ext>
                </a:extLst>
              </p:cNvPr>
              <p:cNvSpPr>
                <a:spLocks noRot="1" noChangeAspect="1" noMove="1" noResize="1" noEditPoints="1" noAdjustHandles="1" noChangeArrowheads="1" noChangeShapeType="1" noTextEdit="1"/>
              </p:cNvSpPr>
              <p:nvPr/>
            </p:nvSpPr>
            <p:spPr>
              <a:xfrm>
                <a:off x="1569721" y="1521193"/>
                <a:ext cx="8823960" cy="2677656"/>
              </a:xfrm>
              <a:prstGeom prst="rect">
                <a:avLst/>
              </a:prstGeom>
              <a:blipFill rotWithShape="0">
                <a:blip r:embed="rId4"/>
                <a:stretch>
                  <a:fillRect l="-1106" t="-2050" b="-4100"/>
                </a:stretch>
              </a:blipFill>
            </p:spPr>
            <p:txBody>
              <a:bodyPr/>
              <a:lstStyle/>
              <a:p>
                <a:r>
                  <a:rPr lang="en-US">
                    <a:noFill/>
                  </a:rPr>
                  <a:t> </a:t>
                </a:r>
              </a:p>
            </p:txBody>
          </p:sp>
        </mc:Fallback>
      </mc:AlternateContent>
      <p:pic>
        <p:nvPicPr>
          <p:cNvPr id="4" name="Picture 3" descr="Chart, box and whisker chart&#10;&#10;Description automatically generated">
            <a:extLst>
              <a:ext uri="{FF2B5EF4-FFF2-40B4-BE49-F238E27FC236}">
                <a16:creationId xmlns:a16="http://schemas.microsoft.com/office/drawing/2014/main" id="{BA2DAC7D-B6E8-354E-96D8-C464FA289EC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39678" y="4330265"/>
            <a:ext cx="8528322" cy="1760471"/>
          </a:xfrm>
          <a:prstGeom prst="rect">
            <a:avLst/>
          </a:prstGeom>
        </p:spPr>
      </p:pic>
      <p:sp>
        <p:nvSpPr>
          <p:cNvPr id="10"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199</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5150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descr="Chart, box and whisker chart&#10;&#10;Description automatically generated">
            <a:extLst>
              <a:ext uri="{FF2B5EF4-FFF2-40B4-BE49-F238E27FC236}">
                <a16:creationId xmlns:a16="http://schemas.microsoft.com/office/drawing/2014/main" id="{2BB42A1D-8E18-EC4F-AAC6-72CA1197AE4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91088" y="101165"/>
            <a:ext cx="8528322" cy="1760471"/>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6EBC228-FF81-F24F-AEB8-9068AF825BE0}"/>
                  </a:ext>
                </a:extLst>
              </p:cNvPr>
              <p:cNvSpPr/>
              <p:nvPr/>
            </p:nvSpPr>
            <p:spPr>
              <a:xfrm>
                <a:off x="1341120" y="1704577"/>
                <a:ext cx="9149976" cy="4654864"/>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One set of tick marks has already been drawn to show the result of multiplying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each by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Label the amount of memory and the cost for these tick marks.</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396875"/>
                <a:r>
                  <a:rPr lang="en-US" sz="2000" dirty="0">
                    <a:latin typeface="Verdana" panose="020B0604030504040204" pitchFamily="34" charset="0"/>
                    <a:ea typeface="Verdana" panose="020B0604030504040204" pitchFamily="34" charset="0"/>
                    <a:cs typeface="Verdana" panose="020B0604030504040204" pitchFamily="34" charset="0"/>
                  </a:rPr>
                  <a:t>2. Next, keep multiplying by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and drawing and labeling new tick marks until you can no longer clearly label each new tick mark with a number.</a:t>
                </a:r>
              </a:p>
              <a:p>
                <a:pPr marL="463550" indent="-3968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396875"/>
                <a:r>
                  <a:rPr lang="en-US" sz="2000" dirty="0">
                    <a:latin typeface="Verdana" panose="020B0604030504040204" pitchFamily="34" charset="0"/>
                    <a:ea typeface="Verdana" panose="020B0604030504040204" pitchFamily="34" charset="0"/>
                    <a:cs typeface="Verdana" panose="020B0604030504040204" pitchFamily="34" charset="0"/>
                  </a:rPr>
                  <a:t>3. Discuss with your partner whether or not it’s possible to clearly represent the cost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GB of memory on the double number line diagram. </a:t>
                </a:r>
              </a:p>
              <a:p>
                <a:pPr marL="463550" indent="-3968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396875"/>
                <a:r>
                  <a:rPr lang="en-US" sz="2000" dirty="0">
                    <a:latin typeface="Verdana" panose="020B0604030504040204" pitchFamily="34" charset="0"/>
                    <a:ea typeface="Verdana" panose="020B0604030504040204" pitchFamily="34" charset="0"/>
                    <a:cs typeface="Verdana" panose="020B0604030504040204" pitchFamily="34" charset="0"/>
                  </a:rPr>
                  <a:t>4. If it is possible, circle the cost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GB of memory on the double line diagram. If it is not possible, explain why not.</a:t>
                </a:r>
              </a:p>
            </p:txBody>
          </p:sp>
        </mc:Choice>
        <mc:Fallback xmlns="">
          <p:sp>
            <p:nvSpPr>
              <p:cNvPr id="3" name="Rectangle 2">
                <a:extLst>
                  <a:ext uri="{FF2B5EF4-FFF2-40B4-BE49-F238E27FC236}">
                    <a16:creationId xmlns:a16="http://schemas.microsoft.com/office/drawing/2014/main" xmlns:a14="http://schemas.microsoft.com/office/drawing/2010/main" xmlns="" id="{96EBC228-FF81-F24F-AEB8-9068AF825BE0}"/>
                  </a:ext>
                </a:extLst>
              </p:cNvPr>
              <p:cNvSpPr>
                <a:spLocks noRot="1" noChangeAspect="1" noMove="1" noResize="1" noEditPoints="1" noAdjustHandles="1" noChangeArrowheads="1" noChangeShapeType="1" noTextEdit="1"/>
              </p:cNvSpPr>
              <p:nvPr/>
            </p:nvSpPr>
            <p:spPr>
              <a:xfrm>
                <a:off x="1341120" y="1704577"/>
                <a:ext cx="9149976" cy="4654864"/>
              </a:xfrm>
              <a:prstGeom prst="rect">
                <a:avLst/>
              </a:prstGeom>
              <a:blipFill rotWithShape="0">
                <a:blip r:embed="rId4"/>
                <a:stretch>
                  <a:fillRect t="-917" r="-133" b="-1573"/>
                </a:stretch>
              </a:blipFill>
            </p:spPr>
            <p:txBody>
              <a:bodyPr/>
              <a:lstStyle/>
              <a:p>
                <a:r>
                  <a:rPr lang="en-US">
                    <a:noFill/>
                  </a:rPr>
                  <a:t> </a:t>
                </a:r>
              </a:p>
            </p:txBody>
          </p:sp>
        </mc:Fallback>
      </mc:AlternateContent>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199</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D32FB2E-EC85-7547-997A-F8CC3AB0EE91}"/>
                  </a:ext>
                </a:extLst>
              </p:cNvPr>
              <p:cNvSpPr/>
              <p:nvPr/>
            </p:nvSpPr>
            <p:spPr>
              <a:xfrm>
                <a:off x="1143000" y="357338"/>
                <a:ext cx="9273540" cy="1200329"/>
              </a:xfrm>
              <a:prstGeom prst="rect">
                <a:avLst/>
              </a:prstGeom>
            </p:spPr>
            <p:txBody>
              <a:bodyPr wrap="square">
                <a:spAutoFit/>
              </a:bodyPr>
              <a:lstStyle/>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5. A table representing the same situation is shown. Work with your partner to find the cost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Use as many or few rows as needed.</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2D32FB2E-EC85-7547-997A-F8CC3AB0EE91}"/>
                  </a:ext>
                </a:extLst>
              </p:cNvPr>
              <p:cNvSpPr>
                <a:spLocks noRot="1" noChangeAspect="1" noMove="1" noResize="1" noEditPoints="1" noAdjustHandles="1" noChangeArrowheads="1" noChangeShapeType="1" noTextEdit="1"/>
              </p:cNvSpPr>
              <p:nvPr/>
            </p:nvSpPr>
            <p:spPr>
              <a:xfrm>
                <a:off x="1143000" y="357338"/>
                <a:ext cx="9273540" cy="1200329"/>
              </a:xfrm>
              <a:prstGeom prst="rect">
                <a:avLst/>
              </a:prstGeom>
              <a:blipFill rotWithShape="0">
                <a:blip r:embed="rId3"/>
                <a:stretch>
                  <a:fillRect l="-920" t="-4061" r="-789" b="-10152"/>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340053DC-9427-6B42-8DF3-0F5C7E7A583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88380" y="1811905"/>
            <a:ext cx="5027910" cy="4223444"/>
          </a:xfrm>
          <a:prstGeom prst="rect">
            <a:avLst/>
          </a:prstGeom>
        </p:spPr>
      </p:pic>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199</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0349866-9A2F-9642-8136-D99DA46E15A8}"/>
                  </a:ext>
                </a:extLst>
              </p:cNvPr>
              <p:cNvSpPr/>
              <p:nvPr/>
            </p:nvSpPr>
            <p:spPr>
              <a:xfrm>
                <a:off x="1021080" y="230536"/>
                <a:ext cx="9372600" cy="4524315"/>
              </a:xfrm>
              <a:prstGeom prst="rect">
                <a:avLst/>
              </a:prstGeom>
            </p:spPr>
            <p:txBody>
              <a:bodyPr wrap="square">
                <a:spAutoFit/>
              </a:bodyPr>
              <a:lstStyle/>
              <a:p>
                <a:pPr marL="407988" indent="-407988"/>
                <a:r>
                  <a:rPr lang="en-US" sz="2400" dirty="0">
                    <a:latin typeface="Verdana" panose="020B0604030504040204" pitchFamily="34" charset="0"/>
                    <a:ea typeface="Times New Roman" panose="02020603050405020304" pitchFamily="18" charset="0"/>
                    <a:cs typeface="Times New Roman" panose="02020603050405020304" pitchFamily="18" charset="0"/>
                  </a:rPr>
                  <a:t>6. Explain your steps for determining the cost per gigabyte using the table.</a:t>
                </a: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r>
                  <a:rPr lang="en-US" sz="2400" dirty="0">
                    <a:latin typeface="Verdana" panose="020B0604030504040204" pitchFamily="34" charset="0"/>
                    <a:ea typeface="Times New Roman" panose="02020603050405020304" pitchFamily="18" charset="0"/>
                    <a:cs typeface="Times New Roman" panose="02020603050405020304" pitchFamily="18" charset="0"/>
                  </a:rPr>
                  <a:t>7. Use either the double line diagram or the ratio table to determine the cost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512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of portable computer memory at this rate.</a:t>
                </a: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07988" indent="-407988"/>
                <a:r>
                  <a:rPr lang="en-US" sz="2400" dirty="0">
                    <a:latin typeface="Verdana" panose="020B0604030504040204" pitchFamily="34" charset="0"/>
                    <a:ea typeface="Times New Roman" panose="02020603050405020304" pitchFamily="18" charset="0"/>
                    <a:cs typeface="Times New Roman" panose="02020603050405020304" pitchFamily="18" charset="0"/>
                  </a:rPr>
                  <a:t>8. Discuss with your partner which representation of the equivalent ratios you preferred using to find the costs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512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GB. Summarize your discussion.</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70349866-9A2F-9642-8136-D99DA46E15A8}"/>
                  </a:ext>
                </a:extLst>
              </p:cNvPr>
              <p:cNvSpPr>
                <a:spLocks noRot="1" noChangeAspect="1" noMove="1" noResize="1" noEditPoints="1" noAdjustHandles="1" noChangeArrowheads="1" noChangeShapeType="1" noTextEdit="1"/>
              </p:cNvSpPr>
              <p:nvPr/>
            </p:nvSpPr>
            <p:spPr>
              <a:xfrm>
                <a:off x="1021080" y="230536"/>
                <a:ext cx="9372600" cy="4524315"/>
              </a:xfrm>
              <a:prstGeom prst="rect">
                <a:avLst/>
              </a:prstGeom>
              <a:blipFill rotWithShape="0">
                <a:blip r:embed="rId3"/>
                <a:stretch>
                  <a:fillRect l="-1041" t="-1078" r="-1171" b="-2022"/>
                </a:stretch>
              </a:blipFill>
            </p:spPr>
            <p:txBody>
              <a:bodyPr/>
              <a:lstStyle/>
              <a:p>
                <a:r>
                  <a:rPr lang="en-US">
                    <a:noFill/>
                  </a:rPr>
                  <a:t> </a:t>
                </a:r>
              </a:p>
            </p:txBody>
          </p:sp>
        </mc:Fallback>
      </mc:AlternateContent>
      <p:sp>
        <p:nvSpPr>
          <p:cNvPr id="6"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199</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7107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503"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43D81465-F90D-ED49-A793-17F3BBBD2702}"/>
              </a:ext>
            </a:extLst>
          </p:cNvPr>
          <p:cNvGrpSpPr/>
          <p:nvPr/>
        </p:nvGrpSpPr>
        <p:grpSpPr>
          <a:xfrm>
            <a:off x="2771775" y="308293"/>
            <a:ext cx="6648450" cy="1395095"/>
            <a:chOff x="2021775" y="3082366"/>
            <a:chExt cx="6648450" cy="1395268"/>
          </a:xfrm>
        </p:grpSpPr>
        <p:grpSp>
          <p:nvGrpSpPr>
            <p:cNvPr id="7" name="Group 6">
              <a:extLst>
                <a:ext uri="{FF2B5EF4-FFF2-40B4-BE49-F238E27FC236}">
                  <a16:creationId xmlns:a16="http://schemas.microsoft.com/office/drawing/2014/main" id="{0F0C044F-D9E8-0640-B7F1-8113B4CC4986}"/>
                </a:ext>
              </a:extLst>
            </p:cNvPr>
            <p:cNvGrpSpPr/>
            <p:nvPr/>
          </p:nvGrpSpPr>
          <p:grpSpPr>
            <a:xfrm>
              <a:off x="2021775" y="3082366"/>
              <a:ext cx="6648450" cy="1395268"/>
              <a:chOff x="0" y="0"/>
              <a:chExt cx="6648450" cy="1395268"/>
            </a:xfrm>
          </p:grpSpPr>
          <p:sp>
            <p:nvSpPr>
              <p:cNvPr id="8" name="Rectangle 7">
                <a:extLst>
                  <a:ext uri="{FF2B5EF4-FFF2-40B4-BE49-F238E27FC236}">
                    <a16:creationId xmlns:a16="http://schemas.microsoft.com/office/drawing/2014/main" id="{28D7391C-8811-744E-9FB7-93836F9811D8}"/>
                  </a:ext>
                </a:extLst>
              </p:cNvPr>
              <p:cNvSpPr/>
              <p:nvPr/>
            </p:nvSpPr>
            <p:spPr>
              <a:xfrm>
                <a:off x="0" y="0"/>
                <a:ext cx="6648450" cy="139525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9" name="Rounded Rectangle 8">
                <a:extLst>
                  <a:ext uri="{FF2B5EF4-FFF2-40B4-BE49-F238E27FC236}">
                    <a16:creationId xmlns:a16="http://schemas.microsoft.com/office/drawing/2014/main" id="{AB75013B-95DB-9143-B421-11A05EF9713C}"/>
                  </a:ext>
                </a:extLst>
              </p:cNvPr>
              <p:cNvSpPr/>
              <p:nvPr/>
            </p:nvSpPr>
            <p:spPr>
              <a:xfrm>
                <a:off x="0" y="0"/>
                <a:ext cx="6648450" cy="1395268"/>
              </a:xfrm>
              <a:prstGeom prst="roundRect">
                <a:avLst>
                  <a:gd name="adj" fmla="val 16667"/>
                </a:avLst>
              </a:prstGeom>
              <a:solidFill>
                <a:srgbClr val="F7D1D5"/>
              </a:solidFill>
              <a:ln>
                <a:noFill/>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575945"/>
                <a:r>
                  <a:rPr lang="en-US" sz="1800" dirty="0">
                    <a:solidFill>
                      <a:srgbClr val="E04F5F"/>
                    </a:solidFill>
                    <a:latin typeface="Verdana" panose="020B0604030504040204" pitchFamily="34" charset="0"/>
                    <a:ea typeface="Verdana" panose="020B0604030504040204" pitchFamily="34" charset="0"/>
                    <a:cs typeface="Verdana" panose="020B0604030504040204" pitchFamily="34" charset="0"/>
                  </a:rPr>
                  <a:t>The IBM 7094 was regarded as one of the most powerful advanced mainframe computers in the early 1960s. NASA and the Air Force used it in the Gemini and Apollo space programs.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742950" indent="22288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a:p>
                <a:pPr marL="742950" indent="22288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p:pic>
            <p:nvPicPr>
              <p:cNvPr id="10" name="Shape 18" descr="A picture containing icon&#10;&#10;Description automatically generated">
                <a:extLst>
                  <a:ext uri="{FF2B5EF4-FFF2-40B4-BE49-F238E27FC236}">
                    <a16:creationId xmlns:a16="http://schemas.microsoft.com/office/drawing/2014/main" id="{887617D8-153E-B340-8AA2-009EAB37CE83}"/>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90723" y="86957"/>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15" name="image47.png">
            <a:extLst>
              <a:ext uri="{FF2B5EF4-FFF2-40B4-BE49-F238E27FC236}">
                <a16:creationId xmlns:a16="http://schemas.microsoft.com/office/drawing/2014/main" id="{46202263-2520-5F4B-9A08-25559F7FCD59}"/>
              </a:ext>
            </a:extLst>
          </p:cNvPr>
          <p:cNvPicPr/>
          <p:nvPr/>
        </p:nvPicPr>
        <p:blipFill>
          <a:blip r:embed="rId4" cstate="screen">
            <a:extLst>
              <a:ext uri="{28A0092B-C50C-407E-A947-70E740481C1C}">
                <a14:useLocalDpi xmlns:a14="http://schemas.microsoft.com/office/drawing/2010/main"/>
              </a:ext>
            </a:extLst>
          </a:blip>
          <a:stretch>
            <a:fillRect/>
          </a:stretch>
        </p:blipFill>
        <p:spPr>
          <a:xfrm>
            <a:off x="6732464" y="2521588"/>
            <a:ext cx="3798570" cy="2199005"/>
          </a:xfrm>
          <a:prstGeom prst="rect">
            <a:avLst/>
          </a:prstGeom>
          <a:ln/>
          <a:effectLst>
            <a:outerShdw blurRad="50800" dist="38100" dir="2700000" algn="tl" rotWithShape="0">
              <a:prstClr val="black">
                <a:alpha val="40000"/>
              </a:prstClr>
            </a:outerShdw>
          </a:effectLst>
        </p:spPr>
      </p:pic>
      <p:pic>
        <p:nvPicPr>
          <p:cNvPr id="16" name="image49.png">
            <a:extLst>
              <a:ext uri="{FF2B5EF4-FFF2-40B4-BE49-F238E27FC236}">
                <a16:creationId xmlns:a16="http://schemas.microsoft.com/office/drawing/2014/main" id="{70436884-9D7D-4448-A04A-4E2160C0129E}"/>
              </a:ext>
            </a:extLst>
          </p:cNvPr>
          <p:cNvPicPr>
            <a:picLocks noChangeAspect="1"/>
          </p:cNvPicPr>
          <p:nvPr/>
        </p:nvPicPr>
        <p:blipFill>
          <a:blip r:embed="rId5"/>
          <a:srcRect/>
          <a:stretch>
            <a:fillRect/>
          </a:stretch>
        </p:blipFill>
        <p:spPr>
          <a:xfrm>
            <a:off x="7697348" y="4920211"/>
            <a:ext cx="1868805" cy="1423670"/>
          </a:xfrm>
          <a:prstGeom prst="rect">
            <a:avLst/>
          </a:prstGeom>
          <a:ln/>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8853ABC-DADE-924D-B06F-31B56BCC7722}"/>
                  </a:ext>
                </a:extLst>
              </p:cNvPr>
              <p:cNvSpPr/>
              <p:nvPr/>
            </p:nvSpPr>
            <p:spPr>
              <a:xfrm>
                <a:off x="990600" y="1881508"/>
                <a:ext cx="5506832" cy="4401205"/>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Despite its large size and historical impact, the IBM 7094 only had a core memory of about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150</m:t>
                    </m:r>
                  </m:oMath>
                </a14:m>
                <a:r>
                  <a:rPr lang="en-US" sz="2000" dirty="0">
                    <a:latin typeface="Verdana" panose="020B0604030504040204" pitchFamily="34" charset="0"/>
                    <a:ea typeface="Verdana" panose="020B0604030504040204" pitchFamily="34" charset="0"/>
                    <a:cs typeface="Verdana" panose="020B0604030504040204" pitchFamily="34" charset="0"/>
                  </a:rPr>
                  <a:t> kilobytes (KB). That’s only enough to manage a few Microsoft Word documents.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Today, you can get a small USB flash drive like the one shown for less than </a:t>
                </a:r>
                <a14:m>
                  <m:oMath xmlns:m="http://schemas.openxmlformats.org/officeDocument/2006/math">
                    <m:r>
                      <a:rPr lang="en-US" sz="2000" i="1">
                        <a:latin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that can store </a:t>
                </a:r>
                <a14:m>
                  <m:oMath xmlns:m="http://schemas.openxmlformats.org/officeDocument/2006/math">
                    <m:r>
                      <a:rPr lang="en-US" sz="2000" i="1">
                        <a:latin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gigabytes (GB) of memory.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That’s almost </a:t>
                </a:r>
                <a14:m>
                  <m:oMath xmlns:m="http://schemas.openxmlformats.org/officeDocument/2006/math">
                    <m:r>
                      <a:rPr lang="en-US" sz="2000" i="1">
                        <a:latin typeface="Cambria Math" panose="02040503050406030204" pitchFamily="18" charset="0"/>
                      </a:rPr>
                      <m:t>27,000</m:t>
                    </m:r>
                  </m:oMath>
                </a14:m>
                <a:r>
                  <a:rPr lang="en-US" sz="2000" dirty="0">
                    <a:latin typeface="Verdana" panose="020B0604030504040204" pitchFamily="34" charset="0"/>
                    <a:ea typeface="Verdana" panose="020B0604030504040204" pitchFamily="34" charset="0"/>
                    <a:cs typeface="Verdana" panose="020B0604030504040204" pitchFamily="34" charset="0"/>
                  </a:rPr>
                  <a:t> times the memory as the IBM 7094, and you can fit it in your pocket! </a:t>
                </a:r>
              </a:p>
            </p:txBody>
          </p:sp>
        </mc:Choice>
        <mc:Fallback xmlns="">
          <p:sp>
            <p:nvSpPr>
              <p:cNvPr id="4" name="Rectangle 3">
                <a:extLst>
                  <a:ext uri="{FF2B5EF4-FFF2-40B4-BE49-F238E27FC236}">
                    <a16:creationId xmlns:a16="http://schemas.microsoft.com/office/drawing/2014/main" xmlns:a14="http://schemas.microsoft.com/office/drawing/2010/main" xmlns="" id="{28853ABC-DADE-924D-B06F-31B56BCC7722}"/>
                  </a:ext>
                </a:extLst>
              </p:cNvPr>
              <p:cNvSpPr>
                <a:spLocks noRot="1" noChangeAspect="1" noMove="1" noResize="1" noEditPoints="1" noAdjustHandles="1" noChangeArrowheads="1" noChangeShapeType="1" noTextEdit="1"/>
              </p:cNvSpPr>
              <p:nvPr/>
            </p:nvSpPr>
            <p:spPr>
              <a:xfrm>
                <a:off x="990600" y="1881508"/>
                <a:ext cx="5506832" cy="4401205"/>
              </a:xfrm>
              <a:prstGeom prst="rect">
                <a:avLst/>
              </a:prstGeom>
              <a:blipFill rotWithShape="0">
                <a:blip r:embed="rId6"/>
                <a:stretch>
                  <a:fillRect l="-1218" t="-831" b="-1524"/>
                </a:stretch>
              </a:blipFill>
            </p:spPr>
            <p:txBody>
              <a:bodyPr/>
              <a:lstStyle/>
              <a:p>
                <a:r>
                  <a:rPr lang="en-US">
                    <a:noFill/>
                  </a:rPr>
                  <a:t> </a:t>
                </a:r>
              </a:p>
            </p:txBody>
          </p:sp>
        </mc:Fallback>
      </mc:AlternateContent>
      <p:sp>
        <p:nvSpPr>
          <p:cNvPr id="13"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580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819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02488" y="-3729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5.6.3 Guided Instruction: Using Three-Column Ratio Tables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55188" y="16997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127760" y="1386026"/>
                <a:ext cx="10192512"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Ratios can be used to make part-to-part or part-to-whole comparisons. When comparing parts of a mixture to the whole, three-column ratio tables can be useful to represent the relationships between quantities.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Kiara is practicing her free-throw shot at basketball practice. She averages </a:t>
                </a:r>
                <a14:m>
                  <m:oMath xmlns:m="http://schemas.openxmlformats.org/officeDocument/2006/math">
                    <m:r>
                      <a:rPr lang="en-US" sz="2000" i="1">
                        <a:latin typeface="Cambria Math"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made shots for every </a:t>
                </a:r>
                <a14:m>
                  <m:oMath xmlns:m="http://schemas.openxmlformats.org/officeDocument/2006/math">
                    <m:r>
                      <a:rPr lang="en-US" sz="2000" i="1">
                        <a:latin typeface="Cambria Math"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missed shots. The table shown can be used to represent this situation.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127760" y="1386026"/>
                <a:ext cx="10192512" cy="2862322"/>
              </a:xfrm>
              <a:prstGeom prst="rect">
                <a:avLst/>
              </a:prstGeom>
              <a:blipFill rotWithShape="0">
                <a:blip r:embed="rId4"/>
                <a:stretch>
                  <a:fillRect l="-658" t="-1064" r="-718"/>
                </a:stretch>
              </a:blipFill>
            </p:spPr>
            <p:txBody>
              <a:bodyPr/>
              <a:lstStyle/>
              <a:p>
                <a:r>
                  <a:rPr lang="en-US">
                    <a:noFill/>
                  </a:rPr>
                  <a:t> </a:t>
                </a:r>
              </a:p>
            </p:txBody>
          </p:sp>
        </mc:Fallback>
      </mc:AlternateContent>
      <p:pic>
        <p:nvPicPr>
          <p:cNvPr id="5" name="Picture 4" descr="Table&#10;&#10;Description automatically generated">
            <a:extLst>
              <a:ext uri="{FF2B5EF4-FFF2-40B4-BE49-F238E27FC236}">
                <a16:creationId xmlns:a16="http://schemas.microsoft.com/office/drawing/2014/main" id="{4224E1A2-1B07-4342-BD01-9534A40A04FE}"/>
              </a:ext>
            </a:extLst>
          </p:cNvPr>
          <p:cNvPicPr>
            <a:picLocks noChangeAspect="1"/>
          </p:cNvPicPr>
          <p:nvPr/>
        </p:nvPicPr>
        <p:blipFill>
          <a:blip r:embed="rId5"/>
          <a:stretch>
            <a:fillRect/>
          </a:stretch>
        </p:blipFill>
        <p:spPr>
          <a:xfrm>
            <a:off x="2416657" y="3977641"/>
            <a:ext cx="7358686" cy="2339363"/>
          </a:xfrm>
          <a:prstGeom prst="rect">
            <a:avLst/>
          </a:prstGeom>
        </p:spPr>
      </p:pic>
      <p:sp>
        <p:nvSpPr>
          <p:cNvPr id="10"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F7DEC7C-F046-CE45-BE1B-F183BD5B9CB3}"/>
                  </a:ext>
                </a:extLst>
              </p:cNvPr>
              <p:cNvSpPr/>
              <p:nvPr/>
            </p:nvSpPr>
            <p:spPr>
              <a:xfrm>
                <a:off x="1264920" y="3424826"/>
                <a:ext cx="9662160" cy="1938992"/>
              </a:xfrm>
              <a:prstGeom prst="rect">
                <a:avLst/>
              </a:prstGeom>
            </p:spPr>
            <p:txBody>
              <a:bodyPr wrap="square">
                <a:spAutoFit/>
              </a:bodyPr>
              <a:lstStyle/>
              <a:p>
                <a:pPr marL="344488" indent="-344488">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When determining this rate during practice, Kiara missed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free-throw shots. Complete the second row of the table to show how many shots she made and how many total shots she took.</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4488" indent="-344488"/>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4488" indent="-344488"/>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4488" indent="-344488"/>
                <a:r>
                  <a:rPr lang="en-US" sz="2000" dirty="0">
                    <a:latin typeface="Verdana" panose="020B0604030504040204" pitchFamily="34" charset="0"/>
                    <a:ea typeface="Times New Roman" panose="02020603050405020304" pitchFamily="18" charset="0"/>
                    <a:cs typeface="Times New Roman" panose="02020603050405020304" pitchFamily="18" charset="0"/>
                  </a:rPr>
                  <a:t>b. How was each value in the second row determined?</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8F7DEC7C-F046-CE45-BE1B-F183BD5B9CB3}"/>
                  </a:ext>
                </a:extLst>
              </p:cNvPr>
              <p:cNvSpPr>
                <a:spLocks noRot="1" noChangeAspect="1" noMove="1" noResize="1" noEditPoints="1" noAdjustHandles="1" noChangeArrowheads="1" noChangeShapeType="1" noTextEdit="1"/>
              </p:cNvSpPr>
              <p:nvPr/>
            </p:nvSpPr>
            <p:spPr>
              <a:xfrm>
                <a:off x="1264920" y="3424826"/>
                <a:ext cx="9662160" cy="1938992"/>
              </a:xfrm>
              <a:prstGeom prst="rect">
                <a:avLst/>
              </a:prstGeom>
              <a:blipFill rotWithShape="0">
                <a:blip r:embed="rId3"/>
                <a:stretch>
                  <a:fillRect l="-694" t="-2201" b="-4717"/>
                </a:stretch>
              </a:blipFill>
            </p:spPr>
            <p:txBody>
              <a:bodyPr/>
              <a:lstStyle/>
              <a:p>
                <a:r>
                  <a:rPr lang="en-US">
                    <a:noFill/>
                  </a:rPr>
                  <a:t> </a:t>
                </a:r>
              </a:p>
            </p:txBody>
          </p:sp>
        </mc:Fallback>
      </mc:AlternateContent>
      <p:pic>
        <p:nvPicPr>
          <p:cNvPr id="7" name="Picture 6" descr="Table&#10;&#10;Description automatically generated">
            <a:extLst>
              <a:ext uri="{FF2B5EF4-FFF2-40B4-BE49-F238E27FC236}">
                <a16:creationId xmlns:a16="http://schemas.microsoft.com/office/drawing/2014/main" id="{EED67C33-26D7-8543-AD53-A73372B139D2}"/>
              </a:ext>
            </a:extLst>
          </p:cNvPr>
          <p:cNvPicPr>
            <a:picLocks noChangeAspect="1"/>
          </p:cNvPicPr>
          <p:nvPr/>
        </p:nvPicPr>
        <p:blipFill>
          <a:blip r:embed="rId4"/>
          <a:stretch>
            <a:fillRect/>
          </a:stretch>
        </p:blipFill>
        <p:spPr>
          <a:xfrm>
            <a:off x="2416657" y="692422"/>
            <a:ext cx="7358686" cy="2339363"/>
          </a:xfrm>
          <a:prstGeom prst="rect">
            <a:avLst/>
          </a:prstGeom>
        </p:spPr>
      </p:pic>
      <p:sp>
        <p:nvSpPr>
          <p:cNvPr id="9"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200</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00458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B760884-B747-1444-88DB-6D51C6E8F385}"/>
                  </a:ext>
                </a:extLst>
              </p:cNvPr>
              <p:cNvSpPr/>
              <p:nvPr/>
            </p:nvSpPr>
            <p:spPr>
              <a:xfrm>
                <a:off x="1574976" y="405671"/>
                <a:ext cx="9288936" cy="5301451"/>
              </a:xfrm>
              <a:prstGeom prst="rect">
                <a:avLst/>
              </a:prstGeom>
            </p:spPr>
            <p:txBody>
              <a:bodyPr wrap="square">
                <a:spAutoFit/>
              </a:bodyPr>
              <a:lstStyle/>
              <a:p>
                <a:pPr marL="344488" indent="-344488"/>
                <a:r>
                  <a:rPr lang="en-US" sz="2000" dirty="0">
                    <a:latin typeface="Verdana" panose="020B0604030504040204" pitchFamily="34" charset="0"/>
                    <a:ea typeface="Verdana" panose="020B0604030504040204" pitchFamily="34" charset="0"/>
                    <a:cs typeface="Verdana" panose="020B0604030504040204" pitchFamily="34" charset="0"/>
                  </a:rPr>
                  <a:t>2. Kiara had the opportunity to take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free-throw shots in her most recent game, and her accuracy remained the same as in practice. Complete the third row of the table to show how many free-throw shots she made and missed in the game.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57308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was each value in the third row determined?</a:t>
                </a:r>
              </a:p>
              <a:p>
                <a:pPr marL="573088">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73088">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73088">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73088" lvl="0"/>
                <a:r>
                  <a:rPr lang="en-US" sz="2000" dirty="0">
                    <a:latin typeface="Verdana" panose="020B0604030504040204" pitchFamily="34" charset="0"/>
                    <a:ea typeface="Verdana" panose="020B0604030504040204" pitchFamily="34" charset="0"/>
                    <a:cs typeface="Verdana" panose="020B0604030504040204" pitchFamily="34" charset="0"/>
                  </a:rPr>
                  <a:t>b. Complete the statement.</a:t>
                </a:r>
              </a:p>
              <a:p>
                <a:pPr marL="573088"/>
                <a:r>
                  <a:rPr lang="en-US" sz="2000" dirty="0">
                    <a:latin typeface="Verdana" panose="020B0604030504040204" pitchFamily="34" charset="0"/>
                    <a:ea typeface="Verdana" panose="020B0604030504040204" pitchFamily="34" charset="0"/>
                    <a:cs typeface="Verdana" panose="020B0604030504040204" pitchFamily="34" charset="0"/>
                  </a:rPr>
                  <a:t> </a:t>
                </a:r>
              </a:p>
              <a:p>
                <a:pPr marL="573088"/>
                <a:r>
                  <a:rPr lang="en-US" sz="2000" dirty="0">
                    <a:latin typeface="Verdana" panose="020B0604030504040204" pitchFamily="34" charset="0"/>
                    <a:ea typeface="Verdana" panose="020B0604030504040204" pitchFamily="34" charset="0"/>
                    <a:cs typeface="Verdana" panose="020B0604030504040204" pitchFamily="34" charset="0"/>
                  </a:rPr>
                  <a:t>For every </a:t>
                </a:r>
                <a14:m>
                  <m:oMath xmlns:m="http://schemas.openxmlformats.org/officeDocument/2006/math">
                    <m:r>
                      <a:rPr lang="en-US" sz="2000" i="1">
                        <a:latin typeface="Cambria Math"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free-throw shots taken, Kiara makes ____ shot(s) and misses ____ shot(s) on average. The ratio of missed shots to made shots to total shots is </a:t>
                </a:r>
              </a:p>
              <a:p>
                <a:pPr marL="573088"/>
                <a:r>
                  <a:rPr lang="en-US" sz="2000" dirty="0">
                    <a:latin typeface="Verdana" panose="020B0604030504040204" pitchFamily="34" charset="0"/>
                    <a:ea typeface="Verdana" panose="020B0604030504040204" pitchFamily="34" charset="0"/>
                    <a:cs typeface="Verdana" panose="020B0604030504040204" pitchFamily="34" charset="0"/>
                  </a:rPr>
                  <a:t>____ : ____ : ____.</a:t>
                </a:r>
              </a:p>
              <a:p>
                <a:pPr marL="342900" indent="-342900">
                  <a:buFont typeface="+mj-lt"/>
                  <a:buAutoNum type="alphaLcPeriod"/>
                </a:pPr>
                <a:endParaRPr lang="en-US" sz="1050" dirty="0">
                  <a:latin typeface="Cambria" panose="02040503050406030204" pitchFamily="18" charset="0"/>
                  <a:ea typeface="Times New Roman" panose="02020603050405020304" pitchFamily="18" charset="0"/>
                  <a:cs typeface="Times New Roman" panose="02020603050405020304" pitchFamily="18" charset="0"/>
                </a:endParaRPr>
              </a:p>
              <a:p>
                <a:r>
                  <a:rPr lang="en-US" dirty="0">
                    <a:latin typeface="Verdana" panose="020B0604030504040204" pitchFamily="34" charset="0"/>
                    <a:ea typeface="Times New Roman" panose="02020603050405020304" pitchFamily="18" charset="0"/>
                    <a:cs typeface="Times New Roman" panose="02020603050405020304" pitchFamily="18" charset="0"/>
                  </a:rPr>
                  <a:t> </a:t>
                </a:r>
                <a:endParaRPr lang="en-US" sz="1050" dirty="0">
                  <a:latin typeface="Cambria" panose="02040503050406030204" pitchFamily="18" charset="0"/>
                  <a:ea typeface="Times New Roman" panose="02020603050405020304" pitchFamily="18" charset="0"/>
                  <a:cs typeface="Times New Roman" panose="02020603050405020304" pitchFamily="18" charset="0"/>
                </a:endParaRPr>
              </a:p>
              <a:p>
                <a:r>
                  <a:rPr lang="en-US" dirty="0">
                    <a:latin typeface="Verdana" panose="020B0604030504040204" pitchFamily="34" charset="0"/>
                    <a:ea typeface="Times New Roman" panose="02020603050405020304" pitchFamily="18" charset="0"/>
                    <a:cs typeface="Times New Roman" panose="02020603050405020304" pitchFamily="18" charset="0"/>
                  </a:rPr>
                  <a:t> </a:t>
                </a:r>
                <a:endParaRPr lang="en-US" sz="105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6B760884-B747-1444-88DB-6D51C6E8F385}"/>
                  </a:ext>
                </a:extLst>
              </p:cNvPr>
              <p:cNvSpPr>
                <a:spLocks noRot="1" noChangeAspect="1" noMove="1" noResize="1" noEditPoints="1" noAdjustHandles="1" noChangeArrowheads="1" noChangeShapeType="1" noTextEdit="1"/>
              </p:cNvSpPr>
              <p:nvPr/>
            </p:nvSpPr>
            <p:spPr>
              <a:xfrm>
                <a:off x="1574976" y="405671"/>
                <a:ext cx="9288936" cy="5301451"/>
              </a:xfrm>
              <a:prstGeom prst="rect">
                <a:avLst/>
              </a:prstGeom>
              <a:blipFill rotWithShape="0">
                <a:blip r:embed="rId3"/>
                <a:stretch>
                  <a:fillRect l="-656" t="-690" r="-1312"/>
                </a:stretch>
              </a:blipFill>
            </p:spPr>
            <p:txBody>
              <a:bodyPr/>
              <a:lstStyle/>
              <a:p>
                <a:r>
                  <a:rPr lang="en-US">
                    <a:noFill/>
                  </a:rPr>
                  <a:t> </a:t>
                </a:r>
              </a:p>
            </p:txBody>
          </p:sp>
        </mc:Fallback>
      </mc:AlternateContent>
      <p:sp>
        <p:nvSpPr>
          <p:cNvPr id="6"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201</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35815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159D5F4-CFB6-314A-BCC4-B6CCB5669EF0}"/>
                  </a:ext>
                </a:extLst>
              </p:cNvPr>
              <p:cNvSpPr/>
              <p:nvPr/>
            </p:nvSpPr>
            <p:spPr>
              <a:xfrm>
                <a:off x="1173480" y="325613"/>
                <a:ext cx="9854184" cy="2246769"/>
              </a:xfrm>
              <a:prstGeom prst="rect">
                <a:avLst/>
              </a:prstGeom>
            </p:spPr>
            <p:txBody>
              <a:bodyPr wrap="square">
                <a:spAutoFit/>
              </a:bodyPr>
              <a:lstStyle/>
              <a:p>
                <a:pPr marL="344488" indent="-336550"/>
                <a:r>
                  <a:rPr lang="en-US" sz="2000" dirty="0">
                    <a:latin typeface="Verdana" panose="020B0604030504040204" pitchFamily="34" charset="0"/>
                    <a:ea typeface="Times New Roman" panose="02020603050405020304" pitchFamily="18" charset="0"/>
                    <a:cs typeface="Times New Roman" panose="02020603050405020304" pitchFamily="18" charset="0"/>
                  </a:rPr>
                  <a:t>3. Three-column tables can also be useful when comparing mixtures that contain more than two parts. </a:t>
                </a:r>
              </a:p>
              <a:p>
                <a:pPr marL="342900" indent="-3429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4488"/>
                <a:r>
                  <a:rPr lang="en-US" sz="2000" dirty="0">
                    <a:latin typeface="Verdana" panose="020B0604030504040204" pitchFamily="34" charset="0"/>
                    <a:ea typeface="Times New Roman" panose="02020603050405020304" pitchFamily="18" charset="0"/>
                    <a:cs typeface="Times New Roman" panose="02020603050405020304" pitchFamily="18" charset="0"/>
                  </a:rPr>
                  <a:t>Concrete can be created by mixing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part cement with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parts sand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parts gravel. These dry ingredients are first combined before being mixed with water.</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buFont typeface="+mj-lt"/>
                  <a:buAutoNum type="arabicPeriod"/>
                </a:pP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Rectangle 9">
                <a:extLst>
                  <a:ext uri="{FF2B5EF4-FFF2-40B4-BE49-F238E27FC236}">
                    <a16:creationId xmlns:a16="http://schemas.microsoft.com/office/drawing/2014/main" xmlns:a14="http://schemas.microsoft.com/office/drawing/2010/main" xmlns="" id="{5159D5F4-CFB6-314A-BCC4-B6CCB5669EF0}"/>
                  </a:ext>
                </a:extLst>
              </p:cNvPr>
              <p:cNvSpPr>
                <a:spLocks noRot="1" noChangeAspect="1" noMove="1" noResize="1" noEditPoints="1" noAdjustHandles="1" noChangeArrowheads="1" noChangeShapeType="1" noTextEdit="1"/>
              </p:cNvSpPr>
              <p:nvPr/>
            </p:nvSpPr>
            <p:spPr>
              <a:xfrm>
                <a:off x="1173480" y="325613"/>
                <a:ext cx="9854184" cy="2246769"/>
              </a:xfrm>
              <a:prstGeom prst="rect">
                <a:avLst/>
              </a:prstGeom>
              <a:blipFill rotWithShape="0">
                <a:blip r:embed="rId3"/>
                <a:stretch>
                  <a:fillRect l="-619" t="-1355"/>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06D4C27D-AD35-7D4B-8536-0963D97AD3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48068" y="2688855"/>
            <a:ext cx="4060196" cy="3193531"/>
          </a:xfrm>
          <a:prstGeom prst="rect">
            <a:avLst/>
          </a:prstGeom>
        </p:spPr>
      </p:pic>
      <p:sp>
        <p:nvSpPr>
          <p:cNvPr id="7"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201</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64761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72973DE4-D495-2946-B487-3C224ED74882}"/>
              </a:ext>
            </a:extLst>
          </p:cNvPr>
          <p:cNvSpPr/>
          <p:nvPr/>
        </p:nvSpPr>
        <p:spPr>
          <a:xfrm>
            <a:off x="1447800" y="263612"/>
            <a:ext cx="9259824" cy="1015663"/>
          </a:xfrm>
          <a:prstGeom prst="rect">
            <a:avLst/>
          </a:prstGeom>
        </p:spPr>
        <p:txBody>
          <a:bodyPr wrap="square">
            <a:spAutoFit/>
          </a:bodyPr>
          <a:lstStyle/>
          <a:p>
            <a:pPr marL="461963" indent="-344488">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determine equivalent mixtures of concrete. Show how the values in each row are determined using arrows and by indicating the factor used.</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4" name="Picture 3" descr="Table&#10;&#10;Description automatically generated">
            <a:extLst>
              <a:ext uri="{FF2B5EF4-FFF2-40B4-BE49-F238E27FC236}">
                <a16:creationId xmlns:a16="http://schemas.microsoft.com/office/drawing/2014/main" id="{6E0CDFEA-BEE6-8D4C-99C3-3542525F7637}"/>
              </a:ext>
            </a:extLst>
          </p:cNvPr>
          <p:cNvPicPr>
            <a:picLocks noChangeAspect="1"/>
          </p:cNvPicPr>
          <p:nvPr/>
        </p:nvPicPr>
        <p:blipFill>
          <a:blip r:embed="rId3"/>
          <a:stretch>
            <a:fillRect/>
          </a:stretch>
        </p:blipFill>
        <p:spPr>
          <a:xfrm>
            <a:off x="3403092" y="1575911"/>
            <a:ext cx="5349240" cy="2524153"/>
          </a:xfrm>
          <a:prstGeom prst="rect">
            <a:avLst/>
          </a:prstGeom>
        </p:spPr>
      </p:pic>
      <p:sp>
        <p:nvSpPr>
          <p:cNvPr id="5" name="Rectangle 4">
            <a:extLst>
              <a:ext uri="{FF2B5EF4-FFF2-40B4-BE49-F238E27FC236}">
                <a16:creationId xmlns:a16="http://schemas.microsoft.com/office/drawing/2014/main" id="{F2B47A12-A3ED-0F44-B780-7444980803C4}"/>
              </a:ext>
            </a:extLst>
          </p:cNvPr>
          <p:cNvSpPr/>
          <p:nvPr/>
        </p:nvSpPr>
        <p:spPr>
          <a:xfrm>
            <a:off x="1553691" y="4396700"/>
            <a:ext cx="9148626" cy="1015663"/>
          </a:xfrm>
          <a:prstGeom prst="rect">
            <a:avLst/>
          </a:prstGeom>
        </p:spPr>
        <p:txBody>
          <a:bodyPr wrap="square">
            <a:spAutoFit/>
          </a:bodyPr>
          <a:lstStyle/>
          <a:p>
            <a:pPr marL="344488" indent="-336550"/>
            <a:r>
              <a:rPr lang="en-US" sz="2000" dirty="0">
                <a:latin typeface="Verdana" panose="020B0604030504040204" pitchFamily="34" charset="0"/>
                <a:ea typeface="Times New Roman" panose="02020603050405020304" pitchFamily="18" charset="0"/>
                <a:cs typeface="Times New Roman" panose="02020603050405020304" pitchFamily="18" charset="0"/>
              </a:rPr>
              <a:t>b. Marc uses one-gallon buckets to measure out the quantities needed in his concrete mixture. How many gallons of dry mix will he have in one batch of concrete?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201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39147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7853"/>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514010" y="-4341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5.6.4 Guided Practice: Using Two- and Three Column Ratio Tables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22548" y="9528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5073FD5-F8B1-4146-8617-05D6E9F5AF3D}"/>
                  </a:ext>
                </a:extLst>
              </p:cNvPr>
              <p:cNvSpPr/>
              <p:nvPr/>
            </p:nvSpPr>
            <p:spPr>
              <a:xfrm>
                <a:off x="1093035" y="1244026"/>
                <a:ext cx="10165110" cy="1015663"/>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particular shade of maroon paint calls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red paint to be mixed with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blue paint. Complete the table to find the quantities needed for different batches of paint.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B5073FD5-F8B1-4146-8617-05D6E9F5AF3D}"/>
                  </a:ext>
                </a:extLst>
              </p:cNvPr>
              <p:cNvSpPr>
                <a:spLocks noRot="1" noChangeAspect="1" noMove="1" noResize="1" noEditPoints="1" noAdjustHandles="1" noChangeArrowheads="1" noChangeShapeType="1" noTextEdit="1"/>
              </p:cNvSpPr>
              <p:nvPr/>
            </p:nvSpPr>
            <p:spPr>
              <a:xfrm>
                <a:off x="1093035" y="1244026"/>
                <a:ext cx="10165110" cy="1015663"/>
              </a:xfrm>
              <a:prstGeom prst="rect">
                <a:avLst/>
              </a:prstGeom>
              <a:blipFill rotWithShape="0">
                <a:blip r:embed="rId4"/>
                <a:stretch>
                  <a:fillRect l="-659" t="-4192" r="-1139" b="-9581"/>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41F40108-8B7E-154A-AAA6-435210E2D8D6}"/>
              </a:ext>
            </a:extLst>
          </p:cNvPr>
          <p:cNvPicPr>
            <a:picLocks noChangeAspect="1"/>
          </p:cNvPicPr>
          <p:nvPr/>
        </p:nvPicPr>
        <p:blipFill>
          <a:blip r:embed="rId5"/>
          <a:stretch>
            <a:fillRect/>
          </a:stretch>
        </p:blipFill>
        <p:spPr>
          <a:xfrm>
            <a:off x="3983385" y="2431027"/>
            <a:ext cx="4384410" cy="2374889"/>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A208738-C880-4D4D-9695-19F26AACA684}"/>
                  </a:ext>
                </a:extLst>
              </p:cNvPr>
              <p:cNvSpPr/>
              <p:nvPr/>
            </p:nvSpPr>
            <p:spPr>
              <a:xfrm>
                <a:off x="1567698" y="4851635"/>
                <a:ext cx="9233982" cy="1631216"/>
              </a:xfrm>
              <a:prstGeom prst="rect">
                <a:avLst/>
              </a:prstGeom>
            </p:spPr>
            <p:txBody>
              <a:bodyPr wrap="square">
                <a:spAutoFit/>
              </a:bodyPr>
              <a:lstStyle/>
              <a:p>
                <a:pPr marL="342900" indent="-3429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If the mixture in the first row represents one batch of maroon paint, how many batches are in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maroon paint?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4488" indent="-336550"/>
                <a:r>
                  <a:rPr lang="en-US" sz="2000" dirty="0">
                    <a:latin typeface="Verdana" panose="020B0604030504040204" pitchFamily="34" charset="0"/>
                    <a:ea typeface="Times New Roman" panose="02020603050405020304" pitchFamily="18" charset="0"/>
                    <a:cs typeface="Times New Roman" panose="02020603050405020304" pitchFamily="18" charset="0"/>
                  </a:rPr>
                  <a:t>b. Explain how this relates to the factor used to complete the last row in the table.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xmlns:a14="http://schemas.microsoft.com/office/drawing/2010/main" xmlns="" id="{3A208738-C880-4D4D-9695-19F26AACA684}"/>
                  </a:ext>
                </a:extLst>
              </p:cNvPr>
              <p:cNvSpPr>
                <a:spLocks noRot="1" noChangeAspect="1" noMove="1" noResize="1" noEditPoints="1" noAdjustHandles="1" noChangeArrowheads="1" noChangeShapeType="1" noTextEdit="1"/>
              </p:cNvSpPr>
              <p:nvPr/>
            </p:nvSpPr>
            <p:spPr>
              <a:xfrm>
                <a:off x="1567698" y="4851635"/>
                <a:ext cx="9233982" cy="1631216"/>
              </a:xfrm>
              <a:prstGeom prst="rect">
                <a:avLst/>
              </a:prstGeom>
              <a:blipFill rotWithShape="0">
                <a:blip r:embed="rId6"/>
                <a:stretch>
                  <a:fillRect l="-726" t="-2622" r="-462" b="-5993"/>
                </a:stretch>
              </a:blipFill>
            </p:spPr>
            <p:txBody>
              <a:bodyPr/>
              <a:lstStyle/>
              <a:p>
                <a:r>
                  <a:rPr lang="en-US">
                    <a:noFill/>
                  </a:rPr>
                  <a:t> </a:t>
                </a:r>
              </a:p>
            </p:txBody>
          </p:sp>
        </mc:Fallback>
      </mc:AlternateContent>
      <p:sp>
        <p:nvSpPr>
          <p:cNvPr id="10"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202</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8C4F69E-55C8-5C49-A638-C31E24FC8C32}"/>
                  </a:ext>
                </a:extLst>
              </p:cNvPr>
              <p:cNvSpPr/>
              <p:nvPr/>
            </p:nvSpPr>
            <p:spPr>
              <a:xfrm>
                <a:off x="1234440" y="775676"/>
                <a:ext cx="9444048" cy="1015663"/>
              </a:xfrm>
              <a:prstGeom prst="rect">
                <a:avLst/>
              </a:prstGeom>
            </p:spPr>
            <p:txBody>
              <a:bodyPr wrap="square">
                <a:spAutoFit/>
              </a:bodyPr>
              <a:lstStyle/>
              <a:p>
                <a:pPr marL="344488" indent="-336550"/>
                <a:r>
                  <a:rPr lang="en-US" sz="2000" dirty="0">
                    <a:latin typeface="Verdana" panose="020B0604030504040204" pitchFamily="34" charset="0"/>
                    <a:ea typeface="Times New Roman" panose="02020603050405020304" pitchFamily="18" charset="0"/>
                    <a:cs typeface="Times New Roman" panose="02020603050405020304" pitchFamily="18" charset="0"/>
                  </a:rPr>
                  <a:t>2. There are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in one gallon. Use this information and the table below to determine how many gallons of paint the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-cup mixture of maroon paint makes.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38C4F69E-55C8-5C49-A638-C31E24FC8C32}"/>
                  </a:ext>
                </a:extLst>
              </p:cNvPr>
              <p:cNvSpPr>
                <a:spLocks noRot="1" noChangeAspect="1" noMove="1" noResize="1" noEditPoints="1" noAdjustHandles="1" noChangeArrowheads="1" noChangeShapeType="1" noTextEdit="1"/>
              </p:cNvSpPr>
              <p:nvPr/>
            </p:nvSpPr>
            <p:spPr>
              <a:xfrm>
                <a:off x="1234440" y="775676"/>
                <a:ext cx="9444048" cy="1015663"/>
              </a:xfrm>
              <a:prstGeom prst="rect">
                <a:avLst/>
              </a:prstGeom>
              <a:blipFill rotWithShape="0">
                <a:blip r:embed="rId3"/>
                <a:stretch>
                  <a:fillRect l="-646" t="-2994" r="-129" b="-9581"/>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C1D5CAB6-42C6-044D-A03E-863ED4CAAFF1}"/>
              </a:ext>
            </a:extLst>
          </p:cNvPr>
          <p:cNvPicPr>
            <a:picLocks noChangeAspect="1"/>
          </p:cNvPicPr>
          <p:nvPr/>
        </p:nvPicPr>
        <p:blipFill>
          <a:blip r:embed="rId4"/>
          <a:stretch>
            <a:fillRect/>
          </a:stretch>
        </p:blipFill>
        <p:spPr>
          <a:xfrm>
            <a:off x="3619283" y="2146705"/>
            <a:ext cx="4674362" cy="2238719"/>
          </a:xfrm>
          <a:prstGeom prst="rect">
            <a:avLst/>
          </a:prstGeom>
        </p:spPr>
      </p:pic>
      <p:sp>
        <p:nvSpPr>
          <p:cNvPr id="7"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202</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709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3C5E50D-4DC3-914E-95F8-AE814B712BC7}"/>
                  </a:ext>
                </a:extLst>
              </p:cNvPr>
              <p:cNvSpPr/>
              <p:nvPr/>
            </p:nvSpPr>
            <p:spPr>
              <a:xfrm>
                <a:off x="1417320" y="364196"/>
                <a:ext cx="9549384" cy="5632311"/>
              </a:xfrm>
              <a:prstGeom prst="rect">
                <a:avLst/>
              </a:prstGeom>
            </p:spPr>
            <p:txBody>
              <a:bodyPr wrap="square">
                <a:spAutoFit/>
              </a:bodyPr>
              <a:lstStyle/>
              <a:p>
                <a:pPr marL="344488" indent="-336550"/>
                <a:r>
                  <a:rPr lang="en-US" sz="2000" dirty="0">
                    <a:latin typeface="Verdana" panose="020B0604030504040204" pitchFamily="34" charset="0"/>
                    <a:ea typeface="Verdana" panose="020B0604030504040204" pitchFamily="34" charset="0"/>
                    <a:cs typeface="Verdana" panose="020B0604030504040204" pitchFamily="34" charset="0"/>
                  </a:rPr>
                  <a:t>3. In April, Kyla went for a walk 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days for every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day that she did not walk. There are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000" dirty="0">
                    <a:latin typeface="Verdana" panose="020B0604030504040204" pitchFamily="34" charset="0"/>
                    <a:ea typeface="Verdana" panose="020B0604030504040204" pitchFamily="34" charset="0"/>
                    <a:cs typeface="Verdana" panose="020B0604030504040204" pitchFamily="34" charset="0"/>
                  </a:rPr>
                  <a:t> days in April. Use this information to complete the ratio table.</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Throughout the year, Kyla continued walking </a:t>
                </a:r>
                <a14:m>
                  <m:oMath xmlns:m="http://schemas.openxmlformats.org/officeDocument/2006/math">
                    <m:r>
                      <a:rPr lang="en-US" sz="2000" i="1">
                        <a:latin typeface="Cambria Math"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days for every </a:t>
                </a:r>
                <a14:m>
                  <m:oMath xmlns:m="http://schemas.openxmlformats.org/officeDocument/2006/math">
                    <m:r>
                      <a:rPr lang="en-US" sz="2000" i="1">
                        <a:latin typeface="Cambria Math"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day that she did not walk. Based on this, in November, Kyla walked____ of the </a:t>
                </a:r>
                <a14:m>
                  <m:oMath xmlns:m="http://schemas.openxmlformats.org/officeDocument/2006/math">
                    <m:r>
                      <a:rPr lang="en-US" sz="2000" i="1">
                        <a:latin typeface="Cambria Math" charset="0"/>
                      </a:rPr>
                      <m:t>30</m:t>
                    </m:r>
                  </m:oMath>
                </a14:m>
                <a:r>
                  <a:rPr lang="en-US" sz="2000" dirty="0">
                    <a:latin typeface="Verdana" panose="020B0604030504040204" pitchFamily="34" charset="0"/>
                    <a:ea typeface="Verdana" panose="020B0604030504040204" pitchFamily="34" charset="0"/>
                    <a:cs typeface="Verdana" panose="020B0604030504040204" pitchFamily="34" charset="0"/>
                  </a:rPr>
                  <a:t> days.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xmlns:a14="http://schemas.microsoft.com/office/drawing/2010/main" xmlns="" id="{33C5E50D-4DC3-914E-95F8-AE814B712BC7}"/>
                  </a:ext>
                </a:extLst>
              </p:cNvPr>
              <p:cNvSpPr>
                <a:spLocks noRot="1" noChangeAspect="1" noMove="1" noResize="1" noEditPoints="1" noAdjustHandles="1" noChangeArrowheads="1" noChangeShapeType="1" noTextEdit="1"/>
              </p:cNvSpPr>
              <p:nvPr/>
            </p:nvSpPr>
            <p:spPr>
              <a:xfrm>
                <a:off x="1417320" y="364196"/>
                <a:ext cx="9549384" cy="5632311"/>
              </a:xfrm>
              <a:prstGeom prst="rect">
                <a:avLst/>
              </a:prstGeom>
              <a:blipFill rotWithShape="0">
                <a:blip r:embed="rId3"/>
                <a:stretch>
                  <a:fillRect l="-702" t="-649" r="-702"/>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AD382161-61CB-C74F-8100-A2A697580438}"/>
              </a:ext>
            </a:extLst>
          </p:cNvPr>
          <p:cNvPicPr>
            <a:picLocks noChangeAspect="1"/>
          </p:cNvPicPr>
          <p:nvPr/>
        </p:nvPicPr>
        <p:blipFill>
          <a:blip r:embed="rId4"/>
          <a:stretch>
            <a:fillRect/>
          </a:stretch>
        </p:blipFill>
        <p:spPr>
          <a:xfrm>
            <a:off x="2867884" y="1715047"/>
            <a:ext cx="6007608" cy="1999815"/>
          </a:xfrm>
          <a:prstGeom prst="rect">
            <a:avLst/>
          </a:prstGeom>
        </p:spPr>
      </p:pic>
      <p:sp>
        <p:nvSpPr>
          <p:cNvPr id="7"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202</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43049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43563" y="-810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5.6.5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14113" y="23766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0A85065-1747-6C4E-8BA4-9C1ED8A185A6}"/>
                  </a:ext>
                </a:extLst>
              </p:cNvPr>
              <p:cNvSpPr/>
              <p:nvPr/>
            </p:nvSpPr>
            <p:spPr>
              <a:xfrm>
                <a:off x="1219200" y="1393501"/>
                <a:ext cx="10063510" cy="1938992"/>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Julio participated in a walk-a-thon to raise money for cancer research. Walking at a constant speed, Julio traveled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6.4</m:t>
                    </m:r>
                  </m:oMath>
                </a14:m>
                <a:r>
                  <a:rPr lang="en-US" sz="2000" dirty="0">
                    <a:latin typeface="Verdana" panose="020B0604030504040204" pitchFamily="34" charset="0"/>
                    <a:ea typeface="Verdana" panose="020B0604030504040204" pitchFamily="34" charset="0"/>
                    <a:cs typeface="Verdana" panose="020B0604030504040204" pitchFamily="34" charset="0"/>
                  </a:rPr>
                  <a:t> miles in the first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hours of the walk-a-thon. His goal is to walk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hours. Use the table to find how far Julio will have walked if he reaches his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-hour goal. Show how the values in each row are determined.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xmlns:a14="http://schemas.microsoft.com/office/drawing/2010/main" xmlns="" id="{50A85065-1747-6C4E-8BA4-9C1ED8A185A6}"/>
                  </a:ext>
                </a:extLst>
              </p:cNvPr>
              <p:cNvSpPr>
                <a:spLocks noRot="1" noChangeAspect="1" noMove="1" noResize="1" noEditPoints="1" noAdjustHandles="1" noChangeArrowheads="1" noChangeShapeType="1" noTextEdit="1"/>
              </p:cNvSpPr>
              <p:nvPr/>
            </p:nvSpPr>
            <p:spPr>
              <a:xfrm>
                <a:off x="1219200" y="1393501"/>
                <a:ext cx="10063510" cy="1938992"/>
              </a:xfrm>
              <a:prstGeom prst="rect">
                <a:avLst/>
              </a:prstGeom>
              <a:blipFill rotWithShape="0">
                <a:blip r:embed="rId4"/>
                <a:stretch>
                  <a:fillRect l="-666" t="-2201" r="-606"/>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E3F58FBE-EE62-0042-A1EC-2F94CA497F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48380" y="3425070"/>
            <a:ext cx="5095240" cy="2844110"/>
          </a:xfrm>
          <a:prstGeom prst="rect">
            <a:avLst/>
          </a:prstGeom>
        </p:spPr>
      </p:pic>
      <p:sp>
        <p:nvSpPr>
          <p:cNvPr id="11" name="Google Shape;282;g104476d1465_1_17"/>
          <p:cNvSpPr txBox="1"/>
          <p:nvPr/>
        </p:nvSpPr>
        <p:spPr>
          <a:xfrm>
            <a:off x="8610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203</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483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7865129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1294</TotalTime>
  <Words>1440</Words>
  <Application>Microsoft Office PowerPoint</Application>
  <PresentationFormat>Widescreen</PresentationFormat>
  <Paragraphs>153</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Black</vt:lpstr>
      <vt:lpstr>Calibri</vt:lpstr>
      <vt:lpstr>Cambria</vt:lpstr>
      <vt:lpstr>Cambria Math</vt:lpstr>
      <vt:lpstr>Century Gothic</vt:lpstr>
      <vt:lpstr>Times New Roman</vt:lpstr>
      <vt:lpstr>Verdana</vt:lpstr>
      <vt:lpstr>Wingdings</vt:lpstr>
      <vt:lpstr>1_Office Theme</vt:lpstr>
      <vt:lpstr>6th Grade Accelerated Math  Unit 5, Lesson 6  Using Two- and Three-Column Tables of Equivalent Ratios  Volume 1, pg. 198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21</cp:revision>
  <dcterms:created xsi:type="dcterms:W3CDTF">2015-03-17T18:51:18Z</dcterms:created>
  <dcterms:modified xsi:type="dcterms:W3CDTF">2022-06-29T18:49:57Z</dcterms:modified>
</cp:coreProperties>
</file>