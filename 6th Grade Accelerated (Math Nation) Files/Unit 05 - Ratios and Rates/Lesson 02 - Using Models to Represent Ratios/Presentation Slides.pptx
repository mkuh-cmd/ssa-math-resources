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56" r:id="rId2"/>
    <p:sldId id="257" r:id="rId3"/>
    <p:sldId id="285" r:id="rId4"/>
    <p:sldId id="286" r:id="rId5"/>
    <p:sldId id="261" r:id="rId6"/>
    <p:sldId id="287" r:id="rId7"/>
    <p:sldId id="346" r:id="rId8"/>
    <p:sldId id="311" r:id="rId9"/>
    <p:sldId id="312" r:id="rId10"/>
    <p:sldId id="333" r:id="rId11"/>
    <p:sldId id="345" r:id="rId12"/>
    <p:sldId id="344" r:id="rId13"/>
    <p:sldId id="343" r:id="rId14"/>
    <p:sldId id="323" r:id="rId15"/>
    <p:sldId id="324" r:id="rId16"/>
    <p:sldId id="347" r:id="rId17"/>
    <p:sldId id="289" r:id="rId18"/>
    <p:sldId id="290" r:id="rId19"/>
    <p:sldId id="336" r:id="rId20"/>
    <p:sldId id="337" r:id="rId21"/>
    <p:sldId id="348" r:id="rId22"/>
    <p:sldId id="302" r:id="rId23"/>
    <p:sldId id="303" r:id="rId24"/>
    <p:sldId id="340" r:id="rId25"/>
    <p:sldId id="349" r:id="rId26"/>
    <p:sldId id="306" r:id="rId27"/>
    <p:sldId id="307" r:id="rId28"/>
    <p:sldId id="350"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BF5F"/>
    <a:srgbClr val="52BDA6"/>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53"/>
    <p:restoredTop sz="94695"/>
  </p:normalViewPr>
  <p:slideViewPr>
    <p:cSldViewPr snapToGrid="0">
      <p:cViewPr varScale="1">
        <p:scale>
          <a:sx n="79" d="100"/>
          <a:sy n="79" d="100"/>
        </p:scale>
        <p:origin x="734"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1941051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8390262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167714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1346084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7648786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3332417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2664152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5962668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2629563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0.png"/><Relationship Id="rId5" Type="http://schemas.microsoft.com/office/2007/relationships/hdphoto" Target="../media/hdphoto1.wdp"/><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70.png"/><Relationship Id="rId10" Type="http://schemas.openxmlformats.org/officeDocument/2006/relationships/image" Target="../media/image10.png"/><Relationship Id="rId4" Type="http://schemas.openxmlformats.org/officeDocument/2006/relationships/image" Target="../media/image17.png"/><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6.png"/><Relationship Id="rId7" Type="http://schemas.openxmlformats.org/officeDocument/2006/relationships/image" Target="../media/image28.png"/><Relationship Id="rId12"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11" Type="http://schemas.openxmlformats.org/officeDocument/2006/relationships/image" Target="../media/image32.png"/><Relationship Id="rId5" Type="http://schemas.openxmlformats.org/officeDocument/2006/relationships/image" Target="../media/image27.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3.png"/><Relationship Id="rId7" Type="http://schemas.openxmlformats.org/officeDocument/2006/relationships/image" Target="../media/image45.png"/><Relationship Id="rId12"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44.png"/><Relationship Id="rId11" Type="http://schemas.openxmlformats.org/officeDocument/2006/relationships/image" Target="../media/image49.png"/><Relationship Id="rId10" Type="http://schemas.openxmlformats.org/officeDocument/2006/relationships/image" Target="../media/image48.png"/><Relationship Id="rId4" Type="http://schemas.openxmlformats.org/officeDocument/2006/relationships/image" Target="../media/image430.png"/><Relationship Id="rId9" Type="http://schemas.openxmlformats.org/officeDocument/2006/relationships/image" Target="../media/image47.png"/></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52.png"/><Relationship Id="rId5" Type="http://schemas.openxmlformats.org/officeDocument/2006/relationships/image" Target="../media/image51.tiff"/><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5, Lesson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Using Models to Represent Ratios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178</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185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59285" y="123463"/>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735785" y="35923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178</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685109" y="1600200"/>
                <a:ext cx="8525691"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MA.6.AR.3.1</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Given a real-world context, write and interpret ratios to show the relative sizes of two quantities using appropriate notation: </a:t>
                </a:r>
                <a14:m>
                  <m:oMath xmlns:m="http://schemas.openxmlformats.org/officeDocument/2006/math">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𝑎</m:t>
                        </m:r>
                      </m:num>
                      <m:den>
                        <m:r>
                          <a:rPr lang="es-ES" sz="2400" i="1" dirty="0">
                            <a:latin typeface="Cambria Math" panose="02040503050406030204" pitchFamily="18" charset="0"/>
                            <a:ea typeface="Verdana" panose="020B0604030504040204" pitchFamily="34" charset="0"/>
                            <a:cs typeface="Verdana" panose="020B0604030504040204" pitchFamily="34" charset="0"/>
                          </a:rPr>
                          <m:t>𝑏</m:t>
                        </m:r>
                      </m:den>
                    </m:f>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𝑎</m:t>
                    </m:r>
                  </m:oMath>
                </a14:m>
                <a:r>
                  <a:rPr lang="en-US" sz="24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𝑏</m:t>
                    </m:r>
                  </m:oMath>
                </a14:m>
                <a:r>
                  <a:rPr lang="en-US" sz="2400" dirty="0">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𝑎</m:t>
                    </m:r>
                    <m:r>
                      <a:rPr lang="en-US" sz="2400" i="1" dirty="0">
                        <a:latin typeface="Cambria Math" panose="02040503050406030204" pitchFamily="18" charset="0"/>
                        <a:ea typeface="Verdana" panose="020B0604030504040204" pitchFamily="34" charset="0"/>
                        <a:cs typeface="Verdana" panose="020B0604030504040204" pitchFamily="34" charset="0"/>
                      </a:rPr>
                      <m:t>:</m:t>
                    </m:r>
                    <m:r>
                      <a:rPr lang="en-US" sz="2400" i="1" dirty="0">
                        <a:latin typeface="Cambria Math" panose="02040503050406030204" pitchFamily="18" charset="0"/>
                        <a:ea typeface="Verdana" panose="020B0604030504040204" pitchFamily="34" charset="0"/>
                        <a:cs typeface="Verdana" panose="020B0604030504040204" pitchFamily="34" charset="0"/>
                      </a:rPr>
                      <m:t>𝑏</m:t>
                    </m:r>
                    <m:r>
                      <a:rPr lang="en-US" sz="2400" i="1" dirty="0">
                        <a:latin typeface="Cambria Math" panose="02040503050406030204" pitchFamily="18" charset="0"/>
                        <a:ea typeface="Verdana" panose="020B0604030504040204" pitchFamily="34" charset="0"/>
                        <a:cs typeface="Verdana" panose="020B0604030504040204" pitchFamily="34" charset="0"/>
                      </a:rPr>
                      <m:t> </m:t>
                    </m:r>
                  </m:oMath>
                </a14:m>
                <a:r>
                  <a:rPr lang="en-US" sz="2400" dirty="0">
                    <a:latin typeface="Verdana" panose="020B0604030504040204" pitchFamily="34" charset="0"/>
                    <a:ea typeface="Verdana" panose="020B0604030504040204" pitchFamily="34" charset="0"/>
                    <a:cs typeface="Verdana" panose="020B0604030504040204" pitchFamily="34" charset="0"/>
                  </a:rPr>
                  <a:t>where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𝑏</m:t>
                    </m:r>
                    <m:r>
                      <a:rPr lang="en-US" sz="2400" i="1" dirty="0">
                        <a:latin typeface="Cambria Math" panose="02040503050406030204" pitchFamily="18" charset="0"/>
                        <a:ea typeface="Verdana" panose="020B0604030504040204" pitchFamily="34" charset="0"/>
                        <a:cs typeface="Verdana" panose="020B0604030504040204" pitchFamily="34"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indent="0">
                  <a:buNone/>
                </a:pPr>
                <a:endParaRPr lang="en-US" dirty="0"/>
              </a:p>
            </p:txBody>
          </p:sp>
        </mc:Choice>
        <mc:Fallback xmlns="">
          <p:sp>
            <p:nvSpPr>
              <p:cNvPr id="8" name="Google Shape;280;g104476d1465_1_17">
                <a:extLst>
                  <a:ext uri="{FF2B5EF4-FFF2-40B4-BE49-F238E27FC236}">
                    <a16:creationId xmlns:a16="http://schemas.microsoft.com/office/drawing/2014/main" xmlns:a14="http://schemas.microsoft.com/office/drawing/2010/main" xmlns="" id="{527A9F9F-07B8-ED47-B967-E5507C67DBC5}"/>
                  </a:ext>
                </a:extLst>
              </p:cNvPr>
              <p:cNvSpPr txBox="1">
                <a:spLocks noRot="1" noChangeAspect="1" noMove="1" noResize="1" noEditPoints="1" noAdjustHandles="1" noChangeArrowheads="1" noChangeShapeType="1" noTextEdit="1"/>
              </p:cNvSpPr>
              <p:nvPr/>
            </p:nvSpPr>
            <p:spPr>
              <a:xfrm>
                <a:off x="1685109" y="1600200"/>
                <a:ext cx="8525691" cy="4205700"/>
              </a:xfrm>
              <a:prstGeom prst="rect">
                <a:avLst/>
              </a:prstGeom>
              <a:blipFill rotWithShape="0">
                <a:blip r:embed="rId5"/>
                <a:stretch>
                  <a:fillRect l="-1072"/>
                </a:stretch>
              </a:blipFill>
              <a:ln>
                <a:noFill/>
              </a:ln>
            </p:spPr>
            <p:txBody>
              <a:bodyPr/>
              <a:lstStyle/>
              <a:p>
                <a:r>
                  <a:rPr 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788036" y="232036"/>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612686" y="-1059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612686" y="1596390"/>
            <a:ext cx="859811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
        <p:nvSpPr>
          <p:cNvPr id="9" name="Google Shape;278;g104476d1465_1_17">
            <a:extLst>
              <a:ext uri="{FF2B5EF4-FFF2-40B4-BE49-F238E27FC236}">
                <a16:creationId xmlns:a16="http://schemas.microsoft.com/office/drawing/2014/main" id="{6E7A4D6F-44FC-A244-9D48-432FB079412B}"/>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178</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88469" y="3715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706307" y="326352"/>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453607" y="1547093"/>
            <a:ext cx="894805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write and interpret ratios.</a:t>
            </a:r>
          </a:p>
          <a:p>
            <a:pPr marL="285750" indent="-285750">
              <a:buFont typeface="Wingdings" pitchFamily="2" charset="2"/>
              <a:buChar char="q"/>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represent ratios using various models. </a:t>
            </a:r>
          </a:p>
        </p:txBody>
      </p:sp>
      <p:sp>
        <p:nvSpPr>
          <p:cNvPr id="8" name="Google Shape;278;g104476d1465_1_17">
            <a:extLst>
              <a:ext uri="{FF2B5EF4-FFF2-40B4-BE49-F238E27FC236}">
                <a16:creationId xmlns:a16="http://schemas.microsoft.com/office/drawing/2014/main" id="{A5AB08F0-2AFB-7C4D-89D1-EBA316589D98}"/>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178</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95470" y="-80795"/>
            <a:ext cx="1015112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5.2.1 Warm-Up: Nana’s Chocolate Milk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548170" y="154941"/>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id="{079F083F-A67E-0047-8E64-5125815AF3D8}"/>
              </a:ext>
            </a:extLst>
          </p:cNvPr>
          <p:cNvSpPr/>
          <p:nvPr/>
        </p:nvSpPr>
        <p:spPr>
          <a:xfrm>
            <a:off x="1515292" y="1386025"/>
            <a:ext cx="9725142" cy="1569660"/>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Dan’s Nana prefers her chocolate milk made with just the right “</a:t>
            </a:r>
            <a:r>
              <a:rPr lang="en-US" sz="2400" dirty="0" err="1">
                <a:latin typeface="Verdana" panose="020B0604030504040204" pitchFamily="34" charset="0"/>
                <a:ea typeface="Times New Roman" panose="02020603050405020304" pitchFamily="18" charset="0"/>
                <a:cs typeface="Times New Roman" panose="02020603050405020304" pitchFamily="18" charset="0"/>
              </a:rPr>
              <a:t>chocolateyness</a:t>
            </a:r>
            <a:r>
              <a:rPr lang="en-US" sz="2400" dirty="0">
                <a:latin typeface="Verdana" panose="020B0604030504040204" pitchFamily="34" charset="0"/>
                <a:ea typeface="Times New Roman" panose="02020603050405020304" pitchFamily="18" charset="0"/>
                <a:cs typeface="Times New Roman" panose="02020603050405020304" pitchFamily="18" charset="0"/>
              </a:rPr>
              <a:t>,” but he made a mistake when mixing it for her. The image below shows what Dan should have mixed and what he actually mixed.</a:t>
            </a:r>
          </a:p>
        </p:txBody>
      </p:sp>
      <p:pic>
        <p:nvPicPr>
          <p:cNvPr id="10" name="image9.png" descr="A picture containing beverage, table, cup, food&#10;&#10;Description automatically generated">
            <a:extLst>
              <a:ext uri="{FF2B5EF4-FFF2-40B4-BE49-F238E27FC236}">
                <a16:creationId xmlns:a16="http://schemas.microsoft.com/office/drawing/2014/main" id="{6B477787-0D22-F343-A33E-66E127FF4885}"/>
              </a:ext>
            </a:extLst>
          </p:cNvPr>
          <p:cNvPicPr/>
          <p:nvPr/>
        </p:nvPicPr>
        <p:blipFill>
          <a:blip r:embed="rId4" cstate="screen">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a:ext>
            </a:extLst>
          </a:blip>
          <a:srcRect/>
          <a:stretch>
            <a:fillRect/>
          </a:stretch>
        </p:blipFill>
        <p:spPr>
          <a:xfrm>
            <a:off x="3557588" y="3522170"/>
            <a:ext cx="5076825" cy="2678430"/>
          </a:xfrm>
          <a:prstGeom prst="rect">
            <a:avLst/>
          </a:prstGeom>
          <a:ln/>
        </p:spPr>
      </p:pic>
      <p:sp>
        <p:nvSpPr>
          <p:cNvPr id="11" name="Google Shape;278;g104476d1465_1_17">
            <a:extLst>
              <a:ext uri="{FF2B5EF4-FFF2-40B4-BE49-F238E27FC236}">
                <a16:creationId xmlns:a16="http://schemas.microsoft.com/office/drawing/2014/main" id="{4BF06C46-B284-AE41-8A79-CFFE2DC48C0B}"/>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179</a:t>
            </a:r>
            <a:endParaRPr i="1" dirty="0">
              <a:latin typeface="Calibri"/>
              <a:ea typeface="Calibri"/>
              <a:cs typeface="Calibri"/>
              <a:sym typeface="Calibri"/>
            </a:endParaRPr>
          </a:p>
        </p:txBody>
      </p:sp>
      <p:pic>
        <p:nvPicPr>
          <p:cNvPr id="14"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3" name="Rectangle 2">
            <a:extLst>
              <a:ext uri="{FF2B5EF4-FFF2-40B4-BE49-F238E27FC236}">
                <a16:creationId xmlns:a16="http://schemas.microsoft.com/office/drawing/2014/main" id="{079F083F-A67E-0047-8E64-5125815AF3D8}"/>
              </a:ext>
            </a:extLst>
          </p:cNvPr>
          <p:cNvSpPr/>
          <p:nvPr/>
        </p:nvSpPr>
        <p:spPr>
          <a:xfrm>
            <a:off x="1201784" y="314462"/>
            <a:ext cx="9943662" cy="3785652"/>
          </a:xfrm>
          <a:prstGeom prst="rect">
            <a:avLst/>
          </a:prstGeom>
        </p:spPr>
        <p:txBody>
          <a:bodyPr wrap="square">
            <a:spAutoFit/>
          </a:bodyPr>
          <a:lstStyle/>
          <a:p>
            <a:pPr marL="4572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Describe what Dan did wrong.</a:t>
            </a: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How could Dan fix it so that the glass contains Nana’s preferred balance of milk and chocolate?</a:t>
            </a:r>
          </a:p>
        </p:txBody>
      </p:sp>
      <p:sp>
        <p:nvSpPr>
          <p:cNvPr id="6" name="Google Shape;278;g104476d1465_1_17">
            <a:extLst>
              <a:ext uri="{FF2B5EF4-FFF2-40B4-BE49-F238E27FC236}">
                <a16:creationId xmlns:a16="http://schemas.microsoft.com/office/drawing/2014/main" id="{ED0C48D6-A413-D948-A84C-8CE0746C1FBD}"/>
              </a:ext>
            </a:extLst>
          </p:cNvPr>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179</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52440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309;g104476d1465_1_39">
            <a:extLst>
              <a:ext uri="{FF2B5EF4-FFF2-40B4-BE49-F238E27FC236}">
                <a16:creationId xmlns:a16="http://schemas.microsoft.com/office/drawing/2014/main" id="{DA19918E-AADC-104F-A24F-01F626EDCC78}"/>
              </a:ext>
            </a:extLst>
          </p:cNvPr>
          <p:cNvSpPr/>
          <p:nvPr/>
        </p:nvSpPr>
        <p:spPr>
          <a:xfrm>
            <a:off x="0" y="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68708" y="5058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5.2.2 Exploration: Using Double Line Diagrams to Represent Ratios</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55260" y="298709"/>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05AB5A2-AF35-B14C-AE54-D2A0628C823C}"/>
              </a:ext>
            </a:extLst>
          </p:cNvPr>
          <p:cNvSpPr/>
          <p:nvPr/>
        </p:nvSpPr>
        <p:spPr>
          <a:xfrm>
            <a:off x="1632857" y="1521193"/>
            <a:ext cx="8760823" cy="1569660"/>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Nana’s chocolate milk recipe calls for 4 scoops of chocolate for every 1 cup of milk. One way to represent the recipe is with a double number line diagram.</a:t>
            </a:r>
          </a:p>
        </p:txBody>
      </p:sp>
      <p:grpSp>
        <p:nvGrpSpPr>
          <p:cNvPr id="9" name="Group 8">
            <a:extLst>
              <a:ext uri="{FF2B5EF4-FFF2-40B4-BE49-F238E27FC236}">
                <a16:creationId xmlns:a16="http://schemas.microsoft.com/office/drawing/2014/main" id="{07445996-334F-A04D-975A-50C97033CD6F}"/>
              </a:ext>
            </a:extLst>
          </p:cNvPr>
          <p:cNvGrpSpPr/>
          <p:nvPr/>
        </p:nvGrpSpPr>
        <p:grpSpPr>
          <a:xfrm>
            <a:off x="2229349" y="3424825"/>
            <a:ext cx="8714603" cy="2463696"/>
            <a:chOff x="0" y="0"/>
            <a:chExt cx="6339131" cy="1620254"/>
          </a:xfrm>
        </p:grpSpPr>
        <p:pic>
          <p:nvPicPr>
            <p:cNvPr id="10" name="Picture" descr="A picture containing object, antenna, sitting, parked&#10;&#10;Description automatically generated">
              <a:extLst>
                <a:ext uri="{FF2B5EF4-FFF2-40B4-BE49-F238E27FC236}">
                  <a16:creationId xmlns:a16="http://schemas.microsoft.com/office/drawing/2014/main" id="{4A9450F5-1783-1F4F-85DB-FAE191C057F3}"/>
                </a:ext>
              </a:extLst>
            </p:cNvPr>
            <p:cNvPicPr/>
            <p:nvPr/>
          </p:nvPicPr>
          <p:blipFill rotWithShape="1">
            <a:blip r:embed="rId4" cstate="print">
              <a:extLst>
                <a:ext uri="{28A0092B-C50C-407E-A947-70E740481C1C}">
                  <a14:useLocalDpi xmlns:a14="http://schemas.microsoft.com/office/drawing/2010/main"/>
                </a:ext>
              </a:extLst>
            </a:blip>
            <a:srcRect l="20757" r="-16167"/>
            <a:stretch/>
          </p:blipFill>
          <p:spPr bwMode="auto">
            <a:xfrm>
              <a:off x="669851" y="0"/>
              <a:ext cx="5669280" cy="1607185"/>
            </a:xfrm>
            <a:prstGeom prst="rect">
              <a:avLst/>
            </a:prstGeom>
            <a:noFill/>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2" name="Text Box 26">
                  <a:extLst>
                    <a:ext uri="{FF2B5EF4-FFF2-40B4-BE49-F238E27FC236}">
                      <a16:creationId xmlns:a16="http://schemas.microsoft.com/office/drawing/2014/main" id="{72D873C4-FB3A-4048-93A3-C13554F6A29E}"/>
                    </a:ext>
                  </a:extLst>
                </p:cNvPr>
                <p:cNvSpPr txBox="1"/>
                <p:nvPr/>
              </p:nvSpPr>
              <p:spPr>
                <a:xfrm>
                  <a:off x="1424763" y="10632"/>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2" name="Text Box 26">
                  <a:extLst>
                    <a:ext uri="{FF2B5EF4-FFF2-40B4-BE49-F238E27FC236}">
                      <a16:creationId xmlns:a16="http://schemas.microsoft.com/office/drawing/2014/main" id="{72D873C4-FB3A-4048-93A3-C13554F6A29E}"/>
                    </a:ext>
                  </a:extLst>
                </p:cNvPr>
                <p:cNvSpPr txBox="1">
                  <a:spLocks noRot="1" noChangeAspect="1" noMove="1" noResize="1" noEditPoints="1" noAdjustHandles="1" noChangeArrowheads="1" noChangeShapeType="1" noTextEdit="1"/>
                </p:cNvSpPr>
                <p:nvPr/>
              </p:nvSpPr>
              <p:spPr>
                <a:xfrm>
                  <a:off x="1424763" y="10632"/>
                  <a:ext cx="316865" cy="397510"/>
                </a:xfrm>
                <a:prstGeom prst="rect">
                  <a:avLst/>
                </a:prstGeom>
                <a:blipFill>
                  <a:blip r:embed="rId6"/>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3" name="Text Box 27">
                  <a:extLst>
                    <a:ext uri="{FF2B5EF4-FFF2-40B4-BE49-F238E27FC236}">
                      <a16:creationId xmlns:a16="http://schemas.microsoft.com/office/drawing/2014/main" id="{5C9BA267-B6A1-2646-A7BF-BB846EB49F43}"/>
                    </a:ext>
                  </a:extLst>
                </p:cNvPr>
                <p:cNvSpPr txBox="1"/>
                <p:nvPr/>
              </p:nvSpPr>
              <p:spPr>
                <a:xfrm>
                  <a:off x="1424763" y="1212111"/>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3" name="Text Box 27">
                  <a:extLst>
                    <a:ext uri="{FF2B5EF4-FFF2-40B4-BE49-F238E27FC236}">
                      <a16:creationId xmlns:a16="http://schemas.microsoft.com/office/drawing/2014/main" id="{5C9BA267-B6A1-2646-A7BF-BB846EB49F43}"/>
                    </a:ext>
                  </a:extLst>
                </p:cNvPr>
                <p:cNvSpPr txBox="1">
                  <a:spLocks noRot="1" noChangeAspect="1" noMove="1" noResize="1" noEditPoints="1" noAdjustHandles="1" noChangeArrowheads="1" noChangeShapeType="1" noTextEdit="1"/>
                </p:cNvSpPr>
                <p:nvPr/>
              </p:nvSpPr>
              <p:spPr>
                <a:xfrm>
                  <a:off x="1424763" y="1212111"/>
                  <a:ext cx="316865" cy="397510"/>
                </a:xfrm>
                <a:prstGeom prst="rect">
                  <a:avLst/>
                </a:prstGeom>
                <a:blipFill>
                  <a:blip r:embed="rId7"/>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4" name="Text Box 25">
                  <a:extLst>
                    <a:ext uri="{FF2B5EF4-FFF2-40B4-BE49-F238E27FC236}">
                      <a16:creationId xmlns:a16="http://schemas.microsoft.com/office/drawing/2014/main" id="{EB5E909E-E242-7540-A623-1E7C3392F9D7}"/>
                    </a:ext>
                  </a:extLst>
                </p:cNvPr>
                <p:cNvSpPr txBox="1"/>
                <p:nvPr/>
              </p:nvSpPr>
              <p:spPr>
                <a:xfrm>
                  <a:off x="1977656" y="0"/>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1</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4" name="Text Box 25">
                  <a:extLst>
                    <a:ext uri="{FF2B5EF4-FFF2-40B4-BE49-F238E27FC236}">
                      <a16:creationId xmlns:a16="http://schemas.microsoft.com/office/drawing/2014/main" id="{EB5E909E-E242-7540-A623-1E7C3392F9D7}"/>
                    </a:ext>
                  </a:extLst>
                </p:cNvPr>
                <p:cNvSpPr txBox="1">
                  <a:spLocks noRot="1" noChangeAspect="1" noMove="1" noResize="1" noEditPoints="1" noAdjustHandles="1" noChangeArrowheads="1" noChangeShapeType="1" noTextEdit="1"/>
                </p:cNvSpPr>
                <p:nvPr/>
              </p:nvSpPr>
              <p:spPr>
                <a:xfrm>
                  <a:off x="1977656" y="0"/>
                  <a:ext cx="316865" cy="397510"/>
                </a:xfrm>
                <a:prstGeom prst="rect">
                  <a:avLst/>
                </a:prstGeom>
                <a:blipFill>
                  <a:blip r:embed="rId8"/>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5" name="Text Box 22">
                  <a:extLst>
                    <a:ext uri="{FF2B5EF4-FFF2-40B4-BE49-F238E27FC236}">
                      <a16:creationId xmlns:a16="http://schemas.microsoft.com/office/drawing/2014/main" id="{7AD8A600-96AB-B748-9956-5A50F2E4E48F}"/>
                    </a:ext>
                  </a:extLst>
                </p:cNvPr>
                <p:cNvSpPr txBox="1"/>
                <p:nvPr/>
              </p:nvSpPr>
              <p:spPr>
                <a:xfrm>
                  <a:off x="1977656" y="1222744"/>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4</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5" name="Text Box 22">
                  <a:extLst>
                    <a:ext uri="{FF2B5EF4-FFF2-40B4-BE49-F238E27FC236}">
                      <a16:creationId xmlns:a16="http://schemas.microsoft.com/office/drawing/2014/main" id="{7AD8A600-96AB-B748-9956-5A50F2E4E48F}"/>
                    </a:ext>
                  </a:extLst>
                </p:cNvPr>
                <p:cNvSpPr txBox="1">
                  <a:spLocks noRot="1" noChangeAspect="1" noMove="1" noResize="1" noEditPoints="1" noAdjustHandles="1" noChangeArrowheads="1" noChangeShapeType="1" noTextEdit="1"/>
                </p:cNvSpPr>
                <p:nvPr/>
              </p:nvSpPr>
              <p:spPr>
                <a:xfrm>
                  <a:off x="1977656" y="1222744"/>
                  <a:ext cx="316865" cy="397510"/>
                </a:xfrm>
                <a:prstGeom prst="rect">
                  <a:avLst/>
                </a:prstGeom>
                <a:blipFill>
                  <a:blip r:embed="rId9"/>
                  <a:stretch>
                    <a:fillRect/>
                  </a:stretch>
                </a:blipFill>
                <a:ln w="6350">
                  <a:noFill/>
                </a:ln>
              </p:spPr>
              <p:txBody>
                <a:bodyPr/>
                <a:lstStyle/>
                <a:p>
                  <a:r>
                    <a:rPr lang="en-CO">
                      <a:noFill/>
                    </a:rPr>
                    <a:t> </a:t>
                  </a:r>
                </a:p>
              </p:txBody>
            </p:sp>
          </mc:Fallback>
        </mc:AlternateContent>
        <p:sp>
          <p:nvSpPr>
            <p:cNvPr id="16" name="Text Box 24">
              <a:extLst>
                <a:ext uri="{FF2B5EF4-FFF2-40B4-BE49-F238E27FC236}">
                  <a16:creationId xmlns:a16="http://schemas.microsoft.com/office/drawing/2014/main" id="{DA55A028-F858-EC4F-A6F2-520643B348C3}"/>
                </a:ext>
              </a:extLst>
            </p:cNvPr>
            <p:cNvSpPr txBox="1"/>
            <p:nvPr/>
          </p:nvSpPr>
          <p:spPr>
            <a:xfrm>
              <a:off x="244549" y="63795"/>
              <a:ext cx="923290" cy="82934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dirty="0">
                  <a:latin typeface="Verdana" panose="020B0604030504040204" pitchFamily="34" charset="0"/>
                  <a:ea typeface="Times New Roman" panose="02020603050405020304" pitchFamily="18" charset="0"/>
                  <a:cs typeface="Cambria" panose="02040503050406030204" pitchFamily="18" charset="0"/>
                </a:rPr>
                <a:t>Milk</a:t>
              </a:r>
              <a:endParaRPr lang="x-none" sz="1200" dirty="0">
                <a:latin typeface="Cambria" panose="02040503050406030204" pitchFamily="18" charset="0"/>
                <a:ea typeface="Times New Roman" panose="02020603050405020304" pitchFamily="18" charset="0"/>
                <a:cs typeface="Cambria" panose="02040503050406030204" pitchFamily="18" charset="0"/>
              </a:endParaRPr>
            </a:p>
            <a:p>
              <a:pPr algn="ctr">
                <a:spcAft>
                  <a:spcPts val="1000"/>
                </a:spcAft>
              </a:pPr>
              <a:r>
                <a:rPr lang="en-US" sz="1800" dirty="0">
                  <a:latin typeface="Verdana" panose="020B0604030504040204" pitchFamily="34" charset="0"/>
                  <a:ea typeface="Times New Roman" panose="02020603050405020304" pitchFamily="18" charset="0"/>
                  <a:cs typeface="Cambria" panose="02040503050406030204" pitchFamily="18" charset="0"/>
                </a:rPr>
                <a:t>(cups)</a:t>
              </a:r>
              <a:endParaRPr lang="x-none" sz="1200" dirty="0">
                <a:latin typeface="Cambria" panose="02040503050406030204" pitchFamily="18" charset="0"/>
                <a:ea typeface="Times New Roman" panose="02020603050405020304" pitchFamily="18" charset="0"/>
                <a:cs typeface="Cambria" panose="02040503050406030204" pitchFamily="18" charset="0"/>
              </a:endParaRPr>
            </a:p>
          </p:txBody>
        </p:sp>
        <p:sp>
          <p:nvSpPr>
            <p:cNvPr id="17" name="Text Box 23">
              <a:extLst>
                <a:ext uri="{FF2B5EF4-FFF2-40B4-BE49-F238E27FC236}">
                  <a16:creationId xmlns:a16="http://schemas.microsoft.com/office/drawing/2014/main" id="{92BB317B-59B2-D244-BB71-7FF8F0B04EA0}"/>
                </a:ext>
              </a:extLst>
            </p:cNvPr>
            <p:cNvSpPr txBox="1"/>
            <p:nvPr/>
          </p:nvSpPr>
          <p:spPr>
            <a:xfrm>
              <a:off x="0" y="903767"/>
              <a:ext cx="1384935" cy="69659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a:latin typeface="Verdana" panose="020B0604030504040204" pitchFamily="34" charset="0"/>
                  <a:ea typeface="Times New Roman" panose="02020603050405020304" pitchFamily="18" charset="0"/>
                  <a:cs typeface="Cambria" panose="02040503050406030204" pitchFamily="18" charset="0"/>
                </a:rPr>
                <a:t>Chocolate (scoops)</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grpSp>
      <p:sp>
        <p:nvSpPr>
          <p:cNvPr id="18" name="Google Shape;278;g104476d1465_1_17">
            <a:extLst>
              <a:ext uri="{FF2B5EF4-FFF2-40B4-BE49-F238E27FC236}">
                <a16:creationId xmlns:a16="http://schemas.microsoft.com/office/drawing/2014/main" id="{C2D3C5E8-CFEB-9A43-91D2-A94450DD694C}"/>
              </a:ext>
            </a:extLst>
          </p:cNvPr>
          <p:cNvSpPr/>
          <p:nvPr/>
        </p:nvSpPr>
        <p:spPr>
          <a:xfrm>
            <a:off x="0" y="-8225"/>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9"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179</a:t>
            </a:r>
            <a:endParaRPr i="1" dirty="0">
              <a:latin typeface="Calibri"/>
              <a:ea typeface="Calibri"/>
              <a:cs typeface="Calibri"/>
              <a:sym typeface="Calibri"/>
            </a:endParaRPr>
          </a:p>
        </p:txBody>
      </p:sp>
      <p:pic>
        <p:nvPicPr>
          <p:cNvPr id="20" name="Google Shape;283;g104476d1465_1_17"/>
          <p:cNvPicPr preferRelativeResize="0"/>
          <p:nvPr/>
        </p:nvPicPr>
        <p:blipFill>
          <a:blip r:embed="rId10"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96EBC228-FF81-F24F-AEB8-9068AF825BE0}"/>
                  </a:ext>
                </a:extLst>
              </p:cNvPr>
              <p:cNvSpPr/>
              <p:nvPr/>
            </p:nvSpPr>
            <p:spPr>
              <a:xfrm>
                <a:off x="1783131" y="332977"/>
                <a:ext cx="8625738" cy="5940088"/>
              </a:xfrm>
              <a:prstGeom prst="rect">
                <a:avLst/>
              </a:prstGeom>
            </p:spPr>
            <p:txBody>
              <a:bodyPr wrap="square">
                <a:spAutoFit/>
              </a:bodyPr>
              <a:lstStyle/>
              <a:p>
                <a:pPr marL="457200" indent="-333375">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Label each tick mark on the double number line diagram to represent the relationship between cups of milk and chocolate scoops.</a:t>
                </a:r>
              </a:p>
              <a:p>
                <a:pPr marL="457200" indent="-333375">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 How does the double number line show the ratio of Nana’s preferred balance of milk and chocolate?</a:t>
                </a:r>
              </a:p>
              <a:p>
                <a:pPr marL="457200" indent="-333375">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How many scoops of chocolate need to be mixed with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cups of milk to maintain the same ratio of milk to chocolate from Nana’s recipe?</a:t>
                </a:r>
              </a:p>
              <a:p>
                <a:pPr marL="457200" indent="-333375">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Circle where the answer to the previous question is represented on the double number line diagram.</a:t>
                </a:r>
              </a:p>
              <a:p>
                <a:pPr marL="457200" indent="-333375">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 name="Rectangle 2">
                <a:extLst>
                  <a:ext uri="{FF2B5EF4-FFF2-40B4-BE49-F238E27FC236}">
                    <a16:creationId xmlns:a16="http://schemas.microsoft.com/office/drawing/2014/main" id="{96EBC228-FF81-F24F-AEB8-9068AF825BE0}"/>
                  </a:ext>
                </a:extLst>
              </p:cNvPr>
              <p:cNvSpPr>
                <a:spLocks noRot="1" noChangeAspect="1" noMove="1" noResize="1" noEditPoints="1" noAdjustHandles="1" noChangeArrowheads="1" noChangeShapeType="1" noTextEdit="1"/>
              </p:cNvSpPr>
              <p:nvPr/>
            </p:nvSpPr>
            <p:spPr>
              <a:xfrm>
                <a:off x="259131" y="332977"/>
                <a:ext cx="8625738" cy="5940088"/>
              </a:xfrm>
              <a:prstGeom prst="rect">
                <a:avLst/>
              </a:prstGeom>
              <a:blipFill>
                <a:blip r:embed="rId4"/>
                <a:stretch>
                  <a:fillRect t="-641" r="-1324"/>
                </a:stretch>
              </a:blipFill>
            </p:spPr>
            <p:txBody>
              <a:bodyPr/>
              <a:lstStyle/>
              <a:p>
                <a:r>
                  <a:rPr lang="en-CO">
                    <a:noFill/>
                  </a:rPr>
                  <a:t> </a:t>
                </a:r>
              </a:p>
            </p:txBody>
          </p:sp>
        </mc:Fallback>
      </mc:AlternateContent>
      <p:sp>
        <p:nvSpPr>
          <p:cNvPr id="6" name="Google Shape;278;g104476d1465_1_17">
            <a:extLst>
              <a:ext uri="{FF2B5EF4-FFF2-40B4-BE49-F238E27FC236}">
                <a16:creationId xmlns:a16="http://schemas.microsoft.com/office/drawing/2014/main" id="{1A0CE158-B817-994A-ADAE-AAF1EF526567}"/>
              </a:ext>
            </a:extLst>
          </p:cNvPr>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179</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5251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2D32FB2E-EC85-7547-997A-F8CC3AB0EE91}"/>
                  </a:ext>
                </a:extLst>
              </p:cNvPr>
              <p:cNvSpPr/>
              <p:nvPr/>
            </p:nvSpPr>
            <p:spPr>
              <a:xfrm>
                <a:off x="1240971" y="357337"/>
                <a:ext cx="9175569" cy="4154984"/>
              </a:xfrm>
              <a:prstGeom prst="rect">
                <a:avLst/>
              </a:prstGeom>
            </p:spPr>
            <p:txBody>
              <a:bodyPr wrap="square">
                <a:spAutoFit/>
              </a:bodyPr>
              <a:lstStyle/>
              <a:p>
                <a:pPr marL="12700" indent="-1588"/>
                <a:r>
                  <a:rPr lang="en-US" sz="2400" dirty="0">
                    <a:latin typeface="Verdana" panose="020B0604030504040204" pitchFamily="34" charset="0"/>
                    <a:ea typeface="Times New Roman" panose="02020603050405020304" pitchFamily="18" charset="0"/>
                    <a:cs typeface="Times New Roman" panose="02020603050405020304" pitchFamily="18" charset="0"/>
                  </a:rPr>
                  <a:t>Each pair of numbers on the double number line diagram represents an equivalent ratio. For example, the ratio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6 :24 </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is equivalent to the ratio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 :8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pPr marL="407988" indent="-396875"/>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68312" indent="-457200">
                  <a:buFont typeface="+mj-lt"/>
                  <a:buAutoNum type="arabicPeriod" startAt="5"/>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 to interpret these two equivalent ratios in the context of Nana’s recipe.</a:t>
                </a:r>
              </a:p>
              <a:p>
                <a:pPr marL="407988" indent="-396875"/>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07988" indent="-396875"/>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50850"/>
                <a:r>
                  <a:rPr lang="en-US" sz="2400" dirty="0">
                    <a:latin typeface="Verdana" panose="020B0604030504040204" pitchFamily="34" charset="0"/>
                    <a:ea typeface="Times New Roman" panose="02020603050405020304" pitchFamily="18" charset="0"/>
                    <a:cs typeface="Times New Roman" panose="02020603050405020304" pitchFamily="18" charset="0"/>
                  </a:rPr>
                  <a:t>If 6 cups of milk are mixed with ____ scoops of chocolate, it will taste the same as mixing ____ cups of milk with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scoops of chocolate. </a:t>
                </a:r>
              </a:p>
            </p:txBody>
          </p:sp>
        </mc:Choice>
        <mc:Fallback xmlns="">
          <p:sp>
            <p:nvSpPr>
              <p:cNvPr id="2" name="Rectangle 1">
                <a:extLst>
                  <a:ext uri="{FF2B5EF4-FFF2-40B4-BE49-F238E27FC236}">
                    <a16:creationId xmlns:a16="http://schemas.microsoft.com/office/drawing/2014/main" xmlns:a14="http://schemas.microsoft.com/office/drawing/2010/main" xmlns="" id="{2D32FB2E-EC85-7547-997A-F8CC3AB0EE91}"/>
                  </a:ext>
                </a:extLst>
              </p:cNvPr>
              <p:cNvSpPr>
                <a:spLocks noRot="1" noChangeAspect="1" noMove="1" noResize="1" noEditPoints="1" noAdjustHandles="1" noChangeArrowheads="1" noChangeShapeType="1" noTextEdit="1"/>
              </p:cNvSpPr>
              <p:nvPr/>
            </p:nvSpPr>
            <p:spPr>
              <a:xfrm>
                <a:off x="1240971" y="357337"/>
                <a:ext cx="9175569" cy="4154984"/>
              </a:xfrm>
              <a:prstGeom prst="rect">
                <a:avLst/>
              </a:prstGeom>
              <a:blipFill rotWithShape="0">
                <a:blip r:embed="rId3"/>
                <a:stretch>
                  <a:fillRect l="-930" t="-1175" r="-332" b="-2349"/>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95438204-73B3-1749-8ED8-9942EB83AAD8}"/>
              </a:ext>
            </a:extLst>
          </p:cNvPr>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180</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7196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 name="Rectangle 1">
            <a:extLst>
              <a:ext uri="{FF2B5EF4-FFF2-40B4-BE49-F238E27FC236}">
                <a16:creationId xmlns:a16="http://schemas.microsoft.com/office/drawing/2014/main" id="{70349866-9A2F-9642-8136-D99DA46E15A8}"/>
              </a:ext>
            </a:extLst>
          </p:cNvPr>
          <p:cNvSpPr/>
          <p:nvPr/>
        </p:nvSpPr>
        <p:spPr>
          <a:xfrm>
            <a:off x="1924050" y="230536"/>
            <a:ext cx="8469630" cy="830997"/>
          </a:xfrm>
          <a:prstGeom prst="rect">
            <a:avLst/>
          </a:prstGeom>
        </p:spPr>
        <p:txBody>
          <a:bodyPr wrap="square">
            <a:spAutoFit/>
          </a:bodyPr>
          <a:lstStyle/>
          <a:p>
            <a:pPr marL="457200" indent="-457200">
              <a:buFont typeface="+mj-lt"/>
              <a:buAutoNum type="arabicPeriod" startAt="6"/>
            </a:pPr>
            <a:r>
              <a:rPr lang="en-US" sz="2400" dirty="0">
                <a:latin typeface="Verdana" panose="020B0604030504040204" pitchFamily="34" charset="0"/>
                <a:ea typeface="Times New Roman" panose="02020603050405020304" pitchFamily="18" charset="0"/>
                <a:cs typeface="Times New Roman" panose="02020603050405020304" pitchFamily="18" charset="0"/>
              </a:rPr>
              <a:t>Recall Dan’s error when mixing Nana’s chocolate milk.</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8E45F375-272F-7547-83A3-19EF33F2A61F}"/>
                  </a:ext>
                </a:extLst>
              </p:cNvPr>
              <p:cNvGraphicFramePr>
                <a:graphicFrameLocks noGrp="1"/>
              </p:cNvGraphicFramePr>
              <p:nvPr>
                <p:extLst>
                  <p:ext uri="{D42A27DB-BD31-4B8C-83A1-F6EECF244321}">
                    <p14:modId xmlns:p14="http://schemas.microsoft.com/office/powerpoint/2010/main" val="596915909"/>
                  </p:ext>
                </p:extLst>
              </p:nvPr>
            </p:nvGraphicFramePr>
            <p:xfrm>
              <a:off x="2124075" y="1260317"/>
              <a:ext cx="8069580" cy="949960"/>
            </p:xfrm>
            <a:graphic>
              <a:graphicData uri="http://schemas.openxmlformats.org/drawingml/2006/table">
                <a:tbl>
                  <a:tblPr bandRow="1">
                    <a:tableStyleId>{A91F0D33-8C57-4600-99A7-42BC86742BE1}</a:tableStyleId>
                  </a:tblPr>
                  <a:tblGrid>
                    <a:gridCol w="4034790">
                      <a:extLst>
                        <a:ext uri="{9D8B030D-6E8A-4147-A177-3AD203B41FA5}">
                          <a16:colId xmlns:a16="http://schemas.microsoft.com/office/drawing/2014/main" val="697352815"/>
                        </a:ext>
                      </a:extLst>
                    </a:gridCol>
                    <a:gridCol w="4034790">
                      <a:extLst>
                        <a:ext uri="{9D8B030D-6E8A-4147-A177-3AD203B41FA5}">
                          <a16:colId xmlns:a16="http://schemas.microsoft.com/office/drawing/2014/main" val="829392245"/>
                        </a:ext>
                      </a:extLst>
                    </a:gridCol>
                  </a:tblGrid>
                  <a:tr h="0">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Nana’s Recipe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What Dan Accidentally Mixed</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extLst>
                      <a:ext uri="{0D108BD9-81ED-4DB2-BD59-A6C34878D82A}">
                        <a16:rowId xmlns:a16="http://schemas.microsoft.com/office/drawing/2014/main" val="1463994797"/>
                      </a:ext>
                    </a:extLst>
                  </a:tr>
                  <a:tr h="0">
                    <a:tc>
                      <a:txBody>
                        <a:bodyPr/>
                        <a:lstStyle/>
                        <a:p>
                          <a:pPr marL="0" marR="0" algn="ctr">
                            <a:spcBef>
                              <a:spcPts val="0"/>
                            </a:spcBef>
                            <a:spcAft>
                              <a:spcPts val="1000"/>
                            </a:spcAft>
                          </a:pPr>
                          <a14:m>
                            <m:oMath xmlns:m="http://schemas.openxmlformats.org/officeDocument/2006/math">
                              <m:r>
                                <a:rPr lang="en-US" sz="1800">
                                  <a:effectLst/>
                                  <a:latin typeface="Cambria Math" panose="02040503050406030204" pitchFamily="18" charset="0"/>
                                </a:rPr>
                                <m:t>1</m:t>
                              </m:r>
                            </m:oMath>
                          </a14:m>
                          <a:r>
                            <a:rPr lang="en-US" sz="1800">
                              <a:effectLst/>
                              <a:latin typeface="Verdana" panose="020B0604030504040204" pitchFamily="34" charset="0"/>
                              <a:ea typeface="Verdana" panose="020B0604030504040204" pitchFamily="34" charset="0"/>
                              <a:cs typeface="Verdana" panose="020B0604030504040204" pitchFamily="34" charset="0"/>
                            </a:rPr>
                            <a:t> cup milk</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14:m>
                            <m:oMath xmlns:m="http://schemas.openxmlformats.org/officeDocument/2006/math">
                              <m:r>
                                <a:rPr lang="en-US" sz="1800">
                                  <a:effectLst/>
                                  <a:latin typeface="Cambria Math" panose="02040503050406030204" pitchFamily="18" charset="0"/>
                                </a:rPr>
                                <m:t>4</m:t>
                              </m:r>
                            </m:oMath>
                          </a14:m>
                          <a:r>
                            <a:rPr lang="en-US" sz="1800">
                              <a:effectLst/>
                              <a:latin typeface="Verdana" panose="020B0604030504040204" pitchFamily="34" charset="0"/>
                              <a:ea typeface="Verdana" panose="020B0604030504040204" pitchFamily="34" charset="0"/>
                              <a:cs typeface="Verdana" panose="020B0604030504040204" pitchFamily="34" charset="0"/>
                            </a:rPr>
                            <a:t> scoops chocolate</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1000"/>
                            </a:spcAft>
                          </a:pPr>
                          <a14:m>
                            <m:oMath xmlns:m="http://schemas.openxmlformats.org/officeDocument/2006/math">
                              <m:r>
                                <a:rPr lang="en-US" sz="1800">
                                  <a:effectLst/>
                                  <a:latin typeface="Cambria Math" panose="02040503050406030204" pitchFamily="18" charset="0"/>
                                </a:rPr>
                                <m:t>1</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cup milk</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0000"/>
                            </a:lnSpc>
                            <a:spcBef>
                              <a:spcPts val="0"/>
                            </a:spcBef>
                            <a:spcAft>
                              <a:spcPts val="1000"/>
                            </a:spcAft>
                          </a:pPr>
                          <a14:m>
                            <m:oMath xmlns:m="http://schemas.openxmlformats.org/officeDocument/2006/math">
                              <m:r>
                                <a:rPr lang="en-US" sz="1800">
                                  <a:effectLst/>
                                  <a:latin typeface="Cambria Math" panose="02040503050406030204" pitchFamily="18" charset="0"/>
                                </a:rPr>
                                <m:t>5</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scoops chocolate</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9677452"/>
                      </a:ext>
                    </a:extLst>
                  </a:tr>
                </a:tbl>
              </a:graphicData>
            </a:graphic>
          </p:graphicFrame>
        </mc:Choice>
        <mc:Fallback xmlns="">
          <p:graphicFrame>
            <p:nvGraphicFramePr>
              <p:cNvPr id="3" name="Table 2">
                <a:extLst>
                  <a:ext uri="{FF2B5EF4-FFF2-40B4-BE49-F238E27FC236}">
                    <a16:creationId xmlns:a16="http://schemas.microsoft.com/office/drawing/2014/main" id="{8E45F375-272F-7547-83A3-19EF33F2A61F}"/>
                  </a:ext>
                </a:extLst>
              </p:cNvPr>
              <p:cNvGraphicFramePr>
                <a:graphicFrameLocks noGrp="1"/>
              </p:cNvGraphicFramePr>
              <p:nvPr>
                <p:extLst>
                  <p:ext uri="{D42A27DB-BD31-4B8C-83A1-F6EECF244321}">
                    <p14:modId xmlns:p14="http://schemas.microsoft.com/office/powerpoint/2010/main" val="596915909"/>
                  </p:ext>
                </p:extLst>
              </p:nvPr>
            </p:nvGraphicFramePr>
            <p:xfrm>
              <a:off x="600075" y="1260317"/>
              <a:ext cx="8069580" cy="949960"/>
            </p:xfrm>
            <a:graphic>
              <a:graphicData uri="http://schemas.openxmlformats.org/drawingml/2006/table">
                <a:tbl>
                  <a:tblPr bandRow="1">
                    <a:tableStyleId>{A91F0D33-8C57-4600-99A7-42BC86742BE1}</a:tableStyleId>
                  </a:tblPr>
                  <a:tblGrid>
                    <a:gridCol w="4034790">
                      <a:extLst>
                        <a:ext uri="{9D8B030D-6E8A-4147-A177-3AD203B41FA5}">
                          <a16:colId xmlns:a16="http://schemas.microsoft.com/office/drawing/2014/main" val="697352815"/>
                        </a:ext>
                      </a:extLst>
                    </a:gridCol>
                    <a:gridCol w="4034790">
                      <a:extLst>
                        <a:ext uri="{9D8B030D-6E8A-4147-A177-3AD203B41FA5}">
                          <a16:colId xmlns:a16="http://schemas.microsoft.com/office/drawing/2014/main" val="829392245"/>
                        </a:ext>
                      </a:extLst>
                    </a:gridCol>
                  </a:tblGrid>
                  <a:tr h="274320">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Nana’s Recipe</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What Dan Accidentally Mixed</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extLst>
                      <a:ext uri="{0D108BD9-81ED-4DB2-BD59-A6C34878D82A}">
                        <a16:rowId xmlns:a16="http://schemas.microsoft.com/office/drawing/2014/main" val="1463994797"/>
                      </a:ext>
                    </a:extLst>
                  </a:tr>
                  <a:tr h="675640">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4" t="-51852" r="-100314" b="-20370"/>
                          </a:stretch>
                        </a:blipFill>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14" t="-51852" r="-314" b="-20370"/>
                          </a:stretch>
                        </a:blipFill>
                      </a:tcPr>
                    </a:tc>
                    <a:extLst>
                      <a:ext uri="{0D108BD9-81ED-4DB2-BD59-A6C34878D82A}">
                        <a16:rowId xmlns:a16="http://schemas.microsoft.com/office/drawing/2014/main" val="3909677452"/>
                      </a:ext>
                    </a:extLst>
                  </a:tr>
                </a:tbl>
              </a:graphicData>
            </a:graphic>
          </p:graphicFrame>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4E541880-59CF-A346-BFC5-55B2DF67E00C}"/>
                  </a:ext>
                </a:extLst>
              </p:cNvPr>
              <p:cNvSpPr/>
              <p:nvPr/>
            </p:nvSpPr>
            <p:spPr>
              <a:xfrm>
                <a:off x="1924050" y="2545110"/>
                <a:ext cx="8469630" cy="3785652"/>
              </a:xfrm>
              <a:prstGeom prst="rect">
                <a:avLst/>
              </a:prstGeom>
            </p:spPr>
            <p:txBody>
              <a:bodyPr wrap="square">
                <a:spAutoFit/>
              </a:bodyPr>
              <a:lstStyle/>
              <a:p>
                <a:pPr marL="803275" indent="-338138">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Sabrina said Dan’s mistake can be fixed by adding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0.5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cup of milk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scoop of chocolate to the glass. Discuss with your partner whether or not you think Sabrina is correct.</a:t>
                </a:r>
              </a:p>
              <a:p>
                <a:pPr marL="803275" indent="-338138">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03275" indent="-338138">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 Complete the statement.</a:t>
                </a:r>
              </a:p>
              <a:p>
                <a:pPr marL="803275" lvl="0" indent="-338138"/>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03275"/>
                <a:r>
                  <a:rPr lang="en-US" sz="2400" dirty="0">
                    <a:latin typeface="Verdana" panose="020B0604030504040204" pitchFamily="34" charset="0"/>
                    <a:ea typeface="Times New Roman" panose="02020603050405020304" pitchFamily="18" charset="0"/>
                    <a:cs typeface="Times New Roman" panose="02020603050405020304" pitchFamily="18" charset="0"/>
                  </a:rPr>
                  <a:t>If Dan follows Sabrina’s recommendation, the glass will contain ____ cups of milk and ____ scoops of chocolate.</a:t>
                </a:r>
              </a:p>
            </p:txBody>
          </p:sp>
        </mc:Choice>
        <mc:Fallback xmlns="">
          <p:sp>
            <p:nvSpPr>
              <p:cNvPr id="8" name="Rectangle 7">
                <a:extLst>
                  <a:ext uri="{FF2B5EF4-FFF2-40B4-BE49-F238E27FC236}">
                    <a16:creationId xmlns:a16="http://schemas.microsoft.com/office/drawing/2014/main" xmlns:a14="http://schemas.microsoft.com/office/drawing/2010/main" xmlns="" id="{4E541880-59CF-A346-BFC5-55B2DF67E00C}"/>
                  </a:ext>
                </a:extLst>
              </p:cNvPr>
              <p:cNvSpPr>
                <a:spLocks noRot="1" noChangeAspect="1" noMove="1" noResize="1" noEditPoints="1" noAdjustHandles="1" noChangeArrowheads="1" noChangeShapeType="1" noTextEdit="1"/>
              </p:cNvSpPr>
              <p:nvPr/>
            </p:nvSpPr>
            <p:spPr>
              <a:xfrm>
                <a:off x="1924050" y="2545110"/>
                <a:ext cx="8469630" cy="3785652"/>
              </a:xfrm>
              <a:prstGeom prst="rect">
                <a:avLst/>
              </a:prstGeom>
              <a:blipFill rotWithShape="0">
                <a:blip r:embed="rId5"/>
                <a:stretch>
                  <a:fillRect t="-1288" r="-288" b="-2738"/>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8F928B4F-4E8C-3142-9DEC-D1D1DAFCAD68}"/>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180</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71072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4" name="Rectangle 3">
            <a:extLst>
              <a:ext uri="{FF2B5EF4-FFF2-40B4-BE49-F238E27FC236}">
                <a16:creationId xmlns:a16="http://schemas.microsoft.com/office/drawing/2014/main" id="{28853ABC-DADE-924D-B06F-31B56BCC7722}"/>
              </a:ext>
            </a:extLst>
          </p:cNvPr>
          <p:cNvSpPr/>
          <p:nvPr/>
        </p:nvSpPr>
        <p:spPr>
          <a:xfrm>
            <a:off x="1371600" y="738507"/>
            <a:ext cx="8963301" cy="1938992"/>
          </a:xfrm>
          <a:prstGeom prst="rect">
            <a:avLst/>
          </a:prstGeom>
        </p:spPr>
        <p:txBody>
          <a:bodyPr wrap="square">
            <a:spAutoFit/>
          </a:bodyPr>
          <a:lstStyle/>
          <a:p>
            <a:pPr marL="457200" indent="-457200">
              <a:buFont typeface="+mj-lt"/>
              <a:buAutoNum type="arabicPeriod" startAt="7"/>
            </a:pPr>
            <a:r>
              <a:rPr lang="en-US" sz="2000" dirty="0">
                <a:latin typeface="Verdana" panose="020B0604030504040204" pitchFamily="34" charset="0"/>
                <a:ea typeface="Verdana" panose="020B0604030504040204" pitchFamily="34" charset="0"/>
                <a:cs typeface="Verdana" panose="020B0604030504040204" pitchFamily="34" charset="0"/>
              </a:rPr>
              <a:t>Use the double number line diagram to determine whether Sabrina’s recommendation will result in chocolate milk with Nana’s preferred taste. </a:t>
            </a:r>
          </a:p>
          <a:p>
            <a:pPr marL="450850"/>
            <a:r>
              <a:rPr lang="en-US" sz="2000" dirty="0">
                <a:latin typeface="Verdana" panose="020B0604030504040204" pitchFamily="34" charset="0"/>
                <a:ea typeface="Verdana" panose="020B0604030504040204" pitchFamily="34" charset="0"/>
                <a:cs typeface="Verdana" panose="020B0604030504040204" pitchFamily="34" charset="0"/>
              </a:rPr>
              <a:t>If Sabrina’s recommendation will work, mark the locations of this mixture on the double number line diagram with two </a:t>
            </a:r>
            <a:r>
              <a:rPr lang="en-US" sz="2000" dirty="0" err="1">
                <a:latin typeface="Verdana" panose="020B0604030504040204" pitchFamily="34" charset="0"/>
                <a:ea typeface="Verdana" panose="020B0604030504040204" pitchFamily="34" charset="0"/>
                <a:cs typeface="Verdana" panose="020B0604030504040204" pitchFamily="34" charset="0"/>
              </a:rPr>
              <a:t>Xs</a:t>
            </a:r>
            <a:r>
              <a:rPr lang="en-US" sz="2000" dirty="0">
                <a:latin typeface="Verdana" panose="020B0604030504040204" pitchFamily="34" charset="0"/>
                <a:ea typeface="Verdana" panose="020B0604030504040204" pitchFamily="34" charset="0"/>
                <a:cs typeface="Verdana" panose="020B0604030504040204" pitchFamily="34" charset="0"/>
              </a:rPr>
              <a:t>, one on each number line.</a:t>
            </a:r>
          </a:p>
        </p:txBody>
      </p:sp>
      <p:sp>
        <p:nvSpPr>
          <p:cNvPr id="6" name="Google Shape;278;g104476d1465_1_17">
            <a:extLst>
              <a:ext uri="{FF2B5EF4-FFF2-40B4-BE49-F238E27FC236}">
                <a16:creationId xmlns:a16="http://schemas.microsoft.com/office/drawing/2014/main" id="{996345AC-A6B5-3042-B9AD-3891B69B2F56}"/>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180</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85802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854151" y="2766145"/>
            <a:ext cx="4480750" cy="1325700"/>
          </a:xfrm>
          <a:prstGeom prst="rect">
            <a:avLst/>
          </a:prstGeom>
          <a:noFill/>
          <a:ln>
            <a:noFill/>
          </a:ln>
        </p:spPr>
        <p:txBody>
          <a:bodyPr spcFirstLastPara="1" wrap="square" lIns="91425" tIns="45700" rIns="91425" bIns="45700" anchor="ctr" anchorCtr="0">
            <a:normAutofit/>
          </a:bodyPr>
          <a:lstStyle/>
          <a:p>
            <a:pPr>
              <a:buClr>
                <a:schemeClr val="lt1"/>
              </a:buClr>
              <a:buSzPts val="4800"/>
            </a:pPr>
            <a:r>
              <a:rPr lang="en-US" sz="5500" b="1" dirty="0">
                <a:solidFill>
                  <a:srgbClr val="52BDA6"/>
                </a:solidFill>
                <a:latin typeface="Verdana"/>
                <a:ea typeface="Verdana"/>
                <a:cs typeface="Verdana"/>
                <a:sym typeface="Verdana"/>
              </a:rPr>
              <a:t>Try It</a:t>
            </a:r>
            <a:endParaRPr sz="5100" b="1" dirty="0">
              <a:solidFill>
                <a:srgbClr val="52BDA6"/>
              </a:solidFill>
              <a:latin typeface="Verdana"/>
              <a:ea typeface="Verdana"/>
              <a:cs typeface="Verdana"/>
              <a:sym typeface="Verdana"/>
            </a:endParaRPr>
          </a:p>
        </p:txBody>
      </p:sp>
      <p:pic>
        <p:nvPicPr>
          <p:cNvPr id="9" name="image11.png">
            <a:extLst>
              <a:ext uri="{FF2B5EF4-FFF2-40B4-BE49-F238E27FC236}">
                <a16:creationId xmlns:a16="http://schemas.microsoft.com/office/drawing/2014/main" id="{8892050C-6B10-D742-BAF6-6B4CA0AAC813}"/>
              </a:ext>
            </a:extLst>
          </p:cNvPr>
          <p:cNvPicPr/>
          <p:nvPr/>
        </p:nvPicPr>
        <p:blipFill>
          <a:blip r:embed="rId3"/>
          <a:srcRect/>
          <a:stretch>
            <a:fillRect/>
          </a:stretch>
        </p:blipFill>
        <p:spPr>
          <a:xfrm>
            <a:off x="4512723" y="2853510"/>
            <a:ext cx="1152733" cy="1151557"/>
          </a:xfrm>
          <a:prstGeom prst="rect">
            <a:avLst/>
          </a:prstGeom>
          <a:ln/>
          <a:effectLst>
            <a:outerShdw blurRad="50800" dist="38100" dir="2700000" algn="tl" rotWithShape="0">
              <a:prstClr val="black">
                <a:alpha val="40000"/>
              </a:prstClr>
            </a:outerShdw>
          </a:effectLst>
        </p:spPr>
      </p:pic>
      <p:sp>
        <p:nvSpPr>
          <p:cNvPr id="8" name="Google Shape;309;g104476d1465_1_39">
            <a:extLst>
              <a:ext uri="{FF2B5EF4-FFF2-40B4-BE49-F238E27FC236}">
                <a16:creationId xmlns:a16="http://schemas.microsoft.com/office/drawing/2014/main" id="{38917F5A-8651-254B-91B3-4A15B27A92DC}"/>
              </a:ext>
            </a:extLst>
          </p:cNvPr>
          <p:cNvSpPr/>
          <p:nvPr/>
        </p:nvSpPr>
        <p:spPr>
          <a:xfrm>
            <a:off x="0" y="-8101"/>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180</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18067" y="-9124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400" b="1" dirty="0">
                <a:solidFill>
                  <a:srgbClr val="52BDA6"/>
                </a:solidFill>
                <a:latin typeface="Verdana"/>
                <a:ea typeface="Verdana"/>
                <a:cs typeface="Verdana"/>
                <a:sym typeface="Verdana"/>
              </a:rPr>
              <a:t>5.2.3 Try It: Using Double Line Diagrams to Represent and Interpret Ratios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684678E3-B391-614C-B449-94320C557524}"/>
                  </a:ext>
                </a:extLst>
              </p:cNvPr>
              <p:cNvSpPr/>
              <p:nvPr/>
            </p:nvSpPr>
            <p:spPr>
              <a:xfrm>
                <a:off x="1554480" y="1305071"/>
                <a:ext cx="8850630" cy="707886"/>
              </a:xfrm>
              <a:prstGeom prst="rect">
                <a:avLst/>
              </a:prstGeom>
            </p:spPr>
            <p:txBody>
              <a:bodyPr wrap="square">
                <a:spAutoFit/>
              </a:bodyPr>
              <a:lstStyle/>
              <a:p>
                <a:pPr marL="342900" indent="-3429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 recipe for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batch of cookies calls for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cups of flour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eggs. A double line diagram is shown to represent the recipe.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xmlns:a14="http://schemas.microsoft.com/office/drawing/2010/main" xmlns="" id="{684678E3-B391-614C-B449-94320C557524}"/>
                  </a:ext>
                </a:extLst>
              </p:cNvPr>
              <p:cNvSpPr>
                <a:spLocks noRot="1" noChangeAspect="1" noMove="1" noResize="1" noEditPoints="1" noAdjustHandles="1" noChangeArrowheads="1" noChangeShapeType="1" noTextEdit="1"/>
              </p:cNvSpPr>
              <p:nvPr/>
            </p:nvSpPr>
            <p:spPr>
              <a:xfrm>
                <a:off x="1554480" y="1305071"/>
                <a:ext cx="8850630" cy="707886"/>
              </a:xfrm>
              <a:prstGeom prst="rect">
                <a:avLst/>
              </a:prstGeom>
              <a:blipFill rotWithShape="0">
                <a:blip r:embed="rId3"/>
                <a:stretch>
                  <a:fillRect l="-758" t="-6034" b="-14655"/>
                </a:stretch>
              </a:blipFill>
            </p:spPr>
            <p:txBody>
              <a:bodyPr/>
              <a:lstStyle/>
              <a:p>
                <a:r>
                  <a:rPr lang="en-US">
                    <a:noFill/>
                  </a:rPr>
                  <a:t> </a:t>
                </a:r>
              </a:p>
            </p:txBody>
          </p:sp>
        </mc:Fallback>
      </mc:AlternateContent>
      <p:pic>
        <p:nvPicPr>
          <p:cNvPr id="9" name="image11.png">
            <a:extLst>
              <a:ext uri="{FF2B5EF4-FFF2-40B4-BE49-F238E27FC236}">
                <a16:creationId xmlns:a16="http://schemas.microsoft.com/office/drawing/2014/main" id="{74D8706C-77EE-AF4A-8801-3F06FE48B9C1}"/>
              </a:ext>
            </a:extLst>
          </p:cNvPr>
          <p:cNvPicPr/>
          <p:nvPr/>
        </p:nvPicPr>
        <p:blipFill>
          <a:blip r:embed="rId4"/>
          <a:srcRect/>
          <a:stretch>
            <a:fillRect/>
          </a:stretch>
        </p:blipFill>
        <p:spPr>
          <a:xfrm>
            <a:off x="567877" y="166222"/>
            <a:ext cx="750573" cy="749808"/>
          </a:xfrm>
          <a:prstGeom prst="rect">
            <a:avLst/>
          </a:prstGeom>
          <a:ln/>
        </p:spPr>
      </p:pic>
      <p:sp>
        <p:nvSpPr>
          <p:cNvPr id="10" name="Text Box 2">
            <a:extLst>
              <a:ext uri="{FF2B5EF4-FFF2-40B4-BE49-F238E27FC236}">
                <a16:creationId xmlns:a16="http://schemas.microsoft.com/office/drawing/2014/main" id="{F482A2D7-A1E1-D945-A3B2-4D022DD5BAEC}"/>
              </a:ext>
            </a:extLst>
          </p:cNvPr>
          <p:cNvSpPr txBox="1"/>
          <p:nvPr/>
        </p:nvSpPr>
        <p:spPr>
          <a:xfrm>
            <a:off x="3689535" y="2545250"/>
            <a:ext cx="1805940" cy="41465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1800">
                <a:latin typeface="Verdana" panose="020B0604030504040204" pitchFamily="34" charset="0"/>
                <a:ea typeface="Times New Roman" panose="02020603050405020304" pitchFamily="18" charset="0"/>
                <a:cs typeface="Cambria" panose="02040503050406030204" pitchFamily="18" charset="0"/>
              </a:rPr>
              <a:t>Cups of Flour</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pic>
        <p:nvPicPr>
          <p:cNvPr id="12" name="image3.png" descr="A picture containing shape&#10;&#10;Description automatically generated">
            <a:extLst>
              <a:ext uri="{FF2B5EF4-FFF2-40B4-BE49-F238E27FC236}">
                <a16:creationId xmlns:a16="http://schemas.microsoft.com/office/drawing/2014/main" id="{D9456A3F-4871-7D47-90F5-F5E67DE968A4}"/>
              </a:ext>
            </a:extLst>
          </p:cNvPr>
          <p:cNvPicPr/>
          <p:nvPr/>
        </p:nvPicPr>
        <p:blipFill rotWithShape="1">
          <a:blip r:embed="rId5" cstate="screen">
            <a:extLst>
              <a:ext uri="{28A0092B-C50C-407E-A947-70E740481C1C}">
                <a14:useLocalDpi xmlns:a14="http://schemas.microsoft.com/office/drawing/2010/main"/>
              </a:ext>
            </a:extLst>
          </a:blip>
          <a:srcRect l="25503" t="12135" b="13185"/>
          <a:stretch/>
        </p:blipFill>
        <p:spPr bwMode="auto">
          <a:xfrm>
            <a:off x="5606600" y="2747179"/>
            <a:ext cx="3416300" cy="812800"/>
          </a:xfrm>
          <a:prstGeom prst="rect">
            <a:avLst/>
          </a:prstGeom>
          <a:ln>
            <a:noFill/>
          </a:ln>
          <a:extLst>
            <a:ext uri="{53640926-AAD7-44D8-BBD7-CCE9431645EC}">
              <a14:shadowObscured xmlns:a14="http://schemas.microsoft.com/office/drawing/2010/main"/>
            </a:ext>
          </a:extLst>
        </p:spPr>
      </p:pic>
      <p:sp>
        <p:nvSpPr>
          <p:cNvPr id="13" name="Text Box 3">
            <a:extLst>
              <a:ext uri="{FF2B5EF4-FFF2-40B4-BE49-F238E27FC236}">
                <a16:creationId xmlns:a16="http://schemas.microsoft.com/office/drawing/2014/main" id="{49121924-5651-5D4D-977B-AEFAA9A47697}"/>
              </a:ext>
            </a:extLst>
          </p:cNvPr>
          <p:cNvSpPr txBox="1"/>
          <p:nvPr/>
        </p:nvSpPr>
        <p:spPr>
          <a:xfrm>
            <a:off x="3446331" y="3293280"/>
            <a:ext cx="2051685" cy="41465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1800">
                <a:latin typeface="Verdana" panose="020B0604030504040204" pitchFamily="34" charset="0"/>
                <a:ea typeface="Times New Roman" panose="02020603050405020304" pitchFamily="18" charset="0"/>
                <a:cs typeface="Cambria" panose="02040503050406030204" pitchFamily="18" charset="0"/>
              </a:rPr>
              <a:t>Number of Eggs</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AlternateContent xmlns:mc="http://schemas.openxmlformats.org/markup-compatibility/2006" xmlns:a14="http://schemas.microsoft.com/office/drawing/2010/main">
        <mc:Choice Requires="a14">
          <p:sp>
            <p:nvSpPr>
              <p:cNvPr id="14" name="Text Box 6">
                <a:extLst>
                  <a:ext uri="{FF2B5EF4-FFF2-40B4-BE49-F238E27FC236}">
                    <a16:creationId xmlns:a16="http://schemas.microsoft.com/office/drawing/2014/main" id="{4BC854A4-D765-8442-97C7-21D537975948}"/>
                  </a:ext>
                </a:extLst>
              </p:cNvPr>
              <p:cNvSpPr txBox="1"/>
              <p:nvPr/>
            </p:nvSpPr>
            <p:spPr>
              <a:xfrm flipH="1">
                <a:off x="5608505" y="2390945"/>
                <a:ext cx="364490" cy="39687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4" name="Text Box 6">
                <a:extLst>
                  <a:ext uri="{FF2B5EF4-FFF2-40B4-BE49-F238E27FC236}">
                    <a16:creationId xmlns:a16="http://schemas.microsoft.com/office/drawing/2014/main" id="{4BC854A4-D765-8442-97C7-21D537975948}"/>
                  </a:ext>
                </a:extLst>
              </p:cNvPr>
              <p:cNvSpPr txBox="1">
                <a:spLocks noRot="1" noChangeAspect="1" noMove="1" noResize="1" noEditPoints="1" noAdjustHandles="1" noChangeArrowheads="1" noChangeShapeType="1" noTextEdit="1"/>
              </p:cNvSpPr>
              <p:nvPr/>
            </p:nvSpPr>
            <p:spPr>
              <a:xfrm flipH="1">
                <a:off x="4084505" y="2390944"/>
                <a:ext cx="364490" cy="396875"/>
              </a:xfrm>
              <a:prstGeom prst="rect">
                <a:avLst/>
              </a:prstGeom>
              <a:blipFill>
                <a:blip r:embed="rId7"/>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5" name="Text Box 7">
                <a:extLst>
                  <a:ext uri="{FF2B5EF4-FFF2-40B4-BE49-F238E27FC236}">
                    <a16:creationId xmlns:a16="http://schemas.microsoft.com/office/drawing/2014/main" id="{C1543515-1FEE-1C45-9D20-5B08E15B291D}"/>
                  </a:ext>
                </a:extLst>
              </p:cNvPr>
              <p:cNvSpPr txBox="1"/>
              <p:nvPr/>
            </p:nvSpPr>
            <p:spPr>
              <a:xfrm flipH="1">
                <a:off x="5608505" y="3528865"/>
                <a:ext cx="364490" cy="39687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5" name="Text Box 7">
                <a:extLst>
                  <a:ext uri="{FF2B5EF4-FFF2-40B4-BE49-F238E27FC236}">
                    <a16:creationId xmlns:a16="http://schemas.microsoft.com/office/drawing/2014/main" id="{C1543515-1FEE-1C45-9D20-5B08E15B291D}"/>
                  </a:ext>
                </a:extLst>
              </p:cNvPr>
              <p:cNvSpPr txBox="1">
                <a:spLocks noRot="1" noChangeAspect="1" noMove="1" noResize="1" noEditPoints="1" noAdjustHandles="1" noChangeArrowheads="1" noChangeShapeType="1" noTextEdit="1"/>
              </p:cNvSpPr>
              <p:nvPr/>
            </p:nvSpPr>
            <p:spPr>
              <a:xfrm flipH="1">
                <a:off x="4084505" y="3528864"/>
                <a:ext cx="364490" cy="396875"/>
              </a:xfrm>
              <a:prstGeom prst="rect">
                <a:avLst/>
              </a:prstGeom>
              <a:blipFill>
                <a:blip r:embed="rId8"/>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6" name="Text Box 8">
                <a:extLst>
                  <a:ext uri="{FF2B5EF4-FFF2-40B4-BE49-F238E27FC236}">
                    <a16:creationId xmlns:a16="http://schemas.microsoft.com/office/drawing/2014/main" id="{4B04F671-CFCB-2C45-B980-E26D644944A7}"/>
                  </a:ext>
                </a:extLst>
              </p:cNvPr>
              <p:cNvSpPr txBox="1"/>
              <p:nvPr/>
            </p:nvSpPr>
            <p:spPr>
              <a:xfrm flipH="1">
                <a:off x="6329865" y="2390945"/>
                <a:ext cx="364490" cy="39687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5</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6" name="Text Box 8">
                <a:extLst>
                  <a:ext uri="{FF2B5EF4-FFF2-40B4-BE49-F238E27FC236}">
                    <a16:creationId xmlns:a16="http://schemas.microsoft.com/office/drawing/2014/main" id="{4B04F671-CFCB-2C45-B980-E26D644944A7}"/>
                  </a:ext>
                </a:extLst>
              </p:cNvPr>
              <p:cNvSpPr txBox="1">
                <a:spLocks noRot="1" noChangeAspect="1" noMove="1" noResize="1" noEditPoints="1" noAdjustHandles="1" noChangeArrowheads="1" noChangeShapeType="1" noTextEdit="1"/>
              </p:cNvSpPr>
              <p:nvPr/>
            </p:nvSpPr>
            <p:spPr>
              <a:xfrm flipH="1">
                <a:off x="4805865" y="2390944"/>
                <a:ext cx="364490" cy="396875"/>
              </a:xfrm>
              <a:prstGeom prst="rect">
                <a:avLst/>
              </a:prstGeom>
              <a:blipFill>
                <a:blip r:embed="rId9"/>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7" name="Text Box 9">
                <a:extLst>
                  <a:ext uri="{FF2B5EF4-FFF2-40B4-BE49-F238E27FC236}">
                    <a16:creationId xmlns:a16="http://schemas.microsoft.com/office/drawing/2014/main" id="{DD949653-8B43-7446-953E-37EA29227506}"/>
                  </a:ext>
                </a:extLst>
              </p:cNvPr>
              <p:cNvSpPr txBox="1"/>
              <p:nvPr/>
            </p:nvSpPr>
            <p:spPr>
              <a:xfrm flipH="1">
                <a:off x="6329865" y="3528865"/>
                <a:ext cx="364490" cy="39687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3</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7" name="Text Box 9">
                <a:extLst>
                  <a:ext uri="{FF2B5EF4-FFF2-40B4-BE49-F238E27FC236}">
                    <a16:creationId xmlns:a16="http://schemas.microsoft.com/office/drawing/2014/main" id="{DD949653-8B43-7446-953E-37EA29227506}"/>
                  </a:ext>
                </a:extLst>
              </p:cNvPr>
              <p:cNvSpPr txBox="1">
                <a:spLocks noRot="1" noChangeAspect="1" noMove="1" noResize="1" noEditPoints="1" noAdjustHandles="1" noChangeArrowheads="1" noChangeShapeType="1" noTextEdit="1"/>
              </p:cNvSpPr>
              <p:nvPr/>
            </p:nvSpPr>
            <p:spPr>
              <a:xfrm flipH="1">
                <a:off x="4805865" y="3528864"/>
                <a:ext cx="364490" cy="396875"/>
              </a:xfrm>
              <a:prstGeom prst="rect">
                <a:avLst/>
              </a:prstGeom>
              <a:blipFill>
                <a:blip r:embed="rId10"/>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33377349-2303-9F4B-A99A-F736715096DE}"/>
                  </a:ext>
                </a:extLst>
              </p:cNvPr>
              <p:cNvSpPr/>
              <p:nvPr/>
            </p:nvSpPr>
            <p:spPr>
              <a:xfrm>
                <a:off x="2144946" y="4162570"/>
                <a:ext cx="8260164" cy="1631216"/>
              </a:xfrm>
              <a:prstGeom prst="rect">
                <a:avLst/>
              </a:prstGeom>
            </p:spPr>
            <p:txBody>
              <a:bodyPr wrap="square">
                <a:spAutoFit/>
              </a:bodyPr>
              <a:lstStyle/>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What is the ratio of flour to eggs in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batch of cookies?</a:t>
                </a: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diagram to show the amount of flour and eggs needed for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batches of cookies.</a:t>
                </a:r>
              </a:p>
            </p:txBody>
          </p:sp>
        </mc:Choice>
        <mc:Fallback xmlns="">
          <p:sp>
            <p:nvSpPr>
              <p:cNvPr id="18" name="Rectangle 17">
                <a:extLst>
                  <a:ext uri="{FF2B5EF4-FFF2-40B4-BE49-F238E27FC236}">
                    <a16:creationId xmlns:a16="http://schemas.microsoft.com/office/drawing/2014/main" id="{33377349-2303-9F4B-A99A-F736715096DE}"/>
                  </a:ext>
                </a:extLst>
              </p:cNvPr>
              <p:cNvSpPr>
                <a:spLocks noRot="1" noChangeAspect="1" noMove="1" noResize="1" noEditPoints="1" noAdjustHandles="1" noChangeArrowheads="1" noChangeShapeType="1" noTextEdit="1"/>
              </p:cNvSpPr>
              <p:nvPr/>
            </p:nvSpPr>
            <p:spPr>
              <a:xfrm>
                <a:off x="620946" y="4162570"/>
                <a:ext cx="8260164" cy="1631216"/>
              </a:xfrm>
              <a:prstGeom prst="rect">
                <a:avLst/>
              </a:prstGeom>
              <a:blipFill>
                <a:blip r:embed="rId11"/>
                <a:stretch>
                  <a:fillRect l="-767" t="-2308" b="-5385"/>
                </a:stretch>
              </a:blipFill>
            </p:spPr>
            <p:txBody>
              <a:bodyPr/>
              <a:lstStyle/>
              <a:p>
                <a:r>
                  <a:rPr lang="en-CO">
                    <a:noFill/>
                  </a:rPr>
                  <a:t> </a:t>
                </a:r>
              </a:p>
            </p:txBody>
          </p:sp>
        </mc:Fallback>
      </mc:AlternateContent>
      <p:sp>
        <p:nvSpPr>
          <p:cNvPr id="19" name="Google Shape;278;g104476d1465_1_17">
            <a:extLst>
              <a:ext uri="{FF2B5EF4-FFF2-40B4-BE49-F238E27FC236}">
                <a16:creationId xmlns:a16="http://schemas.microsoft.com/office/drawing/2014/main" id="{F121EC27-7F72-BF48-A467-A52A519F7A85}"/>
              </a:ext>
            </a:extLst>
          </p:cNvPr>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0"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180</a:t>
            </a:r>
            <a:endParaRPr i="1" dirty="0">
              <a:latin typeface="Calibri"/>
              <a:ea typeface="Calibri"/>
              <a:cs typeface="Calibri"/>
              <a:sym typeface="Calibri"/>
            </a:endParaRPr>
          </a:p>
        </p:txBody>
      </p:sp>
      <p:pic>
        <p:nvPicPr>
          <p:cNvPr id="21" name="Google Shape;283;g104476d1465_1_17"/>
          <p:cNvPicPr preferRelativeResize="0"/>
          <p:nvPr/>
        </p:nvPicPr>
        <p:blipFill>
          <a:blip r:embed="rId12"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684678E3-B391-614C-B449-94320C557524}"/>
                  </a:ext>
                </a:extLst>
              </p:cNvPr>
              <p:cNvSpPr/>
              <p:nvPr/>
            </p:nvSpPr>
            <p:spPr>
              <a:xfrm>
                <a:off x="1580606" y="390670"/>
                <a:ext cx="8754295" cy="4093428"/>
              </a:xfrm>
              <a:prstGeom prst="rect">
                <a:avLst/>
              </a:prstGeom>
            </p:spPr>
            <p:txBody>
              <a:bodyPr wrap="square">
                <a:spAutoFit/>
              </a:bodyPr>
              <a:lstStyle/>
              <a:p>
                <a:pPr marL="457200" indent="-457200">
                  <a:buFont typeface="+mj-lt"/>
                  <a:buAutoNum type="alphaL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How many eggs and cups of flour are used in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batches of cookies?</a:t>
                </a:r>
              </a:p>
              <a:p>
                <a:pPr marL="342900" indent="-3429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lphaL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ratio comparing cups of flour to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eggs. </a:t>
                </a:r>
              </a:p>
              <a:p>
                <a:pPr marL="342900" indent="-3429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lphaL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ratio of eggs to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cups of flour.</a:t>
                </a: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xmlns:a14="http://schemas.microsoft.com/office/drawing/2010/main" xmlns="" id="{684678E3-B391-614C-B449-94320C557524}"/>
                  </a:ext>
                </a:extLst>
              </p:cNvPr>
              <p:cNvSpPr>
                <a:spLocks noRot="1" noChangeAspect="1" noMove="1" noResize="1" noEditPoints="1" noAdjustHandles="1" noChangeArrowheads="1" noChangeShapeType="1" noTextEdit="1"/>
              </p:cNvSpPr>
              <p:nvPr/>
            </p:nvSpPr>
            <p:spPr>
              <a:xfrm>
                <a:off x="1580606" y="390670"/>
                <a:ext cx="8754295" cy="4093428"/>
              </a:xfrm>
              <a:prstGeom prst="rect">
                <a:avLst/>
              </a:prstGeom>
              <a:blipFill rotWithShape="0">
                <a:blip r:embed="rId3"/>
                <a:stretch>
                  <a:fillRect l="-766" t="-1042"/>
                </a:stretch>
              </a:blipFill>
            </p:spPr>
            <p:txBody>
              <a:bodyPr/>
              <a:lstStyle/>
              <a:p>
                <a:r>
                  <a:rPr lang="en-US">
                    <a:noFill/>
                  </a:rPr>
                  <a:t> </a:t>
                </a:r>
              </a:p>
            </p:txBody>
          </p:sp>
        </mc:Fallback>
      </mc:AlternateContent>
      <p:sp>
        <p:nvSpPr>
          <p:cNvPr id="19" name="Rectangle 18">
            <a:extLst>
              <a:ext uri="{FF2B5EF4-FFF2-40B4-BE49-F238E27FC236}">
                <a16:creationId xmlns:a16="http://schemas.microsoft.com/office/drawing/2014/main" id="{CE5F99B3-048D-134B-B0CA-6593AC2479CF}"/>
              </a:ext>
            </a:extLst>
          </p:cNvPr>
          <p:cNvSpPr/>
          <p:nvPr/>
        </p:nvSpPr>
        <p:spPr>
          <a:xfrm>
            <a:off x="5171601" y="2681291"/>
            <a:ext cx="466725" cy="466725"/>
          </a:xfrm>
          <a:prstGeom prst="rect">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89A70BA-1563-6443-9671-0EE748C258DF}"/>
                  </a:ext>
                </a:extLst>
              </p:cNvPr>
              <p:cNvSpPr txBox="1"/>
              <p:nvPr/>
            </p:nvSpPr>
            <p:spPr>
              <a:xfrm>
                <a:off x="5695709" y="2714597"/>
                <a:ext cx="466725"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x-none" sz="2000">
                          <a:latin typeface="Cambria Math" panose="02040503050406030204" pitchFamily="18" charset="0"/>
                        </a:rPr>
                        <m:t>:6</m:t>
                      </m:r>
                    </m:oMath>
                  </m:oMathPara>
                </a14:m>
                <a:endParaRPr lang="x-none" sz="2000" dirty="0"/>
              </a:p>
            </p:txBody>
          </p:sp>
        </mc:Choice>
        <mc:Fallback xmlns="">
          <p:sp>
            <p:nvSpPr>
              <p:cNvPr id="20" name="TextBox 19">
                <a:extLst>
                  <a:ext uri="{FF2B5EF4-FFF2-40B4-BE49-F238E27FC236}">
                    <a16:creationId xmlns:a16="http://schemas.microsoft.com/office/drawing/2014/main" id="{689A70BA-1563-6443-9671-0EE748C258DF}"/>
                  </a:ext>
                </a:extLst>
              </p:cNvPr>
              <p:cNvSpPr txBox="1">
                <a:spLocks noRot="1" noChangeAspect="1" noMove="1" noResize="1" noEditPoints="1" noAdjustHandles="1" noChangeArrowheads="1" noChangeShapeType="1" noTextEdit="1"/>
              </p:cNvSpPr>
              <p:nvPr/>
            </p:nvSpPr>
            <p:spPr>
              <a:xfrm>
                <a:off x="4171708" y="2714597"/>
                <a:ext cx="466725" cy="400110"/>
              </a:xfrm>
              <a:prstGeom prst="rect">
                <a:avLst/>
              </a:prstGeom>
              <a:blipFill>
                <a:blip r:embed="rId5"/>
                <a:stretch>
                  <a:fillRect/>
                </a:stretch>
              </a:blipFill>
            </p:spPr>
            <p:txBody>
              <a:bodyPr/>
              <a:lstStyle/>
              <a:p>
                <a:r>
                  <a:rPr lang="en-CO">
                    <a:noFill/>
                  </a:rPr>
                  <a:t> </a:t>
                </a:r>
              </a:p>
            </p:txBody>
          </p:sp>
        </mc:Fallback>
      </mc:AlternateContent>
      <p:sp>
        <p:nvSpPr>
          <p:cNvPr id="22" name="Rectangle 21">
            <a:extLst>
              <a:ext uri="{FF2B5EF4-FFF2-40B4-BE49-F238E27FC236}">
                <a16:creationId xmlns:a16="http://schemas.microsoft.com/office/drawing/2014/main" id="{E38CD4A1-F775-7946-A7A1-837B650F7B54}"/>
              </a:ext>
            </a:extLst>
          </p:cNvPr>
          <p:cNvSpPr/>
          <p:nvPr/>
        </p:nvSpPr>
        <p:spPr>
          <a:xfrm>
            <a:off x="5171601" y="4481516"/>
            <a:ext cx="466725" cy="466725"/>
          </a:xfrm>
          <a:prstGeom prst="rect">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1AD024D-2869-4244-9A9B-C9F85B1C4576}"/>
                  </a:ext>
                </a:extLst>
              </p:cNvPr>
              <p:cNvSpPr txBox="1"/>
              <p:nvPr/>
            </p:nvSpPr>
            <p:spPr>
              <a:xfrm>
                <a:off x="3086815" y="4857921"/>
                <a:ext cx="4636294" cy="50956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x-none" sz="2000" i="1">
                              <a:solidFill>
                                <a:srgbClr val="836967"/>
                              </a:solidFill>
                              <a:latin typeface="Cambria Math" panose="02040503050406030204" pitchFamily="18" charset="0"/>
                            </a:rPr>
                          </m:ctrlPr>
                        </m:fPr>
                        <m:num>
                          <m:r>
                            <a:rPr lang="x-none" sz="2000">
                              <a:latin typeface="Cambria Math" panose="02040503050406030204" pitchFamily="18" charset="0"/>
                            </a:rPr>
                            <m:t>         </m:t>
                          </m:r>
                        </m:num>
                        <m:den>
                          <m:r>
                            <a:rPr lang="x-none" sz="2000">
                              <a:latin typeface="Cambria Math" panose="02040503050406030204" pitchFamily="18" charset="0"/>
                            </a:rPr>
                            <m:t>15</m:t>
                          </m:r>
                        </m:den>
                      </m:f>
                    </m:oMath>
                  </m:oMathPara>
                </a14:m>
                <a:endParaRPr lang="x-none" sz="2000" dirty="0"/>
              </a:p>
            </p:txBody>
          </p:sp>
        </mc:Choice>
        <mc:Fallback xmlns="">
          <p:sp>
            <p:nvSpPr>
              <p:cNvPr id="23" name="TextBox 22">
                <a:extLst>
                  <a:ext uri="{FF2B5EF4-FFF2-40B4-BE49-F238E27FC236}">
                    <a16:creationId xmlns:a16="http://schemas.microsoft.com/office/drawing/2014/main" id="{A1AD024D-2869-4244-9A9B-C9F85B1C4576}"/>
                  </a:ext>
                </a:extLst>
              </p:cNvPr>
              <p:cNvSpPr txBox="1">
                <a:spLocks noRot="1" noChangeAspect="1" noMove="1" noResize="1" noEditPoints="1" noAdjustHandles="1" noChangeArrowheads="1" noChangeShapeType="1" noTextEdit="1"/>
              </p:cNvSpPr>
              <p:nvPr/>
            </p:nvSpPr>
            <p:spPr>
              <a:xfrm>
                <a:off x="1562815" y="4857920"/>
                <a:ext cx="4636294" cy="509563"/>
              </a:xfrm>
              <a:prstGeom prst="rect">
                <a:avLst/>
              </a:prstGeom>
              <a:blipFill>
                <a:blip r:embed="rId6"/>
                <a:stretch>
                  <a:fillRect t="-31707" b="-7317"/>
                </a:stretch>
              </a:blipFill>
            </p:spPr>
            <p:txBody>
              <a:bodyPr/>
              <a:lstStyle/>
              <a:p>
                <a:r>
                  <a:rPr lang="en-CO">
                    <a:noFill/>
                  </a:rPr>
                  <a:t> </a:t>
                </a:r>
              </a:p>
            </p:txBody>
          </p:sp>
        </mc:Fallback>
      </mc:AlternateContent>
      <p:sp>
        <p:nvSpPr>
          <p:cNvPr id="10" name="Google Shape;278;g104476d1465_1_17">
            <a:extLst>
              <a:ext uri="{FF2B5EF4-FFF2-40B4-BE49-F238E27FC236}">
                <a16:creationId xmlns:a16="http://schemas.microsoft.com/office/drawing/2014/main" id="{60EB1CFC-0AB3-6242-90EB-605DD1D680D8}"/>
              </a:ext>
            </a:extLst>
          </p:cNvPr>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180</a:t>
            </a:r>
            <a:endParaRPr i="1" dirty="0">
              <a:latin typeface="Calibri"/>
              <a:ea typeface="Calibri"/>
              <a:cs typeface="Calibri"/>
              <a:sym typeface="Calibri"/>
            </a:endParaRPr>
          </a:p>
        </p:txBody>
      </p:sp>
      <p:pic>
        <p:nvPicPr>
          <p:cNvPr id="1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05455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309;g104476d1465_1_39">
            <a:extLst>
              <a:ext uri="{FF2B5EF4-FFF2-40B4-BE49-F238E27FC236}">
                <a16:creationId xmlns:a16="http://schemas.microsoft.com/office/drawing/2014/main" id="{66C77060-B82E-2841-B793-9C6DE1494BA2}"/>
              </a:ext>
            </a:extLst>
          </p:cNvPr>
          <p:cNvSpPr/>
          <p:nvPr/>
        </p:nvSpPr>
        <p:spPr>
          <a:xfrm>
            <a:off x="0" y="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181</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40588" y="-6983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5.2.4 Guided Instruction: Using Tape Diagrams to Represent Ratios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693288" y="202745"/>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B2BE9AFC-D858-8947-AE27-3738478587E3}"/>
              </a:ext>
            </a:extLst>
          </p:cNvPr>
          <p:cNvSpPr/>
          <p:nvPr/>
        </p:nvSpPr>
        <p:spPr>
          <a:xfrm>
            <a:off x="1515291" y="1331161"/>
            <a:ext cx="9023859" cy="2308324"/>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A tape diagram is another way to represent ratios. All the parts of the diagram that are the same size have the same value, similar to increments on a number line.</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The tape diagram shown represents the ratio of cats to dogs at a local animal shelter. </a:t>
            </a:r>
          </a:p>
        </p:txBody>
      </p:sp>
      <p:graphicFrame>
        <p:nvGraphicFramePr>
          <p:cNvPr id="3" name="Table 2">
            <a:extLst>
              <a:ext uri="{FF2B5EF4-FFF2-40B4-BE49-F238E27FC236}">
                <a16:creationId xmlns:a16="http://schemas.microsoft.com/office/drawing/2014/main" id="{D3458DD6-DCF9-D74F-8E54-724F3BC2EDE3}"/>
              </a:ext>
            </a:extLst>
          </p:cNvPr>
          <p:cNvGraphicFramePr>
            <a:graphicFrameLocks noGrp="1"/>
          </p:cNvGraphicFramePr>
          <p:nvPr>
            <p:extLst>
              <p:ext uri="{D42A27DB-BD31-4B8C-83A1-F6EECF244321}">
                <p14:modId xmlns:p14="http://schemas.microsoft.com/office/powerpoint/2010/main" val="1644960171"/>
              </p:ext>
            </p:extLst>
          </p:nvPr>
        </p:nvGraphicFramePr>
        <p:xfrm>
          <a:off x="3372803" y="4334086"/>
          <a:ext cx="5446395" cy="906780"/>
        </p:xfrm>
        <a:graphic>
          <a:graphicData uri="http://schemas.openxmlformats.org/drawingml/2006/table">
            <a:tbl>
              <a:tblPr firstRow="1" firstCol="1" bandRow="1">
                <a:tableStyleId>{A91F0D33-8C57-4600-99A7-42BC86742BE1}</a:tableStyleId>
              </a:tblPr>
              <a:tblGrid>
                <a:gridCol w="2337436">
                  <a:extLst>
                    <a:ext uri="{9D8B030D-6E8A-4147-A177-3AD203B41FA5}">
                      <a16:colId xmlns:a16="http://schemas.microsoft.com/office/drawing/2014/main" val="2148033505"/>
                    </a:ext>
                  </a:extLst>
                </a:gridCol>
                <a:gridCol w="487679">
                  <a:extLst>
                    <a:ext uri="{9D8B030D-6E8A-4147-A177-3AD203B41FA5}">
                      <a16:colId xmlns:a16="http://schemas.microsoft.com/office/drawing/2014/main" val="1006735800"/>
                    </a:ext>
                  </a:extLst>
                </a:gridCol>
                <a:gridCol w="655320">
                  <a:extLst>
                    <a:ext uri="{9D8B030D-6E8A-4147-A177-3AD203B41FA5}">
                      <a16:colId xmlns:a16="http://schemas.microsoft.com/office/drawing/2014/main" val="1087046338"/>
                    </a:ext>
                  </a:extLst>
                </a:gridCol>
                <a:gridCol w="655320">
                  <a:extLst>
                    <a:ext uri="{9D8B030D-6E8A-4147-A177-3AD203B41FA5}">
                      <a16:colId xmlns:a16="http://schemas.microsoft.com/office/drawing/2014/main" val="3909414518"/>
                    </a:ext>
                  </a:extLst>
                </a:gridCol>
                <a:gridCol w="655320">
                  <a:extLst>
                    <a:ext uri="{9D8B030D-6E8A-4147-A177-3AD203B41FA5}">
                      <a16:colId xmlns:a16="http://schemas.microsoft.com/office/drawing/2014/main" val="1494817667"/>
                    </a:ext>
                  </a:extLst>
                </a:gridCol>
                <a:gridCol w="655320">
                  <a:extLst>
                    <a:ext uri="{9D8B030D-6E8A-4147-A177-3AD203B41FA5}">
                      <a16:colId xmlns:a16="http://schemas.microsoft.com/office/drawing/2014/main" val="3768274764"/>
                    </a:ext>
                  </a:extLst>
                </a:gridCol>
              </a:tblGrid>
              <a:tr h="37338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Number of Cats</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34878296"/>
                  </a:ext>
                </a:extLst>
              </a:tr>
              <a:tr h="119380">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478765652"/>
                  </a:ext>
                </a:extLst>
              </a:tr>
              <a:tr h="37338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Number of Dogs</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166426195"/>
                  </a:ext>
                </a:extLst>
              </a:tr>
            </a:tbl>
          </a:graphicData>
        </a:graphic>
      </p:graphicFrame>
      <p:graphicFrame>
        <p:nvGraphicFramePr>
          <p:cNvPr id="5" name="Table 4">
            <a:extLst>
              <a:ext uri="{FF2B5EF4-FFF2-40B4-BE49-F238E27FC236}">
                <a16:creationId xmlns:a16="http://schemas.microsoft.com/office/drawing/2014/main" id="{544A24A4-3499-B94D-8476-CE7739A5E2C3}"/>
              </a:ext>
            </a:extLst>
          </p:cNvPr>
          <p:cNvGraphicFramePr>
            <a:graphicFrameLocks noGrp="1"/>
          </p:cNvGraphicFramePr>
          <p:nvPr>
            <p:extLst>
              <p:ext uri="{D42A27DB-BD31-4B8C-83A1-F6EECF244321}">
                <p14:modId xmlns:p14="http://schemas.microsoft.com/office/powerpoint/2010/main" val="362649957"/>
              </p:ext>
            </p:extLst>
          </p:nvPr>
        </p:nvGraphicFramePr>
        <p:xfrm>
          <a:off x="5728653" y="4284703"/>
          <a:ext cx="2620645" cy="373380"/>
        </p:xfrm>
        <a:graphic>
          <a:graphicData uri="http://schemas.openxmlformats.org/drawingml/2006/table">
            <a:tbl>
              <a:tblPr firstRow="1" firstCol="1" bandRow="1">
                <a:tableStyleId>{A91F0D33-8C57-4600-99A7-42BC86742BE1}</a:tableStyleId>
              </a:tblPr>
              <a:tblGrid>
                <a:gridCol w="654685">
                  <a:extLst>
                    <a:ext uri="{9D8B030D-6E8A-4147-A177-3AD203B41FA5}">
                      <a16:colId xmlns:a16="http://schemas.microsoft.com/office/drawing/2014/main" val="3639263860"/>
                    </a:ext>
                  </a:extLst>
                </a:gridCol>
                <a:gridCol w="655320">
                  <a:extLst>
                    <a:ext uri="{9D8B030D-6E8A-4147-A177-3AD203B41FA5}">
                      <a16:colId xmlns:a16="http://schemas.microsoft.com/office/drawing/2014/main" val="3250578720"/>
                    </a:ext>
                  </a:extLst>
                </a:gridCol>
                <a:gridCol w="655320">
                  <a:extLst>
                    <a:ext uri="{9D8B030D-6E8A-4147-A177-3AD203B41FA5}">
                      <a16:colId xmlns:a16="http://schemas.microsoft.com/office/drawing/2014/main" val="185536832"/>
                    </a:ext>
                  </a:extLst>
                </a:gridCol>
                <a:gridCol w="655320">
                  <a:extLst>
                    <a:ext uri="{9D8B030D-6E8A-4147-A177-3AD203B41FA5}">
                      <a16:colId xmlns:a16="http://schemas.microsoft.com/office/drawing/2014/main" val="3329750426"/>
                    </a:ext>
                  </a:extLst>
                </a:gridCol>
              </a:tblGrid>
              <a:tr h="373380">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marR="0">
                        <a:spcBef>
                          <a:spcPts val="0"/>
                        </a:spcBef>
                        <a:spcAft>
                          <a:spcPts val="0"/>
                        </a:spcAft>
                      </a:pPr>
                      <a:r>
                        <a:rPr lang="en-US" sz="18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256869308"/>
                  </a:ext>
                </a:extLst>
              </a:tr>
            </a:tbl>
          </a:graphicData>
        </a:graphic>
      </p:graphicFrame>
      <p:graphicFrame>
        <p:nvGraphicFramePr>
          <p:cNvPr id="11" name="Table 10">
            <a:extLst>
              <a:ext uri="{FF2B5EF4-FFF2-40B4-BE49-F238E27FC236}">
                <a16:creationId xmlns:a16="http://schemas.microsoft.com/office/drawing/2014/main" id="{374FD3D4-175B-164B-B670-61175B211996}"/>
              </a:ext>
            </a:extLst>
          </p:cNvPr>
          <p:cNvGraphicFramePr>
            <a:graphicFrameLocks noGrp="1"/>
          </p:cNvGraphicFramePr>
          <p:nvPr>
            <p:extLst>
              <p:ext uri="{D42A27DB-BD31-4B8C-83A1-F6EECF244321}">
                <p14:modId xmlns:p14="http://schemas.microsoft.com/office/powerpoint/2010/main" val="613486529"/>
              </p:ext>
            </p:extLst>
          </p:nvPr>
        </p:nvGraphicFramePr>
        <p:xfrm>
          <a:off x="5728651" y="4841916"/>
          <a:ext cx="3310574" cy="373380"/>
        </p:xfrm>
        <a:graphic>
          <a:graphicData uri="http://schemas.openxmlformats.org/drawingml/2006/table">
            <a:tbl>
              <a:tblPr firstRow="1" firstCol="1" bandRow="1">
                <a:tableStyleId>{A91F0D33-8C57-4600-99A7-42BC86742BE1}</a:tableStyleId>
              </a:tblPr>
              <a:tblGrid>
                <a:gridCol w="661602">
                  <a:extLst>
                    <a:ext uri="{9D8B030D-6E8A-4147-A177-3AD203B41FA5}">
                      <a16:colId xmlns:a16="http://schemas.microsoft.com/office/drawing/2014/main" val="3639263860"/>
                    </a:ext>
                  </a:extLst>
                </a:gridCol>
                <a:gridCol w="662243">
                  <a:extLst>
                    <a:ext uri="{9D8B030D-6E8A-4147-A177-3AD203B41FA5}">
                      <a16:colId xmlns:a16="http://schemas.microsoft.com/office/drawing/2014/main" val="3250578720"/>
                    </a:ext>
                  </a:extLst>
                </a:gridCol>
                <a:gridCol w="662243">
                  <a:extLst>
                    <a:ext uri="{9D8B030D-6E8A-4147-A177-3AD203B41FA5}">
                      <a16:colId xmlns:a16="http://schemas.microsoft.com/office/drawing/2014/main" val="185536832"/>
                    </a:ext>
                  </a:extLst>
                </a:gridCol>
                <a:gridCol w="662243">
                  <a:extLst>
                    <a:ext uri="{9D8B030D-6E8A-4147-A177-3AD203B41FA5}">
                      <a16:colId xmlns:a16="http://schemas.microsoft.com/office/drawing/2014/main" val="3329750426"/>
                    </a:ext>
                  </a:extLst>
                </a:gridCol>
                <a:gridCol w="662243">
                  <a:extLst>
                    <a:ext uri="{9D8B030D-6E8A-4147-A177-3AD203B41FA5}">
                      <a16:colId xmlns:a16="http://schemas.microsoft.com/office/drawing/2014/main" val="2704801833"/>
                    </a:ext>
                  </a:extLst>
                </a:gridCol>
              </a:tblGrid>
              <a:tr h="373380">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spcBef>
                          <a:spcPts val="0"/>
                        </a:spcBef>
                        <a:spcAft>
                          <a:spcPts val="0"/>
                        </a:spcAft>
                      </a:pPr>
                      <a:r>
                        <a:rPr lang="en-US" sz="18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spcBef>
                          <a:spcPts val="0"/>
                        </a:spcBef>
                        <a:spcAft>
                          <a:spcPts val="0"/>
                        </a:spcAft>
                      </a:pP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256869308"/>
                  </a:ext>
                </a:extLst>
              </a:tr>
            </a:tbl>
          </a:graphicData>
        </a:graphic>
      </p:graphicFrame>
      <p:sp>
        <p:nvSpPr>
          <p:cNvPr id="12" name="Google Shape;278;g104476d1465_1_17">
            <a:extLst>
              <a:ext uri="{FF2B5EF4-FFF2-40B4-BE49-F238E27FC236}">
                <a16:creationId xmlns:a16="http://schemas.microsoft.com/office/drawing/2014/main" id="{584DC1AD-B052-844F-A1E3-AD07D2D8851F}"/>
              </a:ext>
            </a:extLst>
          </p:cNvPr>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3"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181</a:t>
            </a:r>
            <a:endParaRPr i="1" dirty="0">
              <a:latin typeface="Calibri"/>
              <a:ea typeface="Calibri"/>
              <a:cs typeface="Calibri"/>
              <a:sym typeface="Calibri"/>
            </a:endParaRP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Rectangle 7">
            <a:extLst>
              <a:ext uri="{FF2B5EF4-FFF2-40B4-BE49-F238E27FC236}">
                <a16:creationId xmlns:a16="http://schemas.microsoft.com/office/drawing/2014/main" id="{90F2392B-E664-564F-A896-EB6D8D0F41D3}"/>
              </a:ext>
            </a:extLst>
          </p:cNvPr>
          <p:cNvSpPr/>
          <p:nvPr/>
        </p:nvSpPr>
        <p:spPr>
          <a:xfrm>
            <a:off x="6969126" y="1191896"/>
            <a:ext cx="466725" cy="466725"/>
          </a:xfrm>
          <a:prstGeom prst="rect">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9" name="Rectangle 8">
            <a:extLst>
              <a:ext uri="{FF2B5EF4-FFF2-40B4-BE49-F238E27FC236}">
                <a16:creationId xmlns:a16="http://schemas.microsoft.com/office/drawing/2014/main" id="{A8057337-546A-4F46-9639-0F30CE58C4F5}"/>
              </a:ext>
            </a:extLst>
          </p:cNvPr>
          <p:cNvSpPr/>
          <p:nvPr/>
        </p:nvSpPr>
        <p:spPr>
          <a:xfrm>
            <a:off x="6969126" y="1798321"/>
            <a:ext cx="466725" cy="466725"/>
          </a:xfrm>
          <a:prstGeom prst="rect">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3" name="Rectangle 3">
            <a:extLst>
              <a:ext uri="{FF2B5EF4-FFF2-40B4-BE49-F238E27FC236}">
                <a16:creationId xmlns:a16="http://schemas.microsoft.com/office/drawing/2014/main" id="{AD68877A-21E6-054C-B2D7-6646F4548BD5}"/>
              </a:ext>
            </a:extLst>
          </p:cNvPr>
          <p:cNvSpPr>
            <a:spLocks noChangeArrowheads="1"/>
          </p:cNvSpPr>
          <p:nvPr/>
        </p:nvSpPr>
        <p:spPr bwMode="auto">
          <a:xfrm>
            <a:off x="1672047" y="505569"/>
            <a:ext cx="875306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x-none" sz="2400" dirty="0">
                <a:latin typeface="Verdana" panose="020B0604030504040204" pitchFamily="34" charset="0"/>
                <a:ea typeface="Verdana" panose="020B0604030504040204" pitchFamily="34" charset="0"/>
                <a:cs typeface="Verdana" panose="020B0604030504040204" pitchFamily="34" charset="0"/>
              </a:rPr>
              <a:t>Complete the statements using the tape diagram.</a:t>
            </a:r>
          </a:p>
          <a:p>
            <a:pPr marL="457200" indent="-457200" eaLnBrk="0" fontAlgn="base" hangingPunct="0">
              <a:spcBef>
                <a:spcPct val="0"/>
              </a:spcBef>
              <a:spcAft>
                <a:spcPct val="0"/>
              </a:spcAft>
              <a:buClrTx/>
              <a:buFont typeface="+mj-lt"/>
              <a:buAutoNum type="arabicPeriod"/>
            </a:pPr>
            <a:endParaRPr lang="en-US" altLang="x-none" sz="2400" dirty="0">
              <a:latin typeface="Verdana" panose="020B0604030504040204" pitchFamily="34" charset="0"/>
              <a:ea typeface="Verdana" panose="020B0604030504040204" pitchFamily="34" charset="0"/>
              <a:cs typeface="Verdana" panose="020B0604030504040204" pitchFamily="34" charset="0"/>
            </a:endParaRPr>
          </a:p>
          <a:p>
            <a:pPr eaLnBrk="0" fontAlgn="base" hangingPunct="0">
              <a:spcBef>
                <a:spcPct val="0"/>
              </a:spcBef>
              <a:spcAft>
                <a:spcPct val="0"/>
              </a:spcAft>
              <a:buClrTx/>
            </a:pPr>
            <a:endParaRPr lang="en-US" altLang="x-none" sz="2400" dirty="0">
              <a:latin typeface="Verdana" panose="020B0604030504040204" pitchFamily="34" charset="0"/>
              <a:ea typeface="Verdana" panose="020B0604030504040204" pitchFamily="34" charset="0"/>
              <a:cs typeface="Verdana" panose="020B0604030504040204" pitchFamily="34" charset="0"/>
            </a:endParaRPr>
          </a:p>
          <a:p>
            <a:pPr marL="919163" indent="-492125" eaLnBrk="0" fontAlgn="base" hangingPunct="0">
              <a:spcBef>
                <a:spcPct val="0"/>
              </a:spcBef>
              <a:spcAft>
                <a:spcPct val="0"/>
              </a:spcAft>
              <a:buClrTx/>
              <a:buFont typeface="+mj-lt"/>
              <a:buAutoNum type="alphaLcPeriod"/>
            </a:pPr>
            <a:r>
              <a:rPr lang="en-US" altLang="x-none" sz="2400" dirty="0">
                <a:latin typeface="Verdana" panose="020B0604030504040204" pitchFamily="34" charset="0"/>
                <a:ea typeface="Verdana" panose="020B0604030504040204" pitchFamily="34" charset="0"/>
                <a:cs typeface="Verdana" panose="020B0604030504040204" pitchFamily="34" charset="0"/>
              </a:rPr>
              <a:t>The ratio of dogs to cats is        . </a:t>
            </a:r>
          </a:p>
          <a:p>
            <a:pPr marL="919163" indent="-492125" eaLnBrk="0" fontAlgn="base" hangingPunct="0">
              <a:spcBef>
                <a:spcPct val="0"/>
              </a:spcBef>
              <a:spcAft>
                <a:spcPct val="0"/>
              </a:spcAft>
              <a:buClrTx/>
              <a:buFont typeface="+mj-lt"/>
              <a:buAutoNum type="alphaLcPeriod"/>
            </a:pPr>
            <a:endParaRPr lang="en-US" altLang="x-none" sz="2400" dirty="0">
              <a:latin typeface="Verdana" panose="020B0604030504040204" pitchFamily="34" charset="0"/>
              <a:ea typeface="Verdana" panose="020B0604030504040204" pitchFamily="34" charset="0"/>
              <a:cs typeface="Verdana" panose="020B0604030504040204" pitchFamily="34" charset="0"/>
            </a:endParaRPr>
          </a:p>
          <a:p>
            <a:pPr marL="919163" indent="-492125" eaLnBrk="0" fontAlgn="base" hangingPunct="0">
              <a:spcBef>
                <a:spcPct val="0"/>
              </a:spcBef>
              <a:spcAft>
                <a:spcPct val="0"/>
              </a:spcAft>
              <a:buClrTx/>
              <a:buFont typeface="+mj-lt"/>
              <a:buAutoNum type="alphaLcPeriod"/>
            </a:pPr>
            <a:endParaRPr lang="en-US" altLang="x-none" sz="2400" dirty="0">
              <a:latin typeface="Verdana" panose="020B0604030504040204" pitchFamily="34" charset="0"/>
              <a:ea typeface="Verdana" panose="020B0604030504040204" pitchFamily="34" charset="0"/>
              <a:cs typeface="Verdana" panose="020B0604030504040204" pitchFamily="34" charset="0"/>
            </a:endParaRPr>
          </a:p>
          <a:p>
            <a:pPr marL="919163" indent="-492125" eaLnBrk="0" fontAlgn="base" hangingPunct="0">
              <a:spcBef>
                <a:spcPct val="0"/>
              </a:spcBef>
              <a:spcAft>
                <a:spcPct val="0"/>
              </a:spcAft>
              <a:buClrTx/>
              <a:buFont typeface="+mj-lt"/>
              <a:buAutoNum type="alphaLcPeriod"/>
            </a:pPr>
            <a:endParaRPr lang="en-US" altLang="x-none" sz="2400" dirty="0">
              <a:latin typeface="Verdana" panose="020B0604030504040204" pitchFamily="34" charset="0"/>
              <a:ea typeface="Verdana" panose="020B0604030504040204" pitchFamily="34" charset="0"/>
              <a:cs typeface="Verdana" panose="020B0604030504040204" pitchFamily="34" charset="0"/>
            </a:endParaRPr>
          </a:p>
          <a:p>
            <a:pPr marL="919163" indent="-492125" eaLnBrk="0" fontAlgn="base" hangingPunct="0">
              <a:spcBef>
                <a:spcPct val="0"/>
              </a:spcBef>
              <a:spcAft>
                <a:spcPct val="0"/>
              </a:spcAft>
              <a:buClrTx/>
              <a:buFont typeface="+mj-lt"/>
              <a:buAutoNum type="alphaLcPeriod"/>
            </a:pPr>
            <a:r>
              <a:rPr lang="en-US" altLang="x-none" sz="2400" dirty="0">
                <a:latin typeface="Verdana" panose="020B0604030504040204" pitchFamily="34" charset="0"/>
                <a:ea typeface="Verdana" panose="020B0604030504040204" pitchFamily="34" charset="0"/>
                <a:cs typeface="Verdana" panose="020B0604030504040204" pitchFamily="34" charset="0"/>
              </a:rPr>
              <a:t>For every ____ cats at the shelter, there are ____ dogs.</a:t>
            </a:r>
          </a:p>
          <a:p>
            <a:pPr marL="919163" indent="-492125" eaLnBrk="0" fontAlgn="base" hangingPunct="0">
              <a:spcBef>
                <a:spcPct val="0"/>
              </a:spcBef>
              <a:spcAft>
                <a:spcPct val="0"/>
              </a:spcAft>
              <a:buClrTx/>
              <a:buFont typeface="+mj-lt"/>
              <a:buAutoNum type="alphaLcPeriod"/>
            </a:pPr>
            <a:endParaRPr lang="en-US" altLang="x-none" sz="24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B0F3789-2958-E645-90DE-DA1440621A6A}"/>
                  </a:ext>
                </a:extLst>
              </p:cNvPr>
              <p:cNvSpPr txBox="1"/>
              <p:nvPr/>
            </p:nvSpPr>
            <p:spPr>
              <a:xfrm>
                <a:off x="6818113" y="1563463"/>
                <a:ext cx="768748" cy="383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x-none" i="1">
                              <a:solidFill>
                                <a:srgbClr val="836967"/>
                              </a:solidFill>
                              <a:latin typeface="Cambria Math" panose="02040503050406030204" pitchFamily="18" charset="0"/>
                            </a:rPr>
                          </m:ctrlPr>
                        </m:fPr>
                        <m:num>
                          <m:r>
                            <a:rPr lang="x-none">
                              <a:latin typeface="Cambria Math" panose="02040503050406030204" pitchFamily="18" charset="0"/>
                            </a:rPr>
                            <m:t>              </m:t>
                          </m:r>
                        </m:num>
                        <m:den>
                          <m:r>
                            <a:rPr lang="x-none">
                              <a:latin typeface="Cambria Math" panose="02040503050406030204" pitchFamily="18" charset="0"/>
                            </a:rPr>
                            <m:t>   </m:t>
                          </m:r>
                        </m:den>
                      </m:f>
                    </m:oMath>
                  </m:oMathPara>
                </a14:m>
                <a:endParaRPr lang="x-none" dirty="0"/>
              </a:p>
            </p:txBody>
          </p:sp>
        </mc:Choice>
        <mc:Fallback xmlns="">
          <p:sp>
            <p:nvSpPr>
              <p:cNvPr id="16" name="TextBox 15">
                <a:extLst>
                  <a:ext uri="{FF2B5EF4-FFF2-40B4-BE49-F238E27FC236}">
                    <a16:creationId xmlns:a16="http://schemas.microsoft.com/office/drawing/2014/main" id="{BB0F3789-2958-E645-90DE-DA1440621A6A}"/>
                  </a:ext>
                </a:extLst>
              </p:cNvPr>
              <p:cNvSpPr txBox="1">
                <a:spLocks noRot="1" noChangeAspect="1" noMove="1" noResize="1" noEditPoints="1" noAdjustHandles="1" noChangeArrowheads="1" noChangeShapeType="1" noTextEdit="1"/>
              </p:cNvSpPr>
              <p:nvPr/>
            </p:nvSpPr>
            <p:spPr>
              <a:xfrm>
                <a:off x="5294113" y="1563463"/>
                <a:ext cx="768748" cy="383054"/>
              </a:xfrm>
              <a:prstGeom prst="rect">
                <a:avLst/>
              </a:prstGeom>
              <a:blipFill>
                <a:blip r:embed="rId4"/>
                <a:stretch>
                  <a:fillRect t="-25000" b="-18750"/>
                </a:stretch>
              </a:blipFill>
            </p:spPr>
            <p:txBody>
              <a:bodyPr/>
              <a:lstStyle/>
              <a:p>
                <a:r>
                  <a:rPr lang="en-CO">
                    <a:noFill/>
                  </a:rPr>
                  <a:t> </a:t>
                </a:r>
              </a:p>
            </p:txBody>
          </p:sp>
        </mc:Fallback>
      </mc:AlternateContent>
      <p:sp>
        <p:nvSpPr>
          <p:cNvPr id="11" name="Google Shape;278;g104476d1465_1_17">
            <a:extLst>
              <a:ext uri="{FF2B5EF4-FFF2-40B4-BE49-F238E27FC236}">
                <a16:creationId xmlns:a16="http://schemas.microsoft.com/office/drawing/2014/main" id="{11F68C46-17DF-FE4D-8930-8E0FBE2531F4}"/>
              </a:ext>
            </a:extLst>
          </p:cNvPr>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181</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1775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ECD6B6F-929B-8F47-BFEE-44ED1D0E863F}"/>
                  </a:ext>
                </a:extLst>
              </p:cNvPr>
              <p:cNvSpPr/>
              <p:nvPr/>
            </p:nvSpPr>
            <p:spPr>
              <a:xfrm>
                <a:off x="1449977" y="469911"/>
                <a:ext cx="9069433" cy="1015663"/>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If there are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27</m:t>
                    </m:r>
                  </m:oMath>
                </a14:m>
                <a:r>
                  <a:rPr lang="en-US" sz="2000" dirty="0">
                    <a:latin typeface="Verdana" panose="020B0604030504040204" pitchFamily="34" charset="0"/>
                    <a:ea typeface="Verdana" panose="020B0604030504040204" pitchFamily="34" charset="0"/>
                    <a:cs typeface="Verdana" panose="020B0604030504040204" pitchFamily="34" charset="0"/>
                  </a:rPr>
                  <a:t> cats and dogs at the animal shelter in all, and the ratio of cats to dogs is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4:5</m:t>
                    </m:r>
                  </m:oMath>
                </a14:m>
                <a:r>
                  <a:rPr lang="en-US" sz="2000" dirty="0">
                    <a:latin typeface="Verdana" panose="020B0604030504040204" pitchFamily="34" charset="0"/>
                    <a:ea typeface="Verdana" panose="020B0604030504040204" pitchFamily="34" charset="0"/>
                    <a:cs typeface="Verdana" panose="020B0604030504040204" pitchFamily="34" charset="0"/>
                  </a:rPr>
                  <a:t>, the same tape diagram can be used to represent the relationship.</a:t>
                </a:r>
              </a:p>
            </p:txBody>
          </p:sp>
        </mc:Choice>
        <mc:Fallback xmlns="">
          <p:sp>
            <p:nvSpPr>
              <p:cNvPr id="8" name="Rectangle 7">
                <a:extLst>
                  <a:ext uri="{FF2B5EF4-FFF2-40B4-BE49-F238E27FC236}">
                    <a16:creationId xmlns:a16="http://schemas.microsoft.com/office/drawing/2014/main" xmlns:a14="http://schemas.microsoft.com/office/drawing/2010/main" xmlns="" id="{CECD6B6F-929B-8F47-BFEE-44ED1D0E863F}"/>
                  </a:ext>
                </a:extLst>
              </p:cNvPr>
              <p:cNvSpPr>
                <a:spLocks noRot="1" noChangeAspect="1" noMove="1" noResize="1" noEditPoints="1" noAdjustHandles="1" noChangeArrowheads="1" noChangeShapeType="1" noTextEdit="1"/>
              </p:cNvSpPr>
              <p:nvPr/>
            </p:nvSpPr>
            <p:spPr>
              <a:xfrm>
                <a:off x="1449977" y="469911"/>
                <a:ext cx="9069433" cy="1015663"/>
              </a:xfrm>
              <a:prstGeom prst="rect">
                <a:avLst/>
              </a:prstGeom>
              <a:blipFill rotWithShape="0">
                <a:blip r:embed="rId3"/>
                <a:stretch>
                  <a:fillRect l="-739" t="-4192" b="-9581"/>
                </a:stretch>
              </a:blipFill>
            </p:spPr>
            <p:txBody>
              <a:bodyPr/>
              <a:lstStyle/>
              <a:p>
                <a:r>
                  <a:rPr lang="en-US">
                    <a:noFill/>
                  </a:rPr>
                  <a:t> </a:t>
                </a:r>
              </a:p>
            </p:txBody>
          </p:sp>
        </mc:Fallback>
      </mc:AlternateContent>
      <p:graphicFrame>
        <p:nvGraphicFramePr>
          <p:cNvPr id="7" name="Table 6">
            <a:extLst>
              <a:ext uri="{FF2B5EF4-FFF2-40B4-BE49-F238E27FC236}">
                <a16:creationId xmlns:a16="http://schemas.microsoft.com/office/drawing/2014/main" id="{0A2FC3EA-4B25-E74E-A85B-7E26120AC988}"/>
              </a:ext>
            </a:extLst>
          </p:cNvPr>
          <p:cNvGraphicFramePr>
            <a:graphicFrameLocks noGrp="1"/>
          </p:cNvGraphicFramePr>
          <p:nvPr>
            <p:extLst>
              <p:ext uri="{D42A27DB-BD31-4B8C-83A1-F6EECF244321}">
                <p14:modId xmlns:p14="http://schemas.microsoft.com/office/powerpoint/2010/main" val="2007465080"/>
              </p:ext>
            </p:extLst>
          </p:nvPr>
        </p:nvGraphicFramePr>
        <p:xfrm>
          <a:off x="3372803" y="1762336"/>
          <a:ext cx="5446395" cy="906780"/>
        </p:xfrm>
        <a:graphic>
          <a:graphicData uri="http://schemas.openxmlformats.org/drawingml/2006/table">
            <a:tbl>
              <a:tblPr firstRow="1" firstCol="1" bandRow="1">
                <a:tableStyleId>{A91F0D33-8C57-4600-99A7-42BC86742BE1}</a:tableStyleId>
              </a:tblPr>
              <a:tblGrid>
                <a:gridCol w="2337436">
                  <a:extLst>
                    <a:ext uri="{9D8B030D-6E8A-4147-A177-3AD203B41FA5}">
                      <a16:colId xmlns:a16="http://schemas.microsoft.com/office/drawing/2014/main" val="2148033505"/>
                    </a:ext>
                  </a:extLst>
                </a:gridCol>
                <a:gridCol w="487679">
                  <a:extLst>
                    <a:ext uri="{9D8B030D-6E8A-4147-A177-3AD203B41FA5}">
                      <a16:colId xmlns:a16="http://schemas.microsoft.com/office/drawing/2014/main" val="1006735800"/>
                    </a:ext>
                  </a:extLst>
                </a:gridCol>
                <a:gridCol w="655320">
                  <a:extLst>
                    <a:ext uri="{9D8B030D-6E8A-4147-A177-3AD203B41FA5}">
                      <a16:colId xmlns:a16="http://schemas.microsoft.com/office/drawing/2014/main" val="1087046338"/>
                    </a:ext>
                  </a:extLst>
                </a:gridCol>
                <a:gridCol w="655320">
                  <a:extLst>
                    <a:ext uri="{9D8B030D-6E8A-4147-A177-3AD203B41FA5}">
                      <a16:colId xmlns:a16="http://schemas.microsoft.com/office/drawing/2014/main" val="3909414518"/>
                    </a:ext>
                  </a:extLst>
                </a:gridCol>
                <a:gridCol w="655320">
                  <a:extLst>
                    <a:ext uri="{9D8B030D-6E8A-4147-A177-3AD203B41FA5}">
                      <a16:colId xmlns:a16="http://schemas.microsoft.com/office/drawing/2014/main" val="1494817667"/>
                    </a:ext>
                  </a:extLst>
                </a:gridCol>
                <a:gridCol w="655320">
                  <a:extLst>
                    <a:ext uri="{9D8B030D-6E8A-4147-A177-3AD203B41FA5}">
                      <a16:colId xmlns:a16="http://schemas.microsoft.com/office/drawing/2014/main" val="3768274764"/>
                    </a:ext>
                  </a:extLst>
                </a:gridCol>
              </a:tblGrid>
              <a:tr h="37338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Number of Cats</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34878296"/>
                  </a:ext>
                </a:extLst>
              </a:tr>
              <a:tr h="119380">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478765652"/>
                  </a:ext>
                </a:extLst>
              </a:tr>
              <a:tr h="37338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Number of Dogs</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166426195"/>
                  </a:ext>
                </a:extLst>
              </a:tr>
            </a:tbl>
          </a:graphicData>
        </a:graphic>
      </p:graphicFrame>
      <p:graphicFrame>
        <p:nvGraphicFramePr>
          <p:cNvPr id="9" name="Table 8">
            <a:extLst>
              <a:ext uri="{FF2B5EF4-FFF2-40B4-BE49-F238E27FC236}">
                <a16:creationId xmlns:a16="http://schemas.microsoft.com/office/drawing/2014/main" id="{27EE55AD-DB39-0248-994F-B3EE407AD427}"/>
              </a:ext>
            </a:extLst>
          </p:cNvPr>
          <p:cNvGraphicFramePr>
            <a:graphicFrameLocks noGrp="1"/>
          </p:cNvGraphicFramePr>
          <p:nvPr>
            <p:extLst>
              <p:ext uri="{D42A27DB-BD31-4B8C-83A1-F6EECF244321}">
                <p14:modId xmlns:p14="http://schemas.microsoft.com/office/powerpoint/2010/main" val="822765412"/>
              </p:ext>
            </p:extLst>
          </p:nvPr>
        </p:nvGraphicFramePr>
        <p:xfrm>
          <a:off x="5728653" y="1712953"/>
          <a:ext cx="2620645" cy="373380"/>
        </p:xfrm>
        <a:graphic>
          <a:graphicData uri="http://schemas.openxmlformats.org/drawingml/2006/table">
            <a:tbl>
              <a:tblPr firstRow="1" firstCol="1" bandRow="1">
                <a:tableStyleId>{A91F0D33-8C57-4600-99A7-42BC86742BE1}</a:tableStyleId>
              </a:tblPr>
              <a:tblGrid>
                <a:gridCol w="654685">
                  <a:extLst>
                    <a:ext uri="{9D8B030D-6E8A-4147-A177-3AD203B41FA5}">
                      <a16:colId xmlns:a16="http://schemas.microsoft.com/office/drawing/2014/main" val="3639263860"/>
                    </a:ext>
                  </a:extLst>
                </a:gridCol>
                <a:gridCol w="655320">
                  <a:extLst>
                    <a:ext uri="{9D8B030D-6E8A-4147-A177-3AD203B41FA5}">
                      <a16:colId xmlns:a16="http://schemas.microsoft.com/office/drawing/2014/main" val="3250578720"/>
                    </a:ext>
                  </a:extLst>
                </a:gridCol>
                <a:gridCol w="655320">
                  <a:extLst>
                    <a:ext uri="{9D8B030D-6E8A-4147-A177-3AD203B41FA5}">
                      <a16:colId xmlns:a16="http://schemas.microsoft.com/office/drawing/2014/main" val="185536832"/>
                    </a:ext>
                  </a:extLst>
                </a:gridCol>
                <a:gridCol w="655320">
                  <a:extLst>
                    <a:ext uri="{9D8B030D-6E8A-4147-A177-3AD203B41FA5}">
                      <a16:colId xmlns:a16="http://schemas.microsoft.com/office/drawing/2014/main" val="3329750426"/>
                    </a:ext>
                  </a:extLst>
                </a:gridCol>
              </a:tblGrid>
              <a:tr h="373380">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marR="0">
                        <a:spcBef>
                          <a:spcPts val="0"/>
                        </a:spcBef>
                        <a:spcAft>
                          <a:spcPts val="0"/>
                        </a:spcAft>
                      </a:pPr>
                      <a:r>
                        <a:rPr lang="en-US" sz="18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256869308"/>
                  </a:ext>
                </a:extLst>
              </a:tr>
            </a:tbl>
          </a:graphicData>
        </a:graphic>
      </p:graphicFrame>
      <p:graphicFrame>
        <p:nvGraphicFramePr>
          <p:cNvPr id="10" name="Table 9">
            <a:extLst>
              <a:ext uri="{FF2B5EF4-FFF2-40B4-BE49-F238E27FC236}">
                <a16:creationId xmlns:a16="http://schemas.microsoft.com/office/drawing/2014/main" id="{47315B1E-9254-C74B-83DE-8A97F910387F}"/>
              </a:ext>
            </a:extLst>
          </p:cNvPr>
          <p:cNvGraphicFramePr>
            <a:graphicFrameLocks noGrp="1"/>
          </p:cNvGraphicFramePr>
          <p:nvPr>
            <p:extLst>
              <p:ext uri="{D42A27DB-BD31-4B8C-83A1-F6EECF244321}">
                <p14:modId xmlns:p14="http://schemas.microsoft.com/office/powerpoint/2010/main" val="2918649105"/>
              </p:ext>
            </p:extLst>
          </p:nvPr>
        </p:nvGraphicFramePr>
        <p:xfrm>
          <a:off x="5728651" y="2270166"/>
          <a:ext cx="3310574" cy="373380"/>
        </p:xfrm>
        <a:graphic>
          <a:graphicData uri="http://schemas.openxmlformats.org/drawingml/2006/table">
            <a:tbl>
              <a:tblPr firstRow="1" firstCol="1" bandRow="1">
                <a:tableStyleId>{A91F0D33-8C57-4600-99A7-42BC86742BE1}</a:tableStyleId>
              </a:tblPr>
              <a:tblGrid>
                <a:gridCol w="661602">
                  <a:extLst>
                    <a:ext uri="{9D8B030D-6E8A-4147-A177-3AD203B41FA5}">
                      <a16:colId xmlns:a16="http://schemas.microsoft.com/office/drawing/2014/main" val="3639263860"/>
                    </a:ext>
                  </a:extLst>
                </a:gridCol>
                <a:gridCol w="662243">
                  <a:extLst>
                    <a:ext uri="{9D8B030D-6E8A-4147-A177-3AD203B41FA5}">
                      <a16:colId xmlns:a16="http://schemas.microsoft.com/office/drawing/2014/main" val="3250578720"/>
                    </a:ext>
                  </a:extLst>
                </a:gridCol>
                <a:gridCol w="662243">
                  <a:extLst>
                    <a:ext uri="{9D8B030D-6E8A-4147-A177-3AD203B41FA5}">
                      <a16:colId xmlns:a16="http://schemas.microsoft.com/office/drawing/2014/main" val="185536832"/>
                    </a:ext>
                  </a:extLst>
                </a:gridCol>
                <a:gridCol w="662243">
                  <a:extLst>
                    <a:ext uri="{9D8B030D-6E8A-4147-A177-3AD203B41FA5}">
                      <a16:colId xmlns:a16="http://schemas.microsoft.com/office/drawing/2014/main" val="3329750426"/>
                    </a:ext>
                  </a:extLst>
                </a:gridCol>
                <a:gridCol w="662243">
                  <a:extLst>
                    <a:ext uri="{9D8B030D-6E8A-4147-A177-3AD203B41FA5}">
                      <a16:colId xmlns:a16="http://schemas.microsoft.com/office/drawing/2014/main" val="2704801833"/>
                    </a:ext>
                  </a:extLst>
                </a:gridCol>
              </a:tblGrid>
              <a:tr h="373380">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spcBef>
                          <a:spcPts val="0"/>
                        </a:spcBef>
                        <a:spcAft>
                          <a:spcPts val="0"/>
                        </a:spcAft>
                      </a:pPr>
                      <a:r>
                        <a:rPr lang="en-US" sz="18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spcBef>
                          <a:spcPts val="0"/>
                        </a:spcBef>
                        <a:spcAft>
                          <a:spcPts val="0"/>
                        </a:spcAft>
                      </a:pP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256869308"/>
                  </a:ext>
                </a:extLst>
              </a:tr>
            </a:tbl>
          </a:graphicData>
        </a:graphic>
      </p:graphicFrame>
      <p:sp>
        <p:nvSpPr>
          <p:cNvPr id="11" name="Rectangle 10">
            <a:extLst>
              <a:ext uri="{FF2B5EF4-FFF2-40B4-BE49-F238E27FC236}">
                <a16:creationId xmlns:a16="http://schemas.microsoft.com/office/drawing/2014/main" id="{3E11A131-617F-804F-8281-DC01F3651279}"/>
              </a:ext>
            </a:extLst>
          </p:cNvPr>
          <p:cNvSpPr/>
          <p:nvPr/>
        </p:nvSpPr>
        <p:spPr>
          <a:xfrm>
            <a:off x="1969770" y="3113098"/>
            <a:ext cx="8549640" cy="1938992"/>
          </a:xfrm>
          <a:prstGeom prst="rect">
            <a:avLst/>
          </a:prstGeom>
        </p:spPr>
        <p:txBody>
          <a:bodyPr wrap="square">
            <a:spAutoFit/>
          </a:bodyPr>
          <a:lstStyle/>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value of each small rectangle in the diagram given this new information?</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Label each small rectangle with this value.</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2" name="Google Shape;278;g104476d1465_1_17">
            <a:extLst>
              <a:ext uri="{FF2B5EF4-FFF2-40B4-BE49-F238E27FC236}">
                <a16:creationId xmlns:a16="http://schemas.microsoft.com/office/drawing/2014/main" id="{E86FEF8F-44B6-7948-B28B-47316840C3BE}"/>
              </a:ext>
            </a:extLst>
          </p:cNvPr>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3"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181</a:t>
            </a:r>
            <a:endParaRPr i="1" dirty="0">
              <a:latin typeface="Calibri"/>
              <a:ea typeface="Calibri"/>
              <a:cs typeface="Calibri"/>
              <a:sym typeface="Calibri"/>
            </a:endParaRP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068378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ECD6B6F-929B-8F47-BFEE-44ED1D0E863F}"/>
                  </a:ext>
                </a:extLst>
              </p:cNvPr>
              <p:cNvSpPr/>
              <p:nvPr/>
            </p:nvSpPr>
            <p:spPr>
              <a:xfrm>
                <a:off x="1410789" y="469910"/>
                <a:ext cx="9108621" cy="4093428"/>
              </a:xfrm>
              <a:prstGeom prst="rect">
                <a:avLst/>
              </a:prstGeom>
            </p:spPr>
            <p:txBody>
              <a:bodyPr wrap="square">
                <a:spAutoFit/>
              </a:bodyPr>
              <a:lstStyle/>
              <a:p>
                <a:pPr marL="4572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How many dogs are at the animal shelter?</a:t>
                </a:r>
              </a:p>
              <a:p>
                <a:pPr marL="4572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How many cats are at the animal shelter?</a:t>
                </a:r>
              </a:p>
              <a:p>
                <a:pPr marL="4572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Complete the statement.</a:t>
                </a:r>
              </a:p>
              <a:p>
                <a:pPr marL="4572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98475"/>
                <a:r>
                  <a:rPr lang="en-US" sz="2000" dirty="0">
                    <a:latin typeface="Verdana" panose="020B0604030504040204" pitchFamily="34" charset="0"/>
                    <a:ea typeface="Verdana" panose="020B0604030504040204" pitchFamily="34" charset="0"/>
                    <a:cs typeface="Verdana" panose="020B0604030504040204" pitchFamily="34" charset="0"/>
                  </a:rPr>
                  <a:t>The ratio of cats to dogs at the shelter,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4:5</m:t>
                    </m:r>
                  </m:oMath>
                </a14:m>
                <a:r>
                  <a:rPr lang="en-US" sz="2000" dirty="0">
                    <a:latin typeface="Verdana" panose="020B0604030504040204" pitchFamily="34" charset="0"/>
                    <a:ea typeface="Verdana" panose="020B0604030504040204" pitchFamily="34" charset="0"/>
                    <a:cs typeface="Verdana" panose="020B0604030504040204" pitchFamily="34" charset="0"/>
                  </a:rPr>
                  <a:t>, is equivalent to the ratio ____ to ____.</a:t>
                </a:r>
              </a:p>
            </p:txBody>
          </p:sp>
        </mc:Choice>
        <mc:Fallback xmlns="">
          <p:sp>
            <p:nvSpPr>
              <p:cNvPr id="8" name="Rectangle 7">
                <a:extLst>
                  <a:ext uri="{FF2B5EF4-FFF2-40B4-BE49-F238E27FC236}">
                    <a16:creationId xmlns:a16="http://schemas.microsoft.com/office/drawing/2014/main" xmlns:a14="http://schemas.microsoft.com/office/drawing/2010/main" xmlns="" id="{CECD6B6F-929B-8F47-BFEE-44ED1D0E863F}"/>
                  </a:ext>
                </a:extLst>
              </p:cNvPr>
              <p:cNvSpPr>
                <a:spLocks noRot="1" noChangeAspect="1" noMove="1" noResize="1" noEditPoints="1" noAdjustHandles="1" noChangeArrowheads="1" noChangeShapeType="1" noTextEdit="1"/>
              </p:cNvSpPr>
              <p:nvPr/>
            </p:nvSpPr>
            <p:spPr>
              <a:xfrm>
                <a:off x="1410789" y="469910"/>
                <a:ext cx="9108621" cy="4093428"/>
              </a:xfrm>
              <a:prstGeom prst="rect">
                <a:avLst/>
              </a:prstGeom>
              <a:blipFill rotWithShape="0">
                <a:blip r:embed="rId3"/>
                <a:stretch>
                  <a:fillRect l="-736" t="-1042" b="-1637"/>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A578F4E0-B162-4E40-A8B9-9F547B9DF01B}"/>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181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943145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309;g104476d1465_1_39">
            <a:extLst>
              <a:ext uri="{FF2B5EF4-FFF2-40B4-BE49-F238E27FC236}">
                <a16:creationId xmlns:a16="http://schemas.microsoft.com/office/drawing/2014/main" id="{5DD72EE0-FC44-D943-9D8D-84E6A9157B78}"/>
              </a:ext>
            </a:extLst>
          </p:cNvPr>
          <p:cNvSpPr/>
          <p:nvPr/>
        </p:nvSpPr>
        <p:spPr>
          <a:xfrm>
            <a:off x="0" y="2026"/>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182</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305004" y="100945"/>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5.2.5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557704" y="10094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66A031F-2EC8-DF4C-B3F5-E7AC5B8F3239}"/>
                  </a:ext>
                </a:extLst>
              </p:cNvPr>
              <p:cNvSpPr/>
              <p:nvPr/>
            </p:nvSpPr>
            <p:spPr>
              <a:xfrm>
                <a:off x="1371600" y="1126599"/>
                <a:ext cx="9022080" cy="1631216"/>
              </a:xfrm>
              <a:prstGeom prst="rect">
                <a:avLst/>
              </a:prstGeom>
            </p:spPr>
            <p:txBody>
              <a:bodyPr wrap="square">
                <a:spAutoFit/>
              </a:bodyPr>
              <a:lstStyle/>
              <a:p>
                <a:pPr marL="407988" indent="-396875">
                  <a:buSzPts val="1800"/>
                </a:pPr>
                <a:r>
                  <a:rPr lang="en-US" sz="2000" dirty="0">
                    <a:latin typeface="Verdana" panose="020B0604030504040204" pitchFamily="34" charset="0"/>
                    <a:ea typeface="Verdana" panose="020B0604030504040204" pitchFamily="34" charset="0"/>
                    <a:cs typeface="Verdana" panose="020B0604030504040204" pitchFamily="34" charset="0"/>
                  </a:rPr>
                  <a:t>1. Mr. Floyd is planning a field trip for his class to the Cade Museum for Creativity and Invention in Gainesville, Florida. To meet the museum’s recommended ratio of chaperones to students, Mr. Floyd needs to have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adult chaperone for every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9</m:t>
                    </m:r>
                  </m:oMath>
                </a14:m>
                <a:r>
                  <a:rPr lang="en-US" sz="2000" dirty="0">
                    <a:latin typeface="Verdana" panose="020B0604030504040204" pitchFamily="34" charset="0"/>
                    <a:ea typeface="Verdana" panose="020B0604030504040204" pitchFamily="34" charset="0"/>
                    <a:cs typeface="Verdana" panose="020B0604030504040204" pitchFamily="34" charset="0"/>
                  </a:rPr>
                  <a:t> students. The tape diagram represents the ratio of adults to students needed.</a:t>
                </a:r>
              </a:p>
            </p:txBody>
          </p:sp>
        </mc:Choice>
        <mc:Fallback xmlns="">
          <p:sp>
            <p:nvSpPr>
              <p:cNvPr id="2" name="Rectangle 1">
                <a:extLst>
                  <a:ext uri="{FF2B5EF4-FFF2-40B4-BE49-F238E27FC236}">
                    <a16:creationId xmlns:a16="http://schemas.microsoft.com/office/drawing/2014/main" xmlns:a14="http://schemas.microsoft.com/office/drawing/2010/main" xmlns="" id="{A66A031F-2EC8-DF4C-B3F5-E7AC5B8F3239}"/>
                  </a:ext>
                </a:extLst>
              </p:cNvPr>
              <p:cNvSpPr>
                <a:spLocks noRot="1" noChangeAspect="1" noMove="1" noResize="1" noEditPoints="1" noAdjustHandles="1" noChangeArrowheads="1" noChangeShapeType="1" noTextEdit="1"/>
              </p:cNvSpPr>
              <p:nvPr/>
            </p:nvSpPr>
            <p:spPr>
              <a:xfrm>
                <a:off x="1371600" y="1126599"/>
                <a:ext cx="9022080" cy="1631216"/>
              </a:xfrm>
              <a:prstGeom prst="rect">
                <a:avLst/>
              </a:prstGeom>
              <a:blipFill rotWithShape="0">
                <a:blip r:embed="rId4"/>
                <a:stretch>
                  <a:fillRect l="-541" t="-2247" r="-405" b="-5993"/>
                </a:stretch>
              </a:blipFill>
            </p:spPr>
            <p:txBody>
              <a:bodyPr/>
              <a:lstStyle/>
              <a:p>
                <a:r>
                  <a:rPr lang="en-US">
                    <a:noFill/>
                  </a:rPr>
                  <a:t> </a:t>
                </a:r>
              </a:p>
            </p:txBody>
          </p:sp>
        </mc:Fallback>
      </mc:AlternateContent>
      <p:graphicFrame>
        <p:nvGraphicFramePr>
          <p:cNvPr id="11" name="Table 10">
            <a:extLst>
              <a:ext uri="{FF2B5EF4-FFF2-40B4-BE49-F238E27FC236}">
                <a16:creationId xmlns:a16="http://schemas.microsoft.com/office/drawing/2014/main" id="{A0847F79-3308-B84B-B5FF-6163185342CF}"/>
              </a:ext>
            </a:extLst>
          </p:cNvPr>
          <p:cNvGraphicFramePr>
            <a:graphicFrameLocks noGrp="1"/>
          </p:cNvGraphicFramePr>
          <p:nvPr>
            <p:extLst>
              <p:ext uri="{D42A27DB-BD31-4B8C-83A1-F6EECF244321}">
                <p14:modId xmlns:p14="http://schemas.microsoft.com/office/powerpoint/2010/main" val="2659683755"/>
              </p:ext>
            </p:extLst>
          </p:nvPr>
        </p:nvGraphicFramePr>
        <p:xfrm>
          <a:off x="2602709" y="3442843"/>
          <a:ext cx="6537959" cy="906780"/>
        </p:xfrm>
        <a:graphic>
          <a:graphicData uri="http://schemas.openxmlformats.org/drawingml/2006/table">
            <a:tbl>
              <a:tblPr firstRow="1" firstCol="1" bandRow="1">
                <a:tableStyleId>{A91F0D33-8C57-4600-99A7-42BC86742BE1}</a:tableStyleId>
              </a:tblPr>
              <a:tblGrid>
                <a:gridCol w="2805904">
                  <a:extLst>
                    <a:ext uri="{9D8B030D-6E8A-4147-A177-3AD203B41FA5}">
                      <a16:colId xmlns:a16="http://schemas.microsoft.com/office/drawing/2014/main" val="2148033505"/>
                    </a:ext>
                  </a:extLst>
                </a:gridCol>
                <a:gridCol w="585419">
                  <a:extLst>
                    <a:ext uri="{9D8B030D-6E8A-4147-A177-3AD203B41FA5}">
                      <a16:colId xmlns:a16="http://schemas.microsoft.com/office/drawing/2014/main" val="1006735800"/>
                    </a:ext>
                  </a:extLst>
                </a:gridCol>
                <a:gridCol w="786659">
                  <a:extLst>
                    <a:ext uri="{9D8B030D-6E8A-4147-A177-3AD203B41FA5}">
                      <a16:colId xmlns:a16="http://schemas.microsoft.com/office/drawing/2014/main" val="1087046338"/>
                    </a:ext>
                  </a:extLst>
                </a:gridCol>
                <a:gridCol w="786659">
                  <a:extLst>
                    <a:ext uri="{9D8B030D-6E8A-4147-A177-3AD203B41FA5}">
                      <a16:colId xmlns:a16="http://schemas.microsoft.com/office/drawing/2014/main" val="3909414518"/>
                    </a:ext>
                  </a:extLst>
                </a:gridCol>
                <a:gridCol w="786659">
                  <a:extLst>
                    <a:ext uri="{9D8B030D-6E8A-4147-A177-3AD203B41FA5}">
                      <a16:colId xmlns:a16="http://schemas.microsoft.com/office/drawing/2014/main" val="1494817667"/>
                    </a:ext>
                  </a:extLst>
                </a:gridCol>
                <a:gridCol w="786659">
                  <a:extLst>
                    <a:ext uri="{9D8B030D-6E8A-4147-A177-3AD203B41FA5}">
                      <a16:colId xmlns:a16="http://schemas.microsoft.com/office/drawing/2014/main" val="3768274764"/>
                    </a:ext>
                  </a:extLst>
                </a:gridCol>
              </a:tblGrid>
              <a:tr h="37338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Number of Adults</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34878296"/>
                  </a:ext>
                </a:extLst>
              </a:tr>
              <a:tr h="119380">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478765652"/>
                  </a:ext>
                </a:extLst>
              </a:tr>
              <a:tr h="37338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Number of Students</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166426195"/>
                  </a:ext>
                </a:extLst>
              </a:tr>
            </a:tbl>
          </a:graphicData>
        </a:graphic>
      </p:graphicFrame>
      <p:graphicFrame>
        <p:nvGraphicFramePr>
          <p:cNvPr id="12" name="Table 11">
            <a:extLst>
              <a:ext uri="{FF2B5EF4-FFF2-40B4-BE49-F238E27FC236}">
                <a16:creationId xmlns:a16="http://schemas.microsoft.com/office/drawing/2014/main" id="{778AF306-CC43-0E41-9479-BE3E6F87DB5A}"/>
              </a:ext>
            </a:extLst>
          </p:cNvPr>
          <p:cNvGraphicFramePr>
            <a:graphicFrameLocks noGrp="1"/>
          </p:cNvGraphicFramePr>
          <p:nvPr>
            <p:extLst>
              <p:ext uri="{D42A27DB-BD31-4B8C-83A1-F6EECF244321}">
                <p14:modId xmlns:p14="http://schemas.microsoft.com/office/powerpoint/2010/main" val="2182825593"/>
              </p:ext>
            </p:extLst>
          </p:nvPr>
        </p:nvGraphicFramePr>
        <p:xfrm>
          <a:off x="5714365" y="3419030"/>
          <a:ext cx="381636" cy="373380"/>
        </p:xfrm>
        <a:graphic>
          <a:graphicData uri="http://schemas.openxmlformats.org/drawingml/2006/table">
            <a:tbl>
              <a:tblPr firstRow="1" firstCol="1" bandRow="1">
                <a:tableStyleId>{A91F0D33-8C57-4600-99A7-42BC86742BE1}</a:tableStyleId>
              </a:tblPr>
              <a:tblGrid>
                <a:gridCol w="381636">
                  <a:extLst>
                    <a:ext uri="{9D8B030D-6E8A-4147-A177-3AD203B41FA5}">
                      <a16:colId xmlns:a16="http://schemas.microsoft.com/office/drawing/2014/main" val="3639263860"/>
                    </a:ext>
                  </a:extLst>
                </a:gridCol>
              </a:tblGrid>
              <a:tr h="373380">
                <a:tc>
                  <a:txBody>
                    <a:bodyPr/>
                    <a:lstStyle/>
                    <a:p>
                      <a:pPr marL="0" marR="0">
                        <a:spcBef>
                          <a:spcPts val="0"/>
                        </a:spcBef>
                        <a:spcAft>
                          <a:spcPts val="0"/>
                        </a:spcAft>
                      </a:pPr>
                      <a:r>
                        <a:rPr lang="en-US" sz="18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256869308"/>
                  </a:ext>
                </a:extLst>
              </a:tr>
            </a:tbl>
          </a:graphicData>
        </a:graphic>
      </p:graphicFrame>
      <p:graphicFrame>
        <p:nvGraphicFramePr>
          <p:cNvPr id="14" name="Table 13">
            <a:extLst>
              <a:ext uri="{FF2B5EF4-FFF2-40B4-BE49-F238E27FC236}">
                <a16:creationId xmlns:a16="http://schemas.microsoft.com/office/drawing/2014/main" id="{E0AA022C-5A86-5D4E-9AB9-A1967AD91293}"/>
              </a:ext>
            </a:extLst>
          </p:cNvPr>
          <p:cNvGraphicFramePr>
            <a:graphicFrameLocks noGrp="1"/>
          </p:cNvGraphicFramePr>
          <p:nvPr>
            <p:extLst>
              <p:ext uri="{D42A27DB-BD31-4B8C-83A1-F6EECF244321}">
                <p14:modId xmlns:p14="http://schemas.microsoft.com/office/powerpoint/2010/main" val="2804035203"/>
              </p:ext>
            </p:extLst>
          </p:nvPr>
        </p:nvGraphicFramePr>
        <p:xfrm>
          <a:off x="5714363" y="3976243"/>
          <a:ext cx="3426308" cy="373380"/>
        </p:xfrm>
        <a:graphic>
          <a:graphicData uri="http://schemas.openxmlformats.org/drawingml/2006/table">
            <a:tbl>
              <a:tblPr firstRow="1" firstCol="1" bandRow="1">
                <a:tableStyleId>{A91F0D33-8C57-4600-99A7-42BC86742BE1}</a:tableStyleId>
              </a:tblPr>
              <a:tblGrid>
                <a:gridCol w="380372">
                  <a:extLst>
                    <a:ext uri="{9D8B030D-6E8A-4147-A177-3AD203B41FA5}">
                      <a16:colId xmlns:a16="http://schemas.microsoft.com/office/drawing/2014/main" val="3639263860"/>
                    </a:ext>
                  </a:extLst>
                </a:gridCol>
                <a:gridCol w="380742">
                  <a:extLst>
                    <a:ext uri="{9D8B030D-6E8A-4147-A177-3AD203B41FA5}">
                      <a16:colId xmlns:a16="http://schemas.microsoft.com/office/drawing/2014/main" val="3250578720"/>
                    </a:ext>
                  </a:extLst>
                </a:gridCol>
                <a:gridCol w="380742">
                  <a:extLst>
                    <a:ext uri="{9D8B030D-6E8A-4147-A177-3AD203B41FA5}">
                      <a16:colId xmlns:a16="http://schemas.microsoft.com/office/drawing/2014/main" val="185536832"/>
                    </a:ext>
                  </a:extLst>
                </a:gridCol>
                <a:gridCol w="380742">
                  <a:extLst>
                    <a:ext uri="{9D8B030D-6E8A-4147-A177-3AD203B41FA5}">
                      <a16:colId xmlns:a16="http://schemas.microsoft.com/office/drawing/2014/main" val="3329750426"/>
                    </a:ext>
                  </a:extLst>
                </a:gridCol>
                <a:gridCol w="380742">
                  <a:extLst>
                    <a:ext uri="{9D8B030D-6E8A-4147-A177-3AD203B41FA5}">
                      <a16:colId xmlns:a16="http://schemas.microsoft.com/office/drawing/2014/main" val="2704801833"/>
                    </a:ext>
                  </a:extLst>
                </a:gridCol>
                <a:gridCol w="380742">
                  <a:extLst>
                    <a:ext uri="{9D8B030D-6E8A-4147-A177-3AD203B41FA5}">
                      <a16:colId xmlns:a16="http://schemas.microsoft.com/office/drawing/2014/main" val="3230906082"/>
                    </a:ext>
                  </a:extLst>
                </a:gridCol>
                <a:gridCol w="380742">
                  <a:extLst>
                    <a:ext uri="{9D8B030D-6E8A-4147-A177-3AD203B41FA5}">
                      <a16:colId xmlns:a16="http://schemas.microsoft.com/office/drawing/2014/main" val="2765804737"/>
                    </a:ext>
                  </a:extLst>
                </a:gridCol>
                <a:gridCol w="380742">
                  <a:extLst>
                    <a:ext uri="{9D8B030D-6E8A-4147-A177-3AD203B41FA5}">
                      <a16:colId xmlns:a16="http://schemas.microsoft.com/office/drawing/2014/main" val="1468912827"/>
                    </a:ext>
                  </a:extLst>
                </a:gridCol>
                <a:gridCol w="380742">
                  <a:extLst>
                    <a:ext uri="{9D8B030D-6E8A-4147-A177-3AD203B41FA5}">
                      <a16:colId xmlns:a16="http://schemas.microsoft.com/office/drawing/2014/main" val="2049368204"/>
                    </a:ext>
                  </a:extLst>
                </a:gridCol>
              </a:tblGrid>
              <a:tr h="373380">
                <a:tc>
                  <a:txBody>
                    <a:bodyPr/>
                    <a:lstStyle/>
                    <a:p>
                      <a:pPr marL="0" marR="0">
                        <a:spcBef>
                          <a:spcPts val="0"/>
                        </a:spcBef>
                        <a:spcAft>
                          <a:spcPts val="0"/>
                        </a:spcAft>
                      </a:pPr>
                      <a:r>
                        <a:rPr lang="en-US" sz="18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r>
                        <a:rPr lang="en-US" sz="18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r>
                        <a:rPr lang="en-US" sz="18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256869308"/>
                  </a:ext>
                </a:extLst>
              </a:tr>
            </a:tbl>
          </a:graphicData>
        </a:graphic>
      </p:graphicFrame>
      <p:sp>
        <p:nvSpPr>
          <p:cNvPr id="15" name="Rectangle 14">
            <a:extLst>
              <a:ext uri="{FF2B5EF4-FFF2-40B4-BE49-F238E27FC236}">
                <a16:creationId xmlns:a16="http://schemas.microsoft.com/office/drawing/2014/main" id="{C2B5E1BA-6D01-4844-BD69-5C6FB3A27074}"/>
              </a:ext>
            </a:extLst>
          </p:cNvPr>
          <p:cNvSpPr/>
          <p:nvPr/>
        </p:nvSpPr>
        <p:spPr>
          <a:xfrm>
            <a:off x="1866900" y="4906332"/>
            <a:ext cx="8526780" cy="707886"/>
          </a:xfrm>
          <a:prstGeom prst="rect">
            <a:avLst/>
          </a:prstGeom>
        </p:spPr>
        <p:txBody>
          <a:bodyPr wrap="square">
            <a:spAutoFit/>
          </a:bodyPr>
          <a:lstStyle/>
          <a:p>
            <a:pPr marL="468312" indent="-457200">
              <a:buSzPts val="18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ratio of students to chaperones required by the museum?</a:t>
            </a:r>
          </a:p>
        </p:txBody>
      </p:sp>
      <p:sp>
        <p:nvSpPr>
          <p:cNvPr id="16" name="Google Shape;278;g104476d1465_1_17">
            <a:extLst>
              <a:ext uri="{FF2B5EF4-FFF2-40B4-BE49-F238E27FC236}">
                <a16:creationId xmlns:a16="http://schemas.microsoft.com/office/drawing/2014/main" id="{8EBFF4BD-F79F-3F49-9FFA-F6ED6A5D3D4F}"/>
              </a:ext>
            </a:extLst>
          </p:cNvPr>
          <p:cNvSpPr/>
          <p:nvPr/>
        </p:nvSpPr>
        <p:spPr>
          <a:xfrm>
            <a:off x="-6478" y="-1402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7"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182</a:t>
            </a:r>
            <a:endParaRPr i="1" dirty="0">
              <a:latin typeface="Calibri"/>
              <a:ea typeface="Calibri"/>
              <a:cs typeface="Calibri"/>
              <a:sym typeface="Calibri"/>
            </a:endParaRPr>
          </a:p>
        </p:txBody>
      </p:sp>
      <p:pic>
        <p:nvPicPr>
          <p:cNvPr id="1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D9AF1552-9966-3643-BA84-BB4BC68EDBB5}"/>
                  </a:ext>
                </a:extLst>
              </p:cNvPr>
              <p:cNvSpPr/>
              <p:nvPr/>
            </p:nvSpPr>
            <p:spPr>
              <a:xfrm>
                <a:off x="1437495" y="331352"/>
                <a:ext cx="9585876" cy="3170099"/>
              </a:xfrm>
              <a:prstGeom prst="rect">
                <a:avLst/>
              </a:prstGeom>
            </p:spPr>
            <p:txBody>
              <a:bodyPr wrap="square">
                <a:spAutoFit/>
              </a:bodyPr>
              <a:lstStyle/>
              <a:p>
                <a:pPr lvl="0">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There are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72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students who will attend the trip from Mr. Floyd’s classes. Use the tape diagram to determine how many chaperones will be needed. </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SzPts val="18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Label each small rectangle with the number of people it represents. </a:t>
                </a:r>
              </a:p>
              <a:p>
                <a:pPr marL="457200" indent="-457200">
                  <a:buSzPts val="18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statement.</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350838" indent="104775">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For all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72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students to attend, ____ chaperones are needed.</a:t>
                </a:r>
              </a:p>
            </p:txBody>
          </p:sp>
        </mc:Choice>
        <mc:Fallback xmlns="">
          <p:sp>
            <p:nvSpPr>
              <p:cNvPr id="2" name="Rectangle 1">
                <a:extLst>
                  <a:ext uri="{FF2B5EF4-FFF2-40B4-BE49-F238E27FC236}">
                    <a16:creationId xmlns:a16="http://schemas.microsoft.com/office/drawing/2014/main" xmlns:a14="http://schemas.microsoft.com/office/drawing/2010/main" xmlns="" id="{D9AF1552-9966-3643-BA84-BB4BC68EDBB5}"/>
                  </a:ext>
                </a:extLst>
              </p:cNvPr>
              <p:cNvSpPr>
                <a:spLocks noRot="1" noChangeAspect="1" noMove="1" noResize="1" noEditPoints="1" noAdjustHandles="1" noChangeArrowheads="1" noChangeShapeType="1" noTextEdit="1"/>
              </p:cNvSpPr>
              <p:nvPr/>
            </p:nvSpPr>
            <p:spPr>
              <a:xfrm>
                <a:off x="1437495" y="331352"/>
                <a:ext cx="9585876" cy="3170099"/>
              </a:xfrm>
              <a:prstGeom prst="rect">
                <a:avLst/>
              </a:prstGeom>
              <a:blipFill rotWithShape="0">
                <a:blip r:embed="rId3"/>
                <a:stretch>
                  <a:fillRect l="-700" t="-962" b="-2500"/>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6F9B1820-0803-6B44-BA96-A615C108D6B7}"/>
              </a:ext>
            </a:extLst>
          </p:cNvPr>
          <p:cNvSpPr/>
          <p:nvPr/>
        </p:nvSpPr>
        <p:spPr>
          <a:xfrm>
            <a:off x="0"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182</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2435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1" name="Picture" descr="A picture containing object, antenna, sitting, parked&#10;&#10;Description automatically generated">
            <a:extLst>
              <a:ext uri="{FF2B5EF4-FFF2-40B4-BE49-F238E27FC236}">
                <a16:creationId xmlns:a16="http://schemas.microsoft.com/office/drawing/2014/main" id="{E1B8D5FD-7339-C94D-99B9-9C88C0D6B464}"/>
              </a:ext>
            </a:extLst>
          </p:cNvPr>
          <p:cNvPicPr/>
          <p:nvPr/>
        </p:nvPicPr>
        <p:blipFill rotWithShape="1">
          <a:blip r:embed="rId3" cstate="screen">
            <a:extLst>
              <a:ext uri="{28A0092B-C50C-407E-A947-70E740481C1C}">
                <a14:useLocalDpi xmlns:a14="http://schemas.microsoft.com/office/drawing/2010/main"/>
              </a:ext>
            </a:extLst>
          </a:blip>
          <a:srcRect l="20757" r="-16167"/>
          <a:stretch/>
        </p:blipFill>
        <p:spPr bwMode="auto">
          <a:xfrm>
            <a:off x="3718559" y="1650364"/>
            <a:ext cx="5669280" cy="1607185"/>
          </a:xfrm>
          <a:prstGeom prst="rect">
            <a:avLst/>
          </a:prstGeom>
          <a:noFill/>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D9AF1552-9966-3643-BA84-BB4BC68EDBB5}"/>
                  </a:ext>
                </a:extLst>
              </p:cNvPr>
              <p:cNvSpPr/>
              <p:nvPr/>
            </p:nvSpPr>
            <p:spPr>
              <a:xfrm>
                <a:off x="1345474" y="331352"/>
                <a:ext cx="9271352" cy="1015663"/>
              </a:xfrm>
              <a:prstGeom prst="rect">
                <a:avLst/>
              </a:prstGeom>
            </p:spPr>
            <p:txBody>
              <a:bodyPr wrap="square">
                <a:spAutoFit/>
              </a:bodyPr>
              <a:lstStyle/>
              <a:p>
                <a:pPr marL="457200" indent="-457200">
                  <a:buSzPts val="18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A cashier worked 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-hour day and earned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$60.00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The double number line represents the amount she earned for working different numbers of hours. </a:t>
                </a:r>
              </a:p>
            </p:txBody>
          </p:sp>
        </mc:Choice>
        <mc:Fallback xmlns="">
          <p:sp>
            <p:nvSpPr>
              <p:cNvPr id="2" name="Rectangle 1">
                <a:extLst>
                  <a:ext uri="{FF2B5EF4-FFF2-40B4-BE49-F238E27FC236}">
                    <a16:creationId xmlns:a16="http://schemas.microsoft.com/office/drawing/2014/main" xmlns:a14="http://schemas.microsoft.com/office/drawing/2010/main" xmlns="" id="{D9AF1552-9966-3643-BA84-BB4BC68EDBB5}"/>
                  </a:ext>
                </a:extLst>
              </p:cNvPr>
              <p:cNvSpPr>
                <a:spLocks noRot="1" noChangeAspect="1" noMove="1" noResize="1" noEditPoints="1" noAdjustHandles="1" noChangeArrowheads="1" noChangeShapeType="1" noTextEdit="1"/>
              </p:cNvSpPr>
              <p:nvPr/>
            </p:nvSpPr>
            <p:spPr>
              <a:xfrm>
                <a:off x="1345474" y="331352"/>
                <a:ext cx="9271352" cy="1015663"/>
              </a:xfrm>
              <a:prstGeom prst="rect">
                <a:avLst/>
              </a:prstGeom>
              <a:blipFill rotWithShape="0">
                <a:blip r:embed="rId4"/>
                <a:stretch>
                  <a:fillRect l="-592" t="-2994" b="-9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 Box 15">
                <a:extLst>
                  <a:ext uri="{FF2B5EF4-FFF2-40B4-BE49-F238E27FC236}">
                    <a16:creationId xmlns:a16="http://schemas.microsoft.com/office/drawing/2014/main" id="{15F86D6D-9EB8-DA4D-9C5A-41FA84FE9362}"/>
                  </a:ext>
                </a:extLst>
              </p:cNvPr>
              <p:cNvSpPr txBox="1"/>
              <p:nvPr/>
            </p:nvSpPr>
            <p:spPr>
              <a:xfrm>
                <a:off x="5579110" y="1641790"/>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6" name="Text Box 15">
                <a:extLst>
                  <a:ext uri="{FF2B5EF4-FFF2-40B4-BE49-F238E27FC236}">
                    <a16:creationId xmlns:a16="http://schemas.microsoft.com/office/drawing/2014/main" id="{15F86D6D-9EB8-DA4D-9C5A-41FA84FE9362}"/>
                  </a:ext>
                </a:extLst>
              </p:cNvPr>
              <p:cNvSpPr txBox="1">
                <a:spLocks noRot="1" noChangeAspect="1" noMove="1" noResize="1" noEditPoints="1" noAdjustHandles="1" noChangeArrowheads="1" noChangeShapeType="1" noTextEdit="1"/>
              </p:cNvSpPr>
              <p:nvPr/>
            </p:nvSpPr>
            <p:spPr>
              <a:xfrm>
                <a:off x="4055109" y="1641790"/>
                <a:ext cx="316865" cy="397510"/>
              </a:xfrm>
              <a:prstGeom prst="rect">
                <a:avLst/>
              </a:prstGeom>
              <a:blipFill>
                <a:blip r:embed="rId6"/>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7" name="Text Box 17">
                <a:extLst>
                  <a:ext uri="{FF2B5EF4-FFF2-40B4-BE49-F238E27FC236}">
                    <a16:creationId xmlns:a16="http://schemas.microsoft.com/office/drawing/2014/main" id="{C72A3938-7AA8-514C-B6AC-536008EA04BC}"/>
                  </a:ext>
                </a:extLst>
              </p:cNvPr>
              <p:cNvSpPr txBox="1"/>
              <p:nvPr/>
            </p:nvSpPr>
            <p:spPr>
              <a:xfrm>
                <a:off x="6078854" y="1629725"/>
                <a:ext cx="370840"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15</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7" name="Text Box 17">
                <a:extLst>
                  <a:ext uri="{FF2B5EF4-FFF2-40B4-BE49-F238E27FC236}">
                    <a16:creationId xmlns:a16="http://schemas.microsoft.com/office/drawing/2014/main" id="{C72A3938-7AA8-514C-B6AC-536008EA04BC}"/>
                  </a:ext>
                </a:extLst>
              </p:cNvPr>
              <p:cNvSpPr txBox="1">
                <a:spLocks noRot="1" noChangeAspect="1" noMove="1" noResize="1" noEditPoints="1" noAdjustHandles="1" noChangeArrowheads="1" noChangeShapeType="1" noTextEdit="1"/>
              </p:cNvSpPr>
              <p:nvPr/>
            </p:nvSpPr>
            <p:spPr>
              <a:xfrm>
                <a:off x="4554854" y="1629725"/>
                <a:ext cx="370840" cy="397510"/>
              </a:xfrm>
              <a:prstGeom prst="rect">
                <a:avLst/>
              </a:prstGeom>
              <a:blipFill>
                <a:blip r:embed="rId7"/>
                <a:stretch>
                  <a:fillRect r="-16667"/>
                </a:stretch>
              </a:blipFill>
              <a:ln w="6350">
                <a:noFill/>
              </a:ln>
            </p:spPr>
            <p:txBody>
              <a:bodyPr/>
              <a:lstStyle/>
              <a:p>
                <a:r>
                  <a:rPr lang="en-CO">
                    <a:noFill/>
                  </a:rPr>
                  <a:t> </a:t>
                </a:r>
              </a:p>
            </p:txBody>
          </p:sp>
        </mc:Fallback>
      </mc:AlternateContent>
      <p:sp>
        <p:nvSpPr>
          <p:cNvPr id="8" name="Text Box 19">
            <a:extLst>
              <a:ext uri="{FF2B5EF4-FFF2-40B4-BE49-F238E27FC236}">
                <a16:creationId xmlns:a16="http://schemas.microsoft.com/office/drawing/2014/main" id="{E89460EB-2B8E-A748-B648-ABC67FD8F820}"/>
              </a:ext>
            </a:extLst>
          </p:cNvPr>
          <p:cNvSpPr txBox="1"/>
          <p:nvPr/>
        </p:nvSpPr>
        <p:spPr>
          <a:xfrm>
            <a:off x="3654422" y="1668141"/>
            <a:ext cx="1837055" cy="7867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1800">
                <a:latin typeface="Verdana" panose="020B0604030504040204" pitchFamily="34" charset="0"/>
                <a:ea typeface="Times New Roman" panose="02020603050405020304" pitchFamily="18" charset="0"/>
                <a:cs typeface="Cambria" panose="02040503050406030204" pitchFamily="18" charset="0"/>
              </a:rPr>
              <a:t>Wages Earned</a:t>
            </a:r>
            <a:endParaRPr lang="x-none" sz="1200">
              <a:latin typeface="Cambria" panose="02040503050406030204" pitchFamily="18" charset="0"/>
              <a:ea typeface="Times New Roman" panose="02020603050405020304" pitchFamily="18" charset="0"/>
              <a:cs typeface="Cambria" panose="02040503050406030204" pitchFamily="18" charset="0"/>
            </a:endParaRPr>
          </a:p>
          <a:p>
            <a:pPr algn="ctr"/>
            <a:r>
              <a:rPr lang="en-US" sz="1800">
                <a:latin typeface="Verdana" panose="020B0604030504040204" pitchFamily="34" charset="0"/>
                <a:ea typeface="Times New Roman" panose="02020603050405020304" pitchFamily="18" charset="0"/>
                <a:cs typeface="Cambria" panose="02040503050406030204" pitchFamily="18" charset="0"/>
              </a:rPr>
              <a:t>(dollars)</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10" name="Text Box 20">
            <a:extLst>
              <a:ext uri="{FF2B5EF4-FFF2-40B4-BE49-F238E27FC236}">
                <a16:creationId xmlns:a16="http://schemas.microsoft.com/office/drawing/2014/main" id="{778C7866-A061-5640-8967-559F7FE8909A}"/>
              </a:ext>
            </a:extLst>
          </p:cNvPr>
          <p:cNvSpPr txBox="1"/>
          <p:nvPr/>
        </p:nvSpPr>
        <p:spPr>
          <a:xfrm>
            <a:off x="3754117" y="2451096"/>
            <a:ext cx="1729105" cy="69659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a:latin typeface="Verdana" panose="020B0604030504040204" pitchFamily="34" charset="0"/>
                <a:ea typeface="Times New Roman" panose="02020603050405020304" pitchFamily="18" charset="0"/>
                <a:cs typeface="Cambria" panose="02040503050406030204" pitchFamily="18" charset="0"/>
              </a:rPr>
              <a:t>Time Worked (hours)</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AlternateContent xmlns:mc="http://schemas.openxmlformats.org/markup-compatibility/2006" xmlns:a14="http://schemas.microsoft.com/office/drawing/2010/main">
        <mc:Choice Requires="a14">
          <p:sp>
            <p:nvSpPr>
              <p:cNvPr id="12" name="Text Box 34">
                <a:extLst>
                  <a:ext uri="{FF2B5EF4-FFF2-40B4-BE49-F238E27FC236}">
                    <a16:creationId xmlns:a16="http://schemas.microsoft.com/office/drawing/2014/main" id="{58C9ECCF-9D4D-4B49-AFF1-9C96D6443541}"/>
                  </a:ext>
                </a:extLst>
              </p:cNvPr>
              <p:cNvSpPr txBox="1"/>
              <p:nvPr/>
            </p:nvSpPr>
            <p:spPr>
              <a:xfrm>
                <a:off x="6624319" y="1629725"/>
                <a:ext cx="370840"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30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2" name="Text Box 34">
                <a:extLst>
                  <a:ext uri="{FF2B5EF4-FFF2-40B4-BE49-F238E27FC236}">
                    <a16:creationId xmlns:a16="http://schemas.microsoft.com/office/drawing/2014/main" id="{58C9ECCF-9D4D-4B49-AFF1-9C96D6443541}"/>
                  </a:ext>
                </a:extLst>
              </p:cNvPr>
              <p:cNvSpPr txBox="1">
                <a:spLocks noRot="1" noChangeAspect="1" noMove="1" noResize="1" noEditPoints="1" noAdjustHandles="1" noChangeArrowheads="1" noChangeShapeType="1" noTextEdit="1"/>
              </p:cNvSpPr>
              <p:nvPr/>
            </p:nvSpPr>
            <p:spPr>
              <a:xfrm>
                <a:off x="5100319" y="1629725"/>
                <a:ext cx="370840" cy="397510"/>
              </a:xfrm>
              <a:prstGeom prst="rect">
                <a:avLst/>
              </a:prstGeom>
              <a:blipFill>
                <a:blip r:embed="rId8"/>
                <a:stretch>
                  <a:fillRect r="-13333"/>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3" name="Text Box 36">
                <a:extLst>
                  <a:ext uri="{FF2B5EF4-FFF2-40B4-BE49-F238E27FC236}">
                    <a16:creationId xmlns:a16="http://schemas.microsoft.com/office/drawing/2014/main" id="{A7A6D9C3-0785-AB4A-AD8C-E088E49BD3BF}"/>
                  </a:ext>
                </a:extLst>
              </p:cNvPr>
              <p:cNvSpPr txBox="1"/>
              <p:nvPr/>
            </p:nvSpPr>
            <p:spPr>
              <a:xfrm>
                <a:off x="7172324" y="1615120"/>
                <a:ext cx="370840"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45</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3" name="Text Box 36">
                <a:extLst>
                  <a:ext uri="{FF2B5EF4-FFF2-40B4-BE49-F238E27FC236}">
                    <a16:creationId xmlns:a16="http://schemas.microsoft.com/office/drawing/2014/main" id="{A7A6D9C3-0785-AB4A-AD8C-E088E49BD3BF}"/>
                  </a:ext>
                </a:extLst>
              </p:cNvPr>
              <p:cNvSpPr txBox="1">
                <a:spLocks noRot="1" noChangeAspect="1" noMove="1" noResize="1" noEditPoints="1" noAdjustHandles="1" noChangeArrowheads="1" noChangeShapeType="1" noTextEdit="1"/>
              </p:cNvSpPr>
              <p:nvPr/>
            </p:nvSpPr>
            <p:spPr>
              <a:xfrm>
                <a:off x="5648324" y="1615120"/>
                <a:ext cx="370840" cy="397510"/>
              </a:xfrm>
              <a:prstGeom prst="rect">
                <a:avLst/>
              </a:prstGeom>
              <a:blipFill>
                <a:blip r:embed="rId9"/>
                <a:stretch>
                  <a:fillRect r="-16667"/>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4" name="Text Box 37">
                <a:extLst>
                  <a:ext uri="{FF2B5EF4-FFF2-40B4-BE49-F238E27FC236}">
                    <a16:creationId xmlns:a16="http://schemas.microsoft.com/office/drawing/2014/main" id="{2E24A914-5A47-8F40-B269-907B4029FB56}"/>
                  </a:ext>
                </a:extLst>
              </p:cNvPr>
              <p:cNvSpPr txBox="1"/>
              <p:nvPr/>
            </p:nvSpPr>
            <p:spPr>
              <a:xfrm>
                <a:off x="7727314" y="1615120"/>
                <a:ext cx="370840"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60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4" name="Text Box 37">
                <a:extLst>
                  <a:ext uri="{FF2B5EF4-FFF2-40B4-BE49-F238E27FC236}">
                    <a16:creationId xmlns:a16="http://schemas.microsoft.com/office/drawing/2014/main" id="{2E24A914-5A47-8F40-B269-907B4029FB56}"/>
                  </a:ext>
                </a:extLst>
              </p:cNvPr>
              <p:cNvSpPr txBox="1">
                <a:spLocks noRot="1" noChangeAspect="1" noMove="1" noResize="1" noEditPoints="1" noAdjustHandles="1" noChangeArrowheads="1" noChangeShapeType="1" noTextEdit="1"/>
              </p:cNvSpPr>
              <p:nvPr/>
            </p:nvSpPr>
            <p:spPr>
              <a:xfrm>
                <a:off x="6203314" y="1615120"/>
                <a:ext cx="370840" cy="397510"/>
              </a:xfrm>
              <a:prstGeom prst="rect">
                <a:avLst/>
              </a:prstGeom>
              <a:blipFill>
                <a:blip r:embed="rId10"/>
                <a:stretch>
                  <a:fillRect r="-13333"/>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F7DDBB81-6BEE-1648-AB0B-72571A527341}"/>
                  </a:ext>
                </a:extLst>
              </p:cNvPr>
              <p:cNvSpPr/>
              <p:nvPr/>
            </p:nvSpPr>
            <p:spPr>
              <a:xfrm>
                <a:off x="1844040" y="3374588"/>
                <a:ext cx="8772786" cy="1938992"/>
              </a:xfrm>
              <a:prstGeom prst="rect">
                <a:avLst/>
              </a:prstGeom>
            </p:spPr>
            <p:txBody>
              <a:bodyPr wrap="square">
                <a:spAutoFit/>
              </a:bodyPr>
              <a:lstStyle/>
              <a:p>
                <a:pPr marL="457200" indent="-457200">
                  <a:buSzPts val="18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Determine the amount of money she earned in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hour. Show your work and label it on the double number line.</a:t>
                </a:r>
              </a:p>
              <a:p>
                <a:pPr marL="457200" indent="-457200">
                  <a:buSzPts val="18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How much money does the cashier earn if she works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hours?</a:t>
                </a:r>
              </a:p>
            </p:txBody>
          </p:sp>
        </mc:Choice>
        <mc:Fallback xmlns="">
          <p:sp>
            <p:nvSpPr>
              <p:cNvPr id="15" name="Rectangle 14">
                <a:extLst>
                  <a:ext uri="{FF2B5EF4-FFF2-40B4-BE49-F238E27FC236}">
                    <a16:creationId xmlns:a16="http://schemas.microsoft.com/office/drawing/2014/main" id="{F7DDBB81-6BEE-1648-AB0B-72571A527341}"/>
                  </a:ext>
                </a:extLst>
              </p:cNvPr>
              <p:cNvSpPr>
                <a:spLocks noRot="1" noChangeAspect="1" noMove="1" noResize="1" noEditPoints="1" noAdjustHandles="1" noChangeArrowheads="1" noChangeShapeType="1" noTextEdit="1"/>
              </p:cNvSpPr>
              <p:nvPr/>
            </p:nvSpPr>
            <p:spPr>
              <a:xfrm>
                <a:off x="320040" y="3374588"/>
                <a:ext cx="8772786" cy="1938992"/>
              </a:xfrm>
              <a:prstGeom prst="rect">
                <a:avLst/>
              </a:prstGeom>
              <a:blipFill>
                <a:blip r:embed="rId11"/>
                <a:stretch>
                  <a:fillRect l="-578" t="-1299" b="-4545"/>
                </a:stretch>
              </a:blipFill>
            </p:spPr>
            <p:txBody>
              <a:bodyPr/>
              <a:lstStyle/>
              <a:p>
                <a:r>
                  <a:rPr lang="en-CO">
                    <a:noFill/>
                  </a:rPr>
                  <a:t> </a:t>
                </a:r>
              </a:p>
            </p:txBody>
          </p:sp>
        </mc:Fallback>
      </mc:AlternateContent>
      <p:sp>
        <p:nvSpPr>
          <p:cNvPr id="16" name="Google Shape;278;g104476d1465_1_17">
            <a:extLst>
              <a:ext uri="{FF2B5EF4-FFF2-40B4-BE49-F238E27FC236}">
                <a16:creationId xmlns:a16="http://schemas.microsoft.com/office/drawing/2014/main" id="{825B9B39-F09C-8A48-90F0-23C86D9E34B0}"/>
              </a:ext>
            </a:extLst>
          </p:cNvPr>
          <p:cNvSpPr/>
          <p:nvPr/>
        </p:nvSpPr>
        <p:spPr>
          <a:xfrm>
            <a:off x="3495"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7"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182</a:t>
            </a:r>
            <a:endParaRPr i="1" dirty="0">
              <a:latin typeface="Calibri"/>
              <a:ea typeface="Calibri"/>
              <a:cs typeface="Calibri"/>
              <a:sym typeface="Calibri"/>
            </a:endParaRPr>
          </a:p>
        </p:txBody>
      </p:sp>
      <p:pic>
        <p:nvPicPr>
          <p:cNvPr id="18" name="Google Shape;283;g104476d1465_1_17"/>
          <p:cNvPicPr preferRelativeResize="0"/>
          <p:nvPr/>
        </p:nvPicPr>
        <p:blipFill>
          <a:blip r:embed="rId12"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691828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309;g104476d1465_1_39">
            <a:extLst>
              <a:ext uri="{FF2B5EF4-FFF2-40B4-BE49-F238E27FC236}">
                <a16:creationId xmlns:a16="http://schemas.microsoft.com/office/drawing/2014/main" id="{AD81CEA7-CC8B-2F4C-AFCB-F4AF1A7832CB}"/>
              </a:ext>
            </a:extLst>
          </p:cNvPr>
          <p:cNvSpPr/>
          <p:nvPr/>
        </p:nvSpPr>
        <p:spPr>
          <a:xfrm>
            <a:off x="0" y="-8101"/>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183</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47966" y="-5411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5.2.6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518516" y="191653"/>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50A85065-1747-6C4E-8BA4-9C1ED8A185A6}"/>
                  </a:ext>
                </a:extLst>
              </p:cNvPr>
              <p:cNvSpPr/>
              <p:nvPr/>
            </p:nvSpPr>
            <p:spPr>
              <a:xfrm>
                <a:off x="1347966" y="1191376"/>
                <a:ext cx="9805978" cy="707886"/>
              </a:xfrm>
              <a:prstGeom prst="rect">
                <a:avLst/>
              </a:prstGeom>
            </p:spPr>
            <p:txBody>
              <a:bodyPr wrap="square">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representation shows the amount of red and blue paint that makes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batches of a particular shade of purple paint called lilac.</a:t>
                </a:r>
              </a:p>
            </p:txBody>
          </p:sp>
        </mc:Choice>
        <mc:Fallback xmlns="">
          <p:sp>
            <p:nvSpPr>
              <p:cNvPr id="2" name="Rectangle 1">
                <a:extLst>
                  <a:ext uri="{FF2B5EF4-FFF2-40B4-BE49-F238E27FC236}">
                    <a16:creationId xmlns:a16="http://schemas.microsoft.com/office/drawing/2014/main" xmlns:a14="http://schemas.microsoft.com/office/drawing/2010/main" xmlns="" id="{50A85065-1747-6C4E-8BA4-9C1ED8A185A6}"/>
                  </a:ext>
                </a:extLst>
              </p:cNvPr>
              <p:cNvSpPr>
                <a:spLocks noRot="1" noChangeAspect="1" noMove="1" noResize="1" noEditPoints="1" noAdjustHandles="1" noChangeArrowheads="1" noChangeShapeType="1" noTextEdit="1"/>
              </p:cNvSpPr>
              <p:nvPr/>
            </p:nvSpPr>
            <p:spPr>
              <a:xfrm>
                <a:off x="1347966" y="1191376"/>
                <a:ext cx="9805978" cy="707886"/>
              </a:xfrm>
              <a:prstGeom prst="rect">
                <a:avLst/>
              </a:prstGeom>
              <a:blipFill rotWithShape="0">
                <a:blip r:embed="rId4"/>
                <a:stretch>
                  <a:fillRect l="-684" t="-5128" r="-62" b="-13675"/>
                </a:stretch>
              </a:blipFill>
            </p:spPr>
            <p:txBody>
              <a:bodyPr/>
              <a:lstStyle/>
              <a:p>
                <a:r>
                  <a:rPr lang="en-US">
                    <a:noFill/>
                  </a:rPr>
                  <a:t> </a:t>
                </a:r>
              </a:p>
            </p:txBody>
          </p:sp>
        </mc:Fallback>
      </mc:AlternateContent>
      <p:pic>
        <p:nvPicPr>
          <p:cNvPr id="10" name="image35.png" descr="Icon&#10;&#10;Description automatically generated">
            <a:extLst>
              <a:ext uri="{FF2B5EF4-FFF2-40B4-BE49-F238E27FC236}">
                <a16:creationId xmlns:a16="http://schemas.microsoft.com/office/drawing/2014/main" id="{4467DEB6-FFB1-4246-86C2-057BF8842CF8}"/>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31886"/>
          <a:stretch/>
        </p:blipFill>
        <p:spPr bwMode="auto">
          <a:xfrm>
            <a:off x="5609907" y="2226922"/>
            <a:ext cx="3270250" cy="1094740"/>
          </a:xfrm>
          <a:prstGeom prst="rect">
            <a:avLst/>
          </a:prstGeom>
          <a:ln>
            <a:noFill/>
          </a:ln>
          <a:extLst>
            <a:ext uri="{53640926-AAD7-44D8-BBD7-CCE9431645EC}">
              <a14:shadowObscured xmlns:a14="http://schemas.microsoft.com/office/drawing/2010/main"/>
            </a:ext>
          </a:extLst>
        </p:spPr>
      </p:pic>
      <p:sp>
        <p:nvSpPr>
          <p:cNvPr id="12" name="Text Box 46">
            <a:extLst>
              <a:ext uri="{FF2B5EF4-FFF2-40B4-BE49-F238E27FC236}">
                <a16:creationId xmlns:a16="http://schemas.microsoft.com/office/drawing/2014/main" id="{4D7CAAFD-74C5-F940-8E36-64BB40E393E1}"/>
              </a:ext>
            </a:extLst>
          </p:cNvPr>
          <p:cNvSpPr txBox="1"/>
          <p:nvPr/>
        </p:nvSpPr>
        <p:spPr>
          <a:xfrm>
            <a:off x="3397568" y="2280262"/>
            <a:ext cx="2304415" cy="660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1800">
                <a:latin typeface="Verdana" panose="020B0604030504040204" pitchFamily="34" charset="0"/>
                <a:ea typeface="Times New Roman" panose="02020603050405020304" pitchFamily="18" charset="0"/>
                <a:cs typeface="Cambria" panose="02040503050406030204" pitchFamily="18" charset="0"/>
              </a:rPr>
              <a:t>Cups of Red Paint</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13" name="Text Box 47">
            <a:extLst>
              <a:ext uri="{FF2B5EF4-FFF2-40B4-BE49-F238E27FC236}">
                <a16:creationId xmlns:a16="http://schemas.microsoft.com/office/drawing/2014/main" id="{EFE24F6C-A29D-BC40-8CB4-030FA17702E4}"/>
              </a:ext>
            </a:extLst>
          </p:cNvPr>
          <p:cNvSpPr txBox="1"/>
          <p:nvPr/>
        </p:nvSpPr>
        <p:spPr>
          <a:xfrm>
            <a:off x="3401378" y="2814932"/>
            <a:ext cx="2304415" cy="660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1800">
                <a:latin typeface="Verdana" panose="020B0604030504040204" pitchFamily="34" charset="0"/>
                <a:ea typeface="Times New Roman" panose="02020603050405020304" pitchFamily="18" charset="0"/>
                <a:cs typeface="Cambria" panose="02040503050406030204" pitchFamily="18" charset="0"/>
              </a:rPr>
              <a:t>Cups of Blue Paint</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14" name="Rectangle 13">
            <a:extLst>
              <a:ext uri="{FF2B5EF4-FFF2-40B4-BE49-F238E27FC236}">
                <a16:creationId xmlns:a16="http://schemas.microsoft.com/office/drawing/2014/main" id="{B7D0ACC3-82D6-564D-B32A-2D8A23B05EBC}"/>
              </a:ext>
            </a:extLst>
          </p:cNvPr>
          <p:cNvSpPr/>
          <p:nvPr/>
        </p:nvSpPr>
        <p:spPr>
          <a:xfrm>
            <a:off x="2039650" y="3553583"/>
            <a:ext cx="8422610" cy="1015663"/>
          </a:xfrm>
          <a:prstGeom prst="rect">
            <a:avLst/>
          </a:prstGeom>
        </p:spPr>
        <p:txBody>
          <a:bodyPr wrap="square">
            <a:spAutoFit/>
          </a:bodyPr>
          <a:lstStyle/>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On the double number line, label the tick marks to represent amounts of red and blue paint used to make batches of this shade of purple paint.</a:t>
            </a:r>
          </a:p>
        </p:txBody>
      </p:sp>
      <p:pic>
        <p:nvPicPr>
          <p:cNvPr id="15" name="image2.png" descr="A picture containing shape&#10;&#10;Description automatically generated">
            <a:extLst>
              <a:ext uri="{FF2B5EF4-FFF2-40B4-BE49-F238E27FC236}">
                <a16:creationId xmlns:a16="http://schemas.microsoft.com/office/drawing/2014/main" id="{86B234A9-1414-914A-9FE8-9DB350DF3C56}"/>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36501" b="47407"/>
          <a:stretch/>
        </p:blipFill>
        <p:spPr bwMode="auto">
          <a:xfrm>
            <a:off x="5764847" y="4889417"/>
            <a:ext cx="2829560" cy="756920"/>
          </a:xfrm>
          <a:prstGeom prst="rect">
            <a:avLst/>
          </a:prstGeom>
          <a:ln>
            <a:noFill/>
          </a:ln>
          <a:extLst>
            <a:ext uri="{53640926-AAD7-44D8-BBD7-CCE9431645EC}">
              <a14:shadowObscured xmlns:a14="http://schemas.microsoft.com/office/drawing/2010/main"/>
            </a:ext>
          </a:extLst>
        </p:spPr>
      </p:pic>
      <p:pic>
        <p:nvPicPr>
          <p:cNvPr id="16" name="image2.png" descr="A picture containing shape&#10;&#10;Description automatically generated">
            <a:extLst>
              <a:ext uri="{FF2B5EF4-FFF2-40B4-BE49-F238E27FC236}">
                <a16:creationId xmlns:a16="http://schemas.microsoft.com/office/drawing/2014/main" id="{A2EB981C-8C68-4345-B80D-C42D53F8AE03}"/>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36270" t="48545"/>
          <a:stretch/>
        </p:blipFill>
        <p:spPr bwMode="auto">
          <a:xfrm>
            <a:off x="5764847" y="5325027"/>
            <a:ext cx="2839720" cy="740410"/>
          </a:xfrm>
          <a:prstGeom prst="rect">
            <a:avLst/>
          </a:prstGeom>
          <a:ln>
            <a:noFill/>
          </a:ln>
          <a:extLst>
            <a:ext uri="{53640926-AAD7-44D8-BBD7-CCE9431645EC}">
              <a14:shadowObscured xmlns:a14="http://schemas.microsoft.com/office/drawing/2010/main"/>
            </a:ext>
          </a:extLst>
        </p:spPr>
      </p:pic>
      <p:sp>
        <p:nvSpPr>
          <p:cNvPr id="17" name="Text Box 4">
            <a:extLst>
              <a:ext uri="{FF2B5EF4-FFF2-40B4-BE49-F238E27FC236}">
                <a16:creationId xmlns:a16="http://schemas.microsoft.com/office/drawing/2014/main" id="{F5C7E44F-7DBA-0942-871D-FAA3A078D7D5}"/>
              </a:ext>
            </a:extLst>
          </p:cNvPr>
          <p:cNvSpPr txBox="1"/>
          <p:nvPr/>
        </p:nvSpPr>
        <p:spPr>
          <a:xfrm>
            <a:off x="3459798" y="4879892"/>
            <a:ext cx="2304415" cy="660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1800">
                <a:latin typeface="Verdana" panose="020B0604030504040204" pitchFamily="34" charset="0"/>
                <a:ea typeface="Times New Roman" panose="02020603050405020304" pitchFamily="18" charset="0"/>
                <a:cs typeface="Cambria" panose="02040503050406030204" pitchFamily="18" charset="0"/>
              </a:rPr>
              <a:t>Cups of Red Paint</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18" name="Text Box 5">
            <a:extLst>
              <a:ext uri="{FF2B5EF4-FFF2-40B4-BE49-F238E27FC236}">
                <a16:creationId xmlns:a16="http://schemas.microsoft.com/office/drawing/2014/main" id="{0BB57DC9-CC46-3541-9E89-CCAFC0B8FEF2}"/>
              </a:ext>
            </a:extLst>
          </p:cNvPr>
          <p:cNvSpPr txBox="1"/>
          <p:nvPr/>
        </p:nvSpPr>
        <p:spPr>
          <a:xfrm>
            <a:off x="3397568" y="5641257"/>
            <a:ext cx="2304415" cy="660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1800">
                <a:latin typeface="Verdana" panose="020B0604030504040204" pitchFamily="34" charset="0"/>
                <a:ea typeface="Times New Roman" panose="02020603050405020304" pitchFamily="18" charset="0"/>
                <a:cs typeface="Cambria" panose="02040503050406030204" pitchFamily="18" charset="0"/>
              </a:rPr>
              <a:t>Cups of Blue Paint</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19" name="Google Shape;278;g104476d1465_1_17">
            <a:extLst>
              <a:ext uri="{FF2B5EF4-FFF2-40B4-BE49-F238E27FC236}">
                <a16:creationId xmlns:a16="http://schemas.microsoft.com/office/drawing/2014/main" id="{ED37333B-C640-3841-BEE8-433DF314834F}"/>
              </a:ext>
            </a:extLst>
          </p:cNvPr>
          <p:cNvSpPr/>
          <p:nvPr/>
        </p:nvSpPr>
        <p:spPr>
          <a:xfrm>
            <a:off x="3814" y="-8101"/>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0"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183</a:t>
            </a:r>
            <a:endParaRPr i="1" dirty="0">
              <a:latin typeface="Calibri"/>
              <a:ea typeface="Calibri"/>
              <a:cs typeface="Calibri"/>
              <a:sym typeface="Calibri"/>
            </a:endParaRPr>
          </a:p>
        </p:txBody>
      </p:sp>
      <p:pic>
        <p:nvPicPr>
          <p:cNvPr id="21"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50A85065-1747-6C4E-8BA4-9C1ED8A185A6}"/>
                  </a:ext>
                </a:extLst>
              </p:cNvPr>
              <p:cNvSpPr/>
              <p:nvPr/>
            </p:nvSpPr>
            <p:spPr>
              <a:xfrm>
                <a:off x="1306286" y="467484"/>
                <a:ext cx="9860764" cy="4401205"/>
              </a:xfrm>
              <a:prstGeom prst="rect">
                <a:avLst/>
              </a:prstGeom>
            </p:spPr>
            <p:txBody>
              <a:bodyPr wrap="square">
                <a:spAutoFit/>
              </a:bodyPr>
              <a:lstStyle/>
              <a:p>
                <a:pPr marL="12700" indent="-127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 How many batches are made with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12</m:t>
                    </m:r>
                  </m:oMath>
                </a14:m>
                <a:r>
                  <a:rPr lang="en-US" sz="2000" dirty="0">
                    <a:latin typeface="Verdana" panose="020B0604030504040204" pitchFamily="34" charset="0"/>
                    <a:ea typeface="Verdana" panose="020B0604030504040204" pitchFamily="34" charset="0"/>
                    <a:cs typeface="Verdana" panose="020B0604030504040204" pitchFamily="34" charset="0"/>
                  </a:rPr>
                  <a:t> cups of red paint?</a:t>
                </a:r>
              </a:p>
              <a:p>
                <a:pPr marL="12700" indent="-127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2700" indent="-127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2700" indent="-127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How much red paint should be mixed with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6</m:t>
                    </m:r>
                  </m:oMath>
                </a14:m>
                <a:r>
                  <a:rPr lang="en-US" sz="2000" dirty="0">
                    <a:latin typeface="Verdana" panose="020B0604030504040204" pitchFamily="34" charset="0"/>
                    <a:ea typeface="Verdana" panose="020B0604030504040204" pitchFamily="34" charset="0"/>
                    <a:cs typeface="Verdana" panose="020B0604030504040204" pitchFamily="34" charset="0"/>
                  </a:rPr>
                  <a:t> cups of blue paint to make lilac paint?</a:t>
                </a:r>
              </a:p>
              <a:p>
                <a:pPr marL="342900" indent="-3429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statement.</a:t>
                </a:r>
              </a:p>
              <a:p>
                <a:pPr marL="342900" indent="-3429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55600"/>
                <a:r>
                  <a:rPr lang="en-US" sz="2000" dirty="0">
                    <a:latin typeface="Verdana" panose="020B0604030504040204" pitchFamily="34" charset="0"/>
                    <a:ea typeface="Verdana" panose="020B0604030504040204" pitchFamily="34" charset="0"/>
                    <a:cs typeface="Verdana" panose="020B0604030504040204" pitchFamily="34" charset="0"/>
                  </a:rPr>
                  <a:t>To make this shade of lilac paint, mix ____ cups of blue paint for every ____ cups of red.</a:t>
                </a:r>
              </a:p>
            </p:txBody>
          </p:sp>
        </mc:Choice>
        <mc:Fallback xmlns="">
          <p:sp>
            <p:nvSpPr>
              <p:cNvPr id="2" name="Rectangle 1">
                <a:extLst>
                  <a:ext uri="{FF2B5EF4-FFF2-40B4-BE49-F238E27FC236}">
                    <a16:creationId xmlns:a16="http://schemas.microsoft.com/office/drawing/2014/main" xmlns:a14="http://schemas.microsoft.com/office/drawing/2010/main" xmlns="" id="{50A85065-1747-6C4E-8BA4-9C1ED8A185A6}"/>
                  </a:ext>
                </a:extLst>
              </p:cNvPr>
              <p:cNvSpPr>
                <a:spLocks noRot="1" noChangeAspect="1" noMove="1" noResize="1" noEditPoints="1" noAdjustHandles="1" noChangeArrowheads="1" noChangeShapeType="1" noTextEdit="1"/>
              </p:cNvSpPr>
              <p:nvPr/>
            </p:nvSpPr>
            <p:spPr>
              <a:xfrm>
                <a:off x="1306286" y="467484"/>
                <a:ext cx="9860764" cy="4401205"/>
              </a:xfrm>
              <a:prstGeom prst="rect">
                <a:avLst/>
              </a:prstGeom>
              <a:blipFill rotWithShape="0">
                <a:blip r:embed="rId3"/>
                <a:stretch>
                  <a:fillRect l="-680" t="-970" b="-1524"/>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4623A65F-60E0-694E-862C-CEFAAA426135}"/>
              </a:ext>
            </a:extLst>
          </p:cNvPr>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183</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7723750"/>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1378</TotalTime>
  <Words>1505</Words>
  <Application>Microsoft Office PowerPoint</Application>
  <PresentationFormat>Widescreen</PresentationFormat>
  <Paragraphs>303</Paragraphs>
  <Slides>28</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Arial</vt:lpstr>
      <vt:lpstr>Arial Black</vt:lpstr>
      <vt:lpstr>Calibri</vt:lpstr>
      <vt:lpstr>Cambria</vt:lpstr>
      <vt:lpstr>Cambria Math</vt:lpstr>
      <vt:lpstr>Century Gothic</vt:lpstr>
      <vt:lpstr>Verdana</vt:lpstr>
      <vt:lpstr>Wingdings</vt:lpstr>
      <vt:lpstr>1_Office Theme</vt:lpstr>
      <vt:lpstr>6th Grade Accelerated Math  Unit 5, Lesson 2  Using Models to Represent Ratios  Volume 1, pg. 178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Guided Instruction</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22</cp:revision>
  <dcterms:created xsi:type="dcterms:W3CDTF">2015-03-17T18:51:18Z</dcterms:created>
  <dcterms:modified xsi:type="dcterms:W3CDTF">2022-06-29T18:43:25Z</dcterms:modified>
</cp:coreProperties>
</file>