
<file path=[Content_Types].xml><?xml version="1.0" encoding="utf-8"?>
<Types xmlns="http://schemas.openxmlformats.org/package/2006/content-types">
  <Default Extension="xml" ContentType="application/xml"/>
  <Default Extension="jpeg" ContentType="image/jpeg"/>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46" r:id="rId8"/>
    <p:sldId id="289" r:id="rId9"/>
    <p:sldId id="290" r:id="rId10"/>
    <p:sldId id="336" r:id="rId11"/>
    <p:sldId id="337" r:id="rId12"/>
    <p:sldId id="347" r:id="rId13"/>
    <p:sldId id="348" r:id="rId14"/>
    <p:sldId id="311" r:id="rId15"/>
    <p:sldId id="312" r:id="rId16"/>
    <p:sldId id="333" r:id="rId17"/>
    <p:sldId id="345" r:id="rId18"/>
    <p:sldId id="344" r:id="rId19"/>
    <p:sldId id="323" r:id="rId20"/>
    <p:sldId id="324" r:id="rId21"/>
    <p:sldId id="302" r:id="rId22"/>
    <p:sldId id="303" r:id="rId23"/>
    <p:sldId id="340" r:id="rId24"/>
    <p:sldId id="306" r:id="rId25"/>
    <p:sldId id="30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BF5F"/>
    <a:srgbClr val="33BEA6"/>
    <a:srgbClr val="276C46"/>
    <a:srgbClr val="C9DF6F"/>
    <a:srgbClr val="417DBF"/>
    <a:srgbClr val="3F2A67"/>
    <a:srgbClr val="E24E5F"/>
    <a:srgbClr val="26B7D4"/>
    <a:srgbClr val="54B5D1"/>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36"/>
    <p:restoredTop sz="94695"/>
  </p:normalViewPr>
  <p:slideViewPr>
    <p:cSldViewPr snapToGrid="0">
      <p:cViewPr varScale="1">
        <p:scale>
          <a:sx n="100" d="100"/>
          <a:sy n="100" d="100"/>
        </p:scale>
        <p:origin x="176" y="3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398872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73245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261736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gif"/><Relationship Id="rId5" Type="http://schemas.openxmlformats.org/officeDocument/2006/relationships/image" Target="../media/image16.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80.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image" Target="../media/image23.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30.jpeg"/><Relationship Id="rId5" Type="http://schemas.openxmlformats.org/officeDocument/2006/relationships/image" Target="../media/image31.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image" Target="../media/image330.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s>
</file>

<file path=ppt/slides/_rels/slide23.xml.rels><?xml version="1.0" encoding="UTF-8" standalone="yes"?>
<Relationships xmlns="http://schemas.openxmlformats.org/package/2006/relationships"><Relationship Id="rId4" Type="http://schemas.openxmlformats.org/officeDocument/2006/relationships/image" Target="../media/image49.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5,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Connecting Ratios and Rates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9" name="Google Shape;279;g104476d1465_1_17"/>
          <p:cNvSpPr txBox="1">
            <a:spLocks noGrp="1"/>
          </p:cNvSpPr>
          <p:nvPr>
            <p:ph type="title" idx="4294967295"/>
          </p:nvPr>
        </p:nvSpPr>
        <p:spPr>
          <a:xfrm>
            <a:off x="1460950" y="984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37450" y="3342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460950" y="1600200"/>
            <a:ext cx="87498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MA.6.AR.3.3</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fractions and numerical patterns to generate or complete a two- or three-column table to display equivalent part-to-part ratios and part-to-part-to-whole ratios. </a:t>
            </a:r>
          </a:p>
          <a:p>
            <a:pPr indent="0">
              <a:buNone/>
            </a:pPr>
            <a:endParaRPr lang="en-US" sz="2400" dirty="0">
              <a:latin typeface="Verdana" panose="020B0604030504040204" pitchFamily="34" charset="0"/>
              <a:ea typeface="Verdana" panose="020B0604030504040204" pitchFamily="34" charset="0"/>
              <a:cs typeface="Verdana" panose="020B0604030504040204" pitchFamily="34" charset="0"/>
            </a:endParaRPr>
          </a:p>
          <a:p>
            <a:pPr indent="0">
              <a:buNone/>
            </a:pPr>
            <a:endParaRPr lang="en-US" dirty="0">
              <a:solidFill>
                <a:schemeClr val="tx1"/>
              </a:solidFill>
              <a:latin typeface="Century Gothic"/>
              <a:sym typeface="Century Gothic"/>
            </a:endParaRPr>
          </a:p>
          <a:p>
            <a:pPr indent="0">
              <a:buNone/>
            </a:pPr>
            <a:endParaRPr lang="en-US" dirty="0"/>
          </a:p>
        </p:txBody>
      </p:sp>
      <p:sp>
        <p:nvSpPr>
          <p:cNvPr id="9" name="Google Shape;278;g104476d1465_1_17">
            <a:extLst>
              <a:ext uri="{FF2B5EF4-FFF2-40B4-BE49-F238E27FC236}">
                <a16:creationId xmlns:a16="http://schemas.microsoft.com/office/drawing/2014/main" xmlns="" id="{06280C43-EC51-C242-BE41-765A0EE86115}"/>
              </a:ext>
            </a:extLst>
          </p:cNvPr>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205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4767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399350" y="1596390"/>
            <a:ext cx="88114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488469" y="-13111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706307" y="15809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689100" y="1547093"/>
            <a:ext cx="871256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make connections between ratios, rates, and unit rates.</a:t>
            </a:r>
          </a:p>
        </p:txBody>
      </p:sp>
      <p:sp>
        <p:nvSpPr>
          <p:cNvPr id="8" name="Google Shape;278;g104476d1465_1_17">
            <a:extLst>
              <a:ext uri="{FF2B5EF4-FFF2-40B4-BE49-F238E27FC236}">
                <a16:creationId xmlns:a16="http://schemas.microsoft.com/office/drawing/2014/main" xmlns="" id="{3E9B8BFE-0A2D-5D4E-8198-D2A232059284}"/>
              </a:ext>
            </a:extLst>
          </p:cNvPr>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324"/>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32605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5.5.1 Warm-Up: Why Do Honeybees Love Hexagons?</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578750" y="273330"/>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952400" y="1540224"/>
            <a:ext cx="7734299" cy="3785652"/>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Honeybees are actually amazing mathematicians. Scientists claim they can even calculate angles. They also live inside one of the most mathematically efficient architectural designs there is: the beehive. It takes a lot of work for bees to produce wax. The hexagonal shape of the cells in a honeycomb allows bees to store the most amount of honey while using the least amount of wax. This design likely evolved over time.</a:t>
            </a:r>
          </a:p>
        </p:txBody>
      </p:sp>
      <p:sp>
        <p:nvSpPr>
          <p:cNvPr id="12"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33511" y="1663700"/>
            <a:ext cx="2572990" cy="26035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568" y="-33352"/>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a:extLst>
              <a:ext uri="{FF2B5EF4-FFF2-40B4-BE49-F238E27FC236}">
                <a16:creationId xmlns:a16="http://schemas.microsoft.com/office/drawing/2014/main" xmlns="" id="{079F083F-A67E-0047-8E64-5125815AF3D8}"/>
              </a:ext>
            </a:extLst>
          </p:cNvPr>
          <p:cNvSpPr/>
          <p:nvPr/>
        </p:nvSpPr>
        <p:spPr>
          <a:xfrm>
            <a:off x="1435101" y="199352"/>
            <a:ext cx="9395136" cy="369332"/>
          </a:xfrm>
          <a:prstGeom prst="rect">
            <a:avLst/>
          </a:prstGeom>
        </p:spPr>
        <p:txBody>
          <a:bodyPr wrap="square">
            <a:spAutoFit/>
          </a:bodyPr>
          <a:lstStyle/>
          <a:p>
            <a:r>
              <a:rPr lang="en-US" sz="1800" dirty="0">
                <a:latin typeface="Verdana" panose="020B0604030504040204" pitchFamily="34" charset="0"/>
                <a:ea typeface="Times New Roman" panose="02020603050405020304" pitchFamily="18" charset="0"/>
                <a:cs typeface="Times New Roman" panose="02020603050405020304" pitchFamily="18" charset="0"/>
              </a:rPr>
              <a:t>Consider the shapes used in the designs shown.</a:t>
            </a:r>
          </a:p>
        </p:txBody>
      </p:sp>
      <p:graphicFrame>
        <p:nvGraphicFramePr>
          <p:cNvPr id="2" name="Table 1">
            <a:extLst>
              <a:ext uri="{FF2B5EF4-FFF2-40B4-BE49-F238E27FC236}">
                <a16:creationId xmlns:a16="http://schemas.microsoft.com/office/drawing/2014/main" xmlns="" id="{1F4A9032-9093-704D-8671-269AE4E1B415}"/>
              </a:ext>
            </a:extLst>
          </p:cNvPr>
          <p:cNvGraphicFramePr>
            <a:graphicFrameLocks noGrp="1"/>
          </p:cNvGraphicFramePr>
          <p:nvPr>
            <p:extLst>
              <p:ext uri="{D42A27DB-BD31-4B8C-83A1-F6EECF244321}">
                <p14:modId xmlns:p14="http://schemas.microsoft.com/office/powerpoint/2010/main" val="995526219"/>
              </p:ext>
            </p:extLst>
          </p:nvPr>
        </p:nvGraphicFramePr>
        <p:xfrm>
          <a:off x="2455125" y="819992"/>
          <a:ext cx="7281750" cy="2651760"/>
        </p:xfrm>
        <a:graphic>
          <a:graphicData uri="http://schemas.openxmlformats.org/drawingml/2006/table">
            <a:tbl>
              <a:tblPr bandRow="1">
                <a:tableStyleId>{A91F0D33-8C57-4600-99A7-42BC86742BE1}</a:tableStyleId>
              </a:tblPr>
              <a:tblGrid>
                <a:gridCol w="2387470">
                  <a:extLst>
                    <a:ext uri="{9D8B030D-6E8A-4147-A177-3AD203B41FA5}">
                      <a16:colId xmlns:a16="http://schemas.microsoft.com/office/drawing/2014/main" xmlns="" val="2232691744"/>
                    </a:ext>
                  </a:extLst>
                </a:gridCol>
                <a:gridCol w="2559400">
                  <a:extLst>
                    <a:ext uri="{9D8B030D-6E8A-4147-A177-3AD203B41FA5}">
                      <a16:colId xmlns:a16="http://schemas.microsoft.com/office/drawing/2014/main" xmlns="" val="2754505944"/>
                    </a:ext>
                  </a:extLst>
                </a:gridCol>
                <a:gridCol w="2334880">
                  <a:extLst>
                    <a:ext uri="{9D8B030D-6E8A-4147-A177-3AD203B41FA5}">
                      <a16:colId xmlns:a16="http://schemas.microsoft.com/office/drawing/2014/main" xmlns="" val="955359791"/>
                    </a:ext>
                  </a:extLst>
                </a:gridCol>
              </a:tblGrid>
              <a:tr h="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Triangular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Circular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Hexagonal Cells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517755536"/>
                  </a:ext>
                </a:extLst>
              </a:tr>
              <a:tr h="237744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19240670"/>
                  </a:ext>
                </a:extLst>
              </a:tr>
            </a:tbl>
          </a:graphicData>
        </a:graphic>
      </p:graphicFrame>
      <p:pic>
        <p:nvPicPr>
          <p:cNvPr id="10" name="image13.png" descr="modeling - Subdivide hexagon surface into equilateral ...">
            <a:extLst>
              <a:ext uri="{FF2B5EF4-FFF2-40B4-BE49-F238E27FC236}">
                <a16:creationId xmlns:a16="http://schemas.microsoft.com/office/drawing/2014/main" xmlns="" id="{CB27F2EF-6C3F-FF46-9179-0DE103C91348}"/>
              </a:ext>
            </a:extLst>
          </p:cNvPr>
          <p:cNvPicPr/>
          <p:nvPr/>
        </p:nvPicPr>
        <p:blipFill>
          <a:blip r:embed="rId3"/>
          <a:srcRect/>
          <a:stretch>
            <a:fillRect/>
          </a:stretch>
        </p:blipFill>
        <p:spPr>
          <a:xfrm>
            <a:off x="2707223" y="1182487"/>
            <a:ext cx="1864360" cy="2179320"/>
          </a:xfrm>
          <a:prstGeom prst="rect">
            <a:avLst/>
          </a:prstGeom>
          <a:ln/>
        </p:spPr>
      </p:pic>
      <p:pic>
        <p:nvPicPr>
          <p:cNvPr id="11" name="image14.gif" descr="geometry - 7 circles surrounded by 12 circles ...">
            <a:extLst>
              <a:ext uri="{FF2B5EF4-FFF2-40B4-BE49-F238E27FC236}">
                <a16:creationId xmlns:a16="http://schemas.microsoft.com/office/drawing/2014/main" xmlns="" id="{E29C04C7-BB1B-0542-9F2D-040CF22F4960}"/>
              </a:ext>
            </a:extLst>
          </p:cNvPr>
          <p:cNvPicPr/>
          <p:nvPr/>
        </p:nvPicPr>
        <p:blipFill>
          <a:blip r:embed="rId4"/>
          <a:srcRect/>
          <a:stretch>
            <a:fillRect/>
          </a:stretch>
        </p:blipFill>
        <p:spPr>
          <a:xfrm>
            <a:off x="4996654" y="1144496"/>
            <a:ext cx="2272030" cy="2272665"/>
          </a:xfrm>
          <a:prstGeom prst="rect">
            <a:avLst/>
          </a:prstGeom>
          <a:ln/>
        </p:spPr>
      </p:pic>
      <p:pic>
        <p:nvPicPr>
          <p:cNvPr id="12" name="image15.png">
            <a:extLst>
              <a:ext uri="{FF2B5EF4-FFF2-40B4-BE49-F238E27FC236}">
                <a16:creationId xmlns:a16="http://schemas.microsoft.com/office/drawing/2014/main" xmlns="" id="{4DA141E0-8B29-1A4D-9322-DADFBB2660FA}"/>
              </a:ext>
            </a:extLst>
          </p:cNvPr>
          <p:cNvPicPr/>
          <p:nvPr/>
        </p:nvPicPr>
        <p:blipFill>
          <a:blip r:embed="rId5"/>
          <a:srcRect/>
          <a:stretch>
            <a:fillRect/>
          </a:stretch>
        </p:blipFill>
        <p:spPr>
          <a:xfrm>
            <a:off x="7551633" y="1526022"/>
            <a:ext cx="2051050" cy="1492250"/>
          </a:xfrm>
          <a:prstGeom prst="rect">
            <a:avLst/>
          </a:prstGeom>
          <a:ln/>
        </p:spPr>
      </p:pic>
      <p:sp>
        <p:nvSpPr>
          <p:cNvPr id="14" name="Rectangle 13">
            <a:extLst>
              <a:ext uri="{FF2B5EF4-FFF2-40B4-BE49-F238E27FC236}">
                <a16:creationId xmlns:a16="http://schemas.microsoft.com/office/drawing/2014/main" xmlns="" id="{1C808346-B731-C541-8D65-D81AD5BBEFEE}"/>
              </a:ext>
            </a:extLst>
          </p:cNvPr>
          <p:cNvSpPr/>
          <p:nvPr/>
        </p:nvSpPr>
        <p:spPr>
          <a:xfrm>
            <a:off x="1435101" y="3775067"/>
            <a:ext cx="9395136" cy="1754326"/>
          </a:xfrm>
          <a:prstGeom prst="rect">
            <a:avLst/>
          </a:prstGeom>
        </p:spPr>
        <p:txBody>
          <a:bodyPr wrap="square">
            <a:spAutoFit/>
          </a:bodyPr>
          <a:lstStyle/>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How do the designs demonstrate that the hexagonal shape allows bees to store the most amount of honey using the least amount of wax?</a:t>
            </a:r>
          </a:p>
          <a:p>
            <a:pPr marL="342900" indent="-3429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This is an example of mathematics in nature. What is another example of mathematics in nature you can think of?</a:t>
            </a:r>
          </a:p>
        </p:txBody>
      </p:sp>
      <p:sp>
        <p:nvSpPr>
          <p:cNvPr id="13"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9605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324"/>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6" name="Picture" descr="A picture containing object, antenna, sitting, parked&#10;&#10;Description automatically generated">
            <a:extLst>
              <a:ext uri="{FF2B5EF4-FFF2-40B4-BE49-F238E27FC236}">
                <a16:creationId xmlns:a16="http://schemas.microsoft.com/office/drawing/2014/main" xmlns="" id="{8130CC6C-BC60-6C4C-ABE6-34D04D4DA22E}"/>
              </a:ext>
            </a:extLst>
          </p:cNvPr>
          <p:cNvPicPr/>
          <p:nvPr/>
        </p:nvPicPr>
        <p:blipFill rotWithShape="1">
          <a:blip r:embed="rId3" cstate="screen">
            <a:extLst>
              <a:ext uri="{28A0092B-C50C-407E-A947-70E740481C1C}">
                <a14:useLocalDpi xmlns:a14="http://schemas.microsoft.com/office/drawing/2010/main"/>
              </a:ext>
            </a:extLst>
          </a:blip>
          <a:srcRect l="20757" r="-16167"/>
          <a:stretch/>
        </p:blipFill>
        <p:spPr bwMode="auto">
          <a:xfrm>
            <a:off x="3888353" y="4900477"/>
            <a:ext cx="5669280" cy="160718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21043"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389550" y="2704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5.5.2 Guided Instruction: Connecting Ratios and Rates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605705" y="27751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1389550" y="1331162"/>
                <a:ext cx="9149600" cy="3477875"/>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 given ratio or rate can be used to generate many equivalent ratios, which can be helpful in solving problems. Double number lines, tape diagrams, mixture charts, and ratio tables are useful tools for finding equivalent ratios.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Noah’s favorite drink is a mixture of sweet tea and lemonade. He uses the ratio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ounces (oz) of sweet tea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oz of lemonade to make it.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98475"/>
                <a:r>
                  <a:rPr lang="en-US" sz="2000" dirty="0">
                    <a:latin typeface="Verdana" panose="020B0604030504040204" pitchFamily="34" charset="0"/>
                    <a:ea typeface="Times New Roman" panose="02020603050405020304" pitchFamily="18" charset="0"/>
                    <a:cs typeface="Times New Roman" panose="02020603050405020304" pitchFamily="18" charset="0"/>
                  </a:rPr>
                  <a:t>A double number line diagram is shown to represent the situation. Complete the double number line diagram.</a:t>
                </a:r>
              </a:p>
            </p:txBody>
          </p:sp>
        </mc:Choice>
        <mc:Fallback xmlns="">
          <p:sp>
            <p:nvSpPr>
              <p:cNvPr id="2" name="Rectangle 1">
                <a:extLst>
                  <a:ext uri="{FF2B5EF4-FFF2-40B4-BE49-F238E27FC236}">
                    <a16:creationId xmlns:a16="http://schemas.microsoft.com/office/drawing/2014/main" xmlns:a14="http://schemas.microsoft.com/office/drawing/2010/main" xmlns="" id="{B2BE9AFC-D858-8947-AE27-3738478587E3}"/>
                  </a:ext>
                </a:extLst>
              </p:cNvPr>
              <p:cNvSpPr>
                <a:spLocks noRot="1" noChangeAspect="1" noMove="1" noResize="1" noEditPoints="1" noAdjustHandles="1" noChangeArrowheads="1" noChangeShapeType="1" noTextEdit="1"/>
              </p:cNvSpPr>
              <p:nvPr/>
            </p:nvSpPr>
            <p:spPr>
              <a:xfrm>
                <a:off x="1389550" y="1331162"/>
                <a:ext cx="9149600" cy="3477875"/>
              </a:xfrm>
              <a:prstGeom prst="rect">
                <a:avLst/>
              </a:prstGeom>
              <a:blipFill rotWithShape="0">
                <a:blip r:embed="rId5"/>
                <a:stretch>
                  <a:fillRect l="-733" t="-876" r="-1599" b="-21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10">
                <a:extLst>
                  <a:ext uri="{FF2B5EF4-FFF2-40B4-BE49-F238E27FC236}">
                    <a16:creationId xmlns:a16="http://schemas.microsoft.com/office/drawing/2014/main" xmlns="" id="{4903BF01-BD81-CA4C-8FB2-710B6E014C51}"/>
                  </a:ext>
                </a:extLst>
              </p:cNvPr>
              <p:cNvSpPr txBox="1"/>
              <p:nvPr/>
            </p:nvSpPr>
            <p:spPr>
              <a:xfrm>
                <a:off x="4638289" y="4934766"/>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Text Box 10">
                <a:extLst>
                  <a:ext uri="{FF2B5EF4-FFF2-40B4-BE49-F238E27FC236}">
                    <a16:creationId xmlns:a16="http://schemas.microsoft.com/office/drawing/2014/main" id="{4903BF01-BD81-CA4C-8FB2-710B6E014C51}"/>
                  </a:ext>
                </a:extLst>
              </p:cNvPr>
              <p:cNvSpPr txBox="1">
                <a:spLocks noRot="1" noChangeAspect="1" noMove="1" noResize="1" noEditPoints="1" noAdjustHandles="1" noChangeArrowheads="1" noChangeShapeType="1" noTextEdit="1"/>
              </p:cNvSpPr>
              <p:nvPr/>
            </p:nvSpPr>
            <p:spPr>
              <a:xfrm>
                <a:off x="3114288" y="4934766"/>
                <a:ext cx="316865" cy="397510"/>
              </a:xfrm>
              <a:prstGeom prst="rect">
                <a:avLst/>
              </a:prstGeom>
              <a:blipFill>
                <a:blip r:embed="rId7"/>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1" name="Text Box 12">
                <a:extLst>
                  <a:ext uri="{FF2B5EF4-FFF2-40B4-BE49-F238E27FC236}">
                    <a16:creationId xmlns:a16="http://schemas.microsoft.com/office/drawing/2014/main" xmlns="" id="{BA813369-6CA2-9449-AF88-DE3A4C5D9BE9}"/>
                  </a:ext>
                </a:extLst>
              </p:cNvPr>
              <p:cNvSpPr txBox="1"/>
              <p:nvPr/>
            </p:nvSpPr>
            <p:spPr>
              <a:xfrm>
                <a:off x="4637654" y="6138091"/>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Text Box 12">
                <a:extLst>
                  <a:ext uri="{FF2B5EF4-FFF2-40B4-BE49-F238E27FC236}">
                    <a16:creationId xmlns:a16="http://schemas.microsoft.com/office/drawing/2014/main" id="{BA813369-6CA2-9449-AF88-DE3A4C5D9BE9}"/>
                  </a:ext>
                </a:extLst>
              </p:cNvPr>
              <p:cNvSpPr txBox="1">
                <a:spLocks noRot="1" noChangeAspect="1" noMove="1" noResize="1" noEditPoints="1" noAdjustHandles="1" noChangeArrowheads="1" noChangeShapeType="1" noTextEdit="1"/>
              </p:cNvSpPr>
              <p:nvPr/>
            </p:nvSpPr>
            <p:spPr>
              <a:xfrm>
                <a:off x="3113653" y="6138091"/>
                <a:ext cx="316865" cy="397510"/>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2" name="Text Box 5">
                <a:extLst>
                  <a:ext uri="{FF2B5EF4-FFF2-40B4-BE49-F238E27FC236}">
                    <a16:creationId xmlns:a16="http://schemas.microsoft.com/office/drawing/2014/main" xmlns="" id="{AB63C20C-B7A8-E642-806C-AD1B65FFE259}"/>
                  </a:ext>
                </a:extLst>
              </p:cNvPr>
              <p:cNvSpPr txBox="1"/>
              <p:nvPr/>
            </p:nvSpPr>
            <p:spPr>
              <a:xfrm>
                <a:off x="5192644" y="4927146"/>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5">
                <a:extLst>
                  <a:ext uri="{FF2B5EF4-FFF2-40B4-BE49-F238E27FC236}">
                    <a16:creationId xmlns:a16="http://schemas.microsoft.com/office/drawing/2014/main" id="{AB63C20C-B7A8-E642-806C-AD1B65FFE259}"/>
                  </a:ext>
                </a:extLst>
              </p:cNvPr>
              <p:cNvSpPr txBox="1">
                <a:spLocks noRot="1" noChangeAspect="1" noMove="1" noResize="1" noEditPoints="1" noAdjustHandles="1" noChangeArrowheads="1" noChangeShapeType="1" noTextEdit="1"/>
              </p:cNvSpPr>
              <p:nvPr/>
            </p:nvSpPr>
            <p:spPr>
              <a:xfrm>
                <a:off x="3668643" y="4927146"/>
                <a:ext cx="316865" cy="397510"/>
              </a:xfrm>
              <a:prstGeom prst="rect">
                <a:avLst/>
              </a:prstGeom>
              <a:blipFill>
                <a:blip r:embed="rId9"/>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xmlns="" id="{30DFB451-A151-F14F-9C5D-518DA626A092}"/>
                  </a:ext>
                </a:extLst>
              </p:cNvPr>
              <p:cNvSpPr txBox="1"/>
              <p:nvPr/>
            </p:nvSpPr>
            <p:spPr>
              <a:xfrm>
                <a:off x="5192009" y="6146982"/>
                <a:ext cx="316865" cy="4019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2">
                <a:extLst>
                  <a:ext uri="{FF2B5EF4-FFF2-40B4-BE49-F238E27FC236}">
                    <a16:creationId xmlns:a16="http://schemas.microsoft.com/office/drawing/2014/main" id="{30DFB451-A151-F14F-9C5D-518DA626A092}"/>
                  </a:ext>
                </a:extLst>
              </p:cNvPr>
              <p:cNvSpPr txBox="1">
                <a:spLocks noRot="1" noChangeAspect="1" noMove="1" noResize="1" noEditPoints="1" noAdjustHandles="1" noChangeArrowheads="1" noChangeShapeType="1" noTextEdit="1"/>
              </p:cNvSpPr>
              <p:nvPr/>
            </p:nvSpPr>
            <p:spPr>
              <a:xfrm>
                <a:off x="3668008" y="6146981"/>
                <a:ext cx="316865" cy="401955"/>
              </a:xfrm>
              <a:prstGeom prst="rect">
                <a:avLst/>
              </a:prstGeom>
              <a:blipFill>
                <a:blip r:embed="rId10"/>
                <a:stretch>
                  <a:fillRect/>
                </a:stretch>
              </a:blipFill>
              <a:ln w="6350">
                <a:noFill/>
              </a:ln>
            </p:spPr>
            <p:txBody>
              <a:bodyPr/>
              <a:lstStyle/>
              <a:p>
                <a:r>
                  <a:rPr lang="en-CO">
                    <a:noFill/>
                  </a:rPr>
                  <a:t> </a:t>
                </a:r>
              </a:p>
            </p:txBody>
          </p:sp>
        </mc:Fallback>
      </mc:AlternateContent>
      <p:sp>
        <p:nvSpPr>
          <p:cNvPr id="15" name="Text Box 6">
            <a:extLst>
              <a:ext uri="{FF2B5EF4-FFF2-40B4-BE49-F238E27FC236}">
                <a16:creationId xmlns:a16="http://schemas.microsoft.com/office/drawing/2014/main" xmlns="" id="{C563A7B7-474C-B042-9921-3FF6CF1C9286}"/>
              </a:ext>
            </a:extLst>
          </p:cNvPr>
          <p:cNvSpPr txBox="1"/>
          <p:nvPr/>
        </p:nvSpPr>
        <p:spPr>
          <a:xfrm>
            <a:off x="3001893" y="5797097"/>
            <a:ext cx="1583690"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lemonade (oz)</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4" name="Text Box 4">
            <a:extLst>
              <a:ext uri="{FF2B5EF4-FFF2-40B4-BE49-F238E27FC236}">
                <a16:creationId xmlns:a16="http://schemas.microsoft.com/office/drawing/2014/main" xmlns="" id="{3942A05A-538F-534F-9759-113AFFBBFBED}"/>
              </a:ext>
            </a:extLst>
          </p:cNvPr>
          <p:cNvSpPr txBox="1"/>
          <p:nvPr/>
        </p:nvSpPr>
        <p:spPr>
          <a:xfrm>
            <a:off x="3139689" y="4990646"/>
            <a:ext cx="138493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dirty="0">
                <a:latin typeface="Verdana" panose="020B0604030504040204" pitchFamily="34" charset="0"/>
                <a:ea typeface="Times New Roman" panose="02020603050405020304" pitchFamily="18" charset="0"/>
                <a:cs typeface="Cambria" panose="02040503050406030204" pitchFamily="18" charset="0"/>
              </a:rPr>
              <a:t>sweet tea</a:t>
            </a:r>
            <a:endParaRPr lang="x-none" sz="1200" dirty="0">
              <a:latin typeface="Cambria" panose="02040503050406030204" pitchFamily="18" charset="0"/>
              <a:ea typeface="Times New Roman" panose="02020603050405020304" pitchFamily="18" charset="0"/>
              <a:cs typeface="Cambria" panose="02040503050406030204" pitchFamily="18" charset="0"/>
            </a:endParaRPr>
          </a:p>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(oz)</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17"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194</a:t>
            </a:r>
            <a:endParaRPr i="1" dirty="0">
              <a:latin typeface="Calibri"/>
              <a:ea typeface="Calibri"/>
              <a:cs typeface="Calibri"/>
              <a:sym typeface="Calibri"/>
            </a:endParaRPr>
          </a:p>
        </p:txBody>
      </p:sp>
      <p:pic>
        <p:nvPicPr>
          <p:cNvPr id="18" name="Google Shape;283;g104476d1465_1_17"/>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xmlns="" id="{22E7CAFC-319F-CE4F-8B26-ED2749A56CDA}"/>
              </a:ext>
            </a:extLst>
          </p:cNvPr>
          <p:cNvSpPr/>
          <p:nvPr/>
        </p:nvSpPr>
        <p:spPr>
          <a:xfrm>
            <a:off x="1231900" y="241675"/>
            <a:ext cx="9264650" cy="193899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 table can also be used to represent this relationship.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how many ounces of each beverage are needed to make different-sized batches of Noah’s favorite drink.</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C102315B-1DC7-704C-AB7D-FE57998F8D08}"/>
                  </a:ext>
                </a:extLst>
              </p:cNvPr>
              <p:cNvGraphicFramePr>
                <a:graphicFrameLocks noGrp="1"/>
              </p:cNvGraphicFramePr>
              <p:nvPr>
                <p:extLst>
                  <p:ext uri="{D42A27DB-BD31-4B8C-83A1-F6EECF244321}">
                    <p14:modId xmlns:p14="http://schemas.microsoft.com/office/powerpoint/2010/main" val="2008935447"/>
                  </p:ext>
                </p:extLst>
              </p:nvPr>
            </p:nvGraphicFramePr>
            <p:xfrm>
              <a:off x="3803176" y="2454751"/>
              <a:ext cx="4572000" cy="3618504"/>
            </p:xfrm>
            <a:graphic>
              <a:graphicData uri="http://schemas.openxmlformats.org/drawingml/2006/table">
                <a:tbl>
                  <a:tblPr bandRow="1">
                    <a:tableStyleId>{A91F0D33-8C57-4600-99A7-42BC86742BE1}</a:tableStyleId>
                  </a:tblPr>
                  <a:tblGrid>
                    <a:gridCol w="2286000">
                      <a:extLst>
                        <a:ext uri="{9D8B030D-6E8A-4147-A177-3AD203B41FA5}">
                          <a16:colId xmlns:a16="http://schemas.microsoft.com/office/drawing/2014/main" xmlns="" val="1829115597"/>
                        </a:ext>
                      </a:extLst>
                    </a:gridCol>
                    <a:gridCol w="2286000">
                      <a:extLst>
                        <a:ext uri="{9D8B030D-6E8A-4147-A177-3AD203B41FA5}">
                          <a16:colId xmlns:a16="http://schemas.microsoft.com/office/drawing/2014/main" xmlns="" val="2114527037"/>
                        </a:ext>
                      </a:extLst>
                    </a:gridCol>
                  </a:tblGrid>
                  <a:tr h="790410">
                    <a:tc>
                      <a:txBody>
                        <a:bodyPr/>
                        <a:lstStyle/>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Sweet Tea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Lemonade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760154869"/>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95336452"/>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24890493"/>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75027628"/>
                      </a:ext>
                    </a:extLst>
                  </a:tr>
                  <a:tr h="473206">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96731664"/>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3037495"/>
                      </a:ext>
                    </a:extLst>
                  </a:tr>
                  <a:tr h="46949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1.5</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48147327"/>
                      </a:ext>
                    </a:extLst>
                  </a:tr>
                </a:tbl>
              </a:graphicData>
            </a:graphic>
          </p:graphicFrame>
        </mc:Choice>
        <mc:Fallback xmlns="">
          <p:graphicFrame>
            <p:nvGraphicFramePr>
              <p:cNvPr id="3" name="Table 2">
                <a:extLst>
                  <a:ext uri="{FF2B5EF4-FFF2-40B4-BE49-F238E27FC236}">
                    <a16:creationId xmlns:a16="http://schemas.microsoft.com/office/drawing/2014/main" id="{C102315B-1DC7-704C-AB7D-FE57998F8D08}"/>
                  </a:ext>
                </a:extLst>
              </p:cNvPr>
              <p:cNvGraphicFramePr>
                <a:graphicFrameLocks noGrp="1"/>
              </p:cNvGraphicFramePr>
              <p:nvPr>
                <p:extLst>
                  <p:ext uri="{D42A27DB-BD31-4B8C-83A1-F6EECF244321}">
                    <p14:modId xmlns:p14="http://schemas.microsoft.com/office/powerpoint/2010/main" val="2008935447"/>
                  </p:ext>
                </p:extLst>
              </p:nvPr>
            </p:nvGraphicFramePr>
            <p:xfrm>
              <a:off x="2279176" y="2454751"/>
              <a:ext cx="4572000" cy="3618504"/>
            </p:xfrm>
            <a:graphic>
              <a:graphicData uri="http://schemas.openxmlformats.org/drawingml/2006/table">
                <a:tbl>
                  <a:tblPr bandRow="1">
                    <a:tableStyleId>{A91F0D33-8C57-4600-99A7-42BC86742BE1}</a:tableStyleId>
                  </a:tblPr>
                  <a:tblGrid>
                    <a:gridCol w="2286000">
                      <a:extLst>
                        <a:ext uri="{9D8B030D-6E8A-4147-A177-3AD203B41FA5}">
                          <a16:colId xmlns:a16="http://schemas.microsoft.com/office/drawing/2014/main" val="1829115597"/>
                        </a:ext>
                      </a:extLst>
                    </a:gridCol>
                    <a:gridCol w="2286000">
                      <a:extLst>
                        <a:ext uri="{9D8B030D-6E8A-4147-A177-3AD203B41FA5}">
                          <a16:colId xmlns:a16="http://schemas.microsoft.com/office/drawing/2014/main" val="2114527037"/>
                        </a:ext>
                      </a:extLst>
                    </a:gridCol>
                  </a:tblGrid>
                  <a:tr h="790410">
                    <a:tc>
                      <a:txBody>
                        <a:bodyPr/>
                        <a:lstStyle/>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Sweet Tea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Lemonade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(oz)</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760154869"/>
                      </a:ext>
                    </a:extLst>
                  </a:tr>
                  <a:tr h="469492">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165789" r="-100000" b="-492105"/>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165789" r="-556" b="-492105"/>
                          </a:stretch>
                        </a:blipFill>
                      </a:tcPr>
                    </a:tc>
                    <a:extLst>
                      <a:ext uri="{0D108BD9-81ED-4DB2-BD59-A6C34878D82A}">
                        <a16:rowId xmlns:a16="http://schemas.microsoft.com/office/drawing/2014/main" val="3395336452"/>
                      </a:ext>
                    </a:extLst>
                  </a:tr>
                  <a:tr h="469492">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272973" r="-100000" b="-405405"/>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4890493"/>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372973" r="-556" b="-305405"/>
                          </a:stretch>
                        </a:blipFill>
                      </a:tcPr>
                    </a:tc>
                    <a:extLst>
                      <a:ext uri="{0D108BD9-81ED-4DB2-BD59-A6C34878D82A}">
                        <a16:rowId xmlns:a16="http://schemas.microsoft.com/office/drawing/2014/main" val="2875027628"/>
                      </a:ext>
                    </a:extLst>
                  </a:tr>
                  <a:tr h="473206">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472973" r="-100000" b="-205405"/>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731664"/>
                      </a:ext>
                    </a:extLst>
                  </a:tr>
                  <a:tr h="473206">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111" t="-557895" r="-556" b="-100000"/>
                          </a:stretch>
                        </a:blipFill>
                      </a:tcPr>
                    </a:tc>
                    <a:extLst>
                      <a:ext uri="{0D108BD9-81ED-4DB2-BD59-A6C34878D82A}">
                        <a16:rowId xmlns:a16="http://schemas.microsoft.com/office/drawing/2014/main" val="3523037495"/>
                      </a:ext>
                    </a:extLst>
                  </a:tr>
                  <a:tr h="469492">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52" t="-675676" r="-100000" b="-2703"/>
                          </a:stretch>
                        </a:blip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147327"/>
                      </a:ext>
                    </a:extLst>
                  </a:tr>
                </a:tbl>
              </a:graphicData>
            </a:graphic>
          </p:graphicFrame>
        </mc:Fallback>
      </mc:AlternateContent>
      <p:sp>
        <p:nvSpPr>
          <p:cNvPr id="7"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914400" y="469910"/>
                <a:ext cx="9605010" cy="4401205"/>
              </a:xfrm>
              <a:prstGeom prst="rect">
                <a:avLst/>
              </a:prstGeom>
            </p:spPr>
            <p:txBody>
              <a:bodyPr wrap="square">
                <a:spAutoFit/>
              </a:bodyPr>
              <a:lstStyle/>
              <a:p>
                <a:pPr marL="53975" indent="-53975"/>
                <a:r>
                  <a:rPr lang="en-US" sz="2000" dirty="0">
                    <a:latin typeface="Verdana" panose="020B0604030504040204" pitchFamily="34" charset="0"/>
                    <a:ea typeface="Verdana" panose="020B0604030504040204" pitchFamily="34" charset="0"/>
                    <a:cs typeface="Verdana" panose="020B0604030504040204" pitchFamily="34" charset="0"/>
                  </a:rPr>
                  <a:t>Recipes are scaled up to make larger batches with the same taste. They can also be scaled down to make smaller batches with the same taste. Equivalent ratios can be used to determine the amount of ingredients needed when scaling a recipe up or down.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When scaling a recipe up, such as to find how many ounces of sweet tea to mix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ounces of lemonade, which operation is used?</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indent="-35083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When scaling a recipe down, such as to find how many ounces of lemonade to mix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ounces of sweet tea, which operation is used?</a:t>
                </a: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914400" y="469910"/>
                <a:ext cx="9605010" cy="4401205"/>
              </a:xfrm>
              <a:prstGeom prst="rect">
                <a:avLst/>
              </a:prstGeom>
              <a:blipFill rotWithShape="0">
                <a:blip r:embed="rId3"/>
                <a:stretch>
                  <a:fillRect l="-698" t="-693" b="-1524"/>
                </a:stretch>
              </a:blipFill>
            </p:spPr>
            <p:txBody>
              <a:bodyPr/>
              <a:lstStyle/>
              <a:p>
                <a:r>
                  <a:rPr lang="en-US">
                    <a:noFill/>
                  </a:rPr>
                  <a:t> </a:t>
                </a:r>
              </a:p>
            </p:txBody>
          </p:sp>
        </mc:Fallback>
      </mc:AlternateContent>
      <p:sp>
        <p:nvSpPr>
          <p:cNvPr id="6"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1092200" y="469911"/>
                <a:ext cx="9427210" cy="2380588"/>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William noticed he could use similar thinking with the double number line diagram. He drew an arrow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on the top number line and another arrow from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on the bottom number line. Complete the statement to describe what he saw.</a:t>
                </a:r>
              </a:p>
              <a:p>
                <a:pPr marL="53975" indent="-53975"/>
                <a:r>
                  <a:rPr lang="en-US" sz="2000" dirty="0">
                    <a:latin typeface="Verdana" panose="020B0604030504040204" pitchFamily="34" charset="0"/>
                    <a:ea typeface="Verdana" panose="020B0604030504040204" pitchFamily="34" charset="0"/>
                    <a:cs typeface="Verdana" panose="020B0604030504040204" pitchFamily="34" charset="0"/>
                  </a:rPr>
                  <a:t> </a:t>
                </a:r>
              </a:p>
              <a:p>
                <a:pPr marL="444500" indent="-39688"/>
                <a:r>
                  <a:rPr lang="en-US" sz="2000" dirty="0">
                    <a:latin typeface="Verdana" panose="020B0604030504040204" pitchFamily="34" charset="0"/>
                    <a:ea typeface="Verdana" panose="020B0604030504040204" pitchFamily="34" charset="0"/>
                    <a:cs typeface="Verdana" panose="020B0604030504040204" pitchFamily="34" charset="0"/>
                  </a:rPr>
                  <a:t>William noticed the ratio </a:t>
                </a:r>
                <a14:m>
                  <m:oMath xmlns:m="http://schemas.openxmlformats.org/officeDocument/2006/math">
                    <m:f>
                      <m:fPr>
                        <m:ctrlPr>
                          <a:rPr lang="en-US" sz="2000" i="1" dirty="0">
                            <a:latin typeface="Cambria Math"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find the ratio </a:t>
                </a:r>
                <a14:m>
                  <m:oMath xmlns:m="http://schemas.openxmlformats.org/officeDocument/2006/math">
                    <m:f>
                      <m:fPr>
                        <m:ctrlPr>
                          <a:rPr lang="en-US" sz="2000" i="1" dirty="0">
                            <a:latin typeface="Cambria Math"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15</m:t>
                        </m:r>
                      </m:num>
                      <m:den>
                        <m:r>
                          <a:rPr lang="es-ES" sz="2000" i="1" dirty="0">
                            <a:latin typeface="Cambria Math" panose="02040503050406030204" pitchFamily="18" charset="0"/>
                            <a:ea typeface="Verdana" panose="020B0604030504040204" pitchFamily="34" charset="0"/>
                            <a:cs typeface="Verdana" panose="020B0604030504040204" pitchFamily="34" charset="0"/>
                          </a:rPr>
                          <m:t>10</m:t>
                        </m:r>
                      </m:den>
                    </m:f>
                  </m:oMath>
                </a14:m>
                <a:r>
                  <a:rPr lang="en-US" sz="2000" dirty="0">
                    <a:latin typeface="Verdana" panose="020B0604030504040204" pitchFamily="34" charset="0"/>
                    <a:ea typeface="Verdana" panose="020B0604030504040204" pitchFamily="34" charset="0"/>
                    <a:cs typeface="Verdana" panose="020B0604030504040204" pitchFamily="34" charset="0"/>
                  </a:rPr>
                  <a:t> by </a:t>
                </a:r>
              </a:p>
              <a:p>
                <a:pPr marL="444500" indent="-39688"/>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1092200" y="469911"/>
                <a:ext cx="9427210" cy="2380588"/>
              </a:xfrm>
              <a:prstGeom prst="rect">
                <a:avLst/>
              </a:prstGeom>
              <a:blipFill rotWithShape="0">
                <a:blip r:embed="rId3"/>
                <a:stretch>
                  <a:fillRect l="-711" t="-1790"/>
                </a:stretch>
              </a:blipFill>
            </p:spPr>
            <p:txBody>
              <a:bodyPr/>
              <a:lstStyle/>
              <a:p>
                <a:r>
                  <a:rPr lang="en-US">
                    <a:noFill/>
                  </a:rPr>
                  <a:t> </a:t>
                </a:r>
              </a:p>
            </p:txBody>
          </p:sp>
        </mc:Fallback>
      </mc:AlternateContent>
      <p:pic>
        <p:nvPicPr>
          <p:cNvPr id="3" name="Picture 2" descr="Text&#10;&#10;Description automatically generated">
            <a:extLst>
              <a:ext uri="{FF2B5EF4-FFF2-40B4-BE49-F238E27FC236}">
                <a16:creationId xmlns:a16="http://schemas.microsoft.com/office/drawing/2014/main" xmlns="" id="{95F8E061-B780-6C4B-9B0B-C0CEDE5BA3F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38401" y="2941665"/>
            <a:ext cx="5389080" cy="1139017"/>
          </a:xfrm>
          <a:prstGeom prst="rect">
            <a:avLst/>
          </a:prstGeom>
        </p:spPr>
      </p:pic>
      <p:sp>
        <p:nvSpPr>
          <p:cNvPr id="7"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0010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1143000" y="469910"/>
                <a:ext cx="9376410" cy="5016758"/>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Equivalent ratios can be found by multiplying or dividing each part of a ratio by the same value.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Show how the ratios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48:32</m:t>
                    </m:r>
                  </m:oMath>
                </a14:m>
                <a:r>
                  <a:rPr lang="en-US" sz="2000" dirty="0">
                    <a:latin typeface="Verdana" panose="020B0604030504040204" pitchFamily="34" charset="0"/>
                    <a:ea typeface="Verdana" panose="020B0604030504040204" pitchFamily="34" charset="0"/>
                    <a:cs typeface="Verdana" panose="020B0604030504040204" pitchFamily="34" charset="0"/>
                  </a:rPr>
                  <a:t> from the table are equivalent, using either multiplication or division.</a:t>
                </a: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Shay noticed the table of Noah’s favorite drink included a unit rate. Circle the unit rate in the table. Then, complete the statement to explain its meaning in context.</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444500"/>
                <a:r>
                  <a:rPr lang="en-US" sz="2000" dirty="0">
                    <a:latin typeface="Verdana" panose="020B0604030504040204" pitchFamily="34" charset="0"/>
                    <a:ea typeface="Verdana" panose="020B0604030504040204" pitchFamily="34" charset="0"/>
                    <a:cs typeface="Verdana" panose="020B0604030504040204" pitchFamily="34" charset="0"/>
                  </a:rPr>
                  <a:t>This unit rate means there are ____ ounces of __________________ in the drink for each ounce of __________________.</a:t>
                </a:r>
              </a:p>
            </p:txBody>
          </p:sp>
        </mc:Choice>
        <mc:Fallback xmlns="">
          <p:sp>
            <p:nvSpPr>
              <p:cNvPr id="8" name="Rectangle 7">
                <a:extLst>
                  <a:ext uri="{FF2B5EF4-FFF2-40B4-BE49-F238E27FC236}">
                    <a16:creationId xmlns:a16="http://schemas.microsoft.com/office/drawing/2014/main" xmlns:a14="http://schemas.microsoft.com/office/drawing/2010/main" xmlns="" id="{CECD6B6F-929B-8F47-BFEE-44ED1D0E863F}"/>
                  </a:ext>
                </a:extLst>
              </p:cNvPr>
              <p:cNvSpPr>
                <a:spLocks noRot="1" noChangeAspect="1" noMove="1" noResize="1" noEditPoints="1" noAdjustHandles="1" noChangeArrowheads="1" noChangeShapeType="1" noTextEdit="1"/>
              </p:cNvSpPr>
              <p:nvPr/>
            </p:nvSpPr>
            <p:spPr>
              <a:xfrm>
                <a:off x="1143000" y="469910"/>
                <a:ext cx="9376410" cy="5016758"/>
              </a:xfrm>
              <a:prstGeom prst="rect">
                <a:avLst/>
              </a:prstGeom>
              <a:blipFill rotWithShape="0">
                <a:blip r:embed="rId3"/>
                <a:stretch>
                  <a:fillRect l="-715" t="-608" r="-455" b="-1215"/>
                </a:stretch>
              </a:blipFill>
            </p:spPr>
            <p:txBody>
              <a:bodyPr/>
              <a:lstStyle/>
              <a:p>
                <a:r>
                  <a:rPr lang="en-US">
                    <a:noFill/>
                  </a:rPr>
                  <a:t> </a:t>
                </a:r>
              </a:p>
            </p:txBody>
          </p:sp>
        </mc:Fallback>
      </mc:AlternateContent>
      <p:sp>
        <p:nvSpPr>
          <p:cNvPr id="6"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82265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8" name="image22.png">
            <a:extLst>
              <a:ext uri="{FF2B5EF4-FFF2-40B4-BE49-F238E27FC236}">
                <a16:creationId xmlns:a16="http://schemas.microsoft.com/office/drawing/2014/main" xmlns="" id="{28D4FBCD-6393-D94E-AA96-1FC3F8B1D488}"/>
              </a:ext>
            </a:extLst>
          </p:cNvPr>
          <p:cNvPicPr/>
          <p:nvPr/>
        </p:nvPicPr>
        <p:blipFill>
          <a:blip r:embed="rId3"/>
          <a:srcRect/>
          <a:stretch>
            <a:fillRect/>
          </a:stretch>
        </p:blipFill>
        <p:spPr>
          <a:xfrm>
            <a:off x="4632998" y="2814307"/>
            <a:ext cx="1156227" cy="1156227"/>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70474" y="7462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5.5.3 Collaboration: Considering Ratios and Rates in the Context of Speed</a:t>
            </a:r>
          </a:p>
        </p:txBody>
      </p:sp>
      <p:sp>
        <p:nvSpPr>
          <p:cNvPr id="2" name="Rectangle 1">
            <a:extLst>
              <a:ext uri="{FF2B5EF4-FFF2-40B4-BE49-F238E27FC236}">
                <a16:creationId xmlns:a16="http://schemas.microsoft.com/office/drawing/2014/main" xmlns="" id="{B05AB5A2-AF35-B14C-AE54-D2A0628C823C}"/>
              </a:ext>
            </a:extLst>
          </p:cNvPr>
          <p:cNvSpPr/>
          <p:nvPr/>
        </p:nvSpPr>
        <p:spPr>
          <a:xfrm>
            <a:off x="1409281" y="1521193"/>
            <a:ext cx="9714798"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Mai and Jada each ran on a treadmill. The treadmill display shows the distance, in miles, each person ran and the amount of time it took them, in minutes and seconds.</a:t>
            </a:r>
          </a:p>
        </p:txBody>
      </p:sp>
      <p:pic>
        <p:nvPicPr>
          <p:cNvPr id="9" name="image22.png">
            <a:extLst>
              <a:ext uri="{FF2B5EF4-FFF2-40B4-BE49-F238E27FC236}">
                <a16:creationId xmlns:a16="http://schemas.microsoft.com/office/drawing/2014/main" xmlns="" id="{4169A284-23FB-4643-B130-32EC4FC4DEB7}"/>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60558" y="327196"/>
            <a:ext cx="748722" cy="748722"/>
          </a:xfrm>
          <a:prstGeom prst="rect">
            <a:avLst/>
          </a:prstGeom>
          <a:ln/>
        </p:spPr>
      </p:pic>
      <p:graphicFrame>
        <p:nvGraphicFramePr>
          <p:cNvPr id="3" name="Table 2">
            <a:extLst>
              <a:ext uri="{FF2B5EF4-FFF2-40B4-BE49-F238E27FC236}">
                <a16:creationId xmlns:a16="http://schemas.microsoft.com/office/drawing/2014/main" xmlns="" id="{1A457AFB-4DDA-1C4A-9AED-88A02CC4B487}"/>
              </a:ext>
            </a:extLst>
          </p:cNvPr>
          <p:cNvGraphicFramePr>
            <a:graphicFrameLocks noGrp="1"/>
          </p:cNvGraphicFramePr>
          <p:nvPr>
            <p:extLst>
              <p:ext uri="{D42A27DB-BD31-4B8C-83A1-F6EECF244321}">
                <p14:modId xmlns:p14="http://schemas.microsoft.com/office/powerpoint/2010/main" val="1095174540"/>
              </p:ext>
            </p:extLst>
          </p:nvPr>
        </p:nvGraphicFramePr>
        <p:xfrm>
          <a:off x="2515440" y="3404425"/>
          <a:ext cx="7514590" cy="2615565"/>
        </p:xfrm>
        <a:graphic>
          <a:graphicData uri="http://schemas.openxmlformats.org/drawingml/2006/table">
            <a:tbl>
              <a:tblPr bandRow="1">
                <a:tableStyleId>{A91F0D33-8C57-4600-99A7-42BC86742BE1}</a:tableStyleId>
              </a:tblPr>
              <a:tblGrid>
                <a:gridCol w="3802791">
                  <a:extLst>
                    <a:ext uri="{9D8B030D-6E8A-4147-A177-3AD203B41FA5}">
                      <a16:colId xmlns:a16="http://schemas.microsoft.com/office/drawing/2014/main" xmlns="" val="722771167"/>
                    </a:ext>
                  </a:extLst>
                </a:gridCol>
                <a:gridCol w="3711799">
                  <a:extLst>
                    <a:ext uri="{9D8B030D-6E8A-4147-A177-3AD203B41FA5}">
                      <a16:colId xmlns:a16="http://schemas.microsoft.com/office/drawing/2014/main" xmlns="" val="2943568156"/>
                    </a:ext>
                  </a:extLst>
                </a:gridCol>
              </a:tblGrid>
              <a:tr h="283210">
                <a:tc>
                  <a:txBody>
                    <a:bodyPr/>
                    <a:lstStyle/>
                    <a:p>
                      <a:pPr marL="0"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Treadmill Display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Treadmill Display</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568450259"/>
                  </a:ext>
                </a:extLst>
              </a:tr>
              <a:tr h="2332355">
                <a:tc>
                  <a:txBody>
                    <a:bodyPr/>
                    <a:lstStyle/>
                    <a:p>
                      <a:pPr marL="0" marR="0" indent="45085"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45085"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94965103"/>
                  </a:ext>
                </a:extLst>
              </a:tr>
            </a:tbl>
          </a:graphicData>
        </a:graphic>
      </p:graphicFrame>
      <p:pic>
        <p:nvPicPr>
          <p:cNvPr id="12" name="image19.png" descr="An image of Mai's treadmill display for the distance and time ran. The data on the treadmill for the run are as follows: Total Time: 24 minutes, 0 seconds. Distance, 3.0 miles. Pace, 8 minutes, 0 seconds. Calories, 481. Incline, 10. Level, 12. Pulse, 125.">
            <a:extLst>
              <a:ext uri="{FF2B5EF4-FFF2-40B4-BE49-F238E27FC236}">
                <a16:creationId xmlns:a16="http://schemas.microsoft.com/office/drawing/2014/main" xmlns="" id="{8F2FF3BA-B4D0-F04E-8B18-25C9A37EBCE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9097" t="11004" r="13308" b="13940"/>
          <a:stretch/>
        </p:blipFill>
        <p:spPr bwMode="auto">
          <a:xfrm>
            <a:off x="2762462" y="3854149"/>
            <a:ext cx="3347085" cy="1962150"/>
          </a:xfrm>
          <a:prstGeom prst="rect">
            <a:avLst/>
          </a:prstGeom>
          <a:ln>
            <a:noFill/>
          </a:ln>
          <a:extLst>
            <a:ext uri="{53640926-AAD7-44D8-BBD7-CCE9431645EC}">
              <a14:shadowObscured xmlns:a14="http://schemas.microsoft.com/office/drawing/2010/main"/>
            </a:ext>
          </a:extLst>
        </p:spPr>
      </p:pic>
      <p:pic>
        <p:nvPicPr>
          <p:cNvPr id="13" name="image16.png" descr="An image of Jada's treadmill display for the distance and time ran. The data on the treadmill for the run are as follows: Total Time: 30 minutes, 0 seconds. Distance, 3.0 miles. Pace, 10 minutes, 0 seconds. Calories, 411. Incline, 10. Level, 12. Pulse, 125.">
            <a:extLst>
              <a:ext uri="{FF2B5EF4-FFF2-40B4-BE49-F238E27FC236}">
                <a16:creationId xmlns:a16="http://schemas.microsoft.com/office/drawing/2014/main" xmlns="" id="{73AED8E4-3D8C-504F-AE25-C1EDC3E55DC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0079" t="12202" r="10741" b="12133"/>
          <a:stretch/>
        </p:blipFill>
        <p:spPr bwMode="auto">
          <a:xfrm>
            <a:off x="6427926" y="3854149"/>
            <a:ext cx="3479317" cy="1962150"/>
          </a:xfrm>
          <a:prstGeom prst="rect">
            <a:avLst/>
          </a:prstGeom>
          <a:ln>
            <a:noFill/>
          </a:ln>
          <a:extLst>
            <a:ext uri="{53640926-AAD7-44D8-BBD7-CCE9431645EC}">
              <a14:shadowObscured xmlns:a14="http://schemas.microsoft.com/office/drawing/2010/main"/>
            </a:ext>
          </a:extLst>
        </p:spPr>
      </p:pic>
      <p:sp>
        <p:nvSpPr>
          <p:cNvPr id="14"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195</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a:extLst>
              <a:ext uri="{FF2B5EF4-FFF2-40B4-BE49-F238E27FC236}">
                <a16:creationId xmlns:a16="http://schemas.microsoft.com/office/drawing/2014/main" xmlns="" id="{96EBC228-FF81-F24F-AEB8-9068AF825BE0}"/>
              </a:ext>
            </a:extLst>
          </p:cNvPr>
          <p:cNvSpPr/>
          <p:nvPr/>
        </p:nvSpPr>
        <p:spPr>
          <a:xfrm>
            <a:off x="1028700" y="332978"/>
            <a:ext cx="10134600" cy="707886"/>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similarities and differences between Mai’s and Jada’s workouts. Write them in the table below.</a:t>
            </a:r>
          </a:p>
        </p:txBody>
      </p:sp>
      <p:graphicFrame>
        <p:nvGraphicFramePr>
          <p:cNvPr id="2" name="Table 1">
            <a:extLst>
              <a:ext uri="{FF2B5EF4-FFF2-40B4-BE49-F238E27FC236}">
                <a16:creationId xmlns:a16="http://schemas.microsoft.com/office/drawing/2014/main" xmlns="" id="{1AA7927C-47F9-7940-AEDC-C70ACE9541EB}"/>
              </a:ext>
            </a:extLst>
          </p:cNvPr>
          <p:cNvGraphicFramePr>
            <a:graphicFrameLocks noGrp="1"/>
          </p:cNvGraphicFramePr>
          <p:nvPr>
            <p:extLst>
              <p:ext uri="{D42A27DB-BD31-4B8C-83A1-F6EECF244321}">
                <p14:modId xmlns:p14="http://schemas.microsoft.com/office/powerpoint/2010/main" val="2507130090"/>
              </p:ext>
            </p:extLst>
          </p:nvPr>
        </p:nvGraphicFramePr>
        <p:xfrm>
          <a:off x="2319866" y="1611265"/>
          <a:ext cx="7733108" cy="1817735"/>
        </p:xfrm>
        <a:graphic>
          <a:graphicData uri="http://schemas.openxmlformats.org/drawingml/2006/table">
            <a:tbl>
              <a:tblPr bandRow="1">
                <a:tableStyleId>{A91F0D33-8C57-4600-99A7-42BC86742BE1}</a:tableStyleId>
              </a:tblPr>
              <a:tblGrid>
                <a:gridCol w="3866554">
                  <a:extLst>
                    <a:ext uri="{9D8B030D-6E8A-4147-A177-3AD203B41FA5}">
                      <a16:colId xmlns:a16="http://schemas.microsoft.com/office/drawing/2014/main" xmlns="" val="275346555"/>
                    </a:ext>
                  </a:extLst>
                </a:gridCol>
                <a:gridCol w="3866554">
                  <a:extLst>
                    <a:ext uri="{9D8B030D-6E8A-4147-A177-3AD203B41FA5}">
                      <a16:colId xmlns:a16="http://schemas.microsoft.com/office/drawing/2014/main" xmlns="" val="849793082"/>
                    </a:ext>
                  </a:extLst>
                </a:gridCol>
              </a:tblGrid>
              <a:tr h="284498">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Similarities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Differences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505503689"/>
                  </a:ext>
                </a:extLst>
              </a:tr>
              <a:tr h="1533237">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83633393"/>
                  </a:ext>
                </a:extLst>
              </a:tr>
            </a:tbl>
          </a:graphicData>
        </a:graphic>
      </p:graphicFrame>
      <p:sp>
        <p:nvSpPr>
          <p:cNvPr id="8" name="Rectangle 7">
            <a:extLst>
              <a:ext uri="{FF2B5EF4-FFF2-40B4-BE49-F238E27FC236}">
                <a16:creationId xmlns:a16="http://schemas.microsoft.com/office/drawing/2014/main" xmlns="" id="{EED35296-FBB4-8648-A6B9-61328C474250}"/>
              </a:ext>
            </a:extLst>
          </p:cNvPr>
          <p:cNvSpPr/>
          <p:nvPr/>
        </p:nvSpPr>
        <p:spPr>
          <a:xfrm>
            <a:off x="1028700" y="3702710"/>
            <a:ext cx="10134600" cy="707886"/>
          </a:xfrm>
          <a:prstGeom prst="rect">
            <a:avLst/>
          </a:prstGeom>
        </p:spPr>
        <p:txBody>
          <a:bodyPr wrap="square">
            <a:spAutoFit/>
          </a:bodyPr>
          <a:lstStyle/>
          <a:p>
            <a:pPr marL="581025"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Express each person’s workout as a ratio of distance to time, including units.</a:t>
            </a:r>
          </a:p>
        </p:txBody>
      </p:sp>
      <p:graphicFrame>
        <p:nvGraphicFramePr>
          <p:cNvPr id="4" name="Table 3">
            <a:extLst>
              <a:ext uri="{FF2B5EF4-FFF2-40B4-BE49-F238E27FC236}">
                <a16:creationId xmlns:a16="http://schemas.microsoft.com/office/drawing/2014/main" xmlns="" id="{C252F16B-099A-4A4D-8DB6-E23844C6AF3E}"/>
              </a:ext>
            </a:extLst>
          </p:cNvPr>
          <p:cNvGraphicFramePr>
            <a:graphicFrameLocks noGrp="1"/>
          </p:cNvGraphicFramePr>
          <p:nvPr>
            <p:extLst>
              <p:ext uri="{D42A27DB-BD31-4B8C-83A1-F6EECF244321}">
                <p14:modId xmlns:p14="http://schemas.microsoft.com/office/powerpoint/2010/main" val="3603445907"/>
              </p:ext>
            </p:extLst>
          </p:nvPr>
        </p:nvGraphicFramePr>
        <p:xfrm>
          <a:off x="3228975" y="4617769"/>
          <a:ext cx="5734050" cy="1815465"/>
        </p:xfrm>
        <a:graphic>
          <a:graphicData uri="http://schemas.openxmlformats.org/drawingml/2006/table">
            <a:tbl>
              <a:tblPr bandRow="1">
                <a:tableStyleId>{A91F0D33-8C57-4600-99A7-42BC86742BE1}</a:tableStyleId>
              </a:tblPr>
              <a:tblGrid>
                <a:gridCol w="2279780">
                  <a:extLst>
                    <a:ext uri="{9D8B030D-6E8A-4147-A177-3AD203B41FA5}">
                      <a16:colId xmlns:a16="http://schemas.microsoft.com/office/drawing/2014/main" xmlns="" val="2821210835"/>
                    </a:ext>
                  </a:extLst>
                </a:gridCol>
                <a:gridCol w="3454270">
                  <a:extLst>
                    <a:ext uri="{9D8B030D-6E8A-4147-A177-3AD203B41FA5}">
                      <a16:colId xmlns:a16="http://schemas.microsoft.com/office/drawing/2014/main" xmlns="" val="2843227508"/>
                    </a:ext>
                  </a:extLst>
                </a:gridCol>
              </a:tblGrid>
              <a:tr h="685165">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Ratio of Distance to Time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540485151"/>
                  </a:ext>
                </a:extLst>
              </a:tr>
              <a:tr h="565150">
                <a:tc>
                  <a:txBody>
                    <a:bodyPr/>
                    <a:lstStyle/>
                    <a:p>
                      <a:pPr marL="0" marR="0">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296669"/>
                  </a:ext>
                </a:extLst>
              </a:tr>
              <a:tr h="565150">
                <a:tc>
                  <a:txBody>
                    <a:bodyPr/>
                    <a:lstStyle/>
                    <a:p>
                      <a:pPr marL="0" marR="0">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97523733"/>
                  </a:ext>
                </a:extLst>
              </a:tr>
            </a:tbl>
          </a:graphicData>
        </a:graphic>
      </p:graphicFrame>
      <p:sp>
        <p:nvSpPr>
          <p:cNvPr id="10"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195</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251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xmlns="" id="{2D32FB2E-EC85-7547-997A-F8CC3AB0EE91}"/>
              </a:ext>
            </a:extLst>
          </p:cNvPr>
          <p:cNvSpPr/>
          <p:nvPr/>
        </p:nvSpPr>
        <p:spPr>
          <a:xfrm>
            <a:off x="1155700" y="357338"/>
            <a:ext cx="10063480" cy="3139321"/>
          </a:xfrm>
          <a:prstGeom prst="rect">
            <a:avLst/>
          </a:prstGeom>
        </p:spPr>
        <p:txBody>
          <a:bodyPr wrap="square">
            <a:spAutoFit/>
          </a:bodyPr>
          <a:lstStyle/>
          <a:p>
            <a:pPr marL="468313" indent="-457200">
              <a:buFont typeface="+mj-lt"/>
              <a:buAutoNum type="arabicPeriod" startAt="3"/>
            </a:pPr>
            <a:r>
              <a:rPr lang="en-US" sz="2200" dirty="0">
                <a:latin typeface="Verdana" panose="020B0604030504040204" pitchFamily="34" charset="0"/>
                <a:ea typeface="Times New Roman" panose="02020603050405020304" pitchFamily="18" charset="0"/>
                <a:cs typeface="Times New Roman" panose="02020603050405020304" pitchFamily="18" charset="0"/>
              </a:rPr>
              <a:t>Each person ran at a constant rate by setting the speed on their treadmill. Discuss with your partner who ran at a faster rate using the ratios.</a:t>
            </a:r>
          </a:p>
          <a:p>
            <a:pPr marL="407988" indent="-396875"/>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07988" indent="-396875"/>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07988" indent="-396875"/>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4"/>
            </a:pPr>
            <a:r>
              <a:rPr lang="en-US" sz="2200" dirty="0">
                <a:latin typeface="Verdana" panose="020B0604030504040204" pitchFamily="34" charset="0"/>
                <a:ea typeface="Times New Roman" panose="02020603050405020304" pitchFamily="18" charset="0"/>
                <a:cs typeface="Times New Roman" panose="02020603050405020304" pitchFamily="18" charset="0"/>
              </a:rPr>
              <a:t>Eli thought it would be helpful to rewrite the ratios as unit rates when deciding who ran faster. His incomplete work is shown. Work with your partner to complete his work.</a:t>
            </a:r>
          </a:p>
        </p:txBody>
      </p:sp>
      <p:graphicFrame>
        <p:nvGraphicFramePr>
          <p:cNvPr id="3" name="Table 2">
            <a:extLst>
              <a:ext uri="{FF2B5EF4-FFF2-40B4-BE49-F238E27FC236}">
                <a16:creationId xmlns:a16="http://schemas.microsoft.com/office/drawing/2014/main" xmlns="" id="{DEA99EB5-EC73-0F41-9FE2-86CB259D00F6}"/>
              </a:ext>
            </a:extLst>
          </p:cNvPr>
          <p:cNvGraphicFramePr>
            <a:graphicFrameLocks noGrp="1"/>
          </p:cNvGraphicFramePr>
          <p:nvPr>
            <p:extLst>
              <p:ext uri="{D42A27DB-BD31-4B8C-83A1-F6EECF244321}">
                <p14:modId xmlns:p14="http://schemas.microsoft.com/office/powerpoint/2010/main" val="1497087265"/>
              </p:ext>
            </p:extLst>
          </p:nvPr>
        </p:nvGraphicFramePr>
        <p:xfrm>
          <a:off x="2688771" y="4060912"/>
          <a:ext cx="6858000" cy="2171065"/>
        </p:xfrm>
        <a:graphic>
          <a:graphicData uri="http://schemas.openxmlformats.org/drawingml/2006/table">
            <a:tbl>
              <a:tblPr bandRow="1">
                <a:tableStyleId>{A91F0D33-8C57-4600-99A7-42BC86742BE1}</a:tableStyleId>
              </a:tblPr>
              <a:tblGrid>
                <a:gridCol w="3470275">
                  <a:extLst>
                    <a:ext uri="{9D8B030D-6E8A-4147-A177-3AD203B41FA5}">
                      <a16:colId xmlns:a16="http://schemas.microsoft.com/office/drawing/2014/main" xmlns="" val="780424933"/>
                    </a:ext>
                  </a:extLst>
                </a:gridCol>
                <a:gridCol w="3387725">
                  <a:extLst>
                    <a:ext uri="{9D8B030D-6E8A-4147-A177-3AD203B41FA5}">
                      <a16:colId xmlns:a16="http://schemas.microsoft.com/office/drawing/2014/main" xmlns="" val="656019118"/>
                    </a:ext>
                  </a:extLst>
                </a:gridCol>
              </a:tblGrid>
              <a:tr h="0">
                <a:tc>
                  <a:txBody>
                    <a:bodyPr/>
                    <a:lstStyle/>
                    <a:p>
                      <a:pPr marL="45085"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Mai’s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45085" marR="0" indent="-45085"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Jada’s Workout</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274230893"/>
                  </a:ext>
                </a:extLst>
              </a:tr>
              <a:tr h="1896745">
                <a:tc>
                  <a:txBody>
                    <a:bodyPr/>
                    <a:lstStyle/>
                    <a:p>
                      <a:pPr marL="45085" marR="0" indent="-45085" algn="ctr">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085" marR="0" indent="-45085" algn="ctr">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14511895"/>
                  </a:ext>
                </a:extLst>
              </a:tr>
            </a:tbl>
          </a:graphicData>
        </a:graphic>
      </p:graphicFrame>
      <p:pic>
        <p:nvPicPr>
          <p:cNvPr id="10" name="image7.png" descr="Text&#10;&#10;Description automatically generated">
            <a:extLst>
              <a:ext uri="{FF2B5EF4-FFF2-40B4-BE49-F238E27FC236}">
                <a16:creationId xmlns:a16="http://schemas.microsoft.com/office/drawing/2014/main" xmlns="" id="{52D2D67D-D500-F546-AB4F-8C2236193A0D}"/>
              </a:ext>
            </a:extLst>
          </p:cNvPr>
          <p:cNvPicPr/>
          <p:nvPr/>
        </p:nvPicPr>
        <p:blipFill>
          <a:blip r:embed="rId3"/>
          <a:srcRect/>
          <a:stretch>
            <a:fillRect/>
          </a:stretch>
        </p:blipFill>
        <p:spPr>
          <a:xfrm>
            <a:off x="2824480" y="4547035"/>
            <a:ext cx="3200400" cy="1459230"/>
          </a:xfrm>
          <a:prstGeom prst="rect">
            <a:avLst/>
          </a:prstGeom>
          <a:ln/>
        </p:spPr>
      </p:pic>
      <p:pic>
        <p:nvPicPr>
          <p:cNvPr id="11" name="image3.png" descr="A picture containing text&#10;&#10;Description automatically generated">
            <a:extLst>
              <a:ext uri="{FF2B5EF4-FFF2-40B4-BE49-F238E27FC236}">
                <a16:creationId xmlns:a16="http://schemas.microsoft.com/office/drawing/2014/main" xmlns="" id="{A7F84F6E-CC48-D84D-9541-4AB14EA08785}"/>
              </a:ext>
            </a:extLst>
          </p:cNvPr>
          <p:cNvPicPr/>
          <p:nvPr/>
        </p:nvPicPr>
        <p:blipFill>
          <a:blip r:embed="rId4"/>
          <a:srcRect/>
          <a:stretch>
            <a:fillRect/>
          </a:stretch>
        </p:blipFill>
        <p:spPr>
          <a:xfrm>
            <a:off x="6256745" y="4547036"/>
            <a:ext cx="3200400" cy="1456055"/>
          </a:xfrm>
          <a:prstGeom prst="rect">
            <a:avLst/>
          </a:prstGeom>
          <a:ln/>
        </p:spPr>
      </p:pic>
      <p:sp>
        <p:nvSpPr>
          <p:cNvPr id="12"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7196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70349866-9A2F-9642-8136-D99DA46E15A8}"/>
                  </a:ext>
                </a:extLst>
              </p:cNvPr>
              <p:cNvSpPr/>
              <p:nvPr/>
            </p:nvSpPr>
            <p:spPr>
              <a:xfrm>
                <a:off x="1924050" y="230536"/>
                <a:ext cx="8024700" cy="3631763"/>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statements.</a:t>
                </a:r>
              </a:p>
              <a:p>
                <a:pPr marL="407988" indent="-407988"/>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It took Mai ____ minutes to run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 and it took Jada ____ minutes to run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mile. This shows that             ran faster because it took her               time to run the same distance.</a:t>
                </a:r>
              </a:p>
              <a:p>
                <a:pPr marL="15875" indent="-15875">
                  <a:lnSpc>
                    <a:spcPct val="150000"/>
                  </a:lnSpc>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70349866-9A2F-9642-8136-D99DA46E15A8}"/>
                  </a:ext>
                </a:extLst>
              </p:cNvPr>
              <p:cNvSpPr>
                <a:spLocks noRot="1" noChangeAspect="1" noMove="1" noResize="1" noEditPoints="1" noAdjustHandles="1" noChangeArrowheads="1" noChangeShapeType="1" noTextEdit="1"/>
              </p:cNvSpPr>
              <p:nvPr/>
            </p:nvSpPr>
            <p:spPr>
              <a:xfrm>
                <a:off x="400050" y="230535"/>
                <a:ext cx="8024700" cy="3569503"/>
              </a:xfrm>
              <a:prstGeom prst="rect">
                <a:avLst/>
              </a:prstGeom>
              <a:blipFill>
                <a:blip r:embed="rId4"/>
                <a:stretch>
                  <a:fillRect l="-790" t="-1064"/>
                </a:stretch>
              </a:blipFill>
            </p:spPr>
            <p:txBody>
              <a:bodyPr/>
              <a:lstStyle/>
              <a:p>
                <a:r>
                  <a:rPr lang="en-CO">
                    <a:noFill/>
                  </a:rPr>
                  <a:t> </a:t>
                </a:r>
              </a:p>
            </p:txBody>
          </p:sp>
        </mc:Fallback>
      </mc:AlternateContent>
      <p:pic>
        <p:nvPicPr>
          <p:cNvPr id="4" name="Picture 3" descr="A picture containing text&#10;&#10;Description automatically generated">
            <a:extLst>
              <a:ext uri="{FF2B5EF4-FFF2-40B4-BE49-F238E27FC236}">
                <a16:creationId xmlns:a16="http://schemas.microsoft.com/office/drawing/2014/main" xmlns="" id="{62AB3446-1B90-D14D-825B-919982F8E3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779988" y="1540476"/>
            <a:ext cx="987915" cy="632534"/>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xmlns="" id="{3907C8F9-2CC5-F049-B9CB-A67F35067AD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494591" y="2173010"/>
            <a:ext cx="1019083" cy="632534"/>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xmlns="" id="{17B495A7-C3EF-0347-A7A3-976BC105DAAE}"/>
                  </a:ext>
                </a:extLst>
              </p:cNvPr>
              <p:cNvSpPr/>
              <p:nvPr/>
            </p:nvSpPr>
            <p:spPr>
              <a:xfrm>
                <a:off x="1924050" y="3464806"/>
                <a:ext cx="8024700" cy="3170099"/>
              </a:xfrm>
              <a:prstGeom prst="rect">
                <a:avLst/>
              </a:prstGeom>
            </p:spPr>
            <p:txBody>
              <a:bodyPr wrap="square">
                <a:spAutoFit/>
              </a:bodyPr>
              <a:lstStyle/>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minute, Mai ran ____ mile(s) and Jada ran ____ mile(s). This shows that               ran faster because she ran</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distance in the same amount of time.</a:t>
                </a:r>
              </a:p>
              <a:p>
                <a:pPr marL="15875" indent="-15875">
                  <a:lnSpc>
                    <a:spcPct val="200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15875" indent="-15875">
                  <a:lnSpc>
                    <a:spcPct val="200000"/>
                  </a:lnSpc>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id="{17B495A7-C3EF-0347-A7A3-976BC105DAAE}"/>
                  </a:ext>
                </a:extLst>
              </p:cNvPr>
              <p:cNvSpPr>
                <a:spLocks noRot="1" noChangeAspect="1" noMove="1" noResize="1" noEditPoints="1" noAdjustHandles="1" noChangeArrowheads="1" noChangeShapeType="1" noTextEdit="1"/>
              </p:cNvSpPr>
              <p:nvPr/>
            </p:nvSpPr>
            <p:spPr>
              <a:xfrm>
                <a:off x="400050" y="3464806"/>
                <a:ext cx="8024700" cy="3069366"/>
              </a:xfrm>
              <a:prstGeom prst="rect">
                <a:avLst/>
              </a:prstGeom>
              <a:blipFill>
                <a:blip r:embed="rId7"/>
                <a:stretch>
                  <a:fillRect l="-790" r="-790"/>
                </a:stretch>
              </a:blipFill>
            </p:spPr>
            <p:txBody>
              <a:bodyPr/>
              <a:lstStyle/>
              <a:p>
                <a:r>
                  <a:rPr lang="en-CO">
                    <a:noFill/>
                  </a:rPr>
                  <a:t> </a:t>
                </a:r>
              </a:p>
            </p:txBody>
          </p:sp>
        </mc:Fallback>
      </mc:AlternateContent>
      <p:pic>
        <p:nvPicPr>
          <p:cNvPr id="14" name="Picture 13" descr="A picture containing text&#10;&#10;Description automatically generated">
            <a:extLst>
              <a:ext uri="{FF2B5EF4-FFF2-40B4-BE49-F238E27FC236}">
                <a16:creationId xmlns:a16="http://schemas.microsoft.com/office/drawing/2014/main" xmlns="" id="{03840902-3BE2-6549-9C8B-F918B449DC8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73854" y="4182076"/>
            <a:ext cx="987915" cy="632534"/>
          </a:xfrm>
          <a:prstGeom prst="rect">
            <a:avLst/>
          </a:prstGeom>
        </p:spPr>
      </p:pic>
      <p:pic>
        <p:nvPicPr>
          <p:cNvPr id="15" name="Picture 14" descr="Shape&#10;&#10;Description automatically generated with medium confidence">
            <a:extLst>
              <a:ext uri="{FF2B5EF4-FFF2-40B4-BE49-F238E27FC236}">
                <a16:creationId xmlns:a16="http://schemas.microsoft.com/office/drawing/2014/main" xmlns="" id="{13099681-8668-224A-BDCA-6DB8FFDFAF1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040191" y="4848476"/>
            <a:ext cx="1019083" cy="632534"/>
          </a:xfrm>
          <a:prstGeom prst="rect">
            <a:avLst/>
          </a:prstGeom>
        </p:spPr>
      </p:pic>
      <p:sp>
        <p:nvSpPr>
          <p:cNvPr id="11"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196</a:t>
            </a:r>
            <a:endParaRPr i="1" dirty="0">
              <a:latin typeface="Calibri"/>
              <a:ea typeface="Calibri"/>
              <a:cs typeface="Calibri"/>
              <a:sym typeface="Calibri"/>
            </a:endParaRPr>
          </a:p>
        </p:txBody>
      </p:sp>
      <p:pic>
        <p:nvPicPr>
          <p:cNvPr id="12"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71072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7501"/>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54151"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8" name="image10.png" descr="Icon&#10;&#10;Description automatically generated">
            <a:extLst>
              <a:ext uri="{FF2B5EF4-FFF2-40B4-BE49-F238E27FC236}">
                <a16:creationId xmlns:a16="http://schemas.microsoft.com/office/drawing/2014/main" xmlns="" id="{1709463B-A2CE-EA4D-B0A7-46168C1A220F}"/>
              </a:ext>
            </a:extLst>
          </p:cNvPr>
          <p:cNvPicPr/>
          <p:nvPr/>
        </p:nvPicPr>
        <p:blipFill>
          <a:blip r:embed="rId3"/>
          <a:srcRect/>
          <a:stretch>
            <a:fillRect/>
          </a:stretch>
        </p:blipFill>
        <p:spPr>
          <a:xfrm>
            <a:off x="4512723" y="2839477"/>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445683"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5.5.4 Try It: Rates and Ratios in Context of Speed</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1432983" y="1454516"/>
                <a:ext cx="9684090" cy="3170099"/>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slug travels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 A snail travels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 Ethan says, “The snail was traveling faster because it went a greater distance.”</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36600" indent="-3429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Ethan’s statement with your partner.</a:t>
                </a:r>
              </a:p>
              <a:p>
                <a:pPr marL="736600" indent="-3429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36600" indent="-3429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36600" indent="-3429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36600" indent="-3429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736600" indent="-3429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Using ratios or rates, explain whether you agree with Ethan.</a:t>
                </a:r>
              </a:p>
            </p:txBody>
          </p:sp>
        </mc:Choice>
        <mc:Fallback xmlns="">
          <p:sp>
            <p:nvSpPr>
              <p:cNvPr id="2" name="Rectangle 1">
                <a:extLst>
                  <a:ext uri="{FF2B5EF4-FFF2-40B4-BE49-F238E27FC236}">
                    <a16:creationId xmlns:a16="http://schemas.microsoft.com/office/drawing/2014/main" xmlns:a14="http://schemas.microsoft.com/office/drawing/2010/main" xmlns="" id="{684678E3-B391-614C-B449-94320C557524}"/>
                  </a:ext>
                </a:extLst>
              </p:cNvPr>
              <p:cNvSpPr>
                <a:spLocks noRot="1" noChangeAspect="1" noMove="1" noResize="1" noEditPoints="1" noAdjustHandles="1" noChangeArrowheads="1" noChangeShapeType="1" noTextEdit="1"/>
              </p:cNvSpPr>
              <p:nvPr/>
            </p:nvSpPr>
            <p:spPr>
              <a:xfrm>
                <a:off x="1432983" y="1454516"/>
                <a:ext cx="9684090" cy="3170099"/>
              </a:xfrm>
              <a:prstGeom prst="rect">
                <a:avLst/>
              </a:prstGeom>
              <a:blipFill rotWithShape="0">
                <a:blip r:embed="rId3"/>
                <a:stretch>
                  <a:fillRect l="-692" t="-1346" r="-63" b="-2500"/>
                </a:stretch>
              </a:blipFill>
            </p:spPr>
            <p:txBody>
              <a:bodyPr/>
              <a:lstStyle/>
              <a:p>
                <a:r>
                  <a:rPr lang="en-US">
                    <a:noFill/>
                  </a:rPr>
                  <a:t> </a:t>
                </a:r>
              </a:p>
            </p:txBody>
          </p:sp>
        </mc:Fallback>
      </mc:AlternateContent>
      <p:pic>
        <p:nvPicPr>
          <p:cNvPr id="9" name="image10.png" descr="Icon&#10;&#10;Description automatically generated">
            <a:extLst>
              <a:ext uri="{FF2B5EF4-FFF2-40B4-BE49-F238E27FC236}">
                <a16:creationId xmlns:a16="http://schemas.microsoft.com/office/drawing/2014/main" xmlns="" id="{198BD864-CD01-A540-B984-094916A82AB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683174" y="254926"/>
            <a:ext cx="749809" cy="749809"/>
          </a:xfrm>
          <a:prstGeom prst="rect">
            <a:avLst/>
          </a:prstGeom>
          <a:ln/>
        </p:spPr>
      </p:pic>
      <p:sp>
        <p:nvSpPr>
          <p:cNvPr id="8"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196</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6" name="Picture" descr="A picture containing object, antenna, sitting, parked&#10;&#10;Description automatically generated">
            <a:extLst>
              <a:ext uri="{FF2B5EF4-FFF2-40B4-BE49-F238E27FC236}">
                <a16:creationId xmlns:a16="http://schemas.microsoft.com/office/drawing/2014/main" xmlns="" id="{21D865BF-DF23-AB49-8626-8E3EA729C202}"/>
              </a:ext>
            </a:extLst>
          </p:cNvPr>
          <p:cNvPicPr/>
          <p:nvPr/>
        </p:nvPicPr>
        <p:blipFill rotWithShape="1">
          <a:blip r:embed="rId3" cstate="screen">
            <a:extLst>
              <a:ext uri="{28A0092B-C50C-407E-A947-70E740481C1C}">
                <a14:useLocalDpi xmlns:a14="http://schemas.microsoft.com/office/drawing/2010/main"/>
              </a:ext>
            </a:extLst>
          </a:blip>
          <a:srcRect l="62629" r="-16167"/>
          <a:stretch/>
        </p:blipFill>
        <p:spPr bwMode="auto">
          <a:xfrm>
            <a:off x="5724393" y="2769013"/>
            <a:ext cx="3180715" cy="160718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0" y="-810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440588" y="13136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5.5.5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693288" y="13136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66A031F-2EC8-DF4C-B3F5-E7AC5B8F3239}"/>
              </a:ext>
            </a:extLst>
          </p:cNvPr>
          <p:cNvSpPr/>
          <p:nvPr/>
        </p:nvSpPr>
        <p:spPr>
          <a:xfrm>
            <a:off x="1320800" y="1126600"/>
            <a:ext cx="9618980" cy="1015663"/>
          </a:xfrm>
          <a:prstGeom prst="rect">
            <a:avLst/>
          </a:prstGeom>
        </p:spPr>
        <p:txBody>
          <a:bodyPr wrap="square">
            <a:spAutoFit/>
          </a:bodyPr>
          <a:lstStyle/>
          <a:p>
            <a:pPr marL="457200"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Nadia is driving at a constant speed on a long stretch of highway on a long drive from Melbourne, Florida, to Atlanta, Georgia. Her distance traveled over time is shown on the double number line.</a:t>
            </a:r>
          </a:p>
        </p:txBody>
      </p:sp>
      <mc:AlternateContent xmlns:mc="http://schemas.openxmlformats.org/markup-compatibility/2006" xmlns:a14="http://schemas.microsoft.com/office/drawing/2010/main">
        <mc:Choice Requires="a14">
          <p:sp>
            <p:nvSpPr>
              <p:cNvPr id="11" name="Text Box 15">
                <a:extLst>
                  <a:ext uri="{FF2B5EF4-FFF2-40B4-BE49-F238E27FC236}">
                    <a16:creationId xmlns:a16="http://schemas.microsoft.com/office/drawing/2014/main" xmlns="" id="{3E7C22EB-2EA0-AF4D-BDBF-22C8CBAB040B}"/>
                  </a:ext>
                </a:extLst>
              </p:cNvPr>
              <p:cNvSpPr txBox="1"/>
              <p:nvPr/>
            </p:nvSpPr>
            <p:spPr>
              <a:xfrm>
                <a:off x="5632318" y="282679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Text Box 15">
                <a:extLst>
                  <a:ext uri="{FF2B5EF4-FFF2-40B4-BE49-F238E27FC236}">
                    <a16:creationId xmlns:a16="http://schemas.microsoft.com/office/drawing/2014/main" id="{3E7C22EB-2EA0-AF4D-BDBF-22C8CBAB040B}"/>
                  </a:ext>
                </a:extLst>
              </p:cNvPr>
              <p:cNvSpPr txBox="1">
                <a:spLocks noRot="1" noChangeAspect="1" noMove="1" noResize="1" noEditPoints="1" noAdjustHandles="1" noChangeArrowheads="1" noChangeShapeType="1" noTextEdit="1"/>
              </p:cNvSpPr>
              <p:nvPr/>
            </p:nvSpPr>
            <p:spPr>
              <a:xfrm>
                <a:off x="4108317" y="2826797"/>
                <a:ext cx="316865" cy="397510"/>
              </a:xfrm>
              <a:prstGeom prst="rect">
                <a:avLst/>
              </a:prstGeom>
              <a:blipFill>
                <a:blip r:embed="rId6"/>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2" name="Text Box 13">
                <a:extLst>
                  <a:ext uri="{FF2B5EF4-FFF2-40B4-BE49-F238E27FC236}">
                    <a16:creationId xmlns:a16="http://schemas.microsoft.com/office/drawing/2014/main" xmlns="" id="{C68EA1C2-4A95-BC4A-B31E-7ED46F2B4D75}"/>
                  </a:ext>
                </a:extLst>
              </p:cNvPr>
              <p:cNvSpPr txBox="1"/>
              <p:nvPr/>
            </p:nvSpPr>
            <p:spPr>
              <a:xfrm>
                <a:off x="6182228" y="2830607"/>
                <a:ext cx="316865" cy="3975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13">
                <a:extLst>
                  <a:ext uri="{FF2B5EF4-FFF2-40B4-BE49-F238E27FC236}">
                    <a16:creationId xmlns:a16="http://schemas.microsoft.com/office/drawing/2014/main" id="{C68EA1C2-4A95-BC4A-B31E-7ED46F2B4D75}"/>
                  </a:ext>
                </a:extLst>
              </p:cNvPr>
              <p:cNvSpPr txBox="1">
                <a:spLocks noRot="1" noChangeAspect="1" noMove="1" noResize="1" noEditPoints="1" noAdjustHandles="1" noChangeArrowheads="1" noChangeShapeType="1" noTextEdit="1"/>
              </p:cNvSpPr>
              <p:nvPr/>
            </p:nvSpPr>
            <p:spPr>
              <a:xfrm>
                <a:off x="4658227" y="2830607"/>
                <a:ext cx="316865" cy="397510"/>
              </a:xfrm>
              <a:prstGeom prst="rect">
                <a:avLst/>
              </a:prstGeom>
              <a:blipFill>
                <a:blip r:embed="rId7"/>
                <a:stretch>
                  <a:fillRect/>
                </a:stretch>
              </a:blipFill>
              <a:ln w="6350">
                <a:noFill/>
              </a:ln>
            </p:spPr>
            <p:txBody>
              <a:bodyPr/>
              <a:lstStyle/>
              <a:p>
                <a:r>
                  <a:rPr lang="en-CO">
                    <a:noFill/>
                  </a:rPr>
                  <a:t> </a:t>
                </a:r>
              </a:p>
            </p:txBody>
          </p:sp>
        </mc:Fallback>
      </mc:AlternateContent>
      <p:sp>
        <p:nvSpPr>
          <p:cNvPr id="14" name="Text Box 8">
            <a:extLst>
              <a:ext uri="{FF2B5EF4-FFF2-40B4-BE49-F238E27FC236}">
                <a16:creationId xmlns:a16="http://schemas.microsoft.com/office/drawing/2014/main" xmlns="" id="{E33E73C8-DE59-DA41-B98E-31AF2A5197EA}"/>
              </a:ext>
            </a:extLst>
          </p:cNvPr>
          <p:cNvSpPr txBox="1"/>
          <p:nvPr/>
        </p:nvSpPr>
        <p:spPr>
          <a:xfrm>
            <a:off x="3717158" y="3033807"/>
            <a:ext cx="170116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time (hours)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5" name="Text Box 7">
            <a:extLst>
              <a:ext uri="{FF2B5EF4-FFF2-40B4-BE49-F238E27FC236}">
                <a16:creationId xmlns:a16="http://schemas.microsoft.com/office/drawing/2014/main" xmlns="" id="{522E1D37-863A-6640-9BEA-0A75DCC66216}"/>
              </a:ext>
            </a:extLst>
          </p:cNvPr>
          <p:cNvSpPr txBox="1"/>
          <p:nvPr/>
        </p:nvSpPr>
        <p:spPr>
          <a:xfrm>
            <a:off x="2805298" y="3790093"/>
            <a:ext cx="282765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distance (kilometers)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7" name="Text Box 23">
                <a:extLst>
                  <a:ext uri="{FF2B5EF4-FFF2-40B4-BE49-F238E27FC236}">
                    <a16:creationId xmlns:a16="http://schemas.microsoft.com/office/drawing/2014/main" xmlns="" id="{FE5FA0C6-3121-B34C-9AEF-46E5A1252D9F}"/>
                  </a:ext>
                </a:extLst>
              </p:cNvPr>
              <p:cNvSpPr txBox="1"/>
              <p:nvPr/>
            </p:nvSpPr>
            <p:spPr>
              <a:xfrm>
                <a:off x="6744838" y="282552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7" name="Text Box 23">
                <a:extLst>
                  <a:ext uri="{FF2B5EF4-FFF2-40B4-BE49-F238E27FC236}">
                    <a16:creationId xmlns:a16="http://schemas.microsoft.com/office/drawing/2014/main" id="{FE5FA0C6-3121-B34C-9AEF-46E5A1252D9F}"/>
                  </a:ext>
                </a:extLst>
              </p:cNvPr>
              <p:cNvSpPr txBox="1">
                <a:spLocks noRot="1" noChangeAspect="1" noMove="1" noResize="1" noEditPoints="1" noAdjustHandles="1" noChangeArrowheads="1" noChangeShapeType="1" noTextEdit="1"/>
              </p:cNvSpPr>
              <p:nvPr/>
            </p:nvSpPr>
            <p:spPr>
              <a:xfrm>
                <a:off x="5220837" y="2825527"/>
                <a:ext cx="316865" cy="397510"/>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8" name="Text Box 26">
                <a:extLst>
                  <a:ext uri="{FF2B5EF4-FFF2-40B4-BE49-F238E27FC236}">
                    <a16:creationId xmlns:a16="http://schemas.microsoft.com/office/drawing/2014/main" xmlns="" id="{75C21D6D-52BD-E649-B700-12892750B71F}"/>
                  </a:ext>
                </a:extLst>
              </p:cNvPr>
              <p:cNvSpPr txBox="1"/>
              <p:nvPr/>
            </p:nvSpPr>
            <p:spPr>
              <a:xfrm>
                <a:off x="7280143" y="2825527"/>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8" name="Text Box 26">
                <a:extLst>
                  <a:ext uri="{FF2B5EF4-FFF2-40B4-BE49-F238E27FC236}">
                    <a16:creationId xmlns:a16="http://schemas.microsoft.com/office/drawing/2014/main" id="{75C21D6D-52BD-E649-B700-12892750B71F}"/>
                  </a:ext>
                </a:extLst>
              </p:cNvPr>
              <p:cNvSpPr txBox="1">
                <a:spLocks noRot="1" noChangeAspect="1" noMove="1" noResize="1" noEditPoints="1" noAdjustHandles="1" noChangeArrowheads="1" noChangeShapeType="1" noTextEdit="1"/>
              </p:cNvSpPr>
              <p:nvPr/>
            </p:nvSpPr>
            <p:spPr>
              <a:xfrm>
                <a:off x="5756142" y="2825527"/>
                <a:ext cx="316865" cy="397510"/>
              </a:xfrm>
              <a:prstGeom prst="rect">
                <a:avLst/>
              </a:prstGeom>
              <a:blipFill>
                <a:blip r:embed="rId9"/>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9" name="Text Box 27">
                <a:extLst>
                  <a:ext uri="{FF2B5EF4-FFF2-40B4-BE49-F238E27FC236}">
                    <a16:creationId xmlns:a16="http://schemas.microsoft.com/office/drawing/2014/main" xmlns="" id="{1C3F1AFC-423E-674D-8800-6EE7DDFA24F1}"/>
                  </a:ext>
                </a:extLst>
              </p:cNvPr>
              <p:cNvSpPr txBox="1"/>
              <p:nvPr/>
            </p:nvSpPr>
            <p:spPr>
              <a:xfrm>
                <a:off x="5617078" y="3978687"/>
                <a:ext cx="41211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9" name="Text Box 27">
                <a:extLst>
                  <a:ext uri="{FF2B5EF4-FFF2-40B4-BE49-F238E27FC236}">
                    <a16:creationId xmlns:a16="http://schemas.microsoft.com/office/drawing/2014/main" id="{1C3F1AFC-423E-674D-8800-6EE7DDFA24F1}"/>
                  </a:ext>
                </a:extLst>
              </p:cNvPr>
              <p:cNvSpPr txBox="1">
                <a:spLocks noRot="1" noChangeAspect="1" noMove="1" noResize="1" noEditPoints="1" noAdjustHandles="1" noChangeArrowheads="1" noChangeShapeType="1" noTextEdit="1"/>
              </p:cNvSpPr>
              <p:nvPr/>
            </p:nvSpPr>
            <p:spPr>
              <a:xfrm>
                <a:off x="4093077" y="3978687"/>
                <a:ext cx="412115" cy="397510"/>
              </a:xfrm>
              <a:prstGeom prst="rect">
                <a:avLst/>
              </a:prstGeom>
              <a:blipFill>
                <a:blip r:embed="rId10"/>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0" name="Text Box 28">
                <a:extLst>
                  <a:ext uri="{FF2B5EF4-FFF2-40B4-BE49-F238E27FC236}">
                    <a16:creationId xmlns:a16="http://schemas.microsoft.com/office/drawing/2014/main" xmlns="" id="{1D3CC7AD-30D8-D347-9BC9-9C89D68D5AF7}"/>
                  </a:ext>
                </a:extLst>
              </p:cNvPr>
              <p:cNvSpPr txBox="1"/>
              <p:nvPr/>
            </p:nvSpPr>
            <p:spPr>
              <a:xfrm>
                <a:off x="6097138" y="3978687"/>
                <a:ext cx="41211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70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0" name="Text Box 28">
                <a:extLst>
                  <a:ext uri="{FF2B5EF4-FFF2-40B4-BE49-F238E27FC236}">
                    <a16:creationId xmlns:a16="http://schemas.microsoft.com/office/drawing/2014/main" id="{1D3CC7AD-30D8-D347-9BC9-9C89D68D5AF7}"/>
                  </a:ext>
                </a:extLst>
              </p:cNvPr>
              <p:cNvSpPr txBox="1">
                <a:spLocks noRot="1" noChangeAspect="1" noMove="1" noResize="1" noEditPoints="1" noAdjustHandles="1" noChangeArrowheads="1" noChangeShapeType="1" noTextEdit="1"/>
              </p:cNvSpPr>
              <p:nvPr/>
            </p:nvSpPr>
            <p:spPr>
              <a:xfrm>
                <a:off x="4573137" y="3978687"/>
                <a:ext cx="412115" cy="397510"/>
              </a:xfrm>
              <a:prstGeom prst="rect">
                <a:avLst/>
              </a:prstGeom>
              <a:blipFill>
                <a:blip r:embed="rId11"/>
                <a:stretch>
                  <a:fillRect r="-3030"/>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1" name="Text Box 29">
                <a:extLst>
                  <a:ext uri="{FF2B5EF4-FFF2-40B4-BE49-F238E27FC236}">
                    <a16:creationId xmlns:a16="http://schemas.microsoft.com/office/drawing/2014/main" xmlns="" id="{7EC7FB9E-3907-CC4E-8A7F-8153046E4E6D}"/>
                  </a:ext>
                </a:extLst>
              </p:cNvPr>
              <p:cNvSpPr txBox="1"/>
              <p:nvPr/>
            </p:nvSpPr>
            <p:spPr>
              <a:xfrm>
                <a:off x="6620378" y="3988847"/>
                <a:ext cx="50990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140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1" name="Text Box 29">
                <a:extLst>
                  <a:ext uri="{FF2B5EF4-FFF2-40B4-BE49-F238E27FC236}">
                    <a16:creationId xmlns:a16="http://schemas.microsoft.com/office/drawing/2014/main" id="{7EC7FB9E-3907-CC4E-8A7F-8153046E4E6D}"/>
                  </a:ext>
                </a:extLst>
              </p:cNvPr>
              <p:cNvSpPr txBox="1">
                <a:spLocks noRot="1" noChangeAspect="1" noMove="1" noResize="1" noEditPoints="1" noAdjustHandles="1" noChangeArrowheads="1" noChangeShapeType="1" noTextEdit="1"/>
              </p:cNvSpPr>
              <p:nvPr/>
            </p:nvSpPr>
            <p:spPr>
              <a:xfrm>
                <a:off x="5096377" y="3988847"/>
                <a:ext cx="509905" cy="397510"/>
              </a:xfrm>
              <a:prstGeom prst="rect">
                <a:avLst/>
              </a:prstGeom>
              <a:blipFill>
                <a:blip r:embed="rId12"/>
                <a:stretch>
                  <a:fillRect r="-7317"/>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2" name="Text Box 30">
                <a:extLst>
                  <a:ext uri="{FF2B5EF4-FFF2-40B4-BE49-F238E27FC236}">
                    <a16:creationId xmlns:a16="http://schemas.microsoft.com/office/drawing/2014/main" xmlns="" id="{51F7E883-30FF-ED4C-B6A2-48DE78DD74A7}"/>
                  </a:ext>
                </a:extLst>
              </p:cNvPr>
              <p:cNvSpPr txBox="1"/>
              <p:nvPr/>
            </p:nvSpPr>
            <p:spPr>
              <a:xfrm>
                <a:off x="7162668" y="3988847"/>
                <a:ext cx="56324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210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2" name="Text Box 30">
                <a:extLst>
                  <a:ext uri="{FF2B5EF4-FFF2-40B4-BE49-F238E27FC236}">
                    <a16:creationId xmlns:a16="http://schemas.microsoft.com/office/drawing/2014/main" id="{51F7E883-30FF-ED4C-B6A2-48DE78DD74A7}"/>
                  </a:ext>
                </a:extLst>
              </p:cNvPr>
              <p:cNvSpPr txBox="1">
                <a:spLocks noRot="1" noChangeAspect="1" noMove="1" noResize="1" noEditPoints="1" noAdjustHandles="1" noChangeArrowheads="1" noChangeShapeType="1" noTextEdit="1"/>
              </p:cNvSpPr>
              <p:nvPr/>
            </p:nvSpPr>
            <p:spPr>
              <a:xfrm>
                <a:off x="5638667" y="3988847"/>
                <a:ext cx="563245" cy="397510"/>
              </a:xfrm>
              <a:prstGeom prst="rect">
                <a:avLst/>
              </a:prstGeom>
              <a:blipFill>
                <a:blip r:embed="rId13"/>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xmlns="" id="{703F0E38-4D10-4445-B931-75FB8B5F6D66}"/>
                  </a:ext>
                </a:extLst>
              </p:cNvPr>
              <p:cNvSpPr/>
              <p:nvPr/>
            </p:nvSpPr>
            <p:spPr>
              <a:xfrm>
                <a:off x="1320800" y="4634297"/>
                <a:ext cx="9618980" cy="707886"/>
              </a:xfrm>
              <a:prstGeom prst="rect">
                <a:avLst/>
              </a:prstGeom>
            </p:spPr>
            <p:txBody>
              <a:bodyPr wrap="square">
                <a:spAutoFit/>
              </a:bodyPr>
              <a:lstStyle/>
              <a:p>
                <a:pPr marL="492125">
                  <a:buSzPts val="1800"/>
                </a:pPr>
                <a:r>
                  <a:rPr lang="en-US" sz="2000" dirty="0">
                    <a:latin typeface="Verdana" panose="020B0604030504040204" pitchFamily="34" charset="0"/>
                    <a:ea typeface="Verdana" panose="020B0604030504040204" pitchFamily="34" charset="0"/>
                    <a:cs typeface="Verdana" panose="020B0604030504040204" pitchFamily="34" charset="0"/>
                  </a:rPr>
                  <a:t>How far did Nadia travel at this speed for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hours? Explain or show your reasoning.</a:t>
                </a:r>
              </a:p>
            </p:txBody>
          </p:sp>
        </mc:Choice>
        <mc:Fallback xmlns="">
          <p:sp>
            <p:nvSpPr>
              <p:cNvPr id="23" name="Rectangle 22">
                <a:extLst>
                  <a:ext uri="{FF2B5EF4-FFF2-40B4-BE49-F238E27FC236}">
                    <a16:creationId xmlns:a16="http://schemas.microsoft.com/office/drawing/2014/main" xmlns:a14="http://schemas.microsoft.com/office/drawing/2010/main" xmlns="" id="{703F0E38-4D10-4445-B931-75FB8B5F6D66}"/>
                  </a:ext>
                </a:extLst>
              </p:cNvPr>
              <p:cNvSpPr>
                <a:spLocks noRot="1" noChangeAspect="1" noMove="1" noResize="1" noEditPoints="1" noAdjustHandles="1" noChangeArrowheads="1" noChangeShapeType="1" noTextEdit="1"/>
              </p:cNvSpPr>
              <p:nvPr/>
            </p:nvSpPr>
            <p:spPr>
              <a:xfrm>
                <a:off x="1320800" y="4634297"/>
                <a:ext cx="9618980" cy="707886"/>
              </a:xfrm>
              <a:prstGeom prst="rect">
                <a:avLst/>
              </a:prstGeom>
              <a:blipFill rotWithShape="0">
                <a:blip r:embed="rId14"/>
                <a:stretch>
                  <a:fillRect t="-4310" b="-14655"/>
                </a:stretch>
              </a:blipFill>
            </p:spPr>
            <p:txBody>
              <a:bodyPr/>
              <a:lstStyle/>
              <a:p>
                <a:r>
                  <a:rPr lang="en-US">
                    <a:noFill/>
                  </a:rPr>
                  <a:t> </a:t>
                </a:r>
              </a:p>
            </p:txBody>
          </p:sp>
        </mc:Fallback>
      </mc:AlternateContent>
      <p:sp>
        <p:nvSpPr>
          <p:cNvPr id="24"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197</a:t>
            </a:r>
            <a:endParaRPr i="1" dirty="0">
              <a:latin typeface="Calibri"/>
              <a:ea typeface="Calibri"/>
              <a:cs typeface="Calibri"/>
              <a:sym typeface="Calibri"/>
            </a:endParaRPr>
          </a:p>
        </p:txBody>
      </p:sp>
      <p:pic>
        <p:nvPicPr>
          <p:cNvPr id="25" name="Google Shape;283;g104476d1465_1_17"/>
          <p:cNvPicPr preferRelativeResize="0"/>
          <p:nvPr/>
        </p:nvPicPr>
        <p:blipFill>
          <a:blip r:embed="rId1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xmlns="" id="{D9AF1552-9966-3643-BA84-BB4BC68EDBB5}"/>
              </a:ext>
            </a:extLst>
          </p:cNvPr>
          <p:cNvSpPr/>
          <p:nvPr/>
        </p:nvSpPr>
        <p:spPr>
          <a:xfrm>
            <a:off x="1437495" y="331351"/>
            <a:ext cx="9585876" cy="400110"/>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Two cleaning solutions were created to clean tile floors as shown.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C56BDEA3-E32E-1247-B687-C191279EADD6}"/>
                  </a:ext>
                </a:extLst>
              </p:cNvPr>
              <p:cNvGraphicFramePr>
                <a:graphicFrameLocks noGrp="1"/>
              </p:cNvGraphicFramePr>
              <p:nvPr>
                <p:extLst>
                  <p:ext uri="{D42A27DB-BD31-4B8C-83A1-F6EECF244321}">
                    <p14:modId xmlns:p14="http://schemas.microsoft.com/office/powerpoint/2010/main" val="4107345105"/>
                  </p:ext>
                </p:extLst>
              </p:nvPr>
            </p:nvGraphicFramePr>
            <p:xfrm>
              <a:off x="2886075" y="1318586"/>
              <a:ext cx="6419850" cy="1078230"/>
            </p:xfrm>
            <a:graphic>
              <a:graphicData uri="http://schemas.openxmlformats.org/drawingml/2006/table">
                <a:tbl>
                  <a:tblPr bandRow="1">
                    <a:tableStyleId>{A91F0D33-8C57-4600-99A7-42BC86742BE1}</a:tableStyleId>
                  </a:tblPr>
                  <a:tblGrid>
                    <a:gridCol w="3209925">
                      <a:extLst>
                        <a:ext uri="{9D8B030D-6E8A-4147-A177-3AD203B41FA5}">
                          <a16:colId xmlns:a16="http://schemas.microsoft.com/office/drawing/2014/main" xmlns="" val="2519287767"/>
                        </a:ext>
                      </a:extLst>
                    </a:gridCol>
                    <a:gridCol w="3209925">
                      <a:extLst>
                        <a:ext uri="{9D8B030D-6E8A-4147-A177-3AD203B41FA5}">
                          <a16:colId xmlns:a16="http://schemas.microsoft.com/office/drawing/2014/main" xmlns="" val="4159757565"/>
                        </a:ext>
                      </a:extLst>
                    </a:gridCol>
                  </a:tblGrid>
                  <a:tr h="40259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513107385"/>
                      </a:ext>
                    </a:extLst>
                  </a:tr>
                  <a:tr h="402590">
                    <a:tc>
                      <a:txBody>
                        <a:bodyPr/>
                        <a:lstStyle/>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5</m:t>
                              </m:r>
                            </m:oMath>
                          </a14:m>
                          <a:r>
                            <a:rPr lang="en-US" sz="1800">
                              <a:effectLst/>
                              <a:latin typeface="Verdana" panose="020B0604030504040204" pitchFamily="34" charset="0"/>
                              <a:ea typeface="Verdana" panose="020B0604030504040204" pitchFamily="34" charset="0"/>
                              <a:cs typeface="Verdana" panose="020B0604030504040204" pitchFamily="34" charset="0"/>
                            </a:rPr>
                            <a:t> cups of water</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2</m:t>
                              </m:r>
                            </m:oMath>
                          </a14:m>
                          <a:r>
                            <a:rPr lang="en-US" sz="1800">
                              <a:effectLst/>
                              <a:latin typeface="Verdana" panose="020B0604030504040204" pitchFamily="34" charset="0"/>
                              <a:ea typeface="Verdana" panose="020B0604030504040204" pitchFamily="34" charset="0"/>
                              <a:cs typeface="Verdana" panose="020B0604030504040204" pitchFamily="34" charset="0"/>
                            </a:rPr>
                            <a:t> cups of vinegar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15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cups of water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panose="02040503050406030204" pitchFamily="18" charset="0"/>
                                </a:rPr>
                                <m:t>8</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cups of vinegar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62906284"/>
                      </a:ext>
                    </a:extLst>
                  </a:tr>
                </a:tbl>
              </a:graphicData>
            </a:graphic>
          </p:graphicFrame>
        </mc:Choice>
        <mc:Fallback xmlns="">
          <p:graphicFrame>
            <p:nvGraphicFramePr>
              <p:cNvPr id="3" name="Table 2">
                <a:extLst>
                  <a:ext uri="{FF2B5EF4-FFF2-40B4-BE49-F238E27FC236}">
                    <a16:creationId xmlns:a16="http://schemas.microsoft.com/office/drawing/2014/main" id="{C56BDEA3-E32E-1247-B687-C191279EADD6}"/>
                  </a:ext>
                </a:extLst>
              </p:cNvPr>
              <p:cNvGraphicFramePr>
                <a:graphicFrameLocks noGrp="1"/>
              </p:cNvGraphicFramePr>
              <p:nvPr>
                <p:extLst>
                  <p:ext uri="{D42A27DB-BD31-4B8C-83A1-F6EECF244321}">
                    <p14:modId xmlns:p14="http://schemas.microsoft.com/office/powerpoint/2010/main" val="4107345105"/>
                  </p:ext>
                </p:extLst>
              </p:nvPr>
            </p:nvGraphicFramePr>
            <p:xfrm>
              <a:off x="1362075" y="1318586"/>
              <a:ext cx="6419850" cy="1078230"/>
            </p:xfrm>
            <a:graphic>
              <a:graphicData uri="http://schemas.openxmlformats.org/drawingml/2006/table">
                <a:tbl>
                  <a:tblPr bandRow="1">
                    <a:tableStyleId>{A91F0D33-8C57-4600-99A7-42BC86742BE1}</a:tableStyleId>
                  </a:tblPr>
                  <a:tblGrid>
                    <a:gridCol w="3209925">
                      <a:extLst>
                        <a:ext uri="{9D8B030D-6E8A-4147-A177-3AD203B41FA5}">
                          <a16:colId xmlns:a16="http://schemas.microsoft.com/office/drawing/2014/main" val="2519287767"/>
                        </a:ext>
                      </a:extLst>
                    </a:gridCol>
                    <a:gridCol w="3209925">
                      <a:extLst>
                        <a:ext uri="{9D8B030D-6E8A-4147-A177-3AD203B41FA5}">
                          <a16:colId xmlns:a16="http://schemas.microsoft.com/office/drawing/2014/main" val="4159757565"/>
                        </a:ext>
                      </a:extLst>
                    </a:gridCol>
                  </a:tblGrid>
                  <a:tr h="40259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Mixture B</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13107385"/>
                      </a:ext>
                    </a:extLst>
                  </a:tr>
                  <a:tr h="675640">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5" t="-59259" r="-100395" b="-20370"/>
                          </a:stretch>
                        </a:blipFill>
                      </a:tcPr>
                    </a:tc>
                    <a:tc>
                      <a:txBody>
                        <a:bodyPr/>
                        <a:lstStyle/>
                        <a:p>
                          <a:endParaRPr lang="en-CO"/>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95" t="-59259" r="-395" b="-20370"/>
                          </a:stretch>
                        </a:blipFill>
                      </a:tcPr>
                    </a:tc>
                    <a:extLst>
                      <a:ext uri="{0D108BD9-81ED-4DB2-BD59-A6C34878D82A}">
                        <a16:rowId xmlns:a16="http://schemas.microsoft.com/office/drawing/2014/main" val="2562906284"/>
                      </a:ext>
                    </a:extLst>
                  </a:tr>
                </a:tbl>
              </a:graphicData>
            </a:graphic>
          </p:graphicFrame>
        </mc:Fallback>
      </mc:AlternateContent>
      <p:sp>
        <p:nvSpPr>
          <p:cNvPr id="8" name="Rectangle 7">
            <a:extLst>
              <a:ext uri="{FF2B5EF4-FFF2-40B4-BE49-F238E27FC236}">
                <a16:creationId xmlns:a16="http://schemas.microsoft.com/office/drawing/2014/main" xmlns="" id="{DB335E25-A633-4F4A-84C3-3AB4432D47B1}"/>
              </a:ext>
            </a:extLst>
          </p:cNvPr>
          <p:cNvSpPr/>
          <p:nvPr/>
        </p:nvSpPr>
        <p:spPr>
          <a:xfrm>
            <a:off x="2044699" y="2969620"/>
            <a:ext cx="8978671" cy="1938992"/>
          </a:xfrm>
          <a:prstGeom prst="rect">
            <a:avLst/>
          </a:prstGeom>
        </p:spPr>
        <p:txBody>
          <a:bodyPr wrap="square">
            <a:spAutoFit/>
          </a:bodyPr>
          <a:lstStyle/>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why the mixtures will not result in the same cleaning solution.</a:t>
            </a: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which solution will have a stronger smell of vinegar.</a:t>
            </a:r>
          </a:p>
        </p:txBody>
      </p:sp>
      <p:sp>
        <p:nvSpPr>
          <p:cNvPr id="10"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197</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43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6324"/>
            <a:ext cx="223200" cy="6866100"/>
          </a:xfrm>
          <a:prstGeom prst="rect">
            <a:avLst/>
          </a:prstGeom>
          <a:solidFill>
            <a:srgbClr val="6CBF5F"/>
          </a:solidFill>
          <a:ln w="9525" cap="flat" cmpd="sng">
            <a:solidFill>
              <a:srgbClr val="6CBF5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61348" y="-1632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5.5.6 Wrap-Up: Growth Mindset</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672528" y="231137"/>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1461348" y="1140260"/>
            <a:ext cx="8985922" cy="3477875"/>
          </a:xfrm>
          <a:prstGeom prst="rect">
            <a:avLst/>
          </a:prstGeom>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Today I am still unsure about …</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To fill this gap, I intend to …</a:t>
            </a:r>
          </a:p>
        </p:txBody>
      </p:sp>
      <p:sp>
        <p:nvSpPr>
          <p:cNvPr id="8" name="Google Shape;282;g104476d1465_1_17"/>
          <p:cNvSpPr txBox="1"/>
          <p:nvPr/>
        </p:nvSpPr>
        <p:spPr>
          <a:xfrm>
            <a:off x="86990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197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925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1354</TotalTime>
  <Words>1032</Words>
  <Application>Microsoft Macintosh PowerPoint</Application>
  <PresentationFormat>Widescreen</PresentationFormat>
  <Paragraphs>210</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 Black</vt:lpstr>
      <vt:lpstr>Calibri</vt:lpstr>
      <vt:lpstr>Cambria</vt:lpstr>
      <vt:lpstr>Cambria Math</vt:lpstr>
      <vt:lpstr>Century Gothic</vt:lpstr>
      <vt:lpstr>Times New Roman</vt:lpstr>
      <vt:lpstr>Verdana</vt:lpstr>
      <vt:lpstr>Wingdings</vt:lpstr>
      <vt:lpstr>Arial</vt:lpstr>
      <vt:lpstr>1_Office Theme</vt:lpstr>
      <vt:lpstr>6th Grade Accelerated Math  Unit 5, Lesson 5  Connecting Ratios and Rates  Volume 1, pg. 193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jslater9816@gmail.com</cp:lastModifiedBy>
  <cp:revision>23</cp:revision>
  <dcterms:created xsi:type="dcterms:W3CDTF">2015-03-17T18:51:18Z</dcterms:created>
  <dcterms:modified xsi:type="dcterms:W3CDTF">2022-07-28T02:51:13Z</dcterms:modified>
</cp:coreProperties>
</file>