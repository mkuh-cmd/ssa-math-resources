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46" r:id="rId8"/>
    <p:sldId id="289" r:id="rId9"/>
    <p:sldId id="290" r:id="rId10"/>
    <p:sldId id="336" r:id="rId11"/>
    <p:sldId id="337" r:id="rId12"/>
    <p:sldId id="347" r:id="rId13"/>
    <p:sldId id="348" r:id="rId14"/>
    <p:sldId id="323" r:id="rId15"/>
    <p:sldId id="324" r:id="rId16"/>
    <p:sldId id="349" r:id="rId17"/>
    <p:sldId id="350" r:id="rId18"/>
    <p:sldId id="351" r:id="rId19"/>
    <p:sldId id="311" r:id="rId20"/>
    <p:sldId id="312" r:id="rId21"/>
    <p:sldId id="352" r:id="rId22"/>
    <p:sldId id="353" r:id="rId23"/>
    <p:sldId id="344" r:id="rId24"/>
    <p:sldId id="345" r:id="rId25"/>
    <p:sldId id="306" r:id="rId26"/>
    <p:sldId id="30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F5F"/>
    <a:srgbClr val="26B7D4"/>
    <a:srgbClr val="276C46"/>
    <a:srgbClr val="C9DF6F"/>
    <a:srgbClr val="417DBF"/>
    <a:srgbClr val="3F2A67"/>
    <a:srgbClr val="E24E5F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03"/>
    <p:restoredTop sz="94695"/>
  </p:normalViewPr>
  <p:slideViewPr>
    <p:cSldViewPr snapToGrid="0">
      <p:cViewPr varScale="1">
        <p:scale>
          <a:sx n="96" d="100"/>
          <a:sy n="96" d="100"/>
        </p:scale>
        <p:origin x="192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55" Type="http://customschemas.google.com/relationships/presentationmetadata" Target="meta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5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656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792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6914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9956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0092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7883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9443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94226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74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84191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5" Type="http://schemas.openxmlformats.org/officeDocument/2006/relationships/image" Target="../media/image240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Digging Deeper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Into Unit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203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31076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20" y="374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12401" y="1600200"/>
            <a:ext cx="876719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 rate for a ratio of quantities with different units. Calculate and interpret the corresponding unit rate.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MA.6.AR.3.5</a:t>
            </a:r>
          </a:p>
          <a:p>
            <a:pPr marL="4635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ratios, rates, and unit rates, including comparisons, mixtures, ratios of lengths and conversions within the same measurement system.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63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0013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80013" y="1596390"/>
            <a:ext cx="87307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7134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48123" y="653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61" y="354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48123" y="1547093"/>
            <a:ext cx="90535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determine a unit rate when given different ratios.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interpret unit rates in real-world contexts.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use unit rates to solve problems.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902" y="5354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5.7.1 Warm-Up: Ticket Booth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02" y="2569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1313903" y="1191148"/>
            <a:ext cx="902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a local fall festival, the following prices are shown at the ticket booth.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7025C81-4018-4249-A54A-3B9B7E8ABB3D}"/>
              </a:ext>
            </a:extLst>
          </p:cNvPr>
          <p:cNvSpPr/>
          <p:nvPr/>
        </p:nvSpPr>
        <p:spPr>
          <a:xfrm>
            <a:off x="1693703" y="2428276"/>
            <a:ext cx="41154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performing any calculations, explain which option you think would be the best.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14F2C20F-E4E9-C945-8426-40631A1B3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596577"/>
                  </p:ext>
                </p:extLst>
              </p:nvPr>
            </p:nvGraphicFramePr>
            <p:xfrm>
              <a:off x="6322502" y="2428276"/>
              <a:ext cx="3730475" cy="23704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0025">
                      <a:extLst>
                        <a:ext uri="{9D8B030D-6E8A-4147-A177-3AD203B41FA5}">
                          <a16:colId xmlns:a16="http://schemas.microsoft.com/office/drawing/2014/main" xmlns="" val="120997661"/>
                        </a:ext>
                      </a:extLst>
                    </a:gridCol>
                    <a:gridCol w="1150450">
                      <a:extLst>
                        <a:ext uri="{9D8B030D-6E8A-4147-A177-3AD203B41FA5}">
                          <a16:colId xmlns:a16="http://schemas.microsoft.com/office/drawing/2014/main" xmlns="" val="2844231856"/>
                        </a:ext>
                      </a:extLst>
                    </a:gridCol>
                  </a:tblGrid>
                  <a:tr h="395068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Ticket Prices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35852647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$0.50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258357785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$5.00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48561318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$10.00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88061145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$25.00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3911313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$50.00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17806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4F2C20F-E4E9-C945-8426-40631A1B3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596577"/>
                  </p:ext>
                </p:extLst>
              </p:nvPr>
            </p:nvGraphicFramePr>
            <p:xfrm>
              <a:off x="4798501" y="2428276"/>
              <a:ext cx="3730475" cy="23704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0025">
                      <a:extLst>
                        <a:ext uri="{9D8B030D-6E8A-4147-A177-3AD203B41FA5}">
                          <a16:colId xmlns:a16="http://schemas.microsoft.com/office/drawing/2014/main" val="120997661"/>
                        </a:ext>
                      </a:extLst>
                    </a:gridCol>
                    <a:gridCol w="1150450">
                      <a:extLst>
                        <a:ext uri="{9D8B030D-6E8A-4147-A177-3AD203B41FA5}">
                          <a16:colId xmlns:a16="http://schemas.microsoft.com/office/drawing/2014/main" val="2844231856"/>
                        </a:ext>
                      </a:extLst>
                    </a:gridCol>
                  </a:tblGrid>
                  <a:tr h="395068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Ticket Prices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5852647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3226" r="-45098" b="-42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176" t="-103226" r="-1099" b="-4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357785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96875" r="-45098" b="-3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176" t="-196875" r="-1099" b="-3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561318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6452" r="-45098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176" t="-306452" r="-1099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061145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06452" r="-45098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176" t="-406452" r="-1099" b="-1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11313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06452" r="-45098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176" t="-506452" r="-10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78066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1258958" y="366395"/>
            <a:ext cx="982931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a pair of ratios, </a:t>
            </a:r>
            <a:r>
              <a:rPr lang="en-US" sz="24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tickets:price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that appear to be equivalent. Write them in the space below.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it is not possible to determine a pair of equivalent ratios from the sign, select one ratio and write another one that is equivalent.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 ticket(s) : $______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 ticket(s) : $______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what factor can both values in the first ratio be multiplied to find the second ratio?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871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74146" y="3828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5.7.2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Interpreting Unit Rate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846" y="24555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2BE9AFC-D858-8947-AE27-3738478587E3}"/>
              </a:ext>
            </a:extLst>
          </p:cNvPr>
          <p:cNvSpPr/>
          <p:nvPr/>
        </p:nvSpPr>
        <p:spPr>
          <a:xfrm>
            <a:off x="1126435" y="1331161"/>
            <a:ext cx="941271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rate 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ratio comparing a number of units of a quantity to ___ unit of another quantity. 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Several rates are listed. Circle those that represent a unit rate.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218C8768-2245-9148-9811-AAE919BDF4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99822"/>
                  </p:ext>
                </p:extLst>
              </p:nvPr>
            </p:nvGraphicFramePr>
            <p:xfrm>
              <a:off x="2778050" y="4102062"/>
              <a:ext cx="6940550" cy="170706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xmlns="" val="2834906014"/>
                        </a:ext>
                      </a:extLst>
                    </a:gridCol>
                    <a:gridCol w="3470275">
                      <a:extLst>
                        <a:ext uri="{9D8B030D-6E8A-4147-A177-3AD203B41FA5}">
                          <a16:colId xmlns:a16="http://schemas.microsoft.com/office/drawing/2014/main" xmlns="" val="1881990017"/>
                        </a:ext>
                      </a:extLst>
                    </a:gridCol>
                  </a:tblGrid>
                  <a:tr h="569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earning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$42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hours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 per gallon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83411603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 per hour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minutes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15683474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each banana costs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$0.29</m:t>
                              </m:r>
                            </m:oMath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inches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foot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12454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18C8768-2245-9148-9811-AAE919BDF4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99822"/>
                  </p:ext>
                </p:extLst>
              </p:nvPr>
            </p:nvGraphicFramePr>
            <p:xfrm>
              <a:off x="1254050" y="4102061"/>
              <a:ext cx="6940550" cy="170706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2834906014"/>
                        </a:ext>
                      </a:extLst>
                    </a:gridCol>
                    <a:gridCol w="3470275">
                      <a:extLst>
                        <a:ext uri="{9D8B030D-6E8A-4147-A177-3AD203B41FA5}">
                          <a16:colId xmlns:a16="http://schemas.microsoft.com/office/drawing/2014/main" val="1881990017"/>
                        </a:ext>
                      </a:extLst>
                    </a:gridCol>
                  </a:tblGrid>
                  <a:tr h="569023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100000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b="-2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411603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97826" r="-100000" b="-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97826" b="-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5683474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02222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2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24543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74314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1046922" y="241676"/>
                <a:ext cx="9449628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Tia was hiking on the Florida National Scenic Trail. She hiked a total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hours. The tape diagram models the distance and time she hiked.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22" y="241676"/>
                <a:ext cx="9449628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710" t="-4217" r="-581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BEFF465-A5AC-4A43-8947-87EA64985643}"/>
              </a:ext>
            </a:extLst>
          </p:cNvPr>
          <p:cNvSpPr/>
          <p:nvPr/>
        </p:nvSpPr>
        <p:spPr>
          <a:xfrm>
            <a:off x="1895061" y="3212225"/>
            <a:ext cx="85157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Notice that each tape diagram is the same size because it represents quantities in the same situation.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Fill in each box of the tape diagram to show the value it represents.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E24FB357-376A-0544-AD10-040071E7BD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652023"/>
                  </p:ext>
                </p:extLst>
              </p:nvPr>
            </p:nvGraphicFramePr>
            <p:xfrm>
              <a:off x="2625725" y="1527663"/>
              <a:ext cx="6940550" cy="10568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82975">
                      <a:extLst>
                        <a:ext uri="{9D8B030D-6E8A-4147-A177-3AD203B41FA5}">
                          <a16:colId xmlns:a16="http://schemas.microsoft.com/office/drawing/2014/main" xmlns="" val="2536226388"/>
                        </a:ext>
                      </a:extLst>
                    </a:gridCol>
                    <a:gridCol w="1728470">
                      <a:extLst>
                        <a:ext uri="{9D8B030D-6E8A-4147-A177-3AD203B41FA5}">
                          <a16:colId xmlns:a16="http://schemas.microsoft.com/office/drawing/2014/main" xmlns="" val="2551055131"/>
                        </a:ext>
                      </a:extLst>
                    </a:gridCol>
                    <a:gridCol w="1729105">
                      <a:extLst>
                        <a:ext uri="{9D8B030D-6E8A-4147-A177-3AD203B41FA5}">
                          <a16:colId xmlns:a16="http://schemas.microsoft.com/office/drawing/2014/main" xmlns="" val="2034071266"/>
                        </a:ext>
                      </a:extLst>
                    </a:gridCol>
                  </a:tblGrid>
                  <a:tr h="423284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Tia hiked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4.5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miles.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14957409"/>
                      </a:ext>
                    </a:extLst>
                  </a:tr>
                  <a:tr h="164932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87283324"/>
                      </a:ext>
                    </a:extLst>
                  </a:tr>
                  <a:tr h="423284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Tia hiked for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hours.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4431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24FB357-376A-0544-AD10-040071E7BD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652023"/>
                  </p:ext>
                </p:extLst>
              </p:nvPr>
            </p:nvGraphicFramePr>
            <p:xfrm>
              <a:off x="1101725" y="1527663"/>
              <a:ext cx="6940550" cy="103586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82975">
                      <a:extLst>
                        <a:ext uri="{9D8B030D-6E8A-4147-A177-3AD203B41FA5}">
                          <a16:colId xmlns:a16="http://schemas.microsoft.com/office/drawing/2014/main" val="2536226388"/>
                        </a:ext>
                      </a:extLst>
                    </a:gridCol>
                    <a:gridCol w="1728470">
                      <a:extLst>
                        <a:ext uri="{9D8B030D-6E8A-4147-A177-3AD203B41FA5}">
                          <a16:colId xmlns:a16="http://schemas.microsoft.com/office/drawing/2014/main" val="2551055131"/>
                        </a:ext>
                      </a:extLst>
                    </a:gridCol>
                    <a:gridCol w="1729105">
                      <a:extLst>
                        <a:ext uri="{9D8B030D-6E8A-4147-A177-3AD203B41FA5}">
                          <a16:colId xmlns:a16="http://schemas.microsoft.com/office/drawing/2014/main" val="2034071266"/>
                        </a:ext>
                      </a:extLst>
                    </a:gridCol>
                  </a:tblGrid>
                  <a:tr h="423284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882" r="-100364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957409"/>
                      </a:ext>
                    </a:extLst>
                  </a:tr>
                  <a:tr h="189294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7283324"/>
                      </a:ext>
                    </a:extLst>
                  </a:tr>
                  <a:tr h="423284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47059" r="-100364" b="-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31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CECD6B6F-929B-8F47-BFEE-44ED1D0E863F}"/>
                  </a:ext>
                </a:extLst>
              </p:cNvPr>
              <p:cNvSpPr/>
              <p:nvPr/>
            </p:nvSpPr>
            <p:spPr>
              <a:xfrm>
                <a:off x="1232452" y="469911"/>
                <a:ext cx="9286958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Tia’s unit rate in miles per hour?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tape diagram that represents the time it would take Tia to hike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on the trail at this pace.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ECD6B6F-929B-8F47-BFEE-44ED1D0E8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452" y="469911"/>
                <a:ext cx="9286958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722" t="-122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CECD6B6F-929B-8F47-BFEE-44ED1D0E863F}"/>
                  </a:ext>
                </a:extLst>
              </p:cNvPr>
              <p:cNvSpPr/>
              <p:nvPr/>
            </p:nvSpPr>
            <p:spPr>
              <a:xfrm>
                <a:off x="1643270" y="469910"/>
                <a:ext cx="8876140" cy="17580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Carter bikes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f>
                      <m:fPr>
                        <m:ctrlPr>
                          <a:rPr lang="en-US" sz="2000" i="1" dirty="0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 around the city.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58838" indent="-4762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fill in each box of the tape diagram to show the value it represents. Be sure to include units.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ECD6B6F-929B-8F47-BFEE-44ED1D0E8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270" y="469910"/>
                <a:ext cx="8876140" cy="1758045"/>
              </a:xfrm>
              <a:prstGeom prst="rect">
                <a:avLst/>
              </a:prstGeom>
              <a:blipFill rotWithShape="0">
                <a:blip r:embed="rId3"/>
                <a:stretch>
                  <a:fillRect l="-75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9EFAF0C5-15C4-CA49-B50F-2939AA9B4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568438"/>
              </p:ext>
            </p:extLst>
          </p:nvPr>
        </p:nvGraphicFramePr>
        <p:xfrm>
          <a:off x="2625724" y="2354143"/>
          <a:ext cx="7075120" cy="129793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414608">
                  <a:extLst>
                    <a:ext uri="{9D8B030D-6E8A-4147-A177-3AD203B41FA5}">
                      <a16:colId xmlns:a16="http://schemas.microsoft.com/office/drawing/2014/main" xmlns="" val="2551055131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xmlns="" val="2034071266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xmlns="" val="3808625946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xmlns="" val="3746183667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xmlns="" val="1192462446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14957409"/>
                  </a:ext>
                </a:extLst>
              </a:tr>
              <a:tr h="4513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187283324"/>
                  </a:ext>
                </a:extLst>
              </a:tr>
              <a:tr h="423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431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00E3362-D4D9-BB4F-96B4-6BC07682D951}"/>
              </a:ext>
            </a:extLst>
          </p:cNvPr>
          <p:cNvSpPr/>
          <p:nvPr/>
        </p:nvSpPr>
        <p:spPr>
          <a:xfrm>
            <a:off x="1969770" y="4057171"/>
            <a:ext cx="85496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unit rate for Carter’s bike ride. Include units.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9509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ECD6B6F-929B-8F47-BFEE-44ED1D0E863F}"/>
              </a:ext>
            </a:extLst>
          </p:cNvPr>
          <p:cNvSpPr/>
          <p:nvPr/>
        </p:nvSpPr>
        <p:spPr>
          <a:xfrm>
            <a:off x="1616765" y="469910"/>
            <a:ext cx="89026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person is moving slower, Tia or Carter. Include the unit rates in your explanation.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796BAC8-FE52-1D4C-A3D2-468246859E02}"/>
              </a:ext>
            </a:extLst>
          </p:cNvPr>
          <p:cNvSpPr/>
          <p:nvPr/>
        </p:nvSpPr>
        <p:spPr>
          <a:xfrm>
            <a:off x="1311965" y="3107600"/>
            <a:ext cx="92074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each scenario, the unit rate in                           can be determined by                      the number of               traveled by the number of                traveled.  </a:t>
            </a:r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1FCD653A-37CB-134B-8E85-4D2CDFD782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8404" y="3676986"/>
            <a:ext cx="2153930" cy="70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F3F2CDB-4330-6D43-B5E6-995DD7E2C8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1395" y="4377728"/>
            <a:ext cx="1697795" cy="711366"/>
          </a:xfrm>
          <a:prstGeom prst="rect">
            <a:avLst/>
          </a:prstGeom>
        </p:spPr>
      </p:pic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09BDE7F1-C4FF-1749-BA0F-BE22EE7B6F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1974" y="4464716"/>
            <a:ext cx="1141052" cy="711367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39CEF825-2B58-F34A-ADD5-BD007683D3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0150" y="4464716"/>
            <a:ext cx="1141052" cy="711367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7974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42647" y="-1660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5.7.3 Guided Practice: Using Unit Rates to Solve Problems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839" y="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1442647" y="1288489"/>
            <a:ext cx="95243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rates would be helpful in considering the ticket booth from the Warm-Up. Miguel set up the table shown to consider the costs per ticket for each advertised price.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complete the table. Then, answer the questions that follow.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76E69B28-08A3-E743-BD48-D024CA03EF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1247247"/>
                  </p:ext>
                </p:extLst>
              </p:nvPr>
            </p:nvGraphicFramePr>
            <p:xfrm>
              <a:off x="2895600" y="3577095"/>
              <a:ext cx="6400800" cy="23774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33600">
                      <a:extLst>
                        <a:ext uri="{9D8B030D-6E8A-4147-A177-3AD203B41FA5}">
                          <a16:colId xmlns:a16="http://schemas.microsoft.com/office/drawing/2014/main" xmlns="" val="2205867757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xmlns="" val="2732852851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xmlns="" val="625734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Tickets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 per Ticket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965868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$0.50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$0.50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869679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$5.00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486813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$10.00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82620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$25.00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997391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$50.00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19155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E69B28-08A3-E743-BD48-D024CA03EF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1247247"/>
                  </p:ext>
                </p:extLst>
              </p:nvPr>
            </p:nvGraphicFramePr>
            <p:xfrm>
              <a:off x="1371600" y="3577095"/>
              <a:ext cx="6400800" cy="23774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33600">
                      <a:extLst>
                        <a:ext uri="{9D8B030D-6E8A-4147-A177-3AD203B41FA5}">
                          <a16:colId xmlns:a16="http://schemas.microsoft.com/office/drawing/2014/main" val="2205867757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2732852851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6257343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Tickets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 per Ticket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65868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5" t="-165517" r="-201190" b="-4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95" t="-165517" r="-101190" b="-4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595" t="-165517" r="-1190" b="-4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69679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5" t="-265517" r="-201190" b="-3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95" t="-265517" r="-101190" b="-3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86813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5" t="-365517" r="-20119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95" t="-365517" r="-10119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2620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5" t="-465517" r="-20119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95" t="-465517" r="-10119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97391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5" t="-565517" r="-20119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95" t="-565517" r="-10119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91559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1391478" y="303751"/>
            <a:ext cx="962668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the unit rates, explain which ticket option(s) is(are) the best deal.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the unit rates, explain which ticket options are the same deal.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your answer to the previous question to the equivalent ratios you determined in the Warm-Up. Make any revisions to your previous thinking, as necessary.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discuss recommendations for how the high school should change its prices for carnival tickets.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105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776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1298713" y="303751"/>
            <a:ext cx="98122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Holly, Frank, and Ella work part-time for Shoes-R-Us. The table shows how much money each person earns during a work week.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A5EA5FA2-56C0-1648-9E60-08A426457B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8934207"/>
                  </p:ext>
                </p:extLst>
              </p:nvPr>
            </p:nvGraphicFramePr>
            <p:xfrm>
              <a:off x="2895600" y="1578134"/>
              <a:ext cx="6400800" cy="16459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13255">
                      <a:extLst>
                        <a:ext uri="{9D8B030D-6E8A-4147-A177-3AD203B41FA5}">
                          <a16:colId xmlns:a16="http://schemas.microsoft.com/office/drawing/2014/main" xmlns="" val="2316305447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xmlns="" val="3071645710"/>
                        </a:ext>
                      </a:extLst>
                    </a:gridCol>
                    <a:gridCol w="2174240">
                      <a:extLst>
                        <a:ext uri="{9D8B030D-6E8A-4147-A177-3AD203B41FA5}">
                          <a16:colId xmlns:a16="http://schemas.microsoft.com/office/drawing/2014/main" xmlns="" val="228890985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Employee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Weekly Pay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Hours Worked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439837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Holly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$165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794873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Frank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$162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887713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Ella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$170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420179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5EA5FA2-56C0-1648-9E60-08A426457B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8934207"/>
                  </p:ext>
                </p:extLst>
              </p:nvPr>
            </p:nvGraphicFramePr>
            <p:xfrm>
              <a:off x="1371600" y="1578134"/>
              <a:ext cx="6400800" cy="16459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13255">
                      <a:extLst>
                        <a:ext uri="{9D8B030D-6E8A-4147-A177-3AD203B41FA5}">
                          <a16:colId xmlns:a16="http://schemas.microsoft.com/office/drawing/2014/main" val="2316305447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3071645710"/>
                        </a:ext>
                      </a:extLst>
                    </a:gridCol>
                    <a:gridCol w="2174240">
                      <a:extLst>
                        <a:ext uri="{9D8B030D-6E8A-4147-A177-3AD203B41FA5}">
                          <a16:colId xmlns:a16="http://schemas.microsoft.com/office/drawing/2014/main" val="2288909855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Employee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Weekly Pay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Hours Worked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39837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Holly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516" t="-168966" r="-95055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5322" t="-168966" r="-1170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4873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Frank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516" t="-268966" r="-95055" b="-1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5322" t="-268966" r="-1170" b="-1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87713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Ella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516" t="-368966" r="-95055" b="-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5322" t="-368966" r="-1170" b="-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0179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5AD4419-7AD6-A747-B733-671DCCEA040A}"/>
              </a:ext>
            </a:extLst>
          </p:cNvPr>
          <p:cNvSpPr/>
          <p:nvPr/>
        </p:nvSpPr>
        <p:spPr>
          <a:xfrm>
            <a:off x="1775791" y="3539320"/>
            <a:ext cx="93351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answer the following questions using the information in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and interpret the hourly rate Holly earns.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11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84678E3-B391-614C-B449-94320C557524}"/>
                  </a:ext>
                </a:extLst>
              </p:cNvPr>
              <p:cNvSpPr/>
              <p:nvPr/>
            </p:nvSpPr>
            <p:spPr>
              <a:xfrm>
                <a:off x="1232452" y="303750"/>
                <a:ext cx="9944734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employee earns the higher hourly rate, Ella or Frank?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Frank works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next week, how much should he expect to earn?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452" y="303750"/>
                <a:ext cx="9944734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674" t="-1228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6390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4.png">
            <a:extLst>
              <a:ext uri="{FF2B5EF4-FFF2-40B4-BE49-F238E27FC236}">
                <a16:creationId xmlns:a16="http://schemas.microsoft.com/office/drawing/2014/main" xmlns="" id="{AE4EF799-9382-984E-A2E3-D60FA0E0CBC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30950" y="2814305"/>
            <a:ext cx="1174516" cy="117451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3664" y="515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5.7.4 Collaboration: Using and Interpreting Unit 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940904" y="1521194"/>
                <a:ext cx="9859617" cy="41537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to interpret the unit rates for each situation.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paid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large candy bars.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25513" indent="-47625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interprets the unit rate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$3</m:t>
                        </m:r>
                      </m:num>
                      <m:den>
                        <m: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bar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25513" indent="-476250"/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His friend Ben interprets the unit rate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bar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$3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Which person interpreted the unit rate correctly?</a:t>
                </a:r>
              </a:p>
              <a:p>
                <a:pPr marL="925513" indent="-476250"/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25513" indent="-476250"/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</a:t>
                </a:r>
              </a:p>
              <a:p>
                <a:pPr marL="925513" indent="-47625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Based on the unit rate, how many candy bars can Tyler purchase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$45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04" y="1521194"/>
                <a:ext cx="9859617" cy="4153701"/>
              </a:xfrm>
              <a:prstGeom prst="rect">
                <a:avLst/>
              </a:prstGeom>
              <a:blipFill rotWithShape="0">
                <a:blip r:embed="rId3"/>
                <a:stretch>
                  <a:fillRect l="-803" t="-881" r="-1174" b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4.png">
            <a:extLst>
              <a:ext uri="{FF2B5EF4-FFF2-40B4-BE49-F238E27FC236}">
                <a16:creationId xmlns:a16="http://schemas.microsoft.com/office/drawing/2014/main" xmlns="" id="{A64D9E54-3A2A-E941-9066-8D3BA23AF420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0216" y="296233"/>
            <a:ext cx="780611" cy="780611"/>
          </a:xfrm>
          <a:prstGeom prst="rect">
            <a:avLst/>
          </a:prstGeom>
          <a:ln/>
        </p:spPr>
      </p:pic>
      <p:sp>
        <p:nvSpPr>
          <p:cNvPr id="10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1113184" y="356071"/>
                <a:ext cx="10306992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Aaliyah’s family drinks a total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milk every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weeks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apple juice every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weeks.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77900" indent="-47625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beverage does Aaliyah’s family drink more of in one week? </a:t>
                </a:r>
              </a:p>
              <a:p>
                <a:pPr marL="977900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7900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7900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7900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7900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7900" indent="-47625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weeks does it take the family to consume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 of milk?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84" y="356071"/>
                <a:ext cx="10306992" cy="4154984"/>
              </a:xfrm>
              <a:prstGeom prst="rect">
                <a:avLst/>
              </a:prstGeom>
              <a:blipFill rotWithShape="0">
                <a:blip r:embed="rId3"/>
                <a:stretch>
                  <a:fillRect l="-828" t="-1173" r="-296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9476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874644" y="356071"/>
                <a:ext cx="10784072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Carlos buys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bottles of spring water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$3.60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jars of pasta sauce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$9.69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25513" indent="-47625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does each item, a bottle of spring water and a jar of pasta sauce, cost per unit?</a:t>
                </a:r>
              </a:p>
              <a:p>
                <a:pPr marL="925513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5513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5513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5513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5513" indent="-47625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5513" indent="-47625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would be Carlos’ total cost if he purchased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bottles of spring water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jars of pasta sauce at their unit prices?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44" y="356071"/>
                <a:ext cx="10784072" cy="4154984"/>
              </a:xfrm>
              <a:prstGeom prst="rect">
                <a:avLst/>
              </a:prstGeom>
              <a:blipFill rotWithShape="0">
                <a:blip r:embed="rId3"/>
                <a:stretch>
                  <a:fillRect l="-734" t="-10117" r="-847" b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8063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59339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3.png" descr="Icon&#10;&#10;Description automatically generated">
            <a:extLst>
              <a:ext uri="{FF2B5EF4-FFF2-40B4-BE49-F238E27FC236}">
                <a16:creationId xmlns:a16="http://schemas.microsoft.com/office/drawing/2014/main" xmlns="" id="{12527496-84C5-5640-8307-EE80BFD874B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30951" y="281430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76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2021" y="5045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5.7.5 Bring It Together: Interpreting Unit Rates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05AB5A2-AF35-B14C-AE54-D2A0628C823C}"/>
              </a:ext>
            </a:extLst>
          </p:cNvPr>
          <p:cNvSpPr/>
          <p:nvPr/>
        </p:nvSpPr>
        <p:spPr>
          <a:xfrm>
            <a:off x="1410828" y="1521193"/>
            <a:ext cx="971170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write three statements to summarize your learning about unit rates from today’s lesson.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image13.png" descr="Icon&#10;&#10;Description automatically generated">
            <a:extLst>
              <a:ext uri="{FF2B5EF4-FFF2-40B4-BE49-F238E27FC236}">
                <a16:creationId xmlns:a16="http://schemas.microsoft.com/office/drawing/2014/main" xmlns="" id="{98CAC696-6934-9448-BCC5-67D6AD92EBE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8573" y="312810"/>
            <a:ext cx="752254" cy="752254"/>
          </a:xfrm>
          <a:prstGeom prst="rect">
            <a:avLst/>
          </a:prstGeom>
          <a:ln/>
        </p:spPr>
      </p:pic>
      <p:sp>
        <p:nvSpPr>
          <p:cNvPr id="10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715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38251" y="-10985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5.7.6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251" y="1793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50A85065-1747-6C4E-8BA4-9C1ED8A185A6}"/>
                  </a:ext>
                </a:extLst>
              </p:cNvPr>
              <p:cNvSpPr/>
              <p:nvPr/>
            </p:nvSpPr>
            <p:spPr>
              <a:xfrm>
                <a:off x="1205948" y="1393501"/>
                <a:ext cx="10090014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cheesecake recipe says, “Mix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ounces (oz) of cream cheese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sugar.”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How many ounces of cream cheese are needed per ounce of sugar?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ounces of sugar are used for each ounce of cream cheese?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Max plans to make more than one cheesecake. How much cream cheese will she need to mix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sugar?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948" y="1393501"/>
                <a:ext cx="10090014" cy="4093428"/>
              </a:xfrm>
              <a:prstGeom prst="rect">
                <a:avLst/>
              </a:prstGeom>
              <a:blipFill rotWithShape="0">
                <a:blip r:embed="rId4"/>
                <a:stretch>
                  <a:fillRect l="-665" t="-894" r="-483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29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2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989</Words>
  <Application>Microsoft Macintosh PowerPoint</Application>
  <PresentationFormat>Widescreen</PresentationFormat>
  <Paragraphs>250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 Black</vt:lpstr>
      <vt:lpstr>Calibri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6th Grade Accelerated Math  Unit 5, Lesson 7  Digging Deeper Into Unit  Volume 1, pg. 203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22</cp:revision>
  <dcterms:created xsi:type="dcterms:W3CDTF">2015-03-17T18:51:18Z</dcterms:created>
  <dcterms:modified xsi:type="dcterms:W3CDTF">2022-07-28T03:10:29Z</dcterms:modified>
</cp:coreProperties>
</file>