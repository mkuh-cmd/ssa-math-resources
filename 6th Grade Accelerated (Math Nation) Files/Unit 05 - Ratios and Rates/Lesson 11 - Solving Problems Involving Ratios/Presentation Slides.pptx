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33" r:id="rId10"/>
    <p:sldId id="345" r:id="rId11"/>
    <p:sldId id="344" r:id="rId12"/>
    <p:sldId id="343" r:id="rId13"/>
    <p:sldId id="289" r:id="rId14"/>
    <p:sldId id="290" r:id="rId15"/>
    <p:sldId id="336" r:id="rId16"/>
    <p:sldId id="323" r:id="rId17"/>
    <p:sldId id="324" r:id="rId18"/>
    <p:sldId id="346" r:id="rId19"/>
    <p:sldId id="347" r:id="rId20"/>
    <p:sldId id="348" r:id="rId21"/>
    <p:sldId id="349" r:id="rId22"/>
    <p:sldId id="350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BF5F"/>
    <a:srgbClr val="276C46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10"/>
    <p:restoredTop sz="94767"/>
  </p:normalViewPr>
  <p:slideViewPr>
    <p:cSldViewPr snapToGrid="0">
      <p:cViewPr varScale="1">
        <p:scale>
          <a:sx n="79" d="100"/>
          <a:sy n="79" d="100"/>
        </p:scale>
        <p:origin x="571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06637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9026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714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608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764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36342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9009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7982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2161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commons.wikimedia.org/wiki/File:Group_of_young_people_texting_on_mobile_phones._(10699648676).jpg" TargetMode="External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hyperlink" Target="http://commons.wikimedia.org/wiki/File:Group_of_young_people_texting_on_mobile_phones._(10699648676).jpg" TargetMode="Externa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11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Ratios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224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23152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652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981200" y="1600200"/>
            <a:ext cx="8229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MA.6.AR.3.5</a:t>
            </a:r>
          </a:p>
          <a:p>
            <a:pPr marL="463550"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ratios, rates, and unit rates, including comparisons, mixtures, ratios of lengths and conversions within the same measurement system.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sym typeface="Century Gothic"/>
            </a:endParaRPr>
          </a:p>
          <a:p>
            <a:pPr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759" y="3371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23409" y="9452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746913" y="1596390"/>
            <a:ext cx="84638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real-world contexts.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8233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07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78233" y="1547094"/>
            <a:ext cx="9617260" cy="188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can solve problems involving ratios, rates, and unit rates.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50859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5.11.1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559" y="25207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79F083F-A67E-0047-8E64-5125815AF3D8}"/>
                  </a:ext>
                </a:extLst>
              </p:cNvPr>
              <p:cNvSpPr/>
              <p:nvPr/>
            </p:nvSpPr>
            <p:spPr>
              <a:xfrm>
                <a:off x="1652365" y="1386025"/>
                <a:ext cx="9450996" cy="30469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Mai has to fill and seal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packages of homemade trail mix to sell at the upcoming farmer’s market. She filled and sealed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packages in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minutes.</a:t>
                </a:r>
              </a:p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Mai wonders, “If I keep working at this rate, will I be able to get all of these done in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hour?”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whether Mai will be able to get all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packages filled in less than 1 hour working at this rate.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79F083F-A67E-0047-8E64-5125815AF3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365" y="1386025"/>
                <a:ext cx="9450996" cy="3046988"/>
              </a:xfrm>
              <a:prstGeom prst="rect">
                <a:avLst/>
              </a:prstGeom>
              <a:blipFill rotWithShape="0">
                <a:blip r:embed="rId4"/>
                <a:stretch>
                  <a:fillRect l="-968" t="-18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3871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1272CEEC-7D2E-6641-AEED-FCA44983F96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663" y="2814306"/>
            <a:ext cx="1192803" cy="11928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8106" y="19549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5.11.2 Activity: Station 1: Is It a Deal?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5AB5A2-AF35-B14C-AE54-D2A0628C823C}"/>
              </a:ext>
            </a:extLst>
          </p:cNvPr>
          <p:cNvSpPr/>
          <p:nvPr/>
        </p:nvSpPr>
        <p:spPr>
          <a:xfrm>
            <a:off x="1438107" y="1521193"/>
            <a:ext cx="96571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teacher will give you a set of cards showing different offers.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 card A and work with your partner to decide whether the offer on card A is a good deal. Explain or show your reasoning in the space provided.</a:t>
            </a: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81821846-3AE4-3649-9F00-D69BB3BFA9D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792" y="443619"/>
            <a:ext cx="771553" cy="771553"/>
          </a:xfrm>
          <a:prstGeom prst="rect">
            <a:avLst/>
          </a:prstGeom>
          <a:ln/>
        </p:spPr>
      </p:pic>
      <p:sp>
        <p:nvSpPr>
          <p:cNvPr id="10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BC228-FF81-F24F-AEB8-9068AF825BE0}"/>
              </a:ext>
            </a:extLst>
          </p:cNvPr>
          <p:cNvSpPr/>
          <p:nvPr/>
        </p:nvSpPr>
        <p:spPr>
          <a:xfrm>
            <a:off x="1201003" y="316044"/>
            <a:ext cx="995444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1025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Next, split cards B–E so you and your partner each have two cards.</a:t>
            </a:r>
          </a:p>
          <a:p>
            <a:pPr marL="12382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7575" indent="-5000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Decide individually if your two cards are good deals. Explain your reasoning for your two cards in the table.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C69903-AA40-8E45-B77C-98A2553AF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108554"/>
              </p:ext>
            </p:extLst>
          </p:nvPr>
        </p:nvGraphicFramePr>
        <p:xfrm>
          <a:off x="2573868" y="2224870"/>
          <a:ext cx="7290217" cy="413959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44155">
                  <a:extLst>
                    <a:ext uri="{9D8B030D-6E8A-4147-A177-3AD203B41FA5}">
                      <a16:colId xmlns:a16="http://schemas.microsoft.com/office/drawing/2014/main" val="1642527901"/>
                    </a:ext>
                  </a:extLst>
                </a:gridCol>
                <a:gridCol w="1844155">
                  <a:extLst>
                    <a:ext uri="{9D8B030D-6E8A-4147-A177-3AD203B41FA5}">
                      <a16:colId xmlns:a16="http://schemas.microsoft.com/office/drawing/2014/main" val="2051027406"/>
                    </a:ext>
                  </a:extLst>
                </a:gridCol>
                <a:gridCol w="1844830">
                  <a:extLst>
                    <a:ext uri="{9D8B030D-6E8A-4147-A177-3AD203B41FA5}">
                      <a16:colId xmlns:a16="http://schemas.microsoft.com/office/drawing/2014/main" val="2005381241"/>
                    </a:ext>
                  </a:extLst>
                </a:gridCol>
                <a:gridCol w="1757077">
                  <a:extLst>
                    <a:ext uri="{9D8B030D-6E8A-4147-A177-3AD203B41FA5}">
                      <a16:colId xmlns:a16="http://schemas.microsoft.com/office/drawing/2014/main" val="2465214175"/>
                    </a:ext>
                  </a:extLst>
                </a:gridCol>
              </a:tblGrid>
              <a:tr h="251657">
                <a:tc gridSpan="4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the new deal a good deal?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527900"/>
                  </a:ext>
                </a:extLst>
              </a:tr>
              <a:tr h="25165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B</a:t>
                      </a:r>
                      <a:endParaRPr lang="x-none" sz="1100" b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C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D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Card E</a:t>
                      </a:r>
                      <a:endParaRPr lang="x-none" sz="11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793794"/>
                  </a:ext>
                </a:extLst>
              </a:tr>
              <a:tr h="35909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1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4626" marR="5462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308002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32FB2E-EC85-7547-997A-F8CC3AB0EE91}"/>
              </a:ext>
            </a:extLst>
          </p:cNvPr>
          <p:cNvSpPr/>
          <p:nvPr/>
        </p:nvSpPr>
        <p:spPr>
          <a:xfrm>
            <a:off x="1364776" y="357338"/>
            <a:ext cx="96453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831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each of your cards, explain to your partner if you think it is a good deal and why. </a:t>
            </a: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Listen to your partner’s explanations for their cards. If you disagree, explain your thinking. Write your partner’s explanation for their cards in the table above, after resolving any differences.</a:t>
            </a: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8312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Revise any decisions about your cards based on the feedback from your partner.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19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349866-9A2F-9642-8136-D99DA46E15A8}"/>
              </a:ext>
            </a:extLst>
          </p:cNvPr>
          <p:cNvSpPr/>
          <p:nvPr/>
        </p:nvSpPr>
        <p:spPr>
          <a:xfrm>
            <a:off x="1337481" y="230535"/>
            <a:ext cx="964276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and your partner are in agreement about cards B–E, place all the cards you think are a good deal in one stack, and all the cards you think are a bad deal in another stack.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Another potential deal is shown.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F4AD4E9-1D7E-0842-82BF-4558A74A3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095" y="3177366"/>
            <a:ext cx="3813810" cy="302323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1072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53ABC-DADE-924D-B06F-31B56BCC7722}"/>
                  </a:ext>
                </a:extLst>
              </p:cNvPr>
              <p:cNvSpPr/>
              <p:nvPr/>
            </p:nvSpPr>
            <p:spPr>
              <a:xfrm>
                <a:off x="1091822" y="323641"/>
                <a:ext cx="10121922" cy="48936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price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packs of fruit snacks at the same unit price as the original?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Any price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$____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packs of fruit snacks would be considered a good deal because the cost per pack would be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$____</m:t>
                    </m:r>
                    <m:r>
                      <a:rPr lang="es-E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__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8853ABC-DADE-924D-B06F-31B56BCC7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822" y="323641"/>
                <a:ext cx="10121922" cy="4893647"/>
              </a:xfrm>
              <a:prstGeom prst="rect">
                <a:avLst/>
              </a:prstGeom>
              <a:blipFill rotWithShape="0">
                <a:blip r:embed="rId3"/>
                <a:stretch>
                  <a:fillRect l="-903" t="-1121" r="-1144" b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5802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id="{27E3ADF6-E2E0-184C-850A-44E1E280F2D3}"/>
              </a:ext>
            </a:extLst>
          </p:cNvPr>
          <p:cNvSpPr txBox="1">
            <a:spLocks/>
          </p:cNvSpPr>
          <p:nvPr/>
        </p:nvSpPr>
        <p:spPr>
          <a:xfrm>
            <a:off x="53871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1.png">
            <a:extLst>
              <a:ext uri="{FF2B5EF4-FFF2-40B4-BE49-F238E27FC236}">
                <a16:creationId xmlns:a16="http://schemas.microsoft.com/office/drawing/2014/main" id="{17B1370C-D4E0-6948-995D-AF1B036AB93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663" y="2814306"/>
            <a:ext cx="1192803" cy="11928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2BE9AFC-D858-8947-AE27-3738478587E3}"/>
                  </a:ext>
                </a:extLst>
              </p:cNvPr>
              <p:cNvSpPr/>
              <p:nvPr/>
            </p:nvSpPr>
            <p:spPr>
              <a:xfrm>
                <a:off x="1078173" y="1331161"/>
                <a:ext cx="10340304" cy="35685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Diego is trying to follow a recipe, but he cannot find any measuring cups. He only has a tablespoon.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 the cookbook, it says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equals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tablespoons.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How could Diego use the tablespoon to measure out these ingredients?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71550" indent="-47307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almonds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2BE9AFC-D858-8947-AE27-373847858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3" y="1331161"/>
                <a:ext cx="10340304" cy="3568541"/>
              </a:xfrm>
              <a:prstGeom prst="rect">
                <a:avLst/>
              </a:prstGeom>
              <a:blipFill rotWithShape="0">
                <a:blip r:embed="rId3"/>
                <a:stretch>
                  <a:fillRect l="-943" t="-1365" b="-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886ABA4E-78D5-F34B-AB91-7B93EB6D347B}"/>
              </a:ext>
            </a:extLst>
          </p:cNvPr>
          <p:cNvSpPr txBox="1">
            <a:spLocks/>
          </p:cNvSpPr>
          <p:nvPr/>
        </p:nvSpPr>
        <p:spPr>
          <a:xfrm>
            <a:off x="1438106" y="54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5.11.3 Activity: Station 2: Cooking with a Tablespoon</a:t>
            </a:r>
          </a:p>
        </p:txBody>
      </p:sp>
      <p:pic>
        <p:nvPicPr>
          <p:cNvPr id="11" name="image1.png">
            <a:extLst>
              <a:ext uri="{FF2B5EF4-FFF2-40B4-BE49-F238E27FC236}">
                <a16:creationId xmlns:a16="http://schemas.microsoft.com/office/drawing/2014/main" id="{CC83EDBD-FFE1-2E47-BBE6-19FA0E24EF6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792" y="253587"/>
            <a:ext cx="771553" cy="771553"/>
          </a:xfrm>
          <a:prstGeom prst="rect">
            <a:avLst/>
          </a:prstGeom>
          <a:ln/>
        </p:spPr>
      </p:pic>
      <p:sp>
        <p:nvSpPr>
          <p:cNvPr id="9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22E7CAFC-319F-CE4F-8B26-ED2749A56CDA}"/>
                  </a:ext>
                </a:extLst>
              </p:cNvPr>
              <p:cNvSpPr/>
              <p:nvPr/>
            </p:nvSpPr>
            <p:spPr>
              <a:xfrm>
                <a:off x="1255594" y="241675"/>
                <a:ext cx="9932272" cy="62216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7575" indent="-473075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oatmeal</a:t>
                </a:r>
              </a:p>
              <a:p>
                <a:pPr marL="917575" indent="-4730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7575" indent="-4730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7575" indent="-4730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7575" indent="-47307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7575" indent="-473075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cup of flour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Diego also adds the following ingredients. How many cups of each did he use?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878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tablespoons of sugar</a:t>
                </a: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8788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tablespoons of cocoa powder</a:t>
                </a:r>
              </a:p>
              <a:p>
                <a:pPr marL="458788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2E7CAFC-319F-CE4F-8B26-ED2749A56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594" y="241675"/>
                <a:ext cx="9932272" cy="6221640"/>
              </a:xfrm>
              <a:prstGeom prst="rect">
                <a:avLst/>
              </a:prstGeom>
              <a:blipFill rotWithShape="0">
                <a:blip r:embed="rId3"/>
                <a:stretch>
                  <a:fillRect l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13;g104476d1465_1_39">
            <a:extLst>
              <a:ext uri="{FF2B5EF4-FFF2-40B4-BE49-F238E27FC236}">
                <a16:creationId xmlns:a16="http://schemas.microsoft.com/office/drawing/2014/main" id="{31FD16D6-D048-B743-9998-BFB93E7A4267}"/>
              </a:ext>
            </a:extLst>
          </p:cNvPr>
          <p:cNvSpPr txBox="1">
            <a:spLocks/>
          </p:cNvSpPr>
          <p:nvPr/>
        </p:nvSpPr>
        <p:spPr>
          <a:xfrm>
            <a:off x="53871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.png">
            <a:extLst>
              <a:ext uri="{FF2B5EF4-FFF2-40B4-BE49-F238E27FC236}">
                <a16:creationId xmlns:a16="http://schemas.microsoft.com/office/drawing/2014/main" id="{C3415E05-588A-174D-9AA1-70592F46CB5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663" y="2814306"/>
            <a:ext cx="1192803" cy="1192803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6776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486362" y="1335984"/>
            <a:ext cx="95773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Jonah was with his friend Erin after school and he needed to text his mom. Erin watched Jonah text and commented on how slow he was. </a:t>
            </a:r>
          </a:p>
          <a:p>
            <a:pPr lvl="0"/>
            <a:endParaRPr lang="en-US" sz="1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49213"/>
            <a:r>
              <a:rPr lang="en-US" sz="18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They decided to have a text race to determine who was faster. The image below shows what each person texted in the race. </a:t>
            </a:r>
          </a:p>
        </p:txBody>
      </p:sp>
      <p:sp>
        <p:nvSpPr>
          <p:cNvPr id="9" name="Google Shape;324;g103996e1364_0_25">
            <a:extLst>
              <a:ext uri="{FF2B5EF4-FFF2-40B4-BE49-F238E27FC236}">
                <a16:creationId xmlns:a16="http://schemas.microsoft.com/office/drawing/2014/main" id="{28C3CFAE-FBF0-734A-BEFE-9BA511BF3BC0}"/>
              </a:ext>
            </a:extLst>
          </p:cNvPr>
          <p:cNvSpPr txBox="1">
            <a:spLocks/>
          </p:cNvSpPr>
          <p:nvPr/>
        </p:nvSpPr>
        <p:spPr>
          <a:xfrm>
            <a:off x="1526123" y="5241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5.11.4 Activity: Station 3: Turbo Texting</a:t>
            </a:r>
          </a:p>
        </p:txBody>
      </p:sp>
      <p:pic>
        <p:nvPicPr>
          <p:cNvPr id="10" name="image1.png">
            <a:extLst>
              <a:ext uri="{FF2B5EF4-FFF2-40B4-BE49-F238E27FC236}">
                <a16:creationId xmlns:a16="http://schemas.microsoft.com/office/drawing/2014/main" id="{8D9D00E6-431E-7343-932D-5C9A0B0FC2A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809" y="300541"/>
            <a:ext cx="771553" cy="771553"/>
          </a:xfrm>
          <a:prstGeom prst="rect">
            <a:avLst/>
          </a:prstGeom>
          <a:ln/>
        </p:spPr>
      </p:pic>
      <p:pic>
        <p:nvPicPr>
          <p:cNvPr id="12" name="Picture 11" descr="File:Group of young people texting on mobile phones ...">
            <a:extLst>
              <a:ext uri="{FF2B5EF4-FFF2-40B4-BE49-F238E27FC236}">
                <a16:creationId xmlns:a16="http://schemas.microsoft.com/office/drawing/2014/main" id="{91A25444-C02F-1E48-9905-74812D6F6FF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50143"/>
          <a:stretch/>
        </p:blipFill>
        <p:spPr bwMode="auto">
          <a:xfrm>
            <a:off x="5028571" y="3653587"/>
            <a:ext cx="1966445" cy="28040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B7E4E5A0-78A8-AA49-9F24-6EAE1CB4800E}"/>
              </a:ext>
            </a:extLst>
          </p:cNvPr>
          <p:cNvSpPr/>
          <p:nvPr/>
        </p:nvSpPr>
        <p:spPr>
          <a:xfrm>
            <a:off x="2468875" y="3204415"/>
            <a:ext cx="2753360" cy="787773"/>
          </a:xfrm>
          <a:prstGeom prst="wedgeRoundRectCallout">
            <a:avLst>
              <a:gd name="adj1" fmla="val 46640"/>
              <a:gd name="adj2" fmla="val 85199"/>
              <a:gd name="adj3" fmla="val 16667"/>
            </a:avLst>
          </a:prstGeom>
          <a:solidFill>
            <a:srgbClr val="28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am the fastest texter!!! You are so slow! You will never beat me!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9D7FF166-17CC-C54D-BD1B-2B815C67FC35}"/>
              </a:ext>
            </a:extLst>
          </p:cNvPr>
          <p:cNvSpPr/>
          <p:nvPr/>
        </p:nvSpPr>
        <p:spPr>
          <a:xfrm>
            <a:off x="6671315" y="4281387"/>
            <a:ext cx="3060700" cy="863600"/>
          </a:xfrm>
          <a:prstGeom prst="wedgeRoundRectCallout">
            <a:avLst>
              <a:gd name="adj1" fmla="val -48686"/>
              <a:gd name="adj2" fmla="val 83050"/>
              <a:gd name="adj3" fmla="val 16667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 so? You’re about to lose this! It’s on!!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241946" y="980384"/>
            <a:ext cx="100661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any initial observations with your partner.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227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17811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446663" y="438517"/>
            <a:ext cx="965673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Erin was able to send her text slightly faster than Jonah. Explain if you think this means she is the faster texter.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Describe the relationship you notice between the number of characters in a text versus how long it might take to type it.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additional information would be helpful to determine who is the faster texter?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856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351128" y="438517"/>
            <a:ext cx="9847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image below gives additional information about each person’s text.</a:t>
            </a:r>
          </a:p>
        </p:txBody>
      </p:sp>
      <p:pic>
        <p:nvPicPr>
          <p:cNvPr id="6" name="Picture 5" descr="File:Group of young people texting on mobile phones ...">
            <a:extLst>
              <a:ext uri="{FF2B5EF4-FFF2-40B4-BE49-F238E27FC236}">
                <a16:creationId xmlns:a16="http://schemas.microsoft.com/office/drawing/2014/main" id="{132F871B-DF46-1C49-BB9C-F2D502254F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50143"/>
          <a:stretch/>
        </p:blipFill>
        <p:spPr bwMode="auto">
          <a:xfrm>
            <a:off x="4779000" y="2146519"/>
            <a:ext cx="2634000" cy="37560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057F83C5-02D7-784C-B4C2-C072D04A4D5D}"/>
              </a:ext>
            </a:extLst>
          </p:cNvPr>
          <p:cNvSpPr/>
          <p:nvPr/>
        </p:nvSpPr>
        <p:spPr>
          <a:xfrm>
            <a:off x="2371705" y="1423835"/>
            <a:ext cx="2634001" cy="1055201"/>
          </a:xfrm>
          <a:prstGeom prst="wedgeRoundRectCallout">
            <a:avLst>
              <a:gd name="adj1" fmla="val 46640"/>
              <a:gd name="adj2" fmla="val 85199"/>
              <a:gd name="adj3" fmla="val 16667"/>
            </a:avLst>
          </a:prstGeom>
          <a:solidFill>
            <a:srgbClr val="28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am the fastest texter!!! You are so slow! You will never beat me!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3353F475-3524-FA45-A072-084E634336CA}"/>
              </a:ext>
            </a:extLst>
          </p:cNvPr>
          <p:cNvSpPr/>
          <p:nvPr/>
        </p:nvSpPr>
        <p:spPr>
          <a:xfrm>
            <a:off x="6807200" y="4024521"/>
            <a:ext cx="2867602" cy="830997"/>
          </a:xfrm>
          <a:prstGeom prst="wedgeRoundRectCallout">
            <a:avLst>
              <a:gd name="adj1" fmla="val -48686"/>
              <a:gd name="adj2" fmla="val 83050"/>
              <a:gd name="adj3" fmla="val 16667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 so? You’re about to lose this! It’s on!! </a:t>
            </a:r>
            <a:endParaRPr lang="x-none" sz="105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15">
            <a:extLst>
              <a:ext uri="{FF2B5EF4-FFF2-40B4-BE49-F238E27FC236}">
                <a16:creationId xmlns:a16="http://schemas.microsoft.com/office/drawing/2014/main" id="{5447E8BB-3F29-8340-B9D6-960F2276EC8E}"/>
              </a:ext>
            </a:extLst>
          </p:cNvPr>
          <p:cNvSpPr txBox="1"/>
          <p:nvPr/>
        </p:nvSpPr>
        <p:spPr>
          <a:xfrm>
            <a:off x="5121277" y="1673746"/>
            <a:ext cx="2065020" cy="63690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67 characters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7.4 seconds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19">
            <a:extLst>
              <a:ext uri="{FF2B5EF4-FFF2-40B4-BE49-F238E27FC236}">
                <a16:creationId xmlns:a16="http://schemas.microsoft.com/office/drawing/2014/main" id="{14C67FD6-3ACE-1942-8758-25CE075D9E87}"/>
              </a:ext>
            </a:extLst>
          </p:cNvPr>
          <p:cNvSpPr txBox="1"/>
          <p:nvPr/>
        </p:nvSpPr>
        <p:spPr>
          <a:xfrm>
            <a:off x="7599240" y="4998951"/>
            <a:ext cx="2065020" cy="63690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46 characters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6.5 seconds</a:t>
            </a:r>
            <a:endParaRPr lang="x-none" sz="12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0042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296537" y="438517"/>
            <a:ext cx="995698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 with your partner or small group to determine who is the faster texter, using your preferred strategy. Show your work.</a:t>
            </a: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Jonah and Erin decided to send one last text to see who could send it out faster. The image shows the text they each sent.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US" sz="2400" b="1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154 characters</a:t>
            </a:r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1B628FE0-14A0-C743-A959-08B6F3449798}"/>
              </a:ext>
            </a:extLst>
          </p:cNvPr>
          <p:cNvSpPr/>
          <p:nvPr/>
        </p:nvSpPr>
        <p:spPr>
          <a:xfrm>
            <a:off x="2713567" y="3655709"/>
            <a:ext cx="3411220" cy="1900555"/>
          </a:xfrm>
          <a:prstGeom prst="wedgeRoundRectCallout">
            <a:avLst>
              <a:gd name="adj1" fmla="val -48686"/>
              <a:gd name="adj2" fmla="val 83050"/>
              <a:gd name="adj3" fmla="val 16667"/>
            </a:avLst>
          </a:prstGeom>
          <a:solidFill>
            <a:srgbClr val="289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So let’s settle this once and for all. I am a way faster texter and there is nothing you can do about it. I am the GOAT and you’ll never catch me! I won!!</a:t>
            </a:r>
            <a:endParaRPr lang="x-none" sz="900" i="1" dirty="0">
              <a:latin typeface="Cambria Math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D75A3D71-5014-AE4B-AFB5-961F4C8C946E}"/>
              </a:ext>
            </a:extLst>
          </p:cNvPr>
          <p:cNvSpPr/>
          <p:nvPr/>
        </p:nvSpPr>
        <p:spPr>
          <a:xfrm>
            <a:off x="6288617" y="3655708"/>
            <a:ext cx="3359150" cy="1899920"/>
          </a:xfrm>
          <a:prstGeom prst="wedgeRoundRectCallout">
            <a:avLst>
              <a:gd name="adj1" fmla="val 48326"/>
              <a:gd name="adj2" fmla="val 77835"/>
              <a:gd name="adj3" fmla="val 16667"/>
            </a:avLst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mbria" panose="02040503050406030204" pitchFamily="18" charset="0"/>
                <a:cs typeface="Times New Roman" panose="02020603050405020304" pitchFamily="18" charset="0"/>
              </a:rPr>
              <a:t>So let’s settle this once and for all. I am a way faster texter and there is nothing you can do about it. I am the GOAT and you’ll never catch me! I won!!</a:t>
            </a:r>
            <a:endParaRPr lang="x-none" sz="900" i="1" dirty="0">
              <a:latin typeface="Cambria Math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7020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678E3-B391-614C-B449-94320C557524}"/>
              </a:ext>
            </a:extLst>
          </p:cNvPr>
          <p:cNvSpPr/>
          <p:nvPr/>
        </p:nvSpPr>
        <p:spPr>
          <a:xfrm>
            <a:off x="1201003" y="438516"/>
            <a:ext cx="101480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both people sent the message above at the same rate as before, predict about how many seconds it took each person to text the message to the nearest tenth of a second. Show your work.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3BF626-155B-9D4C-A452-8DE3CA0493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08067"/>
              </p:ext>
            </p:extLst>
          </p:nvPr>
        </p:nvGraphicFramePr>
        <p:xfrm>
          <a:off x="3810000" y="2485760"/>
          <a:ext cx="4572000" cy="13716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3817382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73691642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Person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Predicted Time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60557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Jonah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4318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Erin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587657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7775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6CBF5F"/>
          </a:solidFill>
          <a:ln w="9525" cap="flat" cmpd="sng">
            <a:solidFill>
              <a:srgbClr val="6CBF5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46406" y="-532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5.11.5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956" y="2404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63DFEE-4230-964C-8033-52B2E95C5FB1}"/>
              </a:ext>
            </a:extLst>
          </p:cNvPr>
          <p:cNvSpPr/>
          <p:nvPr/>
        </p:nvSpPr>
        <p:spPr>
          <a:xfrm>
            <a:off x="1486695" y="1290331"/>
            <a:ext cx="9708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learning period based on today’s lesson.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A8B4F769-8500-E04F-B761-449A48CB1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085735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question I would like to have answered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7ADEE2C5-903B-EF45-AFF3-36E49182C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613" y="3437457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mistake I learned from today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6814EE01-5551-C14D-8E12-3366AF089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273" y="3437457"/>
            <a:ext cx="251460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thing I am not sure about … YET!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65BA8C2E-F167-544D-B9BA-FD03648EF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613" y="4769300"/>
            <a:ext cx="5019260" cy="133909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spcAft>
                <a:spcPts val="1000"/>
              </a:spcAft>
            </a:pPr>
            <a:r>
              <a:rPr lang="en-US" sz="12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thing I am confident I know is …</a:t>
            </a:r>
            <a:endParaRPr lang="x-none" sz="1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Google Shape;282;g104476d1465_1_17"/>
          <p:cNvSpPr txBox="1"/>
          <p:nvPr/>
        </p:nvSpPr>
        <p:spPr>
          <a:xfrm>
            <a:off x="86658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041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1330</TotalTime>
  <Words>1204</Words>
  <Application>Microsoft Office PowerPoint</Application>
  <PresentationFormat>Widescreen</PresentationFormat>
  <Paragraphs>183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 Black</vt:lpstr>
      <vt:lpstr>Calibri</vt:lpstr>
      <vt:lpstr>Cambria</vt:lpstr>
      <vt:lpstr>Cambria Math</vt:lpstr>
      <vt:lpstr>Century Gothic</vt:lpstr>
      <vt:lpstr>Cutive</vt:lpstr>
      <vt:lpstr>Verdana</vt:lpstr>
      <vt:lpstr>Wingdings</vt:lpstr>
      <vt:lpstr>1_Office Theme</vt:lpstr>
      <vt:lpstr>6th Grade Accelerated Math  Unit 5, Lesson 11  Solving Problems Involving Ratios  Volume 1, pg. 224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21</cp:revision>
  <dcterms:created xsi:type="dcterms:W3CDTF">2015-03-17T18:51:18Z</dcterms:created>
  <dcterms:modified xsi:type="dcterms:W3CDTF">2022-06-29T18:54:09Z</dcterms:modified>
</cp:coreProperties>
</file>