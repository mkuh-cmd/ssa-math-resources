
<file path=[Content_Types].xml><?xml version="1.0" encoding="utf-8"?>
<Types xmlns="http://schemas.openxmlformats.org/package/2006/content-types">
  <Default Extension="xml" ContentType="application/xml"/>
  <Default Extension="jpeg" ContentType="image/jpeg"/>
  <Default Extension="png" ContentType="image/png"/>
  <Default Extension="wdp" ContentType="image/vnd.ms-photo"/>
  <Default Extension="rels" ContentType="application/vnd.openxmlformats-package.relationships+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9"/>
  </p:notesMasterIdLst>
  <p:sldIdLst>
    <p:sldId id="256" r:id="rId2"/>
    <p:sldId id="257" r:id="rId3"/>
    <p:sldId id="285" r:id="rId4"/>
    <p:sldId id="286" r:id="rId5"/>
    <p:sldId id="261" r:id="rId6"/>
    <p:sldId id="287" r:id="rId7"/>
    <p:sldId id="350" r:id="rId8"/>
    <p:sldId id="289" r:id="rId9"/>
    <p:sldId id="290" r:id="rId10"/>
    <p:sldId id="336" r:id="rId11"/>
    <p:sldId id="337" r:id="rId12"/>
    <p:sldId id="351" r:id="rId13"/>
    <p:sldId id="352" r:id="rId14"/>
    <p:sldId id="353" r:id="rId15"/>
    <p:sldId id="302" r:id="rId16"/>
    <p:sldId id="303" r:id="rId17"/>
    <p:sldId id="340" r:id="rId18"/>
    <p:sldId id="346" r:id="rId19"/>
    <p:sldId id="347" r:id="rId20"/>
    <p:sldId id="348" r:id="rId21"/>
    <p:sldId id="349" r:id="rId22"/>
    <p:sldId id="311" r:id="rId23"/>
    <p:sldId id="312" r:id="rId24"/>
    <p:sldId id="333" r:id="rId25"/>
    <p:sldId id="345" r:id="rId26"/>
    <p:sldId id="306" r:id="rId27"/>
    <p:sldId id="307"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BF5F"/>
    <a:srgbClr val="52BDA6"/>
    <a:srgbClr val="E24E5F"/>
    <a:srgbClr val="276C46"/>
    <a:srgbClr val="C9DF6F"/>
    <a:srgbClr val="417DBF"/>
    <a:srgbClr val="3F2A67"/>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19"/>
    <p:restoredTop sz="94695"/>
  </p:normalViewPr>
  <p:slideViewPr>
    <p:cSldViewPr snapToGrid="0">
      <p:cViewPr varScale="1">
        <p:scale>
          <a:sx n="98" d="100"/>
          <a:sy n="98" d="100"/>
        </p:scale>
        <p:origin x="216" y="4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55" Type="http://customschemas.google.com/relationships/presentationmetadata" Target="metadata"/><Relationship Id="rId56" Type="http://schemas.openxmlformats.org/officeDocument/2006/relationships/presProps" Target="presProps.xml"/><Relationship Id="rId57" Type="http://schemas.openxmlformats.org/officeDocument/2006/relationships/viewProps" Target="viewProp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9" Type="http://schemas.openxmlformats.org/officeDocument/2006/relationships/slide" Target="slides/slide8.xml"/><Relationship Id="rId7" Type="http://schemas.openxmlformats.org/officeDocument/2006/relationships/slide" Target="slides/slide6.xml"/><Relationship Id="rId8" Type="http://schemas.openxmlformats.org/officeDocument/2006/relationships/slide" Target="slides/slide7.xml"/><Relationship Id="rId58" Type="http://schemas.openxmlformats.org/officeDocument/2006/relationships/theme" Target="theme/theme1.xml"/><Relationship Id="rId59"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2364615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3332417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1124871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4533909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9220274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42202826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37555675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9700017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41489918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8288336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5119672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8390262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4" Type="http://schemas.openxmlformats.org/officeDocument/2006/relationships/image" Target="../media/image14.tiff"/><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4" Type="http://schemas.openxmlformats.org/officeDocument/2006/relationships/image" Target="../media/image22.png"/><Relationship Id="rId5" Type="http://schemas.openxmlformats.org/officeDocument/2006/relationships/image" Target="../media/image24.png"/><Relationship Id="rId6" Type="http://schemas.microsoft.com/office/2007/relationships/hdphoto" Target="../media/hdphoto1.wdp"/><Relationship Id="rId7" Type="http://schemas.openxmlformats.org/officeDocument/2006/relationships/image" Target="../media/image25.png"/><Relationship Id="rId8"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320.png"/><Relationship Id="rId4" Type="http://schemas.openxmlformats.org/officeDocument/2006/relationships/image" Target="../media/image33.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5, Lesson 1</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What Are Ratios?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173</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8100"/>
            <a:ext cx="4094106"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1852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421238" y="97337"/>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597738" y="333112"/>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71247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173</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0702"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1421238" y="1600200"/>
                <a:ext cx="934952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MA.6.AR.3.1</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Given a real-world context, write and interpret ratios to show the relative sizes of two quantities using appropriate notation: </a:t>
                </a:r>
                <a14:m>
                  <m:oMath xmlns:m="http://schemas.openxmlformats.org/officeDocument/2006/math">
                    <m:f>
                      <m:fPr>
                        <m:ctrlPr>
                          <a:rPr lang="en-US" sz="2400" i="1" dirty="0">
                            <a:latin typeface="Cambria Math" charset="0"/>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𝑎</m:t>
                        </m:r>
                      </m:num>
                      <m:den>
                        <m:r>
                          <a:rPr lang="es-ES" sz="2400" i="1" dirty="0">
                            <a:latin typeface="Cambria Math" panose="02040503050406030204" pitchFamily="18" charset="0"/>
                            <a:ea typeface="Verdana" panose="020B0604030504040204" pitchFamily="34" charset="0"/>
                            <a:cs typeface="Verdana" panose="020B0604030504040204" pitchFamily="34" charset="0"/>
                          </a:rPr>
                          <m:t>𝑏</m:t>
                        </m:r>
                      </m:den>
                    </m:f>
                    <m:r>
                      <a:rPr lang="en-US" sz="2400" i="1" dirty="0">
                        <a:latin typeface="Cambria Math" panose="02040503050406030204" pitchFamily="18" charset="0"/>
                        <a:ea typeface="Verdana" panose="020B0604030504040204" pitchFamily="34" charset="0"/>
                        <a:cs typeface="Verdana" panose="020B0604030504040204" pitchFamily="34" charset="0"/>
                      </a:rPr>
                      <m:t> </m:t>
                    </m:r>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𝑎</m:t>
                    </m:r>
                  </m:oMath>
                </a14:m>
                <a:r>
                  <a:rPr lang="en-US" sz="2400" dirty="0">
                    <a:latin typeface="Verdana" panose="020B0604030504040204" pitchFamily="34" charset="0"/>
                    <a:ea typeface="Verdana" panose="020B0604030504040204" pitchFamily="34" charset="0"/>
                    <a:cs typeface="Verdana" panose="020B0604030504040204" pitchFamily="34" charset="0"/>
                  </a:rPr>
                  <a:t> to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𝑏</m:t>
                    </m:r>
                  </m:oMath>
                </a14:m>
                <a:r>
                  <a:rPr lang="en-US" sz="2400" dirty="0">
                    <a:latin typeface="Verdana" panose="020B0604030504040204" pitchFamily="34" charset="0"/>
                    <a:ea typeface="Verdana" panose="020B0604030504040204" pitchFamily="34" charset="0"/>
                    <a:cs typeface="Verdana" panose="020B0604030504040204" pitchFamily="34" charset="0"/>
                  </a:rPr>
                  <a:t>, or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𝑎</m:t>
                    </m:r>
                    <m:r>
                      <a:rPr lang="en-US" sz="2400" i="1" dirty="0">
                        <a:latin typeface="Cambria Math" panose="02040503050406030204" pitchFamily="18" charset="0"/>
                        <a:ea typeface="Verdana" panose="020B0604030504040204" pitchFamily="34" charset="0"/>
                        <a:cs typeface="Verdana" panose="020B0604030504040204" pitchFamily="34" charset="0"/>
                      </a:rPr>
                      <m:t>:</m:t>
                    </m:r>
                    <m:r>
                      <a:rPr lang="en-US" sz="2400" i="1" dirty="0">
                        <a:latin typeface="Cambria Math" panose="02040503050406030204" pitchFamily="18" charset="0"/>
                        <a:ea typeface="Verdana" panose="020B0604030504040204" pitchFamily="34" charset="0"/>
                        <a:cs typeface="Verdana" panose="020B0604030504040204" pitchFamily="34" charset="0"/>
                      </a:rPr>
                      <m:t>𝑏</m:t>
                    </m:r>
                  </m:oMath>
                </a14:m>
                <a:r>
                  <a:rPr lang="en-US" sz="2400" dirty="0">
                    <a:latin typeface="Verdana" panose="020B0604030504040204" pitchFamily="34" charset="0"/>
                    <a:ea typeface="Verdana" panose="020B0604030504040204" pitchFamily="34" charset="0"/>
                    <a:cs typeface="Verdana" panose="020B0604030504040204" pitchFamily="34" charset="0"/>
                  </a:rPr>
                  <a:t> where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𝑏</m:t>
                    </m:r>
                    <m:r>
                      <a:rPr lang="en-US" sz="2400" i="1" dirty="0">
                        <a:latin typeface="Cambria Math" panose="02040503050406030204" pitchFamily="18" charset="0"/>
                        <a:ea typeface="Verdana" panose="020B0604030504040204" pitchFamily="34" charset="0"/>
                        <a:cs typeface="Verdana" panose="020B0604030504040204" pitchFamily="34" charset="0"/>
                      </a:rPr>
                      <m:t>≠0</m:t>
                    </m:r>
                  </m:oMath>
                </a14:m>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dirty="0"/>
              </a:p>
            </p:txBody>
          </p:sp>
        </mc:Choice>
        <mc:Fallback xmlns="">
          <p:sp>
            <p:nvSpPr>
              <p:cNvPr id="8" name="Google Shape;280;g104476d1465_1_17">
                <a:extLst>
                  <a:ext uri="{FF2B5EF4-FFF2-40B4-BE49-F238E27FC236}">
                    <a16:creationId xmlns:a16="http://schemas.microsoft.com/office/drawing/2014/main" xmlns:a14="http://schemas.microsoft.com/office/drawing/2010/main" xmlns="" id="{527A9F9F-07B8-ED47-B967-E5507C67DBC5}"/>
                  </a:ext>
                </a:extLst>
              </p:cNvPr>
              <p:cNvSpPr txBox="1">
                <a:spLocks noRot="1" noChangeAspect="1" noMove="1" noResize="1" noEditPoints="1" noAdjustHandles="1" noChangeArrowheads="1" noChangeShapeType="1" noTextEdit="1"/>
              </p:cNvSpPr>
              <p:nvPr/>
            </p:nvSpPr>
            <p:spPr>
              <a:xfrm>
                <a:off x="1421238" y="1600200"/>
                <a:ext cx="9349524" cy="4205700"/>
              </a:xfrm>
              <a:prstGeom prst="rect">
                <a:avLst/>
              </a:prstGeom>
              <a:blipFill rotWithShape="0">
                <a:blip r:embed="rId5"/>
                <a:stretch>
                  <a:fillRect l="-978" r="-587"/>
                </a:stretch>
              </a:blipFill>
              <a:ln>
                <a:noFill/>
              </a:ln>
            </p:spPr>
            <p:txBody>
              <a:bodyPr/>
              <a:lstStyle/>
              <a:p>
                <a:r>
                  <a:rPr lang="en-US">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665113" y="346174"/>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489763" y="103541"/>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489763" y="1596390"/>
            <a:ext cx="872103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p>
        </p:txBody>
      </p:sp>
      <p:sp>
        <p:nvSpPr>
          <p:cNvPr id="9" name="Google Shape;278;g104476d1465_1_17">
            <a:extLst>
              <a:ext uri="{FF2B5EF4-FFF2-40B4-BE49-F238E27FC236}">
                <a16:creationId xmlns:a16="http://schemas.microsoft.com/office/drawing/2014/main" xmlns="" id="{28873495-A048-1340-ABA1-5F1B261BFB38}"/>
              </a:ext>
            </a:extLst>
          </p:cNvPr>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p:cNvSpPr txBox="1"/>
          <p:nvPr/>
        </p:nvSpPr>
        <p:spPr>
          <a:xfrm>
            <a:off x="871247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173</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070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352666" y="-26126"/>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3">
            <a:alphaModFix/>
          </a:blip>
          <a:stretch>
            <a:fillRect/>
          </a:stretch>
        </p:blipFill>
        <p:spPr>
          <a:xfrm>
            <a:off x="570504" y="263074"/>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1352666" y="1547093"/>
            <a:ext cx="904899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write and interpret ratios. </a:t>
            </a:r>
          </a:p>
          <a:p>
            <a:pPr marL="285750" indent="-285750">
              <a:buFont typeface="Wingdings" pitchFamily="2" charset="2"/>
              <a:buChar char="q"/>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draw a diagram that represents a ratio and explain what the diagram means.</a:t>
            </a:r>
          </a:p>
        </p:txBody>
      </p:sp>
      <p:sp>
        <p:nvSpPr>
          <p:cNvPr id="8" name="Google Shape;278;g104476d1465_1_17">
            <a:extLst>
              <a:ext uri="{FF2B5EF4-FFF2-40B4-BE49-F238E27FC236}">
                <a16:creationId xmlns:a16="http://schemas.microsoft.com/office/drawing/2014/main" xmlns="" id="{607E1FCF-ED93-8949-9361-71651F2E7F86}"/>
              </a:ext>
            </a:extLst>
          </p:cNvPr>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71247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173</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070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71247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0702" y="620072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453651" y="6032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5.1.1 Warm-Up: What Kind and How Many?</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3">
            <a:alphaModFix/>
          </a:blip>
          <a:stretch>
            <a:fillRect/>
          </a:stretch>
        </p:blipFill>
        <p:spPr>
          <a:xfrm>
            <a:off x="706351" y="349526"/>
            <a:ext cx="747300" cy="747300"/>
          </a:xfrm>
          <a:prstGeom prst="rect">
            <a:avLst/>
          </a:prstGeom>
          <a:noFill/>
          <a:ln>
            <a:noFill/>
          </a:ln>
          <a:effectLst>
            <a:outerShdw blurRad="50800" dist="38100" dir="2700000" algn="tl" rotWithShape="0">
              <a:prstClr val="black">
                <a:alpha val="40000"/>
              </a:prstClr>
            </a:outerShdw>
          </a:effectLst>
        </p:spPr>
      </p:pic>
      <p:sp>
        <p:nvSpPr>
          <p:cNvPr id="3" name="Rectangle 2">
            <a:extLst>
              <a:ext uri="{FF2B5EF4-FFF2-40B4-BE49-F238E27FC236}">
                <a16:creationId xmlns:a16="http://schemas.microsoft.com/office/drawing/2014/main" xmlns="" id="{079F083F-A67E-0047-8E64-5125815AF3D8}"/>
              </a:ext>
            </a:extLst>
          </p:cNvPr>
          <p:cNvSpPr/>
          <p:nvPr/>
        </p:nvSpPr>
        <p:spPr>
          <a:xfrm>
            <a:off x="1453651" y="1386026"/>
            <a:ext cx="9085499" cy="830997"/>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A set of figures with different colors, shapes, and sizes is shown.</a:t>
            </a:r>
          </a:p>
        </p:txBody>
      </p:sp>
      <p:pic>
        <p:nvPicPr>
          <p:cNvPr id="10" name="Picture">
            <a:extLst>
              <a:ext uri="{FF2B5EF4-FFF2-40B4-BE49-F238E27FC236}">
                <a16:creationId xmlns:a16="http://schemas.microsoft.com/office/drawing/2014/main" xmlns="" id="{1F7FD078-AEE3-8F47-9C62-74DC1C02DE9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bwMode="auto">
          <a:xfrm>
            <a:off x="4283141" y="2428857"/>
            <a:ext cx="3625718" cy="2874844"/>
          </a:xfrm>
          <a:prstGeom prst="rect">
            <a:avLst/>
          </a:prstGeom>
          <a:noFill/>
          <a:ln w="9525">
            <a:noFill/>
            <a:headEnd/>
            <a:tailEnd/>
          </a:ln>
        </p:spPr>
      </p:pic>
      <p:sp>
        <p:nvSpPr>
          <p:cNvPr id="11" name="Rectangle 10">
            <a:extLst>
              <a:ext uri="{FF2B5EF4-FFF2-40B4-BE49-F238E27FC236}">
                <a16:creationId xmlns:a16="http://schemas.microsoft.com/office/drawing/2014/main" xmlns="" id="{1BCA197F-6F4C-F246-8B7A-2AF1986430F2}"/>
              </a:ext>
            </a:extLst>
          </p:cNvPr>
          <p:cNvSpPr/>
          <p:nvPr/>
        </p:nvSpPr>
        <p:spPr>
          <a:xfrm>
            <a:off x="1453651" y="5609684"/>
            <a:ext cx="9085499" cy="461665"/>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The figures can be sorted using different categories. </a:t>
            </a:r>
          </a:p>
        </p:txBody>
      </p:sp>
      <p:sp>
        <p:nvSpPr>
          <p:cNvPr id="12" name="Google Shape;278;g104476d1465_1_17">
            <a:extLst>
              <a:ext uri="{FF2B5EF4-FFF2-40B4-BE49-F238E27FC236}">
                <a16:creationId xmlns:a16="http://schemas.microsoft.com/office/drawing/2014/main" xmlns="" id="{8293FB99-B97A-894F-8AA4-20D0244C0C3E}"/>
              </a:ext>
            </a:extLst>
          </p:cNvPr>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Google Shape;282;g104476d1465_1_17"/>
          <p:cNvSpPr txBox="1"/>
          <p:nvPr/>
        </p:nvSpPr>
        <p:spPr>
          <a:xfrm>
            <a:off x="871247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173</a:t>
            </a:r>
            <a:endParaRPr i="1" dirty="0">
              <a:latin typeface="Calibri"/>
              <a:ea typeface="Calibri"/>
              <a:cs typeface="Calibri"/>
              <a:sym typeface="Calibri"/>
            </a:endParaRPr>
          </a:p>
        </p:txBody>
      </p:sp>
      <p:pic>
        <p:nvPicPr>
          <p:cNvPr id="15"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5070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3" name="Rectangle 2">
            <a:extLst>
              <a:ext uri="{FF2B5EF4-FFF2-40B4-BE49-F238E27FC236}">
                <a16:creationId xmlns:a16="http://schemas.microsoft.com/office/drawing/2014/main" xmlns="" id="{079F083F-A67E-0047-8E64-5125815AF3D8}"/>
              </a:ext>
            </a:extLst>
          </p:cNvPr>
          <p:cNvSpPr/>
          <p:nvPr/>
        </p:nvSpPr>
        <p:spPr>
          <a:xfrm>
            <a:off x="1201783" y="371153"/>
            <a:ext cx="9337367" cy="1569660"/>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table by determining the number of groups for each method of sorting. For the last row, determine a third way the figures could be sorted and how many groups the sorting method would create.</a:t>
            </a:r>
          </a:p>
        </p:txBody>
      </p:sp>
      <p:graphicFrame>
        <p:nvGraphicFramePr>
          <p:cNvPr id="2" name="Table 1">
            <a:extLst>
              <a:ext uri="{FF2B5EF4-FFF2-40B4-BE49-F238E27FC236}">
                <a16:creationId xmlns:a16="http://schemas.microsoft.com/office/drawing/2014/main" xmlns="" id="{AF6B581C-60EF-5E48-AAD7-BB2344356FB3}"/>
              </a:ext>
            </a:extLst>
          </p:cNvPr>
          <p:cNvGraphicFramePr>
            <a:graphicFrameLocks noGrp="1"/>
          </p:cNvGraphicFramePr>
          <p:nvPr>
            <p:extLst>
              <p:ext uri="{D42A27DB-BD31-4B8C-83A1-F6EECF244321}">
                <p14:modId xmlns:p14="http://schemas.microsoft.com/office/powerpoint/2010/main" val="1723919593"/>
              </p:ext>
            </p:extLst>
          </p:nvPr>
        </p:nvGraphicFramePr>
        <p:xfrm>
          <a:off x="2188486" y="2909185"/>
          <a:ext cx="7363959" cy="2174875"/>
        </p:xfrm>
        <a:graphic>
          <a:graphicData uri="http://schemas.openxmlformats.org/drawingml/2006/table">
            <a:tbl>
              <a:tblPr firstRow="1" firstCol="1" bandRow="1">
                <a:tableStyleId>{A91F0D33-8C57-4600-99A7-42BC86742BE1}</a:tableStyleId>
              </a:tblPr>
              <a:tblGrid>
                <a:gridCol w="3781590">
                  <a:extLst>
                    <a:ext uri="{9D8B030D-6E8A-4147-A177-3AD203B41FA5}">
                      <a16:colId xmlns:a16="http://schemas.microsoft.com/office/drawing/2014/main" xmlns="" val="38520424"/>
                    </a:ext>
                  </a:extLst>
                </a:gridCol>
                <a:gridCol w="3582369">
                  <a:extLst>
                    <a:ext uri="{9D8B030D-6E8A-4147-A177-3AD203B41FA5}">
                      <a16:colId xmlns:a16="http://schemas.microsoft.com/office/drawing/2014/main" xmlns="" val="582568298"/>
                    </a:ext>
                  </a:extLst>
                </a:gridCol>
              </a:tblGrid>
              <a:tr h="36512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Sorting Method</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Number of Groups Created</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1610489671"/>
                  </a:ext>
                </a:extLst>
              </a:tr>
              <a:tr h="60325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Sorted by color</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170031714"/>
                  </a:ext>
                </a:extLst>
              </a:tr>
              <a:tr h="603250">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Sorted by area</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91788175"/>
                  </a:ext>
                </a:extLst>
              </a:tr>
              <a:tr h="60325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Sorted by _____________</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229382415"/>
                  </a:ext>
                </a:extLst>
              </a:tr>
            </a:tbl>
          </a:graphicData>
        </a:graphic>
      </p:graphicFrame>
      <p:sp>
        <p:nvSpPr>
          <p:cNvPr id="7" name="Google Shape;278;g104476d1465_1_17">
            <a:extLst>
              <a:ext uri="{FF2B5EF4-FFF2-40B4-BE49-F238E27FC236}">
                <a16:creationId xmlns:a16="http://schemas.microsoft.com/office/drawing/2014/main" xmlns="" id="{6E4BF4DB-F742-BA4E-931B-867D162E11EE}"/>
              </a:ext>
            </a:extLst>
          </p:cNvPr>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71247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173</a:t>
            </a:r>
            <a:endParaRPr i="1" dirty="0">
              <a:latin typeface="Calibri"/>
              <a:ea typeface="Calibri"/>
              <a:cs typeface="Calibri"/>
              <a:sym typeface="Calibri"/>
            </a:endParaRPr>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070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481754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309;g104476d1465_1_39">
            <a:extLst>
              <a:ext uri="{FF2B5EF4-FFF2-40B4-BE49-F238E27FC236}">
                <a16:creationId xmlns:a16="http://schemas.microsoft.com/office/drawing/2014/main" xmlns="" id="{CC921752-3266-A645-9465-7584E4A26F24}"/>
              </a:ext>
            </a:extLst>
          </p:cNvPr>
          <p:cNvSpPr/>
          <p:nvPr/>
        </p:nvSpPr>
        <p:spPr>
          <a:xfrm>
            <a:off x="0" y="0"/>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71247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174</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070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331130" y="-27923"/>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5.1.2 Guided Instruction: Writing and Interpreting Ratios</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3">
            <a:alphaModFix/>
          </a:blip>
          <a:srcRect/>
          <a:stretch/>
        </p:blipFill>
        <p:spPr>
          <a:xfrm>
            <a:off x="557704" y="264978"/>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xmlns="" id="{B2BE9AFC-D858-8947-AE27-3738478587E3}"/>
              </a:ext>
            </a:extLst>
          </p:cNvPr>
          <p:cNvSpPr/>
          <p:nvPr/>
        </p:nvSpPr>
        <p:spPr>
          <a:xfrm>
            <a:off x="1489166" y="1331162"/>
            <a:ext cx="9049984" cy="830997"/>
          </a:xfrm>
          <a:prstGeom prst="rect">
            <a:avLst/>
          </a:prstGeom>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figures from the Warm-Up can be described using ratio language. </a:t>
            </a:r>
            <a:endParaRPr lang="x-none" sz="2400" dirty="0">
              <a:latin typeface="Verdana" panose="020B0604030504040204" pitchFamily="34" charset="0"/>
              <a:ea typeface="Verdana" panose="020B0604030504040204" pitchFamily="34" charset="0"/>
              <a:cs typeface="Verdana" panose="020B0604030504040204" pitchFamily="34" charset="0"/>
            </a:endParaRPr>
          </a:p>
        </p:txBody>
      </p:sp>
      <p:grpSp>
        <p:nvGrpSpPr>
          <p:cNvPr id="8" name="Group 7">
            <a:extLst>
              <a:ext uri="{FF2B5EF4-FFF2-40B4-BE49-F238E27FC236}">
                <a16:creationId xmlns:a16="http://schemas.microsoft.com/office/drawing/2014/main" xmlns="" id="{4C9AC03D-1C16-8544-9A65-5925149391ED}"/>
              </a:ext>
            </a:extLst>
          </p:cNvPr>
          <p:cNvGrpSpPr/>
          <p:nvPr/>
        </p:nvGrpSpPr>
        <p:grpSpPr>
          <a:xfrm>
            <a:off x="2146200" y="2419359"/>
            <a:ext cx="8333128" cy="1019277"/>
            <a:chOff x="0" y="0"/>
            <a:chExt cx="6629400" cy="812800"/>
          </a:xfrm>
        </p:grpSpPr>
        <p:sp>
          <p:nvSpPr>
            <p:cNvPr id="11" name="Rectangle 10">
              <a:extLst>
                <a:ext uri="{FF2B5EF4-FFF2-40B4-BE49-F238E27FC236}">
                  <a16:creationId xmlns:a16="http://schemas.microsoft.com/office/drawing/2014/main" xmlns="" id="{63FB836D-7BF8-B941-8F1E-1C998C7EDD5F}"/>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2" name="Rounded Rectangle 11">
              <a:extLst>
                <a:ext uri="{FF2B5EF4-FFF2-40B4-BE49-F238E27FC236}">
                  <a16:creationId xmlns:a16="http://schemas.microsoft.com/office/drawing/2014/main" xmlns="" id="{72E42840-6241-FD4E-8DD8-280843EFD23D}"/>
                </a:ext>
              </a:extLst>
            </p:cNvPr>
            <p:cNvSpPr/>
            <p:nvPr/>
          </p:nvSpPr>
          <p:spPr>
            <a:xfrm>
              <a:off x="0" y="0"/>
              <a:ext cx="6629400" cy="677007"/>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endParaRPr lang="en-US" sz="18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endParaRPr>
            </a:p>
            <a:p>
              <a:r>
                <a:rPr lang="en-US" sz="18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A </a:t>
              </a:r>
              <a:r>
                <a:rPr lang="en-US" sz="1800" b="1" i="1"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ratio</a:t>
              </a:r>
              <a:r>
                <a:rPr lang="en-US" sz="1800" b="1"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a:t>
              </a:r>
              <a:r>
                <a:rPr lang="en-US" sz="18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is a comparison of two or more quantities.</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a:p>
              <a:pPr marL="685800">
                <a:spcAft>
                  <a:spcPts val="1000"/>
                </a:spcAft>
              </a:pPr>
              <a:r>
                <a:rPr lang="en-US" sz="1200" dirty="0">
                  <a:latin typeface="Cambria" panose="02040503050406030204" pitchFamily="18" charset="0"/>
                  <a:ea typeface="Times New Roman" panose="02020603050405020304" pitchFamily="18" charset="0"/>
                  <a:cs typeface="Times New Roman" panose="02020603050405020304" pitchFamily="18" charset="0"/>
                </a:rPr>
                <a:t> </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p:grpSp>
      <p:sp>
        <p:nvSpPr>
          <p:cNvPr id="13" name="Rectangle 12">
            <a:extLst>
              <a:ext uri="{FF2B5EF4-FFF2-40B4-BE49-F238E27FC236}">
                <a16:creationId xmlns:a16="http://schemas.microsoft.com/office/drawing/2014/main" xmlns="" id="{B69CF681-839C-1A48-A862-DFAFAD3E0A8A}"/>
              </a:ext>
            </a:extLst>
          </p:cNvPr>
          <p:cNvSpPr/>
          <p:nvPr/>
        </p:nvSpPr>
        <p:spPr>
          <a:xfrm>
            <a:off x="1489166" y="3726018"/>
            <a:ext cx="9049984" cy="1938992"/>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Complete the statements to describe the relationships between the figures from the Warm-Up.</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35083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There are ____ yellow figures for every ____       green figures.</a:t>
            </a:r>
          </a:p>
        </p:txBody>
      </p:sp>
      <p:sp>
        <p:nvSpPr>
          <p:cNvPr id="14" name="Google Shape;278;g104476d1465_1_17">
            <a:extLst>
              <a:ext uri="{FF2B5EF4-FFF2-40B4-BE49-F238E27FC236}">
                <a16:creationId xmlns:a16="http://schemas.microsoft.com/office/drawing/2014/main" xmlns="" id="{30767E3E-32F3-0943-9E08-BE6AEBBA4EDB}"/>
              </a:ext>
            </a:extLst>
          </p:cNvPr>
          <p:cNvSpPr/>
          <p:nvPr/>
        </p:nvSpPr>
        <p:spPr>
          <a:xfrm>
            <a:off x="0" y="-27923"/>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5" name="Google Shape;282;g104476d1465_1_17"/>
          <p:cNvSpPr txBox="1"/>
          <p:nvPr/>
        </p:nvSpPr>
        <p:spPr>
          <a:xfrm>
            <a:off x="871247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174</a:t>
            </a:r>
            <a:endParaRPr i="1" dirty="0">
              <a:latin typeface="Calibri"/>
              <a:ea typeface="Calibri"/>
              <a:cs typeface="Calibri"/>
              <a:sym typeface="Calibri"/>
            </a:endParaRPr>
          </a:p>
        </p:txBody>
      </p:sp>
      <p:pic>
        <p:nvPicPr>
          <p:cNvPr id="16"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070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22E7CAFC-319F-CE4F-8B26-ED2749A56CDA}"/>
                  </a:ext>
                </a:extLst>
              </p:cNvPr>
              <p:cNvSpPr/>
              <p:nvPr/>
            </p:nvSpPr>
            <p:spPr>
              <a:xfrm>
                <a:off x="1227909" y="241676"/>
                <a:ext cx="9987642" cy="3170099"/>
              </a:xfrm>
              <a:prstGeom prst="rect">
                <a:avLst/>
              </a:prstGeom>
            </p:spPr>
            <p:txBody>
              <a:bodyPr wrap="square">
                <a:spAutoFit/>
              </a:bodyPr>
              <a:lstStyle/>
              <a:p>
                <a:pPr marL="457200" indent="-4572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For every ____ figures with an area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square units, there are ____ figures with an area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square units. </a:t>
                </a:r>
              </a:p>
              <a:p>
                <a:pPr marL="457200"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The ratio of square-shaped figures to L-shaped figures is ____ to ____.</a:t>
                </a:r>
              </a:p>
              <a:p>
                <a:pPr marL="457200"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Ratios can be written in three ways. The ratio of blue figures to white figures is expressed in all three ways below.</a:t>
                </a:r>
              </a:p>
            </p:txBody>
          </p:sp>
        </mc:Choice>
        <mc:Fallback xmlns="">
          <p:sp>
            <p:nvSpPr>
              <p:cNvPr id="2" name="Rectangle 1">
                <a:extLst>
                  <a:ext uri="{FF2B5EF4-FFF2-40B4-BE49-F238E27FC236}">
                    <a16:creationId xmlns:a16="http://schemas.microsoft.com/office/drawing/2014/main" xmlns:a14="http://schemas.microsoft.com/office/drawing/2010/main" xmlns="" id="{22E7CAFC-319F-CE4F-8B26-ED2749A56CDA}"/>
                  </a:ext>
                </a:extLst>
              </p:cNvPr>
              <p:cNvSpPr>
                <a:spLocks noRot="1" noChangeAspect="1" noMove="1" noResize="1" noEditPoints="1" noAdjustHandles="1" noChangeArrowheads="1" noChangeShapeType="1" noTextEdit="1"/>
              </p:cNvSpPr>
              <p:nvPr/>
            </p:nvSpPr>
            <p:spPr>
              <a:xfrm>
                <a:off x="1227909" y="241676"/>
                <a:ext cx="9987642" cy="3170099"/>
              </a:xfrm>
              <a:prstGeom prst="rect">
                <a:avLst/>
              </a:prstGeom>
              <a:blipFill rotWithShape="0">
                <a:blip r:embed="rId3"/>
                <a:stretch>
                  <a:fillRect l="-671" t="-1346" b="-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5794D2ED-8D0F-024C-9096-1F80BD17DD7B}"/>
                  </a:ext>
                </a:extLst>
              </p:cNvPr>
              <p:cNvGraphicFramePr>
                <a:graphicFrameLocks noGrp="1"/>
              </p:cNvGraphicFramePr>
              <p:nvPr>
                <p:extLst>
                  <p:ext uri="{D42A27DB-BD31-4B8C-83A1-F6EECF244321}">
                    <p14:modId xmlns:p14="http://schemas.microsoft.com/office/powerpoint/2010/main" val="577328251"/>
                  </p:ext>
                </p:extLst>
              </p:nvPr>
            </p:nvGraphicFramePr>
            <p:xfrm>
              <a:off x="2701245" y="3951731"/>
              <a:ext cx="6789511" cy="2418902"/>
            </p:xfrm>
            <a:graphic>
              <a:graphicData uri="http://schemas.openxmlformats.org/drawingml/2006/table">
                <a:tbl>
                  <a:tblPr firstRow="1" firstCol="1" bandRow="1">
                    <a:tableStyleId>{A91F0D33-8C57-4600-99A7-42BC86742BE1}</a:tableStyleId>
                  </a:tblPr>
                  <a:tblGrid>
                    <a:gridCol w="3347148">
                      <a:extLst>
                        <a:ext uri="{9D8B030D-6E8A-4147-A177-3AD203B41FA5}">
                          <a16:colId xmlns:a16="http://schemas.microsoft.com/office/drawing/2014/main" xmlns="" val="668862975"/>
                        </a:ext>
                      </a:extLst>
                    </a:gridCol>
                    <a:gridCol w="3442363">
                      <a:extLst>
                        <a:ext uri="{9D8B030D-6E8A-4147-A177-3AD203B41FA5}">
                          <a16:colId xmlns:a16="http://schemas.microsoft.com/office/drawing/2014/main" xmlns="" val="738050272"/>
                        </a:ext>
                      </a:extLst>
                    </a:gridCol>
                  </a:tblGrid>
                  <a:tr h="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Method for Writing Ratios</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The Ratio of Blue Figures to White Figures</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3090723826"/>
                      </a:ext>
                    </a:extLst>
                  </a:tr>
                  <a:tr h="4572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Using a colon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5 :6</m:t>
                                </m:r>
                              </m:oMath>
                            </m:oMathPara>
                          </a14:m>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76124710"/>
                      </a:ext>
                    </a:extLst>
                  </a:tr>
                  <a:tr h="4572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Using the word “to”</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r>
                                <a:rPr lang="en-US" sz="2000">
                                  <a:effectLst/>
                                  <a:latin typeface="Cambria Math" panose="02040503050406030204" pitchFamily="18" charset="0"/>
                                </a:rPr>
                                <m:t>5</m:t>
                              </m:r>
                            </m:oMath>
                          </a14:m>
                          <a:r>
                            <a:rPr lang="en-US" sz="2000">
                              <a:effectLst/>
                              <a:latin typeface="Verdana" panose="020B0604030504040204" pitchFamily="34" charset="0"/>
                              <a:ea typeface="Verdana" panose="020B0604030504040204" pitchFamily="34" charset="0"/>
                              <a:cs typeface="Verdana" panose="020B0604030504040204" pitchFamily="34" charset="0"/>
                            </a:rPr>
                            <a:t> to </a:t>
                          </a:r>
                          <a14:m>
                            <m:oMath xmlns:m="http://schemas.openxmlformats.org/officeDocument/2006/math">
                              <m:r>
                                <a:rPr lang="en-US" sz="2000">
                                  <a:effectLst/>
                                  <a:latin typeface="Cambria Math" panose="02040503050406030204" pitchFamily="18" charset="0"/>
                                </a:rPr>
                                <m:t>6</m:t>
                              </m:r>
                            </m:oMath>
                          </a14:m>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622117251"/>
                      </a:ext>
                    </a:extLst>
                  </a:tr>
                  <a:tr h="590102">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Using a fraction bar</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f>
                                <m:fPr>
                                  <m:ctrlPr>
                                    <a:rPr lang="x-none" sz="2000" i="1">
                                      <a:effectLst/>
                                      <a:latin typeface="Cambria Math" charset="0"/>
                                    </a:rPr>
                                  </m:ctrlPr>
                                </m:fPr>
                                <m:num>
                                  <m:r>
                                    <a:rPr lang="en-US" sz="2000">
                                      <a:effectLst/>
                                      <a:latin typeface="Cambria Math" panose="02040503050406030204" pitchFamily="18" charset="0"/>
                                    </a:rPr>
                                    <m:t>5</m:t>
                                  </m:r>
                                </m:num>
                                <m:den>
                                  <m:r>
                                    <a:rPr lang="en-US" sz="2000">
                                      <a:effectLst/>
                                      <a:latin typeface="Cambria Math" panose="02040503050406030204" pitchFamily="18" charset="0"/>
                                    </a:rPr>
                                    <m:t>6</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184699447"/>
                      </a:ext>
                    </a:extLst>
                  </a:tr>
                </a:tbl>
              </a:graphicData>
            </a:graphic>
          </p:graphicFrame>
        </mc:Choice>
        <mc:Fallback xmlns="">
          <p:graphicFrame>
            <p:nvGraphicFramePr>
              <p:cNvPr id="3" name="Table 2">
                <a:extLst>
                  <a:ext uri="{FF2B5EF4-FFF2-40B4-BE49-F238E27FC236}">
                    <a16:creationId xmlns:a16="http://schemas.microsoft.com/office/drawing/2014/main" id="{5794D2ED-8D0F-024C-9096-1F80BD17DD7B}"/>
                  </a:ext>
                </a:extLst>
              </p:cNvPr>
              <p:cNvGraphicFramePr>
                <a:graphicFrameLocks noGrp="1"/>
              </p:cNvGraphicFramePr>
              <p:nvPr>
                <p:extLst>
                  <p:ext uri="{D42A27DB-BD31-4B8C-83A1-F6EECF244321}">
                    <p14:modId xmlns:p14="http://schemas.microsoft.com/office/powerpoint/2010/main" val="577328251"/>
                  </p:ext>
                </p:extLst>
              </p:nvPr>
            </p:nvGraphicFramePr>
            <p:xfrm>
              <a:off x="1177244" y="3951731"/>
              <a:ext cx="6789511" cy="2418902"/>
            </p:xfrm>
            <a:graphic>
              <a:graphicData uri="http://schemas.openxmlformats.org/drawingml/2006/table">
                <a:tbl>
                  <a:tblPr firstRow="1" firstCol="1" bandRow="1">
                    <a:tableStyleId>{A91F0D33-8C57-4600-99A7-42BC86742BE1}</a:tableStyleId>
                  </a:tblPr>
                  <a:tblGrid>
                    <a:gridCol w="3347148">
                      <a:extLst>
                        <a:ext uri="{9D8B030D-6E8A-4147-A177-3AD203B41FA5}">
                          <a16:colId xmlns:a16="http://schemas.microsoft.com/office/drawing/2014/main" val="668862975"/>
                        </a:ext>
                      </a:extLst>
                    </a:gridCol>
                    <a:gridCol w="3442363">
                      <a:extLst>
                        <a:ext uri="{9D8B030D-6E8A-4147-A177-3AD203B41FA5}">
                          <a16:colId xmlns:a16="http://schemas.microsoft.com/office/drawing/2014/main" val="738050272"/>
                        </a:ext>
                      </a:extLst>
                    </a:gridCol>
                  </a:tblGrid>
                  <a:tr h="9144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Method for Writing Ratios</a:t>
                          </a:r>
                          <a:endParaRPr lang="en-CO"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The Ratio of Blue Figures to White Figures</a:t>
                          </a:r>
                          <a:endParaRPr lang="en-CO"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090723826"/>
                      </a:ext>
                    </a:extLst>
                  </a:tr>
                  <a:tr h="4572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Using a colon (:)</a:t>
                          </a:r>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7059" t="-219444" r="-368" b="-236111"/>
                          </a:stretch>
                        </a:blipFill>
                      </a:tcPr>
                    </a:tc>
                    <a:extLst>
                      <a:ext uri="{0D108BD9-81ED-4DB2-BD59-A6C34878D82A}">
                        <a16:rowId xmlns:a16="http://schemas.microsoft.com/office/drawing/2014/main" val="2476124710"/>
                      </a:ext>
                    </a:extLst>
                  </a:tr>
                  <a:tr h="4572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Using the word “to”</a:t>
                          </a:r>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7059" t="-319444" r="-368" b="-136111"/>
                          </a:stretch>
                        </a:blipFill>
                      </a:tcPr>
                    </a:tc>
                    <a:extLst>
                      <a:ext uri="{0D108BD9-81ED-4DB2-BD59-A6C34878D82A}">
                        <a16:rowId xmlns:a16="http://schemas.microsoft.com/office/drawing/2014/main" val="622117251"/>
                      </a:ext>
                    </a:extLst>
                  </a:tr>
                  <a:tr h="590102">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Using a fraction bar</a:t>
                          </a:r>
                          <a:endParaRPr lang="en-CO"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7059" t="-321277" r="-368" b="-4255"/>
                          </a:stretch>
                        </a:blipFill>
                      </a:tcPr>
                    </a:tc>
                    <a:extLst>
                      <a:ext uri="{0D108BD9-81ED-4DB2-BD59-A6C34878D82A}">
                        <a16:rowId xmlns:a16="http://schemas.microsoft.com/office/drawing/2014/main" val="1184699447"/>
                      </a:ext>
                    </a:extLst>
                  </a:tr>
                </a:tbl>
              </a:graphicData>
            </a:graphic>
          </p:graphicFrame>
        </mc:Fallback>
      </mc:AlternateContent>
      <p:sp>
        <p:nvSpPr>
          <p:cNvPr id="7" name="Google Shape;278;g104476d1465_1_17">
            <a:extLst>
              <a:ext uri="{FF2B5EF4-FFF2-40B4-BE49-F238E27FC236}">
                <a16:creationId xmlns:a16="http://schemas.microsoft.com/office/drawing/2014/main" xmlns="" id="{201215F1-8CC2-144B-A9CF-2E9E22E4D252}"/>
              </a:ext>
            </a:extLst>
          </p:cNvPr>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71247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174</a:t>
            </a:r>
            <a:endParaRPr i="1" dirty="0">
              <a:latin typeface="Calibri"/>
              <a:ea typeface="Calibri"/>
              <a:cs typeface="Calibri"/>
              <a:sym typeface="Calibri"/>
            </a:endParaRPr>
          </a:p>
        </p:txBody>
      </p:sp>
      <p:pic>
        <p:nvPicPr>
          <p:cNvPr id="9"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5070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17750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xmlns="" id="{CECD6B6F-929B-8F47-BFEE-44ED1D0E863F}"/>
                  </a:ext>
                </a:extLst>
              </p:cNvPr>
              <p:cNvSpPr/>
              <p:nvPr/>
            </p:nvSpPr>
            <p:spPr>
              <a:xfrm>
                <a:off x="1280160" y="469911"/>
                <a:ext cx="9928860" cy="1015663"/>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Avril makes a tea called chai using a pre-made powdered mix. The box instructions say to mix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scoops of chai powder with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6</m:t>
                    </m:r>
                  </m:oMath>
                </a14:m>
                <a:r>
                  <a:rPr lang="en-US" sz="2000" dirty="0">
                    <a:latin typeface="Verdana" panose="020B0604030504040204" pitchFamily="34" charset="0"/>
                    <a:ea typeface="Verdana" panose="020B0604030504040204" pitchFamily="34" charset="0"/>
                    <a:cs typeface="Verdana" panose="020B0604030504040204" pitchFamily="34" charset="0"/>
                  </a:rPr>
                  <a:t> cups of hot water.</a:t>
                </a:r>
              </a:p>
            </p:txBody>
          </p:sp>
        </mc:Choice>
        <mc:Fallback xmlns="">
          <p:sp>
            <p:nvSpPr>
              <p:cNvPr id="8" name="Rectangle 7">
                <a:extLst>
                  <a:ext uri="{FF2B5EF4-FFF2-40B4-BE49-F238E27FC236}">
                    <a16:creationId xmlns:a16="http://schemas.microsoft.com/office/drawing/2014/main" xmlns:a14="http://schemas.microsoft.com/office/drawing/2010/main" xmlns="" id="{CECD6B6F-929B-8F47-BFEE-44ED1D0E863F}"/>
                  </a:ext>
                </a:extLst>
              </p:cNvPr>
              <p:cNvSpPr>
                <a:spLocks noRot="1" noChangeAspect="1" noMove="1" noResize="1" noEditPoints="1" noAdjustHandles="1" noChangeArrowheads="1" noChangeShapeType="1" noTextEdit="1"/>
              </p:cNvSpPr>
              <p:nvPr/>
            </p:nvSpPr>
            <p:spPr>
              <a:xfrm>
                <a:off x="1280160" y="469911"/>
                <a:ext cx="9928860" cy="1015663"/>
              </a:xfrm>
              <a:prstGeom prst="rect">
                <a:avLst/>
              </a:prstGeom>
              <a:blipFill rotWithShape="0">
                <a:blip r:embed="rId3"/>
                <a:stretch>
                  <a:fillRect l="-675" t="-4192" b="-9581"/>
                </a:stretch>
              </a:blipFill>
            </p:spPr>
            <p:txBody>
              <a:bodyPr/>
              <a:lstStyle/>
              <a:p>
                <a:r>
                  <a:rPr lang="en-US">
                    <a:noFill/>
                  </a:rPr>
                  <a:t> </a:t>
                </a:r>
              </a:p>
            </p:txBody>
          </p:sp>
        </mc:Fallback>
      </mc:AlternateContent>
      <p:pic>
        <p:nvPicPr>
          <p:cNvPr id="7" name="Picture" descr="&quot;A diagram which contains 2 scoop-shaped images and 6 cup-shaped images.&quot;">
            <a:extLst>
              <a:ext uri="{FF2B5EF4-FFF2-40B4-BE49-F238E27FC236}">
                <a16:creationId xmlns:a16="http://schemas.microsoft.com/office/drawing/2014/main" xmlns="" id="{EAEBBDEB-948A-7D40-9040-5D7B0A09985C}"/>
              </a:ext>
            </a:extLst>
          </p:cNvPr>
          <p:cNvPicPr/>
          <p:nvPr/>
        </p:nvPicPr>
        <p:blipFill>
          <a:blip r:embed="rId4" cstate="screen">
            <a:extLst>
              <a:ext uri="{28A0092B-C50C-407E-A947-70E740481C1C}">
                <a14:useLocalDpi xmlns:a14="http://schemas.microsoft.com/office/drawing/2010/main"/>
              </a:ext>
            </a:extLst>
          </a:blip>
          <a:stretch>
            <a:fillRect/>
          </a:stretch>
        </p:blipFill>
        <p:spPr bwMode="auto">
          <a:xfrm>
            <a:off x="3478848" y="2026238"/>
            <a:ext cx="5531485" cy="2797175"/>
          </a:xfrm>
          <a:prstGeom prst="rect">
            <a:avLst/>
          </a:prstGeom>
          <a:noFill/>
          <a:ln w="9525">
            <a:noFill/>
            <a:headEnd/>
            <a:tailEnd/>
          </a:ln>
        </p:spPr>
      </p:pic>
      <p:sp>
        <p:nvSpPr>
          <p:cNvPr id="9" name="Google Shape;278;g104476d1465_1_17">
            <a:extLst>
              <a:ext uri="{FF2B5EF4-FFF2-40B4-BE49-F238E27FC236}">
                <a16:creationId xmlns:a16="http://schemas.microsoft.com/office/drawing/2014/main" xmlns="" id="{F9098282-F237-3D40-8ADE-4215810C41ED}"/>
              </a:ext>
            </a:extLst>
          </p:cNvPr>
          <p:cNvSpPr/>
          <p:nvPr/>
        </p:nvSpPr>
        <p:spPr>
          <a:xfrm>
            <a:off x="0" y="-8225"/>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71247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174</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5070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06837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Rectangle 7">
            <a:extLst>
              <a:ext uri="{FF2B5EF4-FFF2-40B4-BE49-F238E27FC236}">
                <a16:creationId xmlns:a16="http://schemas.microsoft.com/office/drawing/2014/main" xmlns="" id="{CECD6B6F-929B-8F47-BFEE-44ED1D0E863F}"/>
              </a:ext>
            </a:extLst>
          </p:cNvPr>
          <p:cNvSpPr/>
          <p:nvPr/>
        </p:nvSpPr>
        <p:spPr>
          <a:xfrm>
            <a:off x="1969770" y="469911"/>
            <a:ext cx="8549640" cy="1323439"/>
          </a:xfrm>
          <a:prstGeom prst="rect">
            <a:avLst/>
          </a:prstGeom>
        </p:spPr>
        <p:txBody>
          <a:bodyPr wrap="square">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Complete each description of the collection by writing a number in each box.</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 ratio of chai mix scoops to cups of water is   </a:t>
            </a:r>
          </a:p>
        </p:txBody>
      </p:sp>
      <p:sp>
        <p:nvSpPr>
          <p:cNvPr id="14" name="Rectangle 13">
            <a:extLst>
              <a:ext uri="{FF2B5EF4-FFF2-40B4-BE49-F238E27FC236}">
                <a16:creationId xmlns:a16="http://schemas.microsoft.com/office/drawing/2014/main" xmlns="" id="{EDEE1A3F-CC2B-F44B-BF73-59CC331A045C}"/>
              </a:ext>
            </a:extLst>
          </p:cNvPr>
          <p:cNvSpPr>
            <a:spLocks/>
          </p:cNvSpPr>
          <p:nvPr/>
        </p:nvSpPr>
        <p:spPr>
          <a:xfrm>
            <a:off x="3228431" y="2008641"/>
            <a:ext cx="457200" cy="457200"/>
          </a:xfrm>
          <a:prstGeom prst="rect">
            <a:avLst/>
          </a:prstGeom>
          <a:noFill/>
          <a:ln>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 name="Rectangle 14">
            <a:extLst>
              <a:ext uri="{FF2B5EF4-FFF2-40B4-BE49-F238E27FC236}">
                <a16:creationId xmlns:a16="http://schemas.microsoft.com/office/drawing/2014/main" xmlns="" id="{F0241890-96D9-5F49-B6EF-B3A767812532}"/>
              </a:ext>
            </a:extLst>
          </p:cNvPr>
          <p:cNvSpPr>
            <a:spLocks noChangeAspect="1"/>
          </p:cNvSpPr>
          <p:nvPr/>
        </p:nvSpPr>
        <p:spPr>
          <a:xfrm>
            <a:off x="2584541" y="2011816"/>
            <a:ext cx="457200" cy="457200"/>
          </a:xfrm>
          <a:prstGeom prst="rect">
            <a:avLst/>
          </a:prstGeom>
          <a:noFill/>
          <a:ln>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Rectangle 15">
            <a:extLst>
              <a:ext uri="{FF2B5EF4-FFF2-40B4-BE49-F238E27FC236}">
                <a16:creationId xmlns:a16="http://schemas.microsoft.com/office/drawing/2014/main" xmlns="" id="{01FB5CC1-BFE1-0549-8192-34A7F9367A45}"/>
              </a:ext>
            </a:extLst>
          </p:cNvPr>
          <p:cNvSpPr/>
          <p:nvPr/>
        </p:nvSpPr>
        <p:spPr>
          <a:xfrm>
            <a:off x="1969770" y="2850253"/>
            <a:ext cx="8549640" cy="400110"/>
          </a:xfrm>
          <a:prstGeom prst="rect">
            <a:avLst/>
          </a:prstGeom>
        </p:spPr>
        <p:txBody>
          <a:bodyPr wrap="square">
            <a:spAutoFit/>
          </a:bodyPr>
          <a:lstStyle/>
          <a:p>
            <a:pPr marL="4572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The ratio of cups of water to chai mix scoops is </a:t>
            </a:r>
          </a:p>
        </p:txBody>
      </p:sp>
      <p:sp>
        <p:nvSpPr>
          <p:cNvPr id="18" name="Rectangle 17">
            <a:extLst>
              <a:ext uri="{FF2B5EF4-FFF2-40B4-BE49-F238E27FC236}">
                <a16:creationId xmlns:a16="http://schemas.microsoft.com/office/drawing/2014/main" xmlns="" id="{4C5986BE-39E5-7A4A-81FB-D096A2A71EFB}"/>
              </a:ext>
            </a:extLst>
          </p:cNvPr>
          <p:cNvSpPr/>
          <p:nvPr/>
        </p:nvSpPr>
        <p:spPr>
          <a:xfrm>
            <a:off x="2584541" y="4240743"/>
            <a:ext cx="457200" cy="457200"/>
          </a:xfrm>
          <a:prstGeom prst="rect">
            <a:avLst/>
          </a:prstGeom>
          <a:noFill/>
          <a:ln>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 name="Rectangle 18">
            <a:extLst>
              <a:ext uri="{FF2B5EF4-FFF2-40B4-BE49-F238E27FC236}">
                <a16:creationId xmlns:a16="http://schemas.microsoft.com/office/drawing/2014/main" xmlns="" id="{3944BA79-4948-744D-BEFD-7C682A9144E7}"/>
              </a:ext>
            </a:extLst>
          </p:cNvPr>
          <p:cNvSpPr>
            <a:spLocks noChangeAspect="1"/>
          </p:cNvSpPr>
          <p:nvPr/>
        </p:nvSpPr>
        <p:spPr>
          <a:xfrm>
            <a:off x="2583906" y="3569548"/>
            <a:ext cx="457200" cy="457200"/>
          </a:xfrm>
          <a:prstGeom prst="rect">
            <a:avLst/>
          </a:prstGeom>
          <a:noFill/>
          <a:ln>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 name="Rectangle 19">
            <a:extLst>
              <a:ext uri="{FF2B5EF4-FFF2-40B4-BE49-F238E27FC236}">
                <a16:creationId xmlns:a16="http://schemas.microsoft.com/office/drawing/2014/main" xmlns="" id="{69341DF8-E95C-B648-BDFC-47B9E259F24D}"/>
              </a:ext>
            </a:extLst>
          </p:cNvPr>
          <p:cNvSpPr/>
          <p:nvPr/>
        </p:nvSpPr>
        <p:spPr>
          <a:xfrm>
            <a:off x="3003824" y="2007344"/>
            <a:ext cx="1715861" cy="400110"/>
          </a:xfrm>
          <a:prstGeom prst="rect">
            <a:avLst/>
          </a:prstGeom>
        </p:spPr>
        <p:txBody>
          <a:bodyPr wrap="square">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       . </a:t>
            </a:r>
          </a:p>
        </p:txBody>
      </p:sp>
      <p:sp>
        <p:nvSpPr>
          <p:cNvPr id="21" name="Rectangle 20">
            <a:extLst>
              <a:ext uri="{FF2B5EF4-FFF2-40B4-BE49-F238E27FC236}">
                <a16:creationId xmlns:a16="http://schemas.microsoft.com/office/drawing/2014/main" xmlns="" id="{7C1529E3-AEE6-4A47-B55C-6B9500D703BD}"/>
              </a:ext>
            </a:extLst>
          </p:cNvPr>
          <p:cNvSpPr/>
          <p:nvPr/>
        </p:nvSpPr>
        <p:spPr>
          <a:xfrm>
            <a:off x="2413135" y="3840633"/>
            <a:ext cx="1630593" cy="400110"/>
          </a:xfrm>
          <a:prstGeom prst="rect">
            <a:avLst/>
          </a:prstGeom>
        </p:spPr>
        <p:txBody>
          <a:bodyPr wrap="square">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____  . </a:t>
            </a:r>
          </a:p>
        </p:txBody>
      </p:sp>
      <p:sp>
        <p:nvSpPr>
          <p:cNvPr id="13" name="Google Shape;278;g104476d1465_1_17">
            <a:extLst>
              <a:ext uri="{FF2B5EF4-FFF2-40B4-BE49-F238E27FC236}">
                <a16:creationId xmlns:a16="http://schemas.microsoft.com/office/drawing/2014/main" xmlns="" id="{8A9C4235-255A-BA49-B62C-16D695E64200}"/>
              </a:ext>
            </a:extLst>
          </p:cNvPr>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2" name="Google Shape;282;g104476d1465_1_17"/>
          <p:cNvSpPr txBox="1"/>
          <p:nvPr/>
        </p:nvSpPr>
        <p:spPr>
          <a:xfrm>
            <a:off x="871247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174</a:t>
            </a:r>
            <a:endParaRPr i="1" dirty="0">
              <a:latin typeface="Calibri"/>
              <a:ea typeface="Calibri"/>
              <a:cs typeface="Calibri"/>
              <a:sym typeface="Calibri"/>
            </a:endParaRPr>
          </a:p>
        </p:txBody>
      </p:sp>
      <p:pic>
        <p:nvPicPr>
          <p:cNvPr id="2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070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03659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Rectangle 7">
            <a:extLst>
              <a:ext uri="{FF2B5EF4-FFF2-40B4-BE49-F238E27FC236}">
                <a16:creationId xmlns:a16="http://schemas.microsoft.com/office/drawing/2014/main" xmlns="" id="{CECD6B6F-929B-8F47-BFEE-44ED1D0E863F}"/>
              </a:ext>
            </a:extLst>
          </p:cNvPr>
          <p:cNvSpPr/>
          <p:nvPr/>
        </p:nvSpPr>
        <p:spPr>
          <a:xfrm>
            <a:off x="1562131" y="469911"/>
            <a:ext cx="9364918" cy="707886"/>
          </a:xfrm>
          <a:prstGeom prst="rect">
            <a:avLst/>
          </a:prstGeom>
        </p:spPr>
        <p:txBody>
          <a:bodyPr wrap="square">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The relationship between chai mix and water can also be described using other numbers. Consider the rearranged image.</a:t>
            </a:r>
          </a:p>
        </p:txBody>
      </p:sp>
      <p:grpSp>
        <p:nvGrpSpPr>
          <p:cNvPr id="13" name="Group 12">
            <a:extLst>
              <a:ext uri="{FF2B5EF4-FFF2-40B4-BE49-F238E27FC236}">
                <a16:creationId xmlns:a16="http://schemas.microsoft.com/office/drawing/2014/main" xmlns="" id="{A1310016-133D-2E41-9B1B-C3AC2F4FDBF4}"/>
              </a:ext>
            </a:extLst>
          </p:cNvPr>
          <p:cNvGrpSpPr>
            <a:grpSpLocks noChangeAspect="1"/>
          </p:cNvGrpSpPr>
          <p:nvPr/>
        </p:nvGrpSpPr>
        <p:grpSpPr>
          <a:xfrm>
            <a:off x="2653436" y="1726911"/>
            <a:ext cx="3309620" cy="1372235"/>
            <a:chOff x="0" y="0"/>
            <a:chExt cx="5268614" cy="2118360"/>
          </a:xfrm>
        </p:grpSpPr>
        <p:sp>
          <p:nvSpPr>
            <p:cNvPr id="22" name="Rounded Rectangle 21">
              <a:extLst>
                <a:ext uri="{FF2B5EF4-FFF2-40B4-BE49-F238E27FC236}">
                  <a16:creationId xmlns:a16="http://schemas.microsoft.com/office/drawing/2014/main" xmlns="" id="{AEB1F03F-F578-8948-9B22-C75EE4C972E5}"/>
                </a:ext>
              </a:extLst>
            </p:cNvPr>
            <p:cNvSpPr/>
            <p:nvPr/>
          </p:nvSpPr>
          <p:spPr>
            <a:xfrm>
              <a:off x="0" y="0"/>
              <a:ext cx="5268614" cy="211836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1000"/>
                </a:spcAft>
              </a:pPr>
              <a:r>
                <a:rPr lang="en-US" sz="1200">
                  <a:ea typeface="Times New Roman" panose="02020603050405020304" pitchFamily="18" charset="0"/>
                  <a:cs typeface="Times New Roman" panose="02020603050405020304" pitchFamily="18" charset="0"/>
                </a:rPr>
                <a:t>z</a:t>
              </a:r>
              <a:endParaRPr lang="x-none" sz="1200">
                <a:ea typeface="Times New Roman" panose="02020603050405020304" pitchFamily="18" charset="0"/>
                <a:cs typeface="Times New Roman" panose="02020603050405020304" pitchFamily="18" charset="0"/>
              </a:endParaRPr>
            </a:p>
          </p:txBody>
        </p:sp>
        <p:pic>
          <p:nvPicPr>
            <p:cNvPr id="23" name="Picture 22" descr="A picture containing drawing&#10;&#10;Description automatically generated">
              <a:extLst>
                <a:ext uri="{FF2B5EF4-FFF2-40B4-BE49-F238E27FC236}">
                  <a16:creationId xmlns:a16="http://schemas.microsoft.com/office/drawing/2014/main" xmlns="" id="{F02B6C35-7B01-D347-A93D-151DBD0144B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250666" y="77675"/>
              <a:ext cx="950595" cy="624839"/>
            </a:xfrm>
            <a:prstGeom prst="rect">
              <a:avLst/>
            </a:prstGeom>
          </p:spPr>
        </p:pic>
        <p:pic>
          <p:nvPicPr>
            <p:cNvPr id="24" name="Picture 23" descr="A picture containing game, basketball, table, drawing&#10;&#10;Description automatically generated">
              <a:extLst>
                <a:ext uri="{FF2B5EF4-FFF2-40B4-BE49-F238E27FC236}">
                  <a16:creationId xmlns:a16="http://schemas.microsoft.com/office/drawing/2014/main" xmlns="" id="{B48DF301-64F8-D14A-9529-4171886E1BE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59316" y="684417"/>
              <a:ext cx="1714500" cy="1330325"/>
            </a:xfrm>
            <a:prstGeom prst="rect">
              <a:avLst/>
            </a:prstGeom>
          </p:spPr>
        </p:pic>
        <p:pic>
          <p:nvPicPr>
            <p:cNvPr id="25" name="Picture 24" descr="A picture containing game, basketball, table, drawing&#10;&#10;Description automatically generated">
              <a:extLst>
                <a:ext uri="{FF2B5EF4-FFF2-40B4-BE49-F238E27FC236}">
                  <a16:creationId xmlns:a16="http://schemas.microsoft.com/office/drawing/2014/main" xmlns="" id="{2877033F-E350-FF48-AD9D-413DBE7B9BC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770833" y="693471"/>
              <a:ext cx="1714500" cy="1330325"/>
            </a:xfrm>
            <a:prstGeom prst="rect">
              <a:avLst/>
            </a:prstGeom>
          </p:spPr>
        </p:pic>
        <p:pic>
          <p:nvPicPr>
            <p:cNvPr id="26" name="Picture 25" descr="A picture containing game, basketball, table, drawing&#10;&#10;Description automatically generated">
              <a:extLst>
                <a:ext uri="{FF2B5EF4-FFF2-40B4-BE49-F238E27FC236}">
                  <a16:creationId xmlns:a16="http://schemas.microsoft.com/office/drawing/2014/main" xmlns="" id="{034BDD23-1FFE-8248-A5DC-A61F676D43F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400457" y="702524"/>
              <a:ext cx="1714500" cy="1330325"/>
            </a:xfrm>
            <a:prstGeom prst="rect">
              <a:avLst/>
            </a:prstGeom>
          </p:spPr>
        </p:pic>
      </p:grpSp>
      <p:grpSp>
        <p:nvGrpSpPr>
          <p:cNvPr id="27" name="Group 26">
            <a:extLst>
              <a:ext uri="{FF2B5EF4-FFF2-40B4-BE49-F238E27FC236}">
                <a16:creationId xmlns:a16="http://schemas.microsoft.com/office/drawing/2014/main" xmlns="" id="{0FD77667-291B-1444-BBF2-E64420D6811C}"/>
              </a:ext>
            </a:extLst>
          </p:cNvPr>
          <p:cNvGrpSpPr>
            <a:grpSpLocks noChangeAspect="1"/>
          </p:cNvGrpSpPr>
          <p:nvPr/>
        </p:nvGrpSpPr>
        <p:grpSpPr>
          <a:xfrm>
            <a:off x="6228946" y="1726910"/>
            <a:ext cx="3309620" cy="1372235"/>
            <a:chOff x="0" y="0"/>
            <a:chExt cx="5268614" cy="2118360"/>
          </a:xfrm>
        </p:grpSpPr>
        <p:sp>
          <p:nvSpPr>
            <p:cNvPr id="28" name="Rounded Rectangle 27">
              <a:extLst>
                <a:ext uri="{FF2B5EF4-FFF2-40B4-BE49-F238E27FC236}">
                  <a16:creationId xmlns:a16="http://schemas.microsoft.com/office/drawing/2014/main" xmlns="" id="{E5963CCE-6FC1-9F44-B612-2BE1F024AFE9}"/>
                </a:ext>
              </a:extLst>
            </p:cNvPr>
            <p:cNvSpPr/>
            <p:nvPr/>
          </p:nvSpPr>
          <p:spPr>
            <a:xfrm>
              <a:off x="0" y="0"/>
              <a:ext cx="5268614" cy="211836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1000"/>
                </a:spcAft>
              </a:pPr>
              <a:r>
                <a:rPr lang="en-US" sz="1200">
                  <a:ea typeface="Times New Roman" panose="02020603050405020304" pitchFamily="18" charset="0"/>
                  <a:cs typeface="Times New Roman" panose="02020603050405020304" pitchFamily="18" charset="0"/>
                </a:rPr>
                <a:t>z</a:t>
              </a:r>
              <a:endParaRPr lang="x-none" sz="1200">
                <a:ea typeface="Times New Roman" panose="02020603050405020304" pitchFamily="18" charset="0"/>
                <a:cs typeface="Times New Roman" panose="02020603050405020304" pitchFamily="18" charset="0"/>
              </a:endParaRPr>
            </a:p>
          </p:txBody>
        </p:sp>
        <p:pic>
          <p:nvPicPr>
            <p:cNvPr id="29" name="Picture 28" descr="A picture containing drawing&#10;&#10;Description automatically generated">
              <a:extLst>
                <a:ext uri="{FF2B5EF4-FFF2-40B4-BE49-F238E27FC236}">
                  <a16:creationId xmlns:a16="http://schemas.microsoft.com/office/drawing/2014/main" xmlns="" id="{EC99E460-233F-D347-8493-437571460BC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250666" y="77675"/>
              <a:ext cx="950595" cy="624839"/>
            </a:xfrm>
            <a:prstGeom prst="rect">
              <a:avLst/>
            </a:prstGeom>
          </p:spPr>
        </p:pic>
        <p:pic>
          <p:nvPicPr>
            <p:cNvPr id="30" name="Picture 29" descr="A picture containing game, basketball, table, drawing&#10;&#10;Description automatically generated">
              <a:extLst>
                <a:ext uri="{FF2B5EF4-FFF2-40B4-BE49-F238E27FC236}">
                  <a16:creationId xmlns:a16="http://schemas.microsoft.com/office/drawing/2014/main" xmlns="" id="{7313893C-F491-F24C-93DD-FA222495646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59316" y="684417"/>
              <a:ext cx="1714500" cy="1330325"/>
            </a:xfrm>
            <a:prstGeom prst="rect">
              <a:avLst/>
            </a:prstGeom>
          </p:spPr>
        </p:pic>
        <p:pic>
          <p:nvPicPr>
            <p:cNvPr id="31" name="Picture 30" descr="A picture containing game, basketball, table, drawing&#10;&#10;Description automatically generated">
              <a:extLst>
                <a:ext uri="{FF2B5EF4-FFF2-40B4-BE49-F238E27FC236}">
                  <a16:creationId xmlns:a16="http://schemas.microsoft.com/office/drawing/2014/main" xmlns="" id="{4E2CDF0C-2E51-A244-8C0B-9B24CB8DBB0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770833" y="693471"/>
              <a:ext cx="1714500" cy="1330325"/>
            </a:xfrm>
            <a:prstGeom prst="rect">
              <a:avLst/>
            </a:prstGeom>
          </p:spPr>
        </p:pic>
        <p:pic>
          <p:nvPicPr>
            <p:cNvPr id="32" name="Picture 31" descr="A picture containing game, basketball, table, drawing&#10;&#10;Description automatically generated">
              <a:extLst>
                <a:ext uri="{FF2B5EF4-FFF2-40B4-BE49-F238E27FC236}">
                  <a16:creationId xmlns:a16="http://schemas.microsoft.com/office/drawing/2014/main" xmlns="" id="{FE1692B6-975C-9A44-9EAE-E20454524AC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400457" y="702524"/>
              <a:ext cx="1714500" cy="1330325"/>
            </a:xfrm>
            <a:prstGeom prst="rect">
              <a:avLst/>
            </a:prstGeom>
          </p:spPr>
        </p:pic>
      </p:grpSp>
      <p:sp>
        <p:nvSpPr>
          <p:cNvPr id="33" name="Rectangle 32">
            <a:extLst>
              <a:ext uri="{FF2B5EF4-FFF2-40B4-BE49-F238E27FC236}">
                <a16:creationId xmlns:a16="http://schemas.microsoft.com/office/drawing/2014/main" xmlns="" id="{5EB73AD3-306A-9443-B34E-87BD700D63B6}"/>
              </a:ext>
            </a:extLst>
          </p:cNvPr>
          <p:cNvSpPr/>
          <p:nvPr/>
        </p:nvSpPr>
        <p:spPr>
          <a:xfrm>
            <a:off x="2207623" y="3601523"/>
            <a:ext cx="8757600" cy="1938992"/>
          </a:xfrm>
          <a:prstGeom prst="rect">
            <a:avLst/>
          </a:prstGeom>
        </p:spPr>
        <p:txBody>
          <a:bodyPr wrap="square">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Complete the statements.</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There are ____ cups of water per scoop of chai mix.</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There is ____ scoop of chai mix for every cup of water.</a:t>
            </a:r>
          </a:p>
        </p:txBody>
      </p:sp>
      <p:sp>
        <p:nvSpPr>
          <p:cNvPr id="19" name="Google Shape;278;g104476d1465_1_17">
            <a:extLst>
              <a:ext uri="{FF2B5EF4-FFF2-40B4-BE49-F238E27FC236}">
                <a16:creationId xmlns:a16="http://schemas.microsoft.com/office/drawing/2014/main" xmlns="" id="{2E3974D2-012C-8A47-9A88-CD4597E95C47}"/>
              </a:ext>
            </a:extLst>
          </p:cNvPr>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0" name="Google Shape;282;g104476d1465_1_17"/>
          <p:cNvSpPr txBox="1"/>
          <p:nvPr/>
        </p:nvSpPr>
        <p:spPr>
          <a:xfrm>
            <a:off x="871247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175</a:t>
            </a:r>
            <a:endParaRPr i="1" dirty="0">
              <a:latin typeface="Calibri"/>
              <a:ea typeface="Calibri"/>
              <a:cs typeface="Calibri"/>
              <a:sym typeface="Calibri"/>
            </a:endParaRPr>
          </a:p>
        </p:txBody>
      </p:sp>
      <p:pic>
        <p:nvPicPr>
          <p:cNvPr id="2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5070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0647116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Rectangle 7">
            <a:extLst>
              <a:ext uri="{FF2B5EF4-FFF2-40B4-BE49-F238E27FC236}">
                <a16:creationId xmlns:a16="http://schemas.microsoft.com/office/drawing/2014/main" xmlns="" id="{CECD6B6F-929B-8F47-BFEE-44ED1D0E863F}"/>
              </a:ext>
            </a:extLst>
          </p:cNvPr>
          <p:cNvSpPr/>
          <p:nvPr/>
        </p:nvSpPr>
        <p:spPr>
          <a:xfrm>
            <a:off x="1280160" y="469911"/>
            <a:ext cx="9928860" cy="2554545"/>
          </a:xfrm>
          <a:prstGeom prst="rect">
            <a:avLst/>
          </a:prstGeom>
        </p:spPr>
        <p:txBody>
          <a:bodyPr wrap="square">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The order of the ratio is important, as it relates specifically to the quantities being described. The order used in the written description must match the order of the values that are being compared.</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why the ratio of chai mix scoops to cups of water is not equivalent to the ratio of cups of water to chai mix scoops.</a:t>
            </a:r>
          </a:p>
        </p:txBody>
      </p:sp>
      <p:sp>
        <p:nvSpPr>
          <p:cNvPr id="6" name="Google Shape;278;g104476d1465_1_17">
            <a:extLst>
              <a:ext uri="{FF2B5EF4-FFF2-40B4-BE49-F238E27FC236}">
                <a16:creationId xmlns:a16="http://schemas.microsoft.com/office/drawing/2014/main" xmlns="" id="{17631EA5-F418-DF46-9BDD-E596F2D95212}"/>
              </a:ext>
            </a:extLst>
          </p:cNvPr>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71247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175</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070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698286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buClr>
                <a:schemeClr val="lt1"/>
              </a:buClr>
              <a:buSzPts val="4800"/>
            </a:pPr>
            <a:r>
              <a:rPr lang="en-US" sz="5500" b="1" dirty="0">
                <a:solidFill>
                  <a:srgbClr val="52BDA6"/>
                </a:solidFill>
                <a:latin typeface="Verdana"/>
                <a:ea typeface="Verdana"/>
                <a:cs typeface="Verdana"/>
                <a:sym typeface="Verdana"/>
              </a:rPr>
              <a:t>Try It</a:t>
            </a:r>
            <a:endParaRPr sz="5100" b="1" dirty="0">
              <a:solidFill>
                <a:srgbClr val="52BDA6"/>
              </a:solidFill>
              <a:latin typeface="Verdana"/>
              <a:ea typeface="Verdana"/>
              <a:cs typeface="Verdana"/>
              <a:sym typeface="Verdana"/>
            </a:endParaRPr>
          </a:p>
        </p:txBody>
      </p:sp>
      <p:pic>
        <p:nvPicPr>
          <p:cNvPr id="9" name="image13.png">
            <a:extLst>
              <a:ext uri="{FF2B5EF4-FFF2-40B4-BE49-F238E27FC236}">
                <a16:creationId xmlns:a16="http://schemas.microsoft.com/office/drawing/2014/main" xmlns="" id="{A28F2C27-3EC6-D044-98CC-77813711096C}"/>
              </a:ext>
            </a:extLst>
          </p:cNvPr>
          <p:cNvPicPr/>
          <p:nvPr/>
        </p:nvPicPr>
        <p:blipFill>
          <a:blip r:embed="rId3"/>
          <a:srcRect/>
          <a:stretch>
            <a:fillRect/>
          </a:stretch>
        </p:blipFill>
        <p:spPr>
          <a:xfrm>
            <a:off x="4411602" y="2867212"/>
            <a:ext cx="1123566" cy="1123566"/>
          </a:xfrm>
          <a:prstGeom prst="rect">
            <a:avLst/>
          </a:prstGeom>
          <a:ln/>
          <a:effectLst>
            <a:outerShdw blurRad="50800" dist="38100" dir="2700000" algn="tl" rotWithShape="0">
              <a:prstClr val="black">
                <a:alpha val="40000"/>
              </a:prstClr>
            </a:outerShdw>
          </a:effectLst>
        </p:spPr>
      </p:pic>
      <p:sp>
        <p:nvSpPr>
          <p:cNvPr id="8" name="Google Shape;309;g104476d1465_1_39">
            <a:extLst>
              <a:ext uri="{FF2B5EF4-FFF2-40B4-BE49-F238E27FC236}">
                <a16:creationId xmlns:a16="http://schemas.microsoft.com/office/drawing/2014/main" xmlns="" id="{31A03E04-6A5D-6C4B-B5F4-39CA92B1BE97}"/>
              </a:ext>
            </a:extLst>
          </p:cNvPr>
          <p:cNvSpPr/>
          <p:nvPr/>
        </p:nvSpPr>
        <p:spPr>
          <a:xfrm>
            <a:off x="0" y="-8101"/>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71247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175</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070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291942" y="98099"/>
            <a:ext cx="8019300" cy="101481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2BDA6"/>
                </a:solidFill>
                <a:latin typeface="Verdana"/>
                <a:ea typeface="Verdana"/>
                <a:cs typeface="Verdana"/>
                <a:sym typeface="Verdana"/>
              </a:rPr>
              <a:t>5.1.3 Try It: Writing and Interpreting Ratios</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A66A031F-2EC8-DF4C-B3F5-E7AC5B8F3239}"/>
                  </a:ext>
                </a:extLst>
              </p:cNvPr>
              <p:cNvSpPr/>
              <p:nvPr/>
            </p:nvSpPr>
            <p:spPr>
              <a:xfrm>
                <a:off x="1291942" y="1375714"/>
                <a:ext cx="9101738" cy="4524315"/>
              </a:xfrm>
              <a:prstGeom prst="rect">
                <a:avLst/>
              </a:prstGeom>
            </p:spPr>
            <p:txBody>
              <a:bodyPr wrap="square">
                <a:spAutoFit/>
              </a:bodyPr>
              <a:lstStyle/>
              <a:p>
                <a:pPr marL="407988" indent="-396875">
                  <a:buSzPts val="1800"/>
                </a:pPr>
                <a:r>
                  <a:rPr lang="en-US" sz="1800" dirty="0">
                    <a:latin typeface="Verdana" panose="020B0604030504040204" pitchFamily="34" charset="0"/>
                    <a:ea typeface="Verdana" panose="020B0604030504040204" pitchFamily="34" charset="0"/>
                    <a:cs typeface="Verdana" panose="020B0604030504040204" pitchFamily="34" charset="0"/>
                  </a:rPr>
                  <a:t>In a fruit bowl, there are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6</m:t>
                    </m:r>
                  </m:oMath>
                </a14:m>
                <a:r>
                  <a:rPr lang="en-US" sz="1800" dirty="0">
                    <a:latin typeface="Verdana" panose="020B0604030504040204" pitchFamily="34" charset="0"/>
                    <a:ea typeface="Verdana" panose="020B0604030504040204" pitchFamily="34" charset="0"/>
                    <a:cs typeface="Verdana" panose="020B0604030504040204" pitchFamily="34" charset="0"/>
                  </a:rPr>
                  <a:t> oranges,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4</m:t>
                    </m:r>
                  </m:oMath>
                </a14:m>
                <a:r>
                  <a:rPr lang="en-US" sz="1800" dirty="0">
                    <a:latin typeface="Verdana" panose="020B0604030504040204" pitchFamily="34" charset="0"/>
                    <a:ea typeface="Verdana" panose="020B0604030504040204" pitchFamily="34" charset="0"/>
                    <a:cs typeface="Verdana" panose="020B0604030504040204" pitchFamily="34" charset="0"/>
                  </a:rPr>
                  <a:t> apples, and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2</m:t>
                    </m:r>
                  </m:oMath>
                </a14:m>
                <a:r>
                  <a:rPr lang="en-US" sz="1800" dirty="0">
                    <a:latin typeface="Verdana" panose="020B0604030504040204" pitchFamily="34" charset="0"/>
                    <a:ea typeface="Verdana" panose="020B0604030504040204" pitchFamily="34" charset="0"/>
                    <a:cs typeface="Verdana" panose="020B0604030504040204" pitchFamily="34" charset="0"/>
                  </a:rPr>
                  <a:t> plums.</a:t>
                </a:r>
              </a:p>
              <a:p>
                <a:pPr marL="407988" indent="-396875">
                  <a:buSzPts val="1800"/>
                </a:pPr>
                <a:r>
                  <a:rPr lang="en-US" sz="1800" dirty="0">
                    <a:latin typeface="Verdana" panose="020B0604030504040204" pitchFamily="34" charset="0"/>
                    <a:ea typeface="Verdana" panose="020B0604030504040204" pitchFamily="34" charset="0"/>
                    <a:cs typeface="Verdana" panose="020B0604030504040204" pitchFamily="34" charset="0"/>
                  </a:rPr>
                  <a:t> </a:t>
                </a:r>
              </a:p>
              <a:p>
                <a:pPr marL="468312" indent="-457200">
                  <a:buSzPts val="1800"/>
                  <a:buFont typeface="+mj-lt"/>
                  <a:buAutoNum type="arabicPeriod"/>
                </a:pPr>
                <a:r>
                  <a:rPr lang="en-US" sz="1800" dirty="0">
                    <a:latin typeface="Verdana" panose="020B0604030504040204" pitchFamily="34" charset="0"/>
                    <a:ea typeface="Verdana" panose="020B0604030504040204" pitchFamily="34" charset="0"/>
                    <a:cs typeface="Verdana" panose="020B0604030504040204" pitchFamily="34" charset="0"/>
                  </a:rPr>
                  <a:t>Complete the statements to describe the contents </a:t>
                </a:r>
              </a:p>
              <a:p>
                <a:pPr marL="11112">
                  <a:buSzPts val="1800"/>
                </a:pPr>
                <a:r>
                  <a:rPr lang="en-US" sz="1800" dirty="0">
                    <a:latin typeface="Verdana" panose="020B0604030504040204" pitchFamily="34" charset="0"/>
                    <a:ea typeface="Verdana" panose="020B0604030504040204" pitchFamily="34" charset="0"/>
                    <a:cs typeface="Verdana" panose="020B0604030504040204" pitchFamily="34" charset="0"/>
                  </a:rPr>
                  <a:t>     of the fruit bowl.</a:t>
                </a:r>
              </a:p>
              <a:p>
                <a:pPr marL="407988" indent="-396875">
                  <a:buSzPts val="1800"/>
                </a:pPr>
                <a:r>
                  <a:rPr lang="en-US" sz="1800" dirty="0">
                    <a:latin typeface="Verdana" panose="020B0604030504040204" pitchFamily="34" charset="0"/>
                    <a:ea typeface="Verdana" panose="020B0604030504040204" pitchFamily="34" charset="0"/>
                    <a:cs typeface="Verdana" panose="020B0604030504040204" pitchFamily="34" charset="0"/>
                  </a:rPr>
                  <a:t> </a:t>
                </a:r>
              </a:p>
              <a:p>
                <a:pPr marL="919163" indent="-504825">
                  <a:buSzPts val="1800"/>
                  <a:buFont typeface="+mj-lt"/>
                  <a:buAutoNum type="alphaLcPeriod"/>
                </a:pPr>
                <a:r>
                  <a:rPr lang="en-US" sz="1800" dirty="0">
                    <a:latin typeface="Verdana" panose="020B0604030504040204" pitchFamily="34" charset="0"/>
                    <a:ea typeface="Verdana" panose="020B0604030504040204" pitchFamily="34" charset="0"/>
                    <a:cs typeface="Verdana" panose="020B0604030504040204" pitchFamily="34" charset="0"/>
                  </a:rPr>
                  <a:t>The ratio of oranges to apples is ____ : ____.</a:t>
                </a:r>
              </a:p>
              <a:p>
                <a:pPr marL="919163" indent="-504825">
                  <a:buSzPts val="1800"/>
                  <a:buFont typeface="+mj-lt"/>
                  <a:buAutoNum type="alphaL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919163" indent="-504825">
                  <a:buSzPts val="1800"/>
                  <a:buFont typeface="+mj-lt"/>
                  <a:buAutoNum type="alphaL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919163" indent="-504825">
                  <a:buSzPts val="1800"/>
                  <a:buFont typeface="+mj-lt"/>
                  <a:buAutoNum type="alphaLcPeriod"/>
                </a:pPr>
                <a:r>
                  <a:rPr lang="en-US" sz="1800" dirty="0">
                    <a:latin typeface="Verdana" panose="020B0604030504040204" pitchFamily="34" charset="0"/>
                    <a:ea typeface="Verdana" panose="020B0604030504040204" pitchFamily="34" charset="0"/>
                    <a:cs typeface="Verdana" panose="020B0604030504040204" pitchFamily="34" charset="0"/>
                  </a:rPr>
                  <a:t>The ratio of plums to apples is ____ to ____.</a:t>
                </a:r>
              </a:p>
              <a:p>
                <a:pPr marL="919163" indent="-504825">
                  <a:buSzPts val="1800"/>
                  <a:buFont typeface="+mj-lt"/>
                  <a:buAutoNum type="alphaL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919163" indent="-504825">
                  <a:buSzPts val="1800"/>
                  <a:buFont typeface="+mj-lt"/>
                  <a:buAutoNum type="alphaL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919163" indent="-504825">
                  <a:buSzPts val="1800"/>
                  <a:buFont typeface="+mj-lt"/>
                  <a:buAutoNum type="alphaLcPeriod"/>
                </a:pPr>
                <a:r>
                  <a:rPr lang="en-US" sz="1800" dirty="0">
                    <a:latin typeface="Verdana" panose="020B0604030504040204" pitchFamily="34" charset="0"/>
                    <a:ea typeface="Verdana" panose="020B0604030504040204" pitchFamily="34" charset="0"/>
                    <a:cs typeface="Verdana" panose="020B0604030504040204" pitchFamily="34" charset="0"/>
                  </a:rPr>
                  <a:t>For every ____ apples, there are ____ plums.</a:t>
                </a:r>
              </a:p>
              <a:p>
                <a:pPr marL="919163" indent="-504825">
                  <a:buSzPts val="1800"/>
                  <a:buFont typeface="+mj-lt"/>
                  <a:buAutoNum type="alphaL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919163" indent="-504825">
                  <a:buSzPts val="1800"/>
                  <a:buFont typeface="+mj-lt"/>
                  <a:buAutoNum type="alphaL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919163" indent="-504825">
                  <a:buSzPts val="1800"/>
                  <a:buFont typeface="+mj-lt"/>
                  <a:buAutoNum type="alphaLcPeriod"/>
                </a:pPr>
                <a:r>
                  <a:rPr lang="en-US" sz="1800" dirty="0">
                    <a:latin typeface="Verdana" panose="020B0604030504040204" pitchFamily="34" charset="0"/>
                    <a:ea typeface="Verdana" panose="020B0604030504040204" pitchFamily="34" charset="0"/>
                    <a:cs typeface="Verdana" panose="020B0604030504040204" pitchFamily="34" charset="0"/>
                  </a:rPr>
                  <a:t>For every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3</m:t>
                    </m:r>
                  </m:oMath>
                </a14:m>
                <a:r>
                  <a:rPr lang="en-US" sz="1800" dirty="0">
                    <a:latin typeface="Verdana" panose="020B0604030504040204" pitchFamily="34" charset="0"/>
                    <a:ea typeface="Verdana" panose="020B0604030504040204" pitchFamily="34" charset="0"/>
                    <a:cs typeface="Verdana" panose="020B0604030504040204" pitchFamily="34" charset="0"/>
                  </a:rPr>
                  <a:t> oranges, there is one</a:t>
                </a:r>
              </a:p>
              <a:p>
                <a:pPr marL="11113">
                  <a:buSzPts val="1800"/>
                </a:pPr>
                <a:endParaRPr lang="en-US" sz="18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Rectangle 1">
                <a:extLst>
                  <a:ext uri="{FF2B5EF4-FFF2-40B4-BE49-F238E27FC236}">
                    <a16:creationId xmlns:a16="http://schemas.microsoft.com/office/drawing/2014/main" xmlns:a14="http://schemas.microsoft.com/office/drawing/2010/main" xmlns="" id="{A66A031F-2EC8-DF4C-B3F5-E7AC5B8F3239}"/>
                  </a:ext>
                </a:extLst>
              </p:cNvPr>
              <p:cNvSpPr>
                <a:spLocks noRot="1" noChangeAspect="1" noMove="1" noResize="1" noEditPoints="1" noAdjustHandles="1" noChangeArrowheads="1" noChangeShapeType="1" noTextEdit="1"/>
              </p:cNvSpPr>
              <p:nvPr/>
            </p:nvSpPr>
            <p:spPr>
              <a:xfrm>
                <a:off x="1291942" y="1375714"/>
                <a:ext cx="9101738" cy="4524315"/>
              </a:xfrm>
              <a:prstGeom prst="rect">
                <a:avLst/>
              </a:prstGeom>
              <a:blipFill rotWithShape="0">
                <a:blip r:embed="rId3"/>
                <a:stretch>
                  <a:fillRect l="-469" t="-809"/>
                </a:stretch>
              </a:blipFill>
            </p:spPr>
            <p:txBody>
              <a:bodyPr/>
              <a:lstStyle/>
              <a:p>
                <a:r>
                  <a:rPr lang="en-US">
                    <a:noFill/>
                  </a:rPr>
                  <a:t> </a:t>
                </a:r>
              </a:p>
            </p:txBody>
          </p:sp>
        </mc:Fallback>
      </mc:AlternateContent>
      <p:pic>
        <p:nvPicPr>
          <p:cNvPr id="11" name="image13.png">
            <a:extLst>
              <a:ext uri="{FF2B5EF4-FFF2-40B4-BE49-F238E27FC236}">
                <a16:creationId xmlns:a16="http://schemas.microsoft.com/office/drawing/2014/main" xmlns="" id="{AA424DE5-2917-E84C-9352-8EBB65A1011A}"/>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541800" y="214350"/>
            <a:ext cx="750142" cy="750142"/>
          </a:xfrm>
          <a:prstGeom prst="rect">
            <a:avLst/>
          </a:prstGeom>
          <a:ln/>
        </p:spPr>
      </p:pic>
      <p:pic>
        <p:nvPicPr>
          <p:cNvPr id="12" name="Picture 11">
            <a:extLst>
              <a:ext uri="{FF2B5EF4-FFF2-40B4-BE49-F238E27FC236}">
                <a16:creationId xmlns:a16="http://schemas.microsoft.com/office/drawing/2014/main" xmlns="" id="{82F71C16-9708-7048-8B54-3AEA34BAAC40}"/>
              </a:ext>
            </a:extLst>
          </p:cNvPr>
          <p:cNvPicPr>
            <a:picLocks noChangeAspect="1"/>
          </p:cNvPicPr>
          <p:nvPr/>
        </p:nvPicPr>
        <p:blipFill>
          <a:blip r:embed="rId5" cstate="screen">
            <a:extLst>
              <a:ext uri="{BEBA8EAE-BF5A-486C-A8C5-ECC9F3942E4B}">
                <a14:imgProps xmlns:a14="http://schemas.microsoft.com/office/drawing/2010/main">
                  <a14:imgLayer r:embed="rId6">
                    <a14:imgEffect>
                      <a14:sharpenSoften amount="50000"/>
                    </a14:imgEffect>
                    <a14:imgEffect>
                      <a14:brightnessContrast bright="20000" contrast="-40000"/>
                    </a14:imgEffect>
                  </a14:imgLayer>
                </a14:imgProps>
              </a:ext>
              <a:ext uri="{28A0092B-C50C-407E-A947-70E740481C1C}">
                <a14:useLocalDpi xmlns:a14="http://schemas.microsoft.com/office/drawing/2010/main"/>
              </a:ext>
            </a:extLst>
          </a:blip>
          <a:stretch>
            <a:fillRect/>
          </a:stretch>
        </p:blipFill>
        <p:spPr>
          <a:xfrm>
            <a:off x="8505880" y="1785167"/>
            <a:ext cx="2033270" cy="1327150"/>
          </a:xfrm>
          <a:prstGeom prst="rect">
            <a:avLst/>
          </a:prstGeom>
        </p:spPr>
      </p:pic>
      <p:pic>
        <p:nvPicPr>
          <p:cNvPr id="5" name="Picture 4" descr="Shape&#10;&#10;Description automatically generated with low confidence">
            <a:extLst>
              <a:ext uri="{FF2B5EF4-FFF2-40B4-BE49-F238E27FC236}">
                <a16:creationId xmlns:a16="http://schemas.microsoft.com/office/drawing/2014/main" xmlns="" id="{C7100AF2-2D53-F746-9B21-16F7058FFC24}"/>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460488" y="5033181"/>
            <a:ext cx="1356144" cy="829200"/>
          </a:xfrm>
          <a:prstGeom prst="rect">
            <a:avLst/>
          </a:prstGeom>
        </p:spPr>
      </p:pic>
      <p:sp>
        <p:nvSpPr>
          <p:cNvPr id="10" name="Google Shape;278;g104476d1465_1_17">
            <a:extLst>
              <a:ext uri="{FF2B5EF4-FFF2-40B4-BE49-F238E27FC236}">
                <a16:creationId xmlns:a16="http://schemas.microsoft.com/office/drawing/2014/main" xmlns="" id="{472E4201-C3BF-A240-A051-40ACE1586C66}"/>
              </a:ext>
            </a:extLst>
          </p:cNvPr>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Google Shape;282;g104476d1465_1_17"/>
          <p:cNvSpPr txBox="1"/>
          <p:nvPr/>
        </p:nvSpPr>
        <p:spPr>
          <a:xfrm>
            <a:off x="871247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175</a:t>
            </a:r>
            <a:endParaRPr i="1" dirty="0">
              <a:latin typeface="Calibri"/>
              <a:ea typeface="Calibri"/>
              <a:cs typeface="Calibri"/>
              <a:sym typeface="Calibri"/>
            </a:endParaRPr>
          </a:p>
        </p:txBody>
      </p:sp>
      <p:pic>
        <p:nvPicPr>
          <p:cNvPr id="15" name="Google Shape;283;g104476d1465_1_17"/>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1145070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 name="Rectangle 1">
            <a:extLst>
              <a:ext uri="{FF2B5EF4-FFF2-40B4-BE49-F238E27FC236}">
                <a16:creationId xmlns:a16="http://schemas.microsoft.com/office/drawing/2014/main" xmlns="" id="{D9AF1552-9966-3643-BA84-BB4BC68EDBB5}"/>
              </a:ext>
            </a:extLst>
          </p:cNvPr>
          <p:cNvSpPr/>
          <p:nvPr/>
        </p:nvSpPr>
        <p:spPr>
          <a:xfrm>
            <a:off x="1844040" y="842784"/>
            <a:ext cx="8772786" cy="707886"/>
          </a:xfrm>
          <a:prstGeom prst="rect">
            <a:avLst/>
          </a:prstGeom>
        </p:spPr>
        <p:txBody>
          <a:bodyPr wrap="square">
            <a:spAutoFit/>
          </a:bodyPr>
          <a:lstStyle/>
          <a:p>
            <a:pPr marL="457200" indent="-457200">
              <a:buSzPts val="18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Explain how you determined the answer for Part d using words or a sketch.</a:t>
            </a:r>
          </a:p>
        </p:txBody>
      </p:sp>
      <p:sp>
        <p:nvSpPr>
          <p:cNvPr id="6" name="Google Shape;278;g104476d1465_1_17">
            <a:extLst>
              <a:ext uri="{FF2B5EF4-FFF2-40B4-BE49-F238E27FC236}">
                <a16:creationId xmlns:a16="http://schemas.microsoft.com/office/drawing/2014/main" xmlns="" id="{1354CD57-1F04-2E4B-BB94-D0C30205F55A}"/>
              </a:ext>
            </a:extLst>
          </p:cNvPr>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71247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175</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070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24357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309;g104476d1465_1_39">
            <a:extLst>
              <a:ext uri="{FF2B5EF4-FFF2-40B4-BE49-F238E27FC236}">
                <a16:creationId xmlns:a16="http://schemas.microsoft.com/office/drawing/2014/main" xmlns="" id="{032BE95E-52A3-6942-87F2-BDB40C680C51}"/>
              </a:ext>
            </a:extLst>
          </p:cNvPr>
          <p:cNvSpPr/>
          <p:nvPr/>
        </p:nvSpPr>
        <p:spPr>
          <a:xfrm>
            <a:off x="0" y="-8101"/>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71247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176</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070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40584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453651" y="-5110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5.1.4 Guided Instruction: Representing Ratios </a:t>
            </a:r>
            <a:r>
              <a:rPr lang="en-US" sz="2800" b="1" dirty="0" smtClean="0">
                <a:solidFill>
                  <a:srgbClr val="54B5D1"/>
                </a:solidFill>
                <a:latin typeface="Verdana"/>
                <a:ea typeface="Verdana"/>
                <a:cs typeface="Verdana"/>
                <a:sym typeface="Verdana"/>
              </a:rPr>
              <a:t>With </a:t>
            </a:r>
            <a:r>
              <a:rPr lang="en-US" sz="2800" b="1" dirty="0">
                <a:solidFill>
                  <a:srgbClr val="54B5D1"/>
                </a:solidFill>
                <a:latin typeface="Verdana"/>
                <a:ea typeface="Verdana"/>
                <a:cs typeface="Verdana"/>
                <a:sym typeface="Verdana"/>
              </a:rPr>
              <a:t>Diagrams</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3">
            <a:alphaModFix/>
          </a:blip>
          <a:srcRect/>
          <a:stretch/>
        </p:blipFill>
        <p:spPr>
          <a:xfrm>
            <a:off x="706351" y="156164"/>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B2BE9AFC-D858-8947-AE27-3738478587E3}"/>
                  </a:ext>
                </a:extLst>
              </p:cNvPr>
              <p:cNvSpPr/>
              <p:nvPr/>
            </p:nvSpPr>
            <p:spPr>
              <a:xfrm>
                <a:off x="1546126" y="1106873"/>
                <a:ext cx="9404398" cy="1938992"/>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When solving problems involving ratios, it can be helpful to use diagrams and number lines to represent the relationships described.</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A recipe for 1 batch of spice mix says, “Combine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teaspoons (tsp) of mustard seeds,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teaspoons of chili powder, and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teaspoon of salt.” Below is a diagram to represent this situation.</a:t>
                </a:r>
              </a:p>
            </p:txBody>
          </p:sp>
        </mc:Choice>
        <mc:Fallback xmlns="">
          <p:sp>
            <p:nvSpPr>
              <p:cNvPr id="2" name="Rectangle 1">
                <a:extLst>
                  <a:ext uri="{FF2B5EF4-FFF2-40B4-BE49-F238E27FC236}">
                    <a16:creationId xmlns:a16="http://schemas.microsoft.com/office/drawing/2014/main" xmlns:a14="http://schemas.microsoft.com/office/drawing/2010/main" xmlns="" id="{B2BE9AFC-D858-8947-AE27-3738478587E3}"/>
                  </a:ext>
                </a:extLst>
              </p:cNvPr>
              <p:cNvSpPr>
                <a:spLocks noRot="1" noChangeAspect="1" noMove="1" noResize="1" noEditPoints="1" noAdjustHandles="1" noChangeArrowheads="1" noChangeShapeType="1" noTextEdit="1"/>
              </p:cNvSpPr>
              <p:nvPr/>
            </p:nvSpPr>
            <p:spPr>
              <a:xfrm>
                <a:off x="1546126" y="1106873"/>
                <a:ext cx="9404398" cy="1938992"/>
              </a:xfrm>
              <a:prstGeom prst="rect">
                <a:avLst/>
              </a:prstGeom>
              <a:blipFill rotWithShape="0">
                <a:blip r:embed="rId4"/>
                <a:stretch>
                  <a:fillRect l="-713" t="-1887" b="-4717"/>
                </a:stretch>
              </a:blipFill>
            </p:spPr>
            <p:txBody>
              <a:bodyPr/>
              <a:lstStyle/>
              <a:p>
                <a:r>
                  <a:rPr lang="en-US">
                    <a:noFill/>
                  </a:rPr>
                  <a:t> </a:t>
                </a:r>
              </a:p>
            </p:txBody>
          </p:sp>
        </mc:Fallback>
      </mc:AlternateContent>
      <p:sp>
        <p:nvSpPr>
          <p:cNvPr id="14" name="Rectangle 13">
            <a:extLst>
              <a:ext uri="{FF2B5EF4-FFF2-40B4-BE49-F238E27FC236}">
                <a16:creationId xmlns:a16="http://schemas.microsoft.com/office/drawing/2014/main" xmlns="" id="{68B945A5-F177-344B-8B82-D517D9A99425}"/>
              </a:ext>
            </a:extLst>
          </p:cNvPr>
          <p:cNvSpPr/>
          <p:nvPr/>
        </p:nvSpPr>
        <p:spPr>
          <a:xfrm>
            <a:off x="2994042" y="3917521"/>
            <a:ext cx="3017066" cy="1631216"/>
          </a:xfrm>
          <a:prstGeom prst="rect">
            <a:avLst/>
          </a:prstGeom>
        </p:spPr>
        <p:txBody>
          <a:bodyPr wrap="square">
            <a:spAutoFit/>
          </a:bodyPr>
          <a:lstStyle/>
          <a:p>
            <a:pPr algn="r"/>
            <a:r>
              <a:rPr lang="en-US" sz="2000" dirty="0">
                <a:latin typeface="Verdana" panose="020B0604030504040204" pitchFamily="34" charset="0"/>
                <a:ea typeface="Times New Roman" panose="02020603050405020304" pitchFamily="18" charset="0"/>
                <a:cs typeface="Times New Roman" panose="02020603050405020304" pitchFamily="18" charset="0"/>
              </a:rPr>
              <a:t>mustard seeds (tsp)</a:t>
            </a:r>
          </a:p>
          <a:p>
            <a:pPr algn="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algn="r"/>
            <a:r>
              <a:rPr lang="en-US" sz="2000" dirty="0">
                <a:latin typeface="Verdana" panose="020B0604030504040204" pitchFamily="34" charset="0"/>
                <a:ea typeface="Times New Roman" panose="02020603050405020304" pitchFamily="18" charset="0"/>
                <a:cs typeface="Times New Roman" panose="02020603050405020304" pitchFamily="18" charset="0"/>
              </a:rPr>
              <a:t>chili powder (tsp)</a:t>
            </a:r>
          </a:p>
          <a:p>
            <a:pPr algn="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algn="r"/>
            <a:r>
              <a:rPr lang="en-US" sz="2000" dirty="0">
                <a:latin typeface="Verdana" panose="020B0604030504040204" pitchFamily="34" charset="0"/>
                <a:ea typeface="Times New Roman" panose="02020603050405020304" pitchFamily="18" charset="0"/>
                <a:cs typeface="Times New Roman" panose="02020603050405020304" pitchFamily="18" charset="0"/>
              </a:rPr>
              <a:t>salt (tsp)</a:t>
            </a:r>
          </a:p>
        </p:txBody>
      </p:sp>
      <p:pic>
        <p:nvPicPr>
          <p:cNvPr id="16" name="Picture 15">
            <a:extLst>
              <a:ext uri="{FF2B5EF4-FFF2-40B4-BE49-F238E27FC236}">
                <a16:creationId xmlns:a16="http://schemas.microsoft.com/office/drawing/2014/main" xmlns="" id="{A070341F-0E41-834B-A0E5-E93710142AAF}"/>
              </a:ext>
            </a:extLst>
          </p:cNvPr>
          <p:cNvPicPr>
            <a:picLocks noChangeAspect="1"/>
          </p:cNvPicPr>
          <p:nvPr/>
        </p:nvPicPr>
        <p:blipFill>
          <a:blip r:embed="rId5"/>
          <a:stretch>
            <a:fillRect/>
          </a:stretch>
        </p:blipFill>
        <p:spPr>
          <a:xfrm>
            <a:off x="6457950" y="3864827"/>
            <a:ext cx="1181100" cy="431800"/>
          </a:xfrm>
          <a:prstGeom prst="rect">
            <a:avLst/>
          </a:prstGeom>
        </p:spPr>
      </p:pic>
      <p:pic>
        <p:nvPicPr>
          <p:cNvPr id="17" name="Picture 16">
            <a:extLst>
              <a:ext uri="{FF2B5EF4-FFF2-40B4-BE49-F238E27FC236}">
                <a16:creationId xmlns:a16="http://schemas.microsoft.com/office/drawing/2014/main" xmlns="" id="{37B149E6-7762-BE43-BCCE-931B803F0E25}"/>
              </a:ext>
            </a:extLst>
          </p:cNvPr>
          <p:cNvPicPr>
            <a:picLocks noChangeAspect="1"/>
          </p:cNvPicPr>
          <p:nvPr/>
        </p:nvPicPr>
        <p:blipFill>
          <a:blip r:embed="rId6"/>
          <a:stretch>
            <a:fillRect/>
          </a:stretch>
        </p:blipFill>
        <p:spPr>
          <a:xfrm>
            <a:off x="6162007" y="4536279"/>
            <a:ext cx="1905000" cy="393700"/>
          </a:xfrm>
          <a:prstGeom prst="rect">
            <a:avLst/>
          </a:prstGeom>
        </p:spPr>
      </p:pic>
      <p:pic>
        <p:nvPicPr>
          <p:cNvPr id="18" name="Picture 17">
            <a:extLst>
              <a:ext uri="{FF2B5EF4-FFF2-40B4-BE49-F238E27FC236}">
                <a16:creationId xmlns:a16="http://schemas.microsoft.com/office/drawing/2014/main" xmlns="" id="{B8E41393-DD2F-AB43-9B49-98068A2A3FBD}"/>
              </a:ext>
            </a:extLst>
          </p:cNvPr>
          <p:cNvPicPr>
            <a:picLocks noChangeAspect="1"/>
          </p:cNvPicPr>
          <p:nvPr/>
        </p:nvPicPr>
        <p:blipFill>
          <a:blip r:embed="rId7"/>
          <a:stretch>
            <a:fillRect/>
          </a:stretch>
        </p:blipFill>
        <p:spPr>
          <a:xfrm>
            <a:off x="6832150" y="5164702"/>
            <a:ext cx="482600" cy="381000"/>
          </a:xfrm>
          <a:prstGeom prst="rect">
            <a:avLst/>
          </a:prstGeom>
        </p:spPr>
      </p:pic>
      <p:sp>
        <p:nvSpPr>
          <p:cNvPr id="19" name="Rectangle 18">
            <a:extLst>
              <a:ext uri="{FF2B5EF4-FFF2-40B4-BE49-F238E27FC236}">
                <a16:creationId xmlns:a16="http://schemas.microsoft.com/office/drawing/2014/main" xmlns="" id="{56EA88FC-6569-FA49-9274-BA2211854D51}"/>
              </a:ext>
            </a:extLst>
          </p:cNvPr>
          <p:cNvSpPr/>
          <p:nvPr/>
        </p:nvSpPr>
        <p:spPr>
          <a:xfrm>
            <a:off x="1957500" y="5823251"/>
            <a:ext cx="8581650" cy="400110"/>
          </a:xfrm>
          <a:prstGeom prst="rect">
            <a:avLst/>
          </a:prstGeom>
        </p:spPr>
        <p:txBody>
          <a:bodyPr wrap="square">
            <a:spAutoFit/>
          </a:bodyPr>
          <a:lstStyle/>
          <a:p>
            <a:pPr indent="495300"/>
            <a:r>
              <a:rPr lang="en-US" sz="2000" dirty="0">
                <a:latin typeface="Verdana" panose="020B0604030504040204" pitchFamily="34" charset="0"/>
                <a:ea typeface="Times New Roman" panose="02020603050405020304" pitchFamily="18" charset="0"/>
                <a:cs typeface="Times New Roman" panose="02020603050405020304" pitchFamily="18" charset="0"/>
              </a:rPr>
              <a:t>How many teaspoons of spices are in 1 batch of the mix?</a:t>
            </a:r>
          </a:p>
        </p:txBody>
      </p:sp>
      <p:sp>
        <p:nvSpPr>
          <p:cNvPr id="13" name="Google Shape;278;g104476d1465_1_17">
            <a:extLst>
              <a:ext uri="{FF2B5EF4-FFF2-40B4-BE49-F238E27FC236}">
                <a16:creationId xmlns:a16="http://schemas.microsoft.com/office/drawing/2014/main" xmlns="" id="{CE13FE23-8B05-3246-A9AE-97B36A3C0A25}"/>
              </a:ext>
            </a:extLst>
          </p:cNvPr>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5" name="Google Shape;282;g104476d1465_1_17"/>
          <p:cNvSpPr txBox="1"/>
          <p:nvPr/>
        </p:nvSpPr>
        <p:spPr>
          <a:xfrm>
            <a:off x="871247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176</a:t>
            </a:r>
            <a:endParaRPr i="1" dirty="0">
              <a:latin typeface="Calibri"/>
              <a:ea typeface="Calibri"/>
              <a:cs typeface="Calibri"/>
              <a:sym typeface="Calibri"/>
            </a:endParaRPr>
          </a:p>
        </p:txBody>
      </p:sp>
      <p:pic>
        <p:nvPicPr>
          <p:cNvPr id="20" name="Google Shape;283;g104476d1465_1_17"/>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1145070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866390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 name="Rectangle 1">
            <a:extLst>
              <a:ext uri="{FF2B5EF4-FFF2-40B4-BE49-F238E27FC236}">
                <a16:creationId xmlns:a16="http://schemas.microsoft.com/office/drawing/2014/main" xmlns="" id="{22E7CAFC-319F-CE4F-8B26-ED2749A56CDA}"/>
              </a:ext>
            </a:extLst>
          </p:cNvPr>
          <p:cNvSpPr/>
          <p:nvPr/>
        </p:nvSpPr>
        <p:spPr>
          <a:xfrm>
            <a:off x="1410789" y="241675"/>
            <a:ext cx="9621882" cy="1631216"/>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Ratios can be used to describe part-to-part relationships, where one part is being compared to another, and part-to-whole relationships, where one part is being compared to the entire group. </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statements in the table.</a:t>
            </a:r>
          </a:p>
        </p:txBody>
      </p:sp>
      <p:graphicFrame>
        <p:nvGraphicFramePr>
          <p:cNvPr id="3" name="Table 2">
            <a:extLst>
              <a:ext uri="{FF2B5EF4-FFF2-40B4-BE49-F238E27FC236}">
                <a16:creationId xmlns:a16="http://schemas.microsoft.com/office/drawing/2014/main" xmlns="" id="{6CEAAE8A-B670-3941-8D6B-B6F08A8EAD99}"/>
              </a:ext>
            </a:extLst>
          </p:cNvPr>
          <p:cNvGraphicFramePr>
            <a:graphicFrameLocks noGrp="1"/>
          </p:cNvGraphicFramePr>
          <p:nvPr>
            <p:extLst>
              <p:ext uri="{D42A27DB-BD31-4B8C-83A1-F6EECF244321}">
                <p14:modId xmlns:p14="http://schemas.microsoft.com/office/powerpoint/2010/main" val="2488246778"/>
              </p:ext>
            </p:extLst>
          </p:nvPr>
        </p:nvGraphicFramePr>
        <p:xfrm>
          <a:off x="2172474" y="2445024"/>
          <a:ext cx="7847052" cy="3963228"/>
        </p:xfrm>
        <a:graphic>
          <a:graphicData uri="http://schemas.openxmlformats.org/drawingml/2006/table">
            <a:tbl>
              <a:tblPr firstRow="1" firstCol="1" bandRow="1">
                <a:tableStyleId>{A91F0D33-8C57-4600-99A7-42BC86742BE1}</a:tableStyleId>
              </a:tblPr>
              <a:tblGrid>
                <a:gridCol w="2382140">
                  <a:extLst>
                    <a:ext uri="{9D8B030D-6E8A-4147-A177-3AD203B41FA5}">
                      <a16:colId xmlns:a16="http://schemas.microsoft.com/office/drawing/2014/main" xmlns="" val="1591571035"/>
                    </a:ext>
                  </a:extLst>
                </a:gridCol>
                <a:gridCol w="5464912">
                  <a:extLst>
                    <a:ext uri="{9D8B030D-6E8A-4147-A177-3AD203B41FA5}">
                      <a16:colId xmlns:a16="http://schemas.microsoft.com/office/drawing/2014/main" xmlns="" val="488908493"/>
                    </a:ext>
                  </a:extLst>
                </a:gridCol>
              </a:tblGrid>
              <a:tr h="382417">
                <a:tc>
                  <a:txBody>
                    <a:bodyPr/>
                    <a:lstStyle/>
                    <a:p>
                      <a:pPr marL="0" marR="0" algn="ctr">
                        <a:spcBef>
                          <a:spcPts val="0"/>
                        </a:spcBef>
                        <a:spcAft>
                          <a:spcPts val="0"/>
                        </a:spcAft>
                      </a:pPr>
                      <a:r>
                        <a:rPr lang="en-US" sz="1500" b="1" dirty="0">
                          <a:effectLst/>
                          <a:latin typeface="Verdana" panose="020B0604030504040204" pitchFamily="34" charset="0"/>
                          <a:ea typeface="Verdana" panose="020B0604030504040204" pitchFamily="34" charset="0"/>
                          <a:cs typeface="Verdana" panose="020B0604030504040204" pitchFamily="34" charset="0"/>
                        </a:rPr>
                        <a:t>Type of Relationship</a:t>
                      </a:r>
                      <a:endParaRPr lang="x-none" sz="1000" b="1" dirty="0">
                        <a:effectLst/>
                        <a:latin typeface="Verdana" panose="020B0604030504040204" pitchFamily="34" charset="0"/>
                        <a:ea typeface="Verdana" panose="020B0604030504040204" pitchFamily="34" charset="0"/>
                        <a:cs typeface="Verdana" panose="020B0604030504040204" pitchFamily="34" charset="0"/>
                      </a:endParaRPr>
                    </a:p>
                  </a:txBody>
                  <a:tcPr marL="55438" marR="5543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500" b="1" dirty="0">
                          <a:effectLst/>
                          <a:latin typeface="Verdana" panose="020B0604030504040204" pitchFamily="34" charset="0"/>
                          <a:ea typeface="Verdana" panose="020B0604030504040204" pitchFamily="34" charset="0"/>
                          <a:cs typeface="Verdana" panose="020B0604030504040204" pitchFamily="34" charset="0"/>
                        </a:rPr>
                        <a:t>Example Statements</a:t>
                      </a:r>
                      <a:endParaRPr lang="x-none" sz="1000" b="1" dirty="0">
                        <a:effectLst/>
                        <a:latin typeface="Verdana" panose="020B0604030504040204" pitchFamily="34" charset="0"/>
                        <a:ea typeface="Verdana" panose="020B0604030504040204" pitchFamily="34" charset="0"/>
                        <a:cs typeface="Verdana" panose="020B0604030504040204" pitchFamily="34" charset="0"/>
                      </a:endParaRPr>
                    </a:p>
                  </a:txBody>
                  <a:tcPr marL="55438" marR="5543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3883292874"/>
                  </a:ext>
                </a:extLst>
              </a:tr>
              <a:tr h="1398583">
                <a:tc>
                  <a:txBody>
                    <a:bodyPr/>
                    <a:lstStyle/>
                    <a:p>
                      <a:pPr marL="0" marR="0" algn="ctr">
                        <a:spcBef>
                          <a:spcPts val="0"/>
                        </a:spcBef>
                        <a:spcAft>
                          <a:spcPts val="0"/>
                        </a:spcAft>
                      </a:pPr>
                      <a:r>
                        <a:rPr lang="en-US" sz="1500">
                          <a:effectLst/>
                          <a:latin typeface="Verdana" panose="020B0604030504040204" pitchFamily="34" charset="0"/>
                          <a:ea typeface="Verdana" panose="020B0604030504040204" pitchFamily="34" charset="0"/>
                          <a:cs typeface="Verdana" panose="020B0604030504040204" pitchFamily="34" charset="0"/>
                        </a:rPr>
                        <a:t>part-to-part</a:t>
                      </a:r>
                      <a:endParaRPr lang="x-none" sz="1000">
                        <a:effectLst/>
                        <a:latin typeface="Verdana" panose="020B0604030504040204" pitchFamily="34" charset="0"/>
                        <a:ea typeface="Verdana" panose="020B0604030504040204" pitchFamily="34" charset="0"/>
                        <a:cs typeface="Verdana" panose="020B0604030504040204" pitchFamily="34" charset="0"/>
                      </a:endParaRPr>
                    </a:p>
                  </a:txBody>
                  <a:tcPr marL="55438" marR="5543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50000"/>
                        </a:lnSpc>
                        <a:spcBef>
                          <a:spcPts val="0"/>
                        </a:spcBef>
                        <a:spcAft>
                          <a:spcPts val="0"/>
                        </a:spcAft>
                      </a:pPr>
                      <a:r>
                        <a:rPr lang="en-US" sz="1500">
                          <a:effectLst/>
                          <a:latin typeface="Verdana" panose="020B0604030504040204" pitchFamily="34" charset="0"/>
                          <a:ea typeface="Verdana" panose="020B0604030504040204" pitchFamily="34" charset="0"/>
                          <a:cs typeface="Verdana" panose="020B0604030504040204" pitchFamily="34" charset="0"/>
                        </a:rPr>
                        <a:t>The ratio of teaspoon of chili powder to tsp of mustard seeds is ___:___.</a:t>
                      </a:r>
                      <a:endParaRPr lang="x-none" sz="10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50000"/>
                        </a:lnSpc>
                        <a:spcBef>
                          <a:spcPts val="0"/>
                        </a:spcBef>
                        <a:spcAft>
                          <a:spcPts val="0"/>
                        </a:spcAft>
                      </a:pPr>
                      <a:r>
                        <a:rPr lang="en-US" sz="1500">
                          <a:effectLst/>
                          <a:latin typeface="Verdana" panose="020B0604030504040204" pitchFamily="34" charset="0"/>
                          <a:ea typeface="Verdana" panose="020B0604030504040204" pitchFamily="34" charset="0"/>
                          <a:cs typeface="Verdana" panose="020B0604030504040204" pitchFamily="34" charset="0"/>
                        </a:rPr>
                        <a:t> </a:t>
                      </a:r>
                      <a:endParaRPr lang="x-none" sz="10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50000"/>
                        </a:lnSpc>
                        <a:spcBef>
                          <a:spcPts val="0"/>
                        </a:spcBef>
                        <a:spcAft>
                          <a:spcPts val="0"/>
                        </a:spcAft>
                      </a:pPr>
                      <a:r>
                        <a:rPr lang="en-US" sz="1500">
                          <a:effectLst/>
                          <a:latin typeface="Verdana" panose="020B0604030504040204" pitchFamily="34" charset="0"/>
                          <a:ea typeface="Verdana" panose="020B0604030504040204" pitchFamily="34" charset="0"/>
                          <a:cs typeface="Verdana" panose="020B0604030504040204" pitchFamily="34" charset="0"/>
                        </a:rPr>
                        <a:t>There are ____ teaspoons of mustard seeds per tsp of salt.</a:t>
                      </a:r>
                      <a:endParaRPr lang="x-none" sz="1000">
                        <a:effectLst/>
                        <a:latin typeface="Verdana" panose="020B0604030504040204" pitchFamily="34" charset="0"/>
                        <a:ea typeface="Verdana" panose="020B0604030504040204" pitchFamily="34" charset="0"/>
                        <a:cs typeface="Verdana" panose="020B0604030504040204" pitchFamily="34" charset="0"/>
                      </a:endParaRPr>
                    </a:p>
                  </a:txBody>
                  <a:tcPr marL="55438" marR="5543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434219728"/>
                  </a:ext>
                </a:extLst>
              </a:tr>
              <a:tr h="1912539">
                <a:tc>
                  <a:txBody>
                    <a:bodyPr/>
                    <a:lstStyle/>
                    <a:p>
                      <a:pPr marL="0" marR="0" algn="ctr">
                        <a:spcBef>
                          <a:spcPts val="0"/>
                        </a:spcBef>
                        <a:spcAft>
                          <a:spcPts val="0"/>
                        </a:spcAft>
                      </a:pPr>
                      <a:r>
                        <a:rPr lang="en-US" sz="1500">
                          <a:effectLst/>
                          <a:latin typeface="Verdana" panose="020B0604030504040204" pitchFamily="34" charset="0"/>
                          <a:ea typeface="Verdana" panose="020B0604030504040204" pitchFamily="34" charset="0"/>
                          <a:cs typeface="Verdana" panose="020B0604030504040204" pitchFamily="34" charset="0"/>
                        </a:rPr>
                        <a:t>part-to-whole</a:t>
                      </a:r>
                      <a:endParaRPr lang="x-none" sz="1000">
                        <a:effectLst/>
                        <a:latin typeface="Verdana" panose="020B0604030504040204" pitchFamily="34" charset="0"/>
                        <a:ea typeface="Verdana" panose="020B0604030504040204" pitchFamily="34" charset="0"/>
                        <a:cs typeface="Verdana" panose="020B0604030504040204" pitchFamily="34" charset="0"/>
                      </a:endParaRPr>
                    </a:p>
                  </a:txBody>
                  <a:tcPr marL="55438" marR="5543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50000"/>
                        </a:lnSpc>
                        <a:spcBef>
                          <a:spcPts val="0"/>
                        </a:spcBef>
                        <a:spcAft>
                          <a:spcPts val="0"/>
                        </a:spcAft>
                      </a:pPr>
                      <a:r>
                        <a:rPr lang="en-US" sz="1500" dirty="0">
                          <a:effectLst/>
                          <a:latin typeface="Verdana" panose="020B0604030504040204" pitchFamily="34" charset="0"/>
                          <a:ea typeface="Verdana" panose="020B0604030504040204" pitchFamily="34" charset="0"/>
                          <a:cs typeface="Verdana" panose="020B0604030504040204" pitchFamily="34" charset="0"/>
                        </a:rPr>
                        <a:t>The ratio of teaspoons of chili powder to teaspoons of spice mix is ____ to ____.</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50000"/>
                        </a:lnSpc>
                        <a:spcBef>
                          <a:spcPts val="0"/>
                        </a:spcBef>
                        <a:spcAft>
                          <a:spcPts val="0"/>
                        </a:spcAft>
                      </a:pPr>
                      <a:r>
                        <a:rPr lang="en-US" sz="1500" dirty="0">
                          <a:effectLst/>
                          <a:latin typeface="Verdana" panose="020B0604030504040204" pitchFamily="34" charset="0"/>
                          <a:ea typeface="Verdana" panose="020B0604030504040204" pitchFamily="34" charset="0"/>
                          <a:cs typeface="Verdana" panose="020B0604030504040204" pitchFamily="34" charset="0"/>
                        </a:rPr>
                        <a:t> </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50000"/>
                        </a:lnSpc>
                        <a:spcBef>
                          <a:spcPts val="0"/>
                        </a:spcBef>
                        <a:spcAft>
                          <a:spcPts val="0"/>
                        </a:spcAft>
                      </a:pPr>
                      <a:r>
                        <a:rPr lang="en-US" sz="1500" dirty="0">
                          <a:effectLst/>
                          <a:latin typeface="Verdana" panose="020B0604030504040204" pitchFamily="34" charset="0"/>
                          <a:ea typeface="Verdana" panose="020B0604030504040204" pitchFamily="34" charset="0"/>
                          <a:cs typeface="Verdana" panose="020B0604030504040204" pitchFamily="34" charset="0"/>
                        </a:rPr>
                        <a:t>For every ____ teaspoon(s) of salt, ____ teaspoon(s) of spice mix can be made.</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txBody>
                  <a:tcPr marL="55438" marR="5543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23214762"/>
                  </a:ext>
                </a:extLst>
              </a:tr>
            </a:tbl>
          </a:graphicData>
        </a:graphic>
      </p:graphicFrame>
      <p:sp>
        <p:nvSpPr>
          <p:cNvPr id="7" name="Google Shape;278;g104476d1465_1_17">
            <a:extLst>
              <a:ext uri="{FF2B5EF4-FFF2-40B4-BE49-F238E27FC236}">
                <a16:creationId xmlns:a16="http://schemas.microsoft.com/office/drawing/2014/main" xmlns="" id="{FE7193D1-6475-974C-B9C5-11F12C3BD5C5}"/>
              </a:ext>
            </a:extLst>
          </p:cNvPr>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71247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176</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070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692315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Rectangle 7">
            <a:extLst>
              <a:ext uri="{FF2B5EF4-FFF2-40B4-BE49-F238E27FC236}">
                <a16:creationId xmlns:a16="http://schemas.microsoft.com/office/drawing/2014/main" xmlns="" id="{CECD6B6F-929B-8F47-BFEE-44ED1D0E863F}"/>
              </a:ext>
            </a:extLst>
          </p:cNvPr>
          <p:cNvSpPr/>
          <p:nvPr/>
        </p:nvSpPr>
        <p:spPr>
          <a:xfrm>
            <a:off x="1423851" y="1012351"/>
            <a:ext cx="9836310" cy="400110"/>
          </a:xfrm>
          <a:prstGeom prst="rect">
            <a:avLst/>
          </a:prstGeom>
        </p:spPr>
        <p:txBody>
          <a:bodyPr wrap="square">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what is meant by “whole” in part-to-whole.</a:t>
            </a:r>
          </a:p>
        </p:txBody>
      </p:sp>
      <p:sp>
        <p:nvSpPr>
          <p:cNvPr id="6" name="Google Shape;278;g104476d1465_1_17">
            <a:extLst>
              <a:ext uri="{FF2B5EF4-FFF2-40B4-BE49-F238E27FC236}">
                <a16:creationId xmlns:a16="http://schemas.microsoft.com/office/drawing/2014/main" xmlns="" id="{E7F9206B-C61A-244B-B5E5-2B60F915932B}"/>
              </a:ext>
            </a:extLst>
          </p:cNvPr>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71247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176</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070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353768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400" b="1" dirty="0">
                <a:solidFill>
                  <a:srgbClr val="33BEA6"/>
                </a:solidFill>
                <a:latin typeface="Verdana"/>
                <a:ea typeface="Verdana"/>
                <a:cs typeface="Verdana"/>
                <a:sym typeface="Verdana"/>
              </a:rPr>
              <a:t>Collaboration</a:t>
            </a:r>
            <a:endParaRPr sz="4000" b="1" dirty="0">
              <a:solidFill>
                <a:srgbClr val="33BEA6"/>
              </a:solidFill>
              <a:latin typeface="Verdana"/>
              <a:ea typeface="Verdana"/>
              <a:cs typeface="Verdana"/>
              <a:sym typeface="Verdana"/>
            </a:endParaRPr>
          </a:p>
        </p:txBody>
      </p:sp>
      <p:pic>
        <p:nvPicPr>
          <p:cNvPr id="8" name="image6.png">
            <a:extLst>
              <a:ext uri="{FF2B5EF4-FFF2-40B4-BE49-F238E27FC236}">
                <a16:creationId xmlns:a16="http://schemas.microsoft.com/office/drawing/2014/main" xmlns="" id="{0FDC3B16-21A5-F342-BD79-234F3DA94433}"/>
              </a:ext>
            </a:extLst>
          </p:cNvPr>
          <p:cNvPicPr/>
          <p:nvPr/>
        </p:nvPicPr>
        <p:blipFill>
          <a:blip r:embed="rId3"/>
          <a:srcRect/>
          <a:stretch>
            <a:fillRect/>
          </a:stretch>
        </p:blipFill>
        <p:spPr>
          <a:xfrm>
            <a:off x="4630951" y="2814306"/>
            <a:ext cx="1156228" cy="1156228"/>
          </a:xfrm>
          <a:prstGeom prst="rect">
            <a:avLst/>
          </a:prstGeom>
          <a:ln/>
          <a:effectLst>
            <a:outerShdw blurRad="50800" dist="38100" dir="2700000" algn="tl" rotWithShape="0">
              <a:prstClr val="black">
                <a:alpha val="40000"/>
              </a:prstClr>
            </a:outerShdw>
          </a:effectLst>
        </p:spPr>
      </p:pic>
      <p:sp>
        <p:nvSpPr>
          <p:cNvPr id="9" name="Google Shape;309;g104476d1465_1_39">
            <a:extLst>
              <a:ext uri="{FF2B5EF4-FFF2-40B4-BE49-F238E27FC236}">
                <a16:creationId xmlns:a16="http://schemas.microsoft.com/office/drawing/2014/main" xmlns="" id="{8F56397C-22B3-3543-824E-EA8189C2850D}"/>
              </a:ext>
            </a:extLst>
          </p:cNvPr>
          <p:cNvSpPr/>
          <p:nvPr/>
        </p:nvSpPr>
        <p:spPr>
          <a:xfrm>
            <a:off x="0" y="-40630"/>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71247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177</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070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481771" y="4642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5.1.5 Collaboration: Interpreting </a:t>
            </a:r>
            <a:r>
              <a:rPr lang="en-US" sz="2800" b="1">
                <a:solidFill>
                  <a:srgbClr val="33BEA6"/>
                </a:solidFill>
                <a:latin typeface="Verdana"/>
                <a:ea typeface="Verdana"/>
                <a:cs typeface="Verdana"/>
                <a:sym typeface="Verdana"/>
              </a:rPr>
              <a:t>Ratios </a:t>
            </a:r>
            <a:r>
              <a:rPr lang="en-US" sz="2800" b="1" smtClean="0">
                <a:solidFill>
                  <a:srgbClr val="33BEA6"/>
                </a:solidFill>
                <a:latin typeface="Verdana"/>
                <a:ea typeface="Verdana"/>
                <a:cs typeface="Verdana"/>
                <a:sym typeface="Verdana"/>
              </a:rPr>
              <a:t>With </a:t>
            </a:r>
            <a:r>
              <a:rPr lang="en-US" sz="2800" b="1" dirty="0">
                <a:solidFill>
                  <a:srgbClr val="33BEA6"/>
                </a:solidFill>
                <a:latin typeface="Verdana"/>
                <a:ea typeface="Verdana"/>
                <a:cs typeface="Verdana"/>
                <a:sym typeface="Verdana"/>
              </a:rPr>
              <a:t>Diagrams</a:t>
            </a:r>
          </a:p>
        </p:txBody>
      </p:sp>
      <p:sp>
        <p:nvSpPr>
          <p:cNvPr id="2" name="Rectangle 1">
            <a:extLst>
              <a:ext uri="{FF2B5EF4-FFF2-40B4-BE49-F238E27FC236}">
                <a16:creationId xmlns:a16="http://schemas.microsoft.com/office/drawing/2014/main" xmlns="" id="{B05AB5A2-AF35-B14C-AE54-D2A0628C823C}"/>
              </a:ext>
            </a:extLst>
          </p:cNvPr>
          <p:cNvSpPr/>
          <p:nvPr/>
        </p:nvSpPr>
        <p:spPr>
          <a:xfrm>
            <a:off x="1420577" y="1340983"/>
            <a:ext cx="9350848" cy="830997"/>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The diagram shows the ingredients Luca mixed to make the same spice mix recipe.</a:t>
            </a:r>
          </a:p>
        </p:txBody>
      </p:sp>
      <p:pic>
        <p:nvPicPr>
          <p:cNvPr id="9" name="image6.png">
            <a:extLst>
              <a:ext uri="{FF2B5EF4-FFF2-40B4-BE49-F238E27FC236}">
                <a16:creationId xmlns:a16="http://schemas.microsoft.com/office/drawing/2014/main" xmlns="" id="{E8816C85-47E5-6148-B3B7-8705839E6A76}"/>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668322" y="299569"/>
            <a:ext cx="752254" cy="752254"/>
          </a:xfrm>
          <a:prstGeom prst="rect">
            <a:avLst/>
          </a:prstGeom>
          <a:ln/>
        </p:spPr>
      </p:pic>
      <p:pic>
        <p:nvPicPr>
          <p:cNvPr id="12" name="Picture" descr="A discrete diagram for three quanties labeled &quot;mustard seeds, in teaspoons&quot;, &quot;chili powder, in teaspoons&quot;, and &quot;salt, in teaspoons&quot;. The data are as follows: mustard seeds, 9 squares. chili powder, 15 squares. salt, 3 squares.">
            <a:extLst>
              <a:ext uri="{FF2B5EF4-FFF2-40B4-BE49-F238E27FC236}">
                <a16:creationId xmlns:a16="http://schemas.microsoft.com/office/drawing/2014/main" xmlns="" id="{67F613EF-278A-C747-ADB1-62B400B3FBF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bwMode="auto">
          <a:xfrm>
            <a:off x="2673032" y="2447233"/>
            <a:ext cx="6845935" cy="1634490"/>
          </a:xfrm>
          <a:prstGeom prst="rect">
            <a:avLst/>
          </a:prstGeom>
          <a:noFill/>
          <a:ln w="9525">
            <a:noFill/>
            <a:headEnd/>
            <a:tailEnd/>
          </a:ln>
        </p:spPr>
      </p:pic>
      <p:sp>
        <p:nvSpPr>
          <p:cNvPr id="13" name="Rectangle 12">
            <a:extLst>
              <a:ext uri="{FF2B5EF4-FFF2-40B4-BE49-F238E27FC236}">
                <a16:creationId xmlns:a16="http://schemas.microsoft.com/office/drawing/2014/main" xmlns="" id="{ADAB1ADE-5280-C64B-999D-9208C54678AC}"/>
              </a:ext>
            </a:extLst>
          </p:cNvPr>
          <p:cNvSpPr/>
          <p:nvPr/>
        </p:nvSpPr>
        <p:spPr>
          <a:xfrm>
            <a:off x="1969000" y="4592183"/>
            <a:ext cx="8254001" cy="1200329"/>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Work with your partner to determine how many batches of spice mix are represented by the diagram. Explain or show your reasoning.</a:t>
            </a:r>
          </a:p>
        </p:txBody>
      </p:sp>
      <p:sp>
        <p:nvSpPr>
          <p:cNvPr id="10" name="Google Shape;278;g104476d1465_1_17">
            <a:extLst>
              <a:ext uri="{FF2B5EF4-FFF2-40B4-BE49-F238E27FC236}">
                <a16:creationId xmlns:a16="http://schemas.microsoft.com/office/drawing/2014/main" xmlns="" id="{F8A41CFC-E861-064C-8B91-12FE2A241ACC}"/>
              </a:ext>
            </a:extLst>
          </p:cNvPr>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Google Shape;282;g104476d1465_1_17"/>
          <p:cNvSpPr txBox="1"/>
          <p:nvPr/>
        </p:nvSpPr>
        <p:spPr>
          <a:xfrm>
            <a:off x="871247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177</a:t>
            </a:r>
            <a:endParaRPr i="1" dirty="0">
              <a:latin typeface="Calibri"/>
              <a:ea typeface="Calibri"/>
              <a:cs typeface="Calibri"/>
              <a:sym typeface="Calibri"/>
            </a:endParaRPr>
          </a:p>
        </p:txBody>
      </p:sp>
      <p:pic>
        <p:nvPicPr>
          <p:cNvPr id="15"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5070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352480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xmlns="" id="{96EBC228-FF81-F24F-AEB8-9068AF825BE0}"/>
                  </a:ext>
                </a:extLst>
              </p:cNvPr>
              <p:cNvSpPr/>
              <p:nvPr/>
            </p:nvSpPr>
            <p:spPr>
              <a:xfrm>
                <a:off x="1071154" y="197511"/>
                <a:ext cx="10214146" cy="1569660"/>
              </a:xfrm>
              <a:prstGeom prst="rect">
                <a:avLst/>
              </a:prstGeom>
            </p:spPr>
            <p:txBody>
              <a:bodyPr wrap="square">
                <a:spAutoFit/>
              </a:bodyPr>
              <a:lstStyle/>
              <a:p>
                <a:pPr marL="581025"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When mixing paint colors, the same shade is produced when the same ratios of each color are used to mix the paint. The diagram represents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4</m:t>
                    </m:r>
                  </m:oMath>
                </a14:m>
                <a:r>
                  <a:rPr lang="en-US" sz="2400" dirty="0">
                    <a:latin typeface="Verdana" panose="020B0604030504040204" pitchFamily="34" charset="0"/>
                    <a:ea typeface="Verdana" panose="020B0604030504040204" pitchFamily="34" charset="0"/>
                    <a:cs typeface="Verdana" panose="020B0604030504040204" pitchFamily="34" charset="0"/>
                  </a:rPr>
                  <a:t> batches of light green paint that </a:t>
                </a:r>
                <a:r>
                  <a:rPr lang="en-US" sz="2400" dirty="0" err="1">
                    <a:latin typeface="Verdana" panose="020B0604030504040204" pitchFamily="34" charset="0"/>
                    <a:ea typeface="Verdana" panose="020B0604030504040204" pitchFamily="34" charset="0"/>
                    <a:cs typeface="Verdana" panose="020B0604030504040204" pitchFamily="34" charset="0"/>
                  </a:rPr>
                  <a:t>Mabelise</a:t>
                </a:r>
                <a:r>
                  <a:rPr lang="en-US" sz="2400" dirty="0">
                    <a:latin typeface="Verdana" panose="020B0604030504040204" pitchFamily="34" charset="0"/>
                    <a:ea typeface="Verdana" panose="020B0604030504040204" pitchFamily="34" charset="0"/>
                    <a:cs typeface="Verdana" panose="020B0604030504040204" pitchFamily="34" charset="0"/>
                  </a:rPr>
                  <a:t> mixed.</a:t>
                </a:r>
              </a:p>
            </p:txBody>
          </p:sp>
        </mc:Choice>
        <mc:Fallback xmlns="">
          <p:sp>
            <p:nvSpPr>
              <p:cNvPr id="3" name="Rectangle 2">
                <a:extLst>
                  <a:ext uri="{FF2B5EF4-FFF2-40B4-BE49-F238E27FC236}">
                    <a16:creationId xmlns:a16="http://schemas.microsoft.com/office/drawing/2014/main" xmlns:a14="http://schemas.microsoft.com/office/drawing/2010/main" xmlns="" id="{96EBC228-FF81-F24F-AEB8-9068AF825BE0}"/>
                  </a:ext>
                </a:extLst>
              </p:cNvPr>
              <p:cNvSpPr>
                <a:spLocks noRot="1" noChangeAspect="1" noMove="1" noResize="1" noEditPoints="1" noAdjustHandles="1" noChangeArrowheads="1" noChangeShapeType="1" noTextEdit="1"/>
              </p:cNvSpPr>
              <p:nvPr/>
            </p:nvSpPr>
            <p:spPr>
              <a:xfrm>
                <a:off x="1071154" y="197511"/>
                <a:ext cx="10214146" cy="1569660"/>
              </a:xfrm>
              <a:prstGeom prst="rect">
                <a:avLst/>
              </a:prstGeom>
              <a:blipFill rotWithShape="0">
                <a:blip r:embed="rId3"/>
                <a:stretch>
                  <a:fillRect t="-3101" r="-1075" b="-7752"/>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xmlns="" id="{0B5FB634-BFAC-A646-BAC7-7183563BAC5D}"/>
              </a:ext>
            </a:extLst>
          </p:cNvPr>
          <p:cNvSpPr/>
          <p:nvPr/>
        </p:nvSpPr>
        <p:spPr>
          <a:xfrm>
            <a:off x="1791782" y="2054855"/>
            <a:ext cx="3017066" cy="1015663"/>
          </a:xfrm>
          <a:prstGeom prst="rect">
            <a:avLst/>
          </a:prstGeom>
        </p:spPr>
        <p:txBody>
          <a:bodyPr wrap="square">
            <a:spAutoFit/>
          </a:bodyPr>
          <a:lstStyle/>
          <a:p>
            <a:pPr algn="r">
              <a:lnSpc>
                <a:spcPct val="150000"/>
              </a:lnSpc>
            </a:pPr>
            <a:r>
              <a:rPr lang="en-US" sz="2000" dirty="0">
                <a:latin typeface="Verdana" panose="020B0604030504040204" pitchFamily="34" charset="0"/>
                <a:ea typeface="Times New Roman" panose="02020603050405020304" pitchFamily="18" charset="0"/>
                <a:cs typeface="Times New Roman" panose="02020603050405020304" pitchFamily="18" charset="0"/>
              </a:rPr>
              <a:t>white paint (cups)</a:t>
            </a:r>
          </a:p>
          <a:p>
            <a:pPr algn="r">
              <a:lnSpc>
                <a:spcPct val="150000"/>
              </a:lnSpc>
            </a:pPr>
            <a:r>
              <a:rPr lang="en-US" sz="2000" dirty="0">
                <a:latin typeface="Verdana" panose="020B0604030504040204" pitchFamily="34" charset="0"/>
                <a:ea typeface="Times New Roman" panose="02020603050405020304" pitchFamily="18" charset="0"/>
                <a:cs typeface="Times New Roman" panose="02020603050405020304" pitchFamily="18" charset="0"/>
              </a:rPr>
              <a:t>green paint (cups)</a:t>
            </a:r>
          </a:p>
        </p:txBody>
      </p:sp>
      <p:sp>
        <p:nvSpPr>
          <p:cNvPr id="8" name="Rectangle 7">
            <a:extLst>
              <a:ext uri="{FF2B5EF4-FFF2-40B4-BE49-F238E27FC236}">
                <a16:creationId xmlns:a16="http://schemas.microsoft.com/office/drawing/2014/main" xmlns="" id="{98277058-F18A-FE40-84B3-7479F6A1193B}"/>
              </a:ext>
            </a:extLst>
          </p:cNvPr>
          <p:cNvSpPr>
            <a:spLocks noChangeAspect="1"/>
          </p:cNvSpPr>
          <p:nvPr/>
        </p:nvSpPr>
        <p:spPr>
          <a:xfrm>
            <a:off x="6027420" y="2265045"/>
            <a:ext cx="137160" cy="137160"/>
          </a:xfrm>
          <a:prstGeom prst="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 name="Rectangle 9">
            <a:extLst>
              <a:ext uri="{FF2B5EF4-FFF2-40B4-BE49-F238E27FC236}">
                <a16:creationId xmlns:a16="http://schemas.microsoft.com/office/drawing/2014/main" xmlns="" id="{C240496E-2850-5948-9C4C-E3B693E7B521}"/>
              </a:ext>
            </a:extLst>
          </p:cNvPr>
          <p:cNvSpPr>
            <a:spLocks noChangeAspect="1"/>
          </p:cNvSpPr>
          <p:nvPr/>
        </p:nvSpPr>
        <p:spPr>
          <a:xfrm>
            <a:off x="6275070" y="2265045"/>
            <a:ext cx="137160" cy="137160"/>
          </a:xfrm>
          <a:prstGeom prst="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Rectangle 10">
            <a:extLst>
              <a:ext uri="{FF2B5EF4-FFF2-40B4-BE49-F238E27FC236}">
                <a16:creationId xmlns:a16="http://schemas.microsoft.com/office/drawing/2014/main" xmlns="" id="{8DE773BB-6891-314D-B2A0-4B64516FDC0B}"/>
              </a:ext>
            </a:extLst>
          </p:cNvPr>
          <p:cNvSpPr>
            <a:spLocks noChangeAspect="1"/>
          </p:cNvSpPr>
          <p:nvPr/>
        </p:nvSpPr>
        <p:spPr>
          <a:xfrm>
            <a:off x="6532245" y="2265045"/>
            <a:ext cx="137160" cy="137160"/>
          </a:xfrm>
          <a:prstGeom prst="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 name="Rectangle 11">
            <a:extLst>
              <a:ext uri="{FF2B5EF4-FFF2-40B4-BE49-F238E27FC236}">
                <a16:creationId xmlns:a16="http://schemas.microsoft.com/office/drawing/2014/main" xmlns="" id="{2DBA5C49-C61F-4143-B86C-57DA1A94665F}"/>
              </a:ext>
            </a:extLst>
          </p:cNvPr>
          <p:cNvSpPr>
            <a:spLocks noChangeAspect="1"/>
          </p:cNvSpPr>
          <p:nvPr/>
        </p:nvSpPr>
        <p:spPr>
          <a:xfrm>
            <a:off x="6798945" y="2265045"/>
            <a:ext cx="137160" cy="137160"/>
          </a:xfrm>
          <a:prstGeom prst="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Rectangle 12">
            <a:extLst>
              <a:ext uri="{FF2B5EF4-FFF2-40B4-BE49-F238E27FC236}">
                <a16:creationId xmlns:a16="http://schemas.microsoft.com/office/drawing/2014/main" xmlns="" id="{8C855FFD-FEB1-3344-B554-F7075245A371}"/>
              </a:ext>
            </a:extLst>
          </p:cNvPr>
          <p:cNvSpPr>
            <a:spLocks noChangeAspect="1"/>
          </p:cNvSpPr>
          <p:nvPr/>
        </p:nvSpPr>
        <p:spPr>
          <a:xfrm>
            <a:off x="7046595" y="2265045"/>
            <a:ext cx="137160" cy="137160"/>
          </a:xfrm>
          <a:prstGeom prst="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 name="Rectangle 13">
            <a:extLst>
              <a:ext uri="{FF2B5EF4-FFF2-40B4-BE49-F238E27FC236}">
                <a16:creationId xmlns:a16="http://schemas.microsoft.com/office/drawing/2014/main" xmlns="" id="{EE6C9240-8061-3843-A2C5-680CBDBB1BAD}"/>
              </a:ext>
            </a:extLst>
          </p:cNvPr>
          <p:cNvSpPr>
            <a:spLocks noChangeAspect="1"/>
          </p:cNvSpPr>
          <p:nvPr/>
        </p:nvSpPr>
        <p:spPr>
          <a:xfrm>
            <a:off x="7303770" y="2265045"/>
            <a:ext cx="137160" cy="137160"/>
          </a:xfrm>
          <a:prstGeom prst="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 name="Rectangle 14">
            <a:extLst>
              <a:ext uri="{FF2B5EF4-FFF2-40B4-BE49-F238E27FC236}">
                <a16:creationId xmlns:a16="http://schemas.microsoft.com/office/drawing/2014/main" xmlns="" id="{2777E922-CA42-E846-B3A1-BD2775F4CE0E}"/>
              </a:ext>
            </a:extLst>
          </p:cNvPr>
          <p:cNvSpPr>
            <a:spLocks noChangeAspect="1"/>
          </p:cNvSpPr>
          <p:nvPr/>
        </p:nvSpPr>
        <p:spPr>
          <a:xfrm>
            <a:off x="7579995" y="2265045"/>
            <a:ext cx="137160" cy="137160"/>
          </a:xfrm>
          <a:prstGeom prst="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Rectangle 15">
            <a:extLst>
              <a:ext uri="{FF2B5EF4-FFF2-40B4-BE49-F238E27FC236}">
                <a16:creationId xmlns:a16="http://schemas.microsoft.com/office/drawing/2014/main" xmlns="" id="{397C852F-80D8-F641-82EC-F3E12FF928DB}"/>
              </a:ext>
            </a:extLst>
          </p:cNvPr>
          <p:cNvSpPr>
            <a:spLocks noChangeAspect="1"/>
          </p:cNvSpPr>
          <p:nvPr/>
        </p:nvSpPr>
        <p:spPr>
          <a:xfrm>
            <a:off x="7827645" y="2265045"/>
            <a:ext cx="137160" cy="137160"/>
          </a:xfrm>
          <a:prstGeom prst="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 name="Rectangle 16">
            <a:extLst>
              <a:ext uri="{FF2B5EF4-FFF2-40B4-BE49-F238E27FC236}">
                <a16:creationId xmlns:a16="http://schemas.microsoft.com/office/drawing/2014/main" xmlns="" id="{28CB3621-39BD-DD44-AF51-396ADD38B3B4}"/>
              </a:ext>
            </a:extLst>
          </p:cNvPr>
          <p:cNvSpPr>
            <a:spLocks noChangeAspect="1"/>
          </p:cNvSpPr>
          <p:nvPr/>
        </p:nvSpPr>
        <p:spPr>
          <a:xfrm>
            <a:off x="8084820" y="2265045"/>
            <a:ext cx="137160" cy="137160"/>
          </a:xfrm>
          <a:prstGeom prst="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 name="Rectangle 17">
            <a:extLst>
              <a:ext uri="{FF2B5EF4-FFF2-40B4-BE49-F238E27FC236}">
                <a16:creationId xmlns:a16="http://schemas.microsoft.com/office/drawing/2014/main" xmlns="" id="{5B037D72-CB8D-0B41-9CCD-2F26E6FB8AF1}"/>
              </a:ext>
            </a:extLst>
          </p:cNvPr>
          <p:cNvSpPr>
            <a:spLocks noChangeAspect="1"/>
          </p:cNvSpPr>
          <p:nvPr/>
        </p:nvSpPr>
        <p:spPr>
          <a:xfrm>
            <a:off x="8351520" y="2265045"/>
            <a:ext cx="137160" cy="137160"/>
          </a:xfrm>
          <a:prstGeom prst="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 name="Rectangle 18">
            <a:extLst>
              <a:ext uri="{FF2B5EF4-FFF2-40B4-BE49-F238E27FC236}">
                <a16:creationId xmlns:a16="http://schemas.microsoft.com/office/drawing/2014/main" xmlns="" id="{B7722BAC-79B6-334F-ACAE-58379424C39F}"/>
              </a:ext>
            </a:extLst>
          </p:cNvPr>
          <p:cNvSpPr>
            <a:spLocks noChangeAspect="1"/>
          </p:cNvSpPr>
          <p:nvPr/>
        </p:nvSpPr>
        <p:spPr>
          <a:xfrm>
            <a:off x="8599170" y="2265045"/>
            <a:ext cx="137160" cy="137160"/>
          </a:xfrm>
          <a:prstGeom prst="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 name="Rectangle 19">
            <a:extLst>
              <a:ext uri="{FF2B5EF4-FFF2-40B4-BE49-F238E27FC236}">
                <a16:creationId xmlns:a16="http://schemas.microsoft.com/office/drawing/2014/main" xmlns="" id="{260D1B28-1096-564F-93A2-49811289B35C}"/>
              </a:ext>
            </a:extLst>
          </p:cNvPr>
          <p:cNvSpPr>
            <a:spLocks noChangeAspect="1"/>
          </p:cNvSpPr>
          <p:nvPr/>
        </p:nvSpPr>
        <p:spPr>
          <a:xfrm>
            <a:off x="8856345" y="2265045"/>
            <a:ext cx="137160" cy="137160"/>
          </a:xfrm>
          <a:prstGeom prst="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 name="Rectangle 20">
            <a:extLst>
              <a:ext uri="{FF2B5EF4-FFF2-40B4-BE49-F238E27FC236}">
                <a16:creationId xmlns:a16="http://schemas.microsoft.com/office/drawing/2014/main" xmlns="" id="{813A2501-2DE8-E640-9651-7DB5D4061553}"/>
              </a:ext>
            </a:extLst>
          </p:cNvPr>
          <p:cNvSpPr>
            <a:spLocks noChangeAspect="1"/>
          </p:cNvSpPr>
          <p:nvPr/>
        </p:nvSpPr>
        <p:spPr>
          <a:xfrm>
            <a:off x="6027420" y="2731770"/>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2" name="Rectangle 21">
            <a:extLst>
              <a:ext uri="{FF2B5EF4-FFF2-40B4-BE49-F238E27FC236}">
                <a16:creationId xmlns:a16="http://schemas.microsoft.com/office/drawing/2014/main" xmlns="" id="{83AF585B-C264-9D4B-B51D-34D2DF8549C3}"/>
              </a:ext>
            </a:extLst>
          </p:cNvPr>
          <p:cNvSpPr>
            <a:spLocks noChangeAspect="1"/>
          </p:cNvSpPr>
          <p:nvPr/>
        </p:nvSpPr>
        <p:spPr>
          <a:xfrm>
            <a:off x="6275070" y="2731770"/>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 name="Rectangle 22">
            <a:extLst>
              <a:ext uri="{FF2B5EF4-FFF2-40B4-BE49-F238E27FC236}">
                <a16:creationId xmlns:a16="http://schemas.microsoft.com/office/drawing/2014/main" xmlns="" id="{A81687BD-1668-1B49-AAA1-8213E4400C17}"/>
              </a:ext>
            </a:extLst>
          </p:cNvPr>
          <p:cNvSpPr>
            <a:spLocks noChangeAspect="1"/>
          </p:cNvSpPr>
          <p:nvPr/>
        </p:nvSpPr>
        <p:spPr>
          <a:xfrm>
            <a:off x="6532245" y="2731770"/>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 name="Rectangle 23">
            <a:extLst>
              <a:ext uri="{FF2B5EF4-FFF2-40B4-BE49-F238E27FC236}">
                <a16:creationId xmlns:a16="http://schemas.microsoft.com/office/drawing/2014/main" xmlns="" id="{5F31F469-5764-CE4E-9DB2-9A7911B02C8E}"/>
              </a:ext>
            </a:extLst>
          </p:cNvPr>
          <p:cNvSpPr>
            <a:spLocks noChangeAspect="1"/>
          </p:cNvSpPr>
          <p:nvPr/>
        </p:nvSpPr>
        <p:spPr>
          <a:xfrm>
            <a:off x="6798945" y="2731770"/>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 name="Rectangle 24">
            <a:extLst>
              <a:ext uri="{FF2B5EF4-FFF2-40B4-BE49-F238E27FC236}">
                <a16:creationId xmlns:a16="http://schemas.microsoft.com/office/drawing/2014/main" xmlns="" id="{E6D49A34-61D5-E34D-AEC8-57BFD87B4184}"/>
              </a:ext>
            </a:extLst>
          </p:cNvPr>
          <p:cNvSpPr>
            <a:spLocks noChangeAspect="1"/>
          </p:cNvSpPr>
          <p:nvPr/>
        </p:nvSpPr>
        <p:spPr>
          <a:xfrm>
            <a:off x="7046595" y="2731770"/>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6" name="Rectangle 25">
            <a:extLst>
              <a:ext uri="{FF2B5EF4-FFF2-40B4-BE49-F238E27FC236}">
                <a16:creationId xmlns:a16="http://schemas.microsoft.com/office/drawing/2014/main" xmlns="" id="{4D529FF7-3AAB-2449-A0B2-36E89395AC45}"/>
              </a:ext>
            </a:extLst>
          </p:cNvPr>
          <p:cNvSpPr>
            <a:spLocks noChangeAspect="1"/>
          </p:cNvSpPr>
          <p:nvPr/>
        </p:nvSpPr>
        <p:spPr>
          <a:xfrm>
            <a:off x="7303770" y="2731770"/>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7" name="Rectangle 26">
            <a:extLst>
              <a:ext uri="{FF2B5EF4-FFF2-40B4-BE49-F238E27FC236}">
                <a16:creationId xmlns:a16="http://schemas.microsoft.com/office/drawing/2014/main" xmlns="" id="{DDAC9790-159F-1D4B-9293-437471EB38D0}"/>
              </a:ext>
            </a:extLst>
          </p:cNvPr>
          <p:cNvSpPr>
            <a:spLocks noChangeAspect="1"/>
          </p:cNvSpPr>
          <p:nvPr/>
        </p:nvSpPr>
        <p:spPr>
          <a:xfrm>
            <a:off x="7579995" y="2731770"/>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 name="Rectangle 27">
            <a:extLst>
              <a:ext uri="{FF2B5EF4-FFF2-40B4-BE49-F238E27FC236}">
                <a16:creationId xmlns:a16="http://schemas.microsoft.com/office/drawing/2014/main" xmlns="" id="{BC249D19-A3BA-3C42-851D-C0AFF8588EEB}"/>
              </a:ext>
            </a:extLst>
          </p:cNvPr>
          <p:cNvSpPr>
            <a:spLocks noChangeAspect="1"/>
          </p:cNvSpPr>
          <p:nvPr/>
        </p:nvSpPr>
        <p:spPr>
          <a:xfrm>
            <a:off x="7827645" y="2731770"/>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 name="Rectangle 28">
            <a:extLst>
              <a:ext uri="{FF2B5EF4-FFF2-40B4-BE49-F238E27FC236}">
                <a16:creationId xmlns:a16="http://schemas.microsoft.com/office/drawing/2014/main" xmlns="" id="{308406E4-C5C9-4248-83FC-4A029039C475}"/>
              </a:ext>
            </a:extLst>
          </p:cNvPr>
          <p:cNvSpPr>
            <a:spLocks noChangeAspect="1"/>
          </p:cNvSpPr>
          <p:nvPr/>
        </p:nvSpPr>
        <p:spPr>
          <a:xfrm>
            <a:off x="8084820" y="2731770"/>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 name="Rectangle 29">
            <a:extLst>
              <a:ext uri="{FF2B5EF4-FFF2-40B4-BE49-F238E27FC236}">
                <a16:creationId xmlns:a16="http://schemas.microsoft.com/office/drawing/2014/main" xmlns="" id="{7585042E-4772-7C49-BDFD-486516FF22FC}"/>
              </a:ext>
            </a:extLst>
          </p:cNvPr>
          <p:cNvSpPr>
            <a:spLocks noChangeAspect="1"/>
          </p:cNvSpPr>
          <p:nvPr/>
        </p:nvSpPr>
        <p:spPr>
          <a:xfrm>
            <a:off x="8351520" y="2731770"/>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 name="Rectangle 30">
            <a:extLst>
              <a:ext uri="{FF2B5EF4-FFF2-40B4-BE49-F238E27FC236}">
                <a16:creationId xmlns:a16="http://schemas.microsoft.com/office/drawing/2014/main" xmlns="" id="{D238C664-C496-C243-A484-91D85E5DA2E2}"/>
              </a:ext>
            </a:extLst>
          </p:cNvPr>
          <p:cNvSpPr>
            <a:spLocks noChangeAspect="1"/>
          </p:cNvSpPr>
          <p:nvPr/>
        </p:nvSpPr>
        <p:spPr>
          <a:xfrm>
            <a:off x="8599170" y="2731770"/>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 name="Rectangle 31">
            <a:extLst>
              <a:ext uri="{FF2B5EF4-FFF2-40B4-BE49-F238E27FC236}">
                <a16:creationId xmlns:a16="http://schemas.microsoft.com/office/drawing/2014/main" xmlns="" id="{F8D42DA8-8796-044A-B224-172DC9881665}"/>
              </a:ext>
            </a:extLst>
          </p:cNvPr>
          <p:cNvSpPr>
            <a:spLocks noChangeAspect="1"/>
          </p:cNvSpPr>
          <p:nvPr/>
        </p:nvSpPr>
        <p:spPr>
          <a:xfrm>
            <a:off x="8856345" y="2731770"/>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 name="Rectangle 32">
            <a:extLst>
              <a:ext uri="{FF2B5EF4-FFF2-40B4-BE49-F238E27FC236}">
                <a16:creationId xmlns:a16="http://schemas.microsoft.com/office/drawing/2014/main" xmlns="" id="{0CEE2319-7912-ED43-9D56-610A588058EB}"/>
              </a:ext>
            </a:extLst>
          </p:cNvPr>
          <p:cNvSpPr>
            <a:spLocks noChangeAspect="1"/>
          </p:cNvSpPr>
          <p:nvPr/>
        </p:nvSpPr>
        <p:spPr>
          <a:xfrm>
            <a:off x="5513070" y="2731770"/>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 name="Rectangle 33">
            <a:extLst>
              <a:ext uri="{FF2B5EF4-FFF2-40B4-BE49-F238E27FC236}">
                <a16:creationId xmlns:a16="http://schemas.microsoft.com/office/drawing/2014/main" xmlns="" id="{2F002ABA-9F71-6445-940E-72A5F234D317}"/>
              </a:ext>
            </a:extLst>
          </p:cNvPr>
          <p:cNvSpPr>
            <a:spLocks noChangeAspect="1"/>
          </p:cNvSpPr>
          <p:nvPr/>
        </p:nvSpPr>
        <p:spPr>
          <a:xfrm>
            <a:off x="5760720" y="2731770"/>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5" name="Rectangle 34">
            <a:extLst>
              <a:ext uri="{FF2B5EF4-FFF2-40B4-BE49-F238E27FC236}">
                <a16:creationId xmlns:a16="http://schemas.microsoft.com/office/drawing/2014/main" xmlns="" id="{48EE5937-706C-1C46-B306-040C77894435}"/>
              </a:ext>
            </a:extLst>
          </p:cNvPr>
          <p:cNvSpPr>
            <a:spLocks noChangeAspect="1"/>
          </p:cNvSpPr>
          <p:nvPr/>
        </p:nvSpPr>
        <p:spPr>
          <a:xfrm>
            <a:off x="9132570" y="2731770"/>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 name="Rectangle 35">
            <a:extLst>
              <a:ext uri="{FF2B5EF4-FFF2-40B4-BE49-F238E27FC236}">
                <a16:creationId xmlns:a16="http://schemas.microsoft.com/office/drawing/2014/main" xmlns="" id="{35C9E76A-F4E8-214E-82D1-F284CB459B17}"/>
              </a:ext>
            </a:extLst>
          </p:cNvPr>
          <p:cNvSpPr>
            <a:spLocks noChangeAspect="1"/>
          </p:cNvSpPr>
          <p:nvPr/>
        </p:nvSpPr>
        <p:spPr>
          <a:xfrm>
            <a:off x="9389745" y="2731770"/>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xmlns="" id="{EED06D83-84C3-2B49-B4F5-7CDCB1163DBF}"/>
                  </a:ext>
                </a:extLst>
              </p:cNvPr>
              <p:cNvSpPr/>
              <p:nvPr/>
            </p:nvSpPr>
            <p:spPr>
              <a:xfrm>
                <a:off x="1619794" y="3537058"/>
                <a:ext cx="9116866" cy="1938992"/>
              </a:xfrm>
              <a:prstGeom prst="rect">
                <a:avLst/>
              </a:prstGeom>
            </p:spPr>
            <p:txBody>
              <a:bodyPr wrap="square">
                <a:spAutoFit/>
              </a:bodyPr>
              <a:lstStyle/>
              <a:p>
                <a:pPr marL="123825"/>
                <a:r>
                  <a:rPr lang="en-US" sz="2400" dirty="0">
                    <a:latin typeface="Verdana" panose="020B0604030504040204" pitchFamily="34" charset="0"/>
                    <a:ea typeface="Verdana" panose="020B0604030504040204" pitchFamily="34" charset="0"/>
                    <a:cs typeface="Verdana" panose="020B0604030504040204" pitchFamily="34" charset="0"/>
                  </a:rPr>
                  <a:t>Use the diagram to answer the following questions with your partner.</a:t>
                </a:r>
              </a:p>
              <a:p>
                <a:pPr marL="581025"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581025"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Draw a diagram that represents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batch of the same shade of light green paint.</a:t>
                </a:r>
              </a:p>
            </p:txBody>
          </p:sp>
        </mc:Choice>
        <mc:Fallback xmlns="">
          <p:sp>
            <p:nvSpPr>
              <p:cNvPr id="37" name="Rectangle 36">
                <a:extLst>
                  <a:ext uri="{FF2B5EF4-FFF2-40B4-BE49-F238E27FC236}">
                    <a16:creationId xmlns:a16="http://schemas.microsoft.com/office/drawing/2014/main" xmlns:a14="http://schemas.microsoft.com/office/drawing/2010/main" xmlns="" id="{EED06D83-84C3-2B49-B4F5-7CDCB1163DBF}"/>
                  </a:ext>
                </a:extLst>
              </p:cNvPr>
              <p:cNvSpPr>
                <a:spLocks noRot="1" noChangeAspect="1" noMove="1" noResize="1" noEditPoints="1" noAdjustHandles="1" noChangeArrowheads="1" noChangeShapeType="1" noTextEdit="1"/>
              </p:cNvSpPr>
              <p:nvPr/>
            </p:nvSpPr>
            <p:spPr>
              <a:xfrm>
                <a:off x="1619794" y="3537058"/>
                <a:ext cx="9116866" cy="1938992"/>
              </a:xfrm>
              <a:prstGeom prst="rect">
                <a:avLst/>
              </a:prstGeom>
              <a:blipFill rotWithShape="0">
                <a:blip r:embed="rId4"/>
                <a:stretch>
                  <a:fillRect t="-2516" b="-6289"/>
                </a:stretch>
              </a:blipFill>
            </p:spPr>
            <p:txBody>
              <a:bodyPr/>
              <a:lstStyle/>
              <a:p>
                <a:r>
                  <a:rPr lang="en-US">
                    <a:noFill/>
                  </a:rPr>
                  <a:t> </a:t>
                </a:r>
              </a:p>
            </p:txBody>
          </p:sp>
        </mc:Fallback>
      </mc:AlternateContent>
      <p:sp>
        <p:nvSpPr>
          <p:cNvPr id="38" name="Google Shape;278;g104476d1465_1_17">
            <a:extLst>
              <a:ext uri="{FF2B5EF4-FFF2-40B4-BE49-F238E27FC236}">
                <a16:creationId xmlns:a16="http://schemas.microsoft.com/office/drawing/2014/main" xmlns="" id="{322983B7-B95A-2D49-87F0-606C8F6979A9}"/>
              </a:ext>
            </a:extLst>
          </p:cNvPr>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39" name="Google Shape;282;g104476d1465_1_17"/>
          <p:cNvSpPr txBox="1"/>
          <p:nvPr/>
        </p:nvSpPr>
        <p:spPr>
          <a:xfrm>
            <a:off x="871247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177</a:t>
            </a:r>
            <a:endParaRPr i="1" dirty="0">
              <a:latin typeface="Calibri"/>
              <a:ea typeface="Calibri"/>
              <a:cs typeface="Calibri"/>
              <a:sym typeface="Calibri"/>
            </a:endParaRPr>
          </a:p>
        </p:txBody>
      </p:sp>
      <p:pic>
        <p:nvPicPr>
          <p:cNvPr id="4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5070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552515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2D32FB2E-EC85-7547-997A-F8CC3AB0EE91}"/>
                  </a:ext>
                </a:extLst>
              </p:cNvPr>
              <p:cNvSpPr/>
              <p:nvPr/>
            </p:nvSpPr>
            <p:spPr>
              <a:xfrm>
                <a:off x="1698171" y="357338"/>
                <a:ext cx="8718369" cy="5416291"/>
              </a:xfrm>
              <a:prstGeom prst="rect">
                <a:avLst/>
              </a:prstGeom>
            </p:spPr>
            <p:txBody>
              <a:bodyPr wrap="square">
                <a:spAutoFit/>
              </a:bodyPr>
              <a:lstStyle/>
              <a:p>
                <a:pPr marL="4572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statements to describe the relationships.</a:t>
                </a:r>
              </a:p>
              <a:p>
                <a:pPr marL="407988" indent="-396875"/>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635000" indent="-493713">
                  <a:buFont typeface="Arial" panose="020B0604020202020204" pitchFamily="34" charset="0"/>
                  <a:buChar char="•"/>
                </a:pPr>
                <a:r>
                  <a:rPr lang="en-US" sz="2400" dirty="0">
                    <a:latin typeface="Verdana" panose="020B0604030504040204" pitchFamily="34" charset="0"/>
                    <a:ea typeface="Times New Roman" panose="02020603050405020304" pitchFamily="18" charset="0"/>
                    <a:cs typeface="Times New Roman" panose="02020603050405020304" pitchFamily="18" charset="0"/>
                  </a:rPr>
                  <a:t>For every ____ cups of white paint, there are ____ cups of green paint in the mix.</a:t>
                </a:r>
              </a:p>
              <a:p>
                <a:pPr marL="635000" indent="-493713">
                  <a:buFont typeface="Arial" panose="020B0604020202020204" pitchFamily="34" charset="0"/>
                  <a:buChar char="•"/>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635000" indent="-493713">
                  <a:buFont typeface="Arial" panose="020B0604020202020204" pitchFamily="34" charset="0"/>
                  <a:buChar char="•"/>
                </a:pPr>
                <a:r>
                  <a:rPr lang="en-US" sz="2400" dirty="0">
                    <a:latin typeface="Verdana" panose="020B0604030504040204" pitchFamily="34" charset="0"/>
                    <a:ea typeface="Times New Roman" panose="02020603050405020304" pitchFamily="18" charset="0"/>
                    <a:cs typeface="Times New Roman" panose="02020603050405020304" pitchFamily="18" charset="0"/>
                  </a:rPr>
                  <a:t>The ratio of                   to                    is </a:t>
                </a:r>
                <a14:m>
                  <m:oMath xmlns:m="http://schemas.openxmlformats.org/officeDocument/2006/math">
                    <m:f>
                      <m:fPr>
                        <m:ctrlPr>
                          <a:rPr lang="en-US" sz="2400" i="1">
                            <a:latin typeface="Cambria Math" charset="0"/>
                            <a:cs typeface="Times New Roman" panose="02020603050405020304" pitchFamily="18" charset="0"/>
                          </a:rPr>
                        </m:ctrlPr>
                      </m:fPr>
                      <m:num>
                        <m:r>
                          <a:rPr lang="es-ES" sz="2400" i="1">
                            <a:latin typeface="Cambria Math" panose="02040503050406030204" pitchFamily="18" charset="0"/>
                            <a:cs typeface="Times New Roman" panose="02020603050405020304" pitchFamily="18" charset="0"/>
                          </a:rPr>
                          <m:t>4</m:t>
                        </m:r>
                      </m:num>
                      <m:den>
                        <m:r>
                          <a:rPr lang="es-ES" sz="2400" i="1">
                            <a:latin typeface="Cambria Math" panose="02040503050406030204" pitchFamily="18" charset="0"/>
                            <a:cs typeface="Times New Roman" panose="02020603050405020304" pitchFamily="18" charset="0"/>
                          </a:rPr>
                          <m:t>3</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a:p>
                <a:pPr marL="635000" indent="-493713">
                  <a:buFont typeface="Arial" panose="020B0604020202020204" pitchFamily="34" charset="0"/>
                  <a:buChar char="•"/>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635000" indent="-493713">
                  <a:buFont typeface="Arial" panose="020B0604020202020204" pitchFamily="34" charset="0"/>
                  <a:buChar char="•"/>
                </a:pPr>
                <a:r>
                  <a:rPr lang="en-US" sz="2400" dirty="0">
                    <a:latin typeface="Verdana" panose="020B0604030504040204" pitchFamily="34" charset="0"/>
                    <a:ea typeface="Times New Roman" panose="02020603050405020304" pitchFamily="18" charset="0"/>
                    <a:cs typeface="Times New Roman" panose="02020603050405020304" pitchFamily="18" charset="0"/>
                  </a:rPr>
                  <a:t>The ratio of white paint to the light green mixture is ____ to ____. </a:t>
                </a:r>
              </a:p>
              <a:p>
                <a:pPr marL="635000" indent="-493713"/>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635000" indent="-493713">
                  <a:buFont typeface="Arial" panose="020B0604020202020204" pitchFamily="34" charset="0"/>
                  <a:buChar char="•"/>
                </a:pPr>
                <a:r>
                  <a:rPr lang="en-US" sz="2400" dirty="0">
                    <a:latin typeface="Verdana" panose="020B0604030504040204" pitchFamily="34" charset="0"/>
                    <a:ea typeface="Times New Roman" panose="02020603050405020304" pitchFamily="18" charset="0"/>
                    <a:cs typeface="Times New Roman" panose="02020603050405020304" pitchFamily="18" charset="0"/>
                  </a:rPr>
                  <a:t>There are ____ cups of green paint used for every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14</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cups of light green paint that is mixed.</a:t>
                </a:r>
              </a:p>
              <a:p>
                <a:pPr marL="635000" indent="-493713">
                  <a:buFont typeface="Arial" panose="020B0604020202020204" pitchFamily="34" charset="0"/>
                  <a:buChar char="•"/>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xmlns:a14="http://schemas.microsoft.com/office/drawing/2010/main" xmlns="" id="{2D32FB2E-EC85-7547-997A-F8CC3AB0EE91}"/>
                  </a:ext>
                </a:extLst>
              </p:cNvPr>
              <p:cNvSpPr>
                <a:spLocks noRot="1" noChangeAspect="1" noMove="1" noResize="1" noEditPoints="1" noAdjustHandles="1" noChangeArrowheads="1" noChangeShapeType="1" noTextEdit="1"/>
              </p:cNvSpPr>
              <p:nvPr/>
            </p:nvSpPr>
            <p:spPr>
              <a:xfrm>
                <a:off x="1698171" y="357338"/>
                <a:ext cx="8718369" cy="5416291"/>
              </a:xfrm>
              <a:prstGeom prst="rect">
                <a:avLst/>
              </a:prstGeom>
              <a:blipFill rotWithShape="0">
                <a:blip r:embed="rId3"/>
                <a:stretch>
                  <a:fillRect l="-1119" t="-901" r="-1958"/>
                </a:stretch>
              </a:blipFill>
            </p:spPr>
            <p:txBody>
              <a:bodyPr/>
              <a:lstStyle/>
              <a:p>
                <a:r>
                  <a:rPr lang="en-US">
                    <a:noFill/>
                  </a:rPr>
                  <a:t> </a:t>
                </a:r>
              </a:p>
            </p:txBody>
          </p:sp>
        </mc:Fallback>
      </mc:AlternateContent>
      <p:pic>
        <p:nvPicPr>
          <p:cNvPr id="10" name="Picture 9" descr="A picture containing shape&#10;&#10;Description automatically generated">
            <a:extLst>
              <a:ext uri="{FF2B5EF4-FFF2-40B4-BE49-F238E27FC236}">
                <a16:creationId xmlns:a16="http://schemas.microsoft.com/office/drawing/2014/main" xmlns="" id="{C1F60C42-FA39-FD48-AFCD-ECC57594BB7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386470" y="2537284"/>
            <a:ext cx="1649895" cy="683401"/>
          </a:xfrm>
          <a:prstGeom prst="rect">
            <a:avLst/>
          </a:prstGeom>
        </p:spPr>
      </p:pic>
      <p:pic>
        <p:nvPicPr>
          <p:cNvPr id="12" name="Picture 11" descr="A picture containing shape&#10;&#10;Description automatically generated">
            <a:extLst>
              <a:ext uri="{FF2B5EF4-FFF2-40B4-BE49-F238E27FC236}">
                <a16:creationId xmlns:a16="http://schemas.microsoft.com/office/drawing/2014/main" xmlns="" id="{D0816BC4-F8AA-C342-BB8C-011B349B70A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814599" y="2526589"/>
            <a:ext cx="1649895" cy="688748"/>
          </a:xfrm>
          <a:prstGeom prst="rect">
            <a:avLst/>
          </a:prstGeom>
        </p:spPr>
      </p:pic>
      <p:sp>
        <p:nvSpPr>
          <p:cNvPr id="8" name="Google Shape;278;g104476d1465_1_17">
            <a:extLst>
              <a:ext uri="{FF2B5EF4-FFF2-40B4-BE49-F238E27FC236}">
                <a16:creationId xmlns:a16="http://schemas.microsoft.com/office/drawing/2014/main" xmlns="" id="{3C663BBC-A850-8940-AD01-0CD3920BAC1D}"/>
              </a:ext>
            </a:extLst>
          </p:cNvPr>
          <p:cNvSpPr/>
          <p:nvPr/>
        </p:nvSpPr>
        <p:spPr>
          <a:xfrm>
            <a:off x="6294"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71247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177</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5070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71966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309;g104476d1465_1_39">
            <a:extLst>
              <a:ext uri="{FF2B5EF4-FFF2-40B4-BE49-F238E27FC236}">
                <a16:creationId xmlns:a16="http://schemas.microsoft.com/office/drawing/2014/main" xmlns="" id="{6B472F76-6B63-1749-946F-5ED8A41755B2}"/>
              </a:ext>
            </a:extLst>
          </p:cNvPr>
          <p:cNvSpPr/>
          <p:nvPr/>
        </p:nvSpPr>
        <p:spPr>
          <a:xfrm>
            <a:off x="0" y="-8101"/>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71247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178</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070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494726" y="-5228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5.1.6 Wrap-Up: Reflection</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3">
            <a:alphaModFix/>
          </a:blip>
          <a:srcRect/>
          <a:stretch/>
        </p:blipFill>
        <p:spPr>
          <a:xfrm>
            <a:off x="665276" y="193481"/>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xmlns="" id="{50A85065-1747-6C4E-8BA4-9C1ED8A185A6}"/>
              </a:ext>
            </a:extLst>
          </p:cNvPr>
          <p:cNvSpPr/>
          <p:nvPr/>
        </p:nvSpPr>
        <p:spPr>
          <a:xfrm>
            <a:off x="1912291" y="1140259"/>
            <a:ext cx="8422610" cy="1446550"/>
          </a:xfrm>
          <a:prstGeom prst="rect">
            <a:avLst/>
          </a:prstGeom>
        </p:spPr>
        <p:txBody>
          <a:bodyPr wrap="square">
            <a:spAutoFit/>
          </a:bodyPr>
          <a:lstStyle/>
          <a:p>
            <a:pPr lvl="0"/>
            <a:r>
              <a:rPr lang="en-US" sz="2200" dirty="0">
                <a:latin typeface="Verdana" panose="020B0604030504040204" pitchFamily="34" charset="0"/>
                <a:ea typeface="Verdana" panose="020B0604030504040204" pitchFamily="34" charset="0"/>
                <a:cs typeface="Verdana" panose="020B0604030504040204" pitchFamily="34" charset="0"/>
              </a:rPr>
              <a:t>Draw an </a:t>
            </a:r>
            <a:r>
              <a:rPr lang="en-US" sz="2200" b="1" dirty="0">
                <a:latin typeface="Verdana" panose="020B0604030504040204" pitchFamily="34" charset="0"/>
                <a:ea typeface="Verdana" panose="020B0604030504040204" pitchFamily="34" charset="0"/>
                <a:cs typeface="Verdana" panose="020B0604030504040204" pitchFamily="34" charset="0"/>
              </a:rPr>
              <a:t>X</a:t>
            </a:r>
            <a:r>
              <a:rPr lang="en-US" sz="2200" dirty="0">
                <a:latin typeface="Verdana" panose="020B0604030504040204" pitchFamily="34" charset="0"/>
                <a:ea typeface="Verdana" panose="020B0604030504040204" pitchFamily="34" charset="0"/>
                <a:cs typeface="Verdana" panose="020B0604030504040204" pitchFamily="34" charset="0"/>
              </a:rPr>
              <a:t> on each line to indicate where your current level of understanding is related to each target.</a:t>
            </a:r>
          </a:p>
          <a:p>
            <a:pPr marL="342900" indent="-3429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I can write and interpret ratios.</a:t>
            </a:r>
          </a:p>
        </p:txBody>
      </p:sp>
      <p:graphicFrame>
        <p:nvGraphicFramePr>
          <p:cNvPr id="3" name="Table 2">
            <a:extLst>
              <a:ext uri="{FF2B5EF4-FFF2-40B4-BE49-F238E27FC236}">
                <a16:creationId xmlns:a16="http://schemas.microsoft.com/office/drawing/2014/main" xmlns="" id="{F376C67A-BD85-5C4C-B89E-33A3668241C6}"/>
              </a:ext>
            </a:extLst>
          </p:cNvPr>
          <p:cNvGraphicFramePr>
            <a:graphicFrameLocks noGrp="1"/>
          </p:cNvGraphicFramePr>
          <p:nvPr>
            <p:extLst>
              <p:ext uri="{D42A27DB-BD31-4B8C-83A1-F6EECF244321}">
                <p14:modId xmlns:p14="http://schemas.microsoft.com/office/powerpoint/2010/main" val="1622663388"/>
              </p:ext>
            </p:extLst>
          </p:nvPr>
        </p:nvGraphicFramePr>
        <p:xfrm>
          <a:off x="2259182" y="2884457"/>
          <a:ext cx="7673637" cy="426720"/>
        </p:xfrm>
        <a:graphic>
          <a:graphicData uri="http://schemas.openxmlformats.org/drawingml/2006/table">
            <a:tbl>
              <a:tblPr firstRow="1" firstCol="1" bandRow="1">
                <a:tableStyleId>{A91F0D33-8C57-4600-99A7-42BC86742BE1}</a:tableStyleId>
              </a:tblPr>
              <a:tblGrid>
                <a:gridCol w="2557879">
                  <a:extLst>
                    <a:ext uri="{9D8B030D-6E8A-4147-A177-3AD203B41FA5}">
                      <a16:colId xmlns:a16="http://schemas.microsoft.com/office/drawing/2014/main" xmlns="" val="1620700420"/>
                    </a:ext>
                  </a:extLst>
                </a:gridCol>
                <a:gridCol w="2557879">
                  <a:extLst>
                    <a:ext uri="{9D8B030D-6E8A-4147-A177-3AD203B41FA5}">
                      <a16:colId xmlns:a16="http://schemas.microsoft.com/office/drawing/2014/main" xmlns="" val="4291088732"/>
                    </a:ext>
                  </a:extLst>
                </a:gridCol>
                <a:gridCol w="2557879">
                  <a:extLst>
                    <a:ext uri="{9D8B030D-6E8A-4147-A177-3AD203B41FA5}">
                      <a16:colId xmlns:a16="http://schemas.microsoft.com/office/drawing/2014/main" xmlns="" val="1130624003"/>
                    </a:ext>
                  </a:extLst>
                </a:gridCol>
              </a:tblGrid>
              <a:tr h="0">
                <a:tc>
                  <a:txBody>
                    <a:bodyPr/>
                    <a:lstStyle/>
                    <a:p>
                      <a:pPr marL="0" marR="0">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need help.</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can’t get started.</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I’m getting there, but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need more practice.</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understand this,</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and I feel confident.</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xmlns="" val="200158941"/>
                  </a:ext>
                </a:extLst>
              </a:tr>
            </a:tbl>
          </a:graphicData>
        </a:graphic>
      </p:graphicFrame>
      <p:cxnSp>
        <p:nvCxnSpPr>
          <p:cNvPr id="10" name="Straight Arrow Connector 9">
            <a:extLst>
              <a:ext uri="{FF2B5EF4-FFF2-40B4-BE49-F238E27FC236}">
                <a16:creationId xmlns:a16="http://schemas.microsoft.com/office/drawing/2014/main" xmlns="" id="{809BABAE-FA44-054B-A734-469F540B471F}"/>
              </a:ext>
            </a:extLst>
          </p:cNvPr>
          <p:cNvCxnSpPr>
            <a:cxnSpLocks/>
          </p:cNvCxnSpPr>
          <p:nvPr/>
        </p:nvCxnSpPr>
        <p:spPr>
          <a:xfrm>
            <a:off x="2146200" y="3539126"/>
            <a:ext cx="7906776" cy="0"/>
          </a:xfrm>
          <a:prstGeom prst="straightConnector1">
            <a:avLst/>
          </a:prstGeom>
          <a:ln w="28575">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xmlns="" id="{BD5DF881-FBEA-EA4F-B410-8B053BCD9F4C}"/>
              </a:ext>
            </a:extLst>
          </p:cNvPr>
          <p:cNvSpPr/>
          <p:nvPr/>
        </p:nvSpPr>
        <p:spPr>
          <a:xfrm>
            <a:off x="1912291" y="4014089"/>
            <a:ext cx="8422610" cy="769441"/>
          </a:xfrm>
          <a:prstGeom prst="rect">
            <a:avLst/>
          </a:prstGeom>
        </p:spPr>
        <p:txBody>
          <a:bodyPr wrap="square">
            <a:spAutoFit/>
          </a:bodyPr>
          <a:lstStyle/>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I can draw a diagram that represents a ratio and explain what a diagram means.</a:t>
            </a:r>
          </a:p>
        </p:txBody>
      </p:sp>
      <p:graphicFrame>
        <p:nvGraphicFramePr>
          <p:cNvPr id="14" name="Table 13">
            <a:extLst>
              <a:ext uri="{FF2B5EF4-FFF2-40B4-BE49-F238E27FC236}">
                <a16:creationId xmlns:a16="http://schemas.microsoft.com/office/drawing/2014/main" xmlns="" id="{A772A27D-0628-E14A-A131-2985F2867308}"/>
              </a:ext>
            </a:extLst>
          </p:cNvPr>
          <p:cNvGraphicFramePr>
            <a:graphicFrameLocks noGrp="1"/>
          </p:cNvGraphicFramePr>
          <p:nvPr>
            <p:extLst>
              <p:ext uri="{D42A27DB-BD31-4B8C-83A1-F6EECF244321}">
                <p14:modId xmlns:p14="http://schemas.microsoft.com/office/powerpoint/2010/main" val="1563285425"/>
              </p:ext>
            </p:extLst>
          </p:nvPr>
        </p:nvGraphicFramePr>
        <p:xfrm>
          <a:off x="2259182" y="5098972"/>
          <a:ext cx="7673637" cy="426720"/>
        </p:xfrm>
        <a:graphic>
          <a:graphicData uri="http://schemas.openxmlformats.org/drawingml/2006/table">
            <a:tbl>
              <a:tblPr firstRow="1" firstCol="1" bandRow="1">
                <a:tableStyleId>{A91F0D33-8C57-4600-99A7-42BC86742BE1}</a:tableStyleId>
              </a:tblPr>
              <a:tblGrid>
                <a:gridCol w="2557879">
                  <a:extLst>
                    <a:ext uri="{9D8B030D-6E8A-4147-A177-3AD203B41FA5}">
                      <a16:colId xmlns:a16="http://schemas.microsoft.com/office/drawing/2014/main" xmlns="" val="1620700420"/>
                    </a:ext>
                  </a:extLst>
                </a:gridCol>
                <a:gridCol w="2557879">
                  <a:extLst>
                    <a:ext uri="{9D8B030D-6E8A-4147-A177-3AD203B41FA5}">
                      <a16:colId xmlns:a16="http://schemas.microsoft.com/office/drawing/2014/main" xmlns="" val="4291088732"/>
                    </a:ext>
                  </a:extLst>
                </a:gridCol>
                <a:gridCol w="2557879">
                  <a:extLst>
                    <a:ext uri="{9D8B030D-6E8A-4147-A177-3AD203B41FA5}">
                      <a16:colId xmlns:a16="http://schemas.microsoft.com/office/drawing/2014/main" xmlns="" val="1130624003"/>
                    </a:ext>
                  </a:extLst>
                </a:gridCol>
              </a:tblGrid>
              <a:tr h="0">
                <a:tc>
                  <a:txBody>
                    <a:bodyPr/>
                    <a:lstStyle/>
                    <a:p>
                      <a:pPr marL="0" marR="0">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I need help.</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I can’t get started.</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I’m getting there, but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need more practice.</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understand this,</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and I feel confident.</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xmlns="" val="200158941"/>
                  </a:ext>
                </a:extLst>
              </a:tr>
            </a:tbl>
          </a:graphicData>
        </a:graphic>
      </p:graphicFrame>
      <p:cxnSp>
        <p:nvCxnSpPr>
          <p:cNvPr id="15" name="Straight Arrow Connector 14">
            <a:extLst>
              <a:ext uri="{FF2B5EF4-FFF2-40B4-BE49-F238E27FC236}">
                <a16:creationId xmlns:a16="http://schemas.microsoft.com/office/drawing/2014/main" xmlns="" id="{C61F3327-2F7F-3447-91A1-44A8514E4D6B}"/>
              </a:ext>
            </a:extLst>
          </p:cNvPr>
          <p:cNvCxnSpPr>
            <a:cxnSpLocks/>
          </p:cNvCxnSpPr>
          <p:nvPr/>
        </p:nvCxnSpPr>
        <p:spPr>
          <a:xfrm>
            <a:off x="2146200" y="5753641"/>
            <a:ext cx="7906776" cy="0"/>
          </a:xfrm>
          <a:prstGeom prst="straightConnector1">
            <a:avLst/>
          </a:prstGeom>
          <a:ln w="28575">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6" name="Google Shape;278;g104476d1465_1_17">
            <a:extLst>
              <a:ext uri="{FF2B5EF4-FFF2-40B4-BE49-F238E27FC236}">
                <a16:creationId xmlns:a16="http://schemas.microsoft.com/office/drawing/2014/main" xmlns="" id="{22D179CF-FDC7-EB40-8C74-7989A555E71E}"/>
              </a:ext>
            </a:extLst>
          </p:cNvPr>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7" name="Google Shape;282;g104476d1465_1_17"/>
          <p:cNvSpPr txBox="1"/>
          <p:nvPr/>
        </p:nvSpPr>
        <p:spPr>
          <a:xfrm>
            <a:off x="871247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178</a:t>
            </a:r>
            <a:endParaRPr i="1" dirty="0">
              <a:latin typeface="Calibri"/>
              <a:ea typeface="Calibri"/>
              <a:cs typeface="Calibri"/>
              <a:sym typeface="Calibri"/>
            </a:endParaRPr>
          </a:p>
        </p:txBody>
      </p:sp>
      <p:pic>
        <p:nvPicPr>
          <p:cNvPr id="1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070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1362</TotalTime>
  <Words>1089</Words>
  <Application>Microsoft Macintosh PowerPoint</Application>
  <PresentationFormat>Widescreen</PresentationFormat>
  <Paragraphs>203</Paragraphs>
  <Slides>27</Slides>
  <Notes>27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Arial Black</vt:lpstr>
      <vt:lpstr>Calibri</vt:lpstr>
      <vt:lpstr>Cambria</vt:lpstr>
      <vt:lpstr>Cambria Math</vt:lpstr>
      <vt:lpstr>Century Gothic</vt:lpstr>
      <vt:lpstr>Times New Roman</vt:lpstr>
      <vt:lpstr>Verdana</vt:lpstr>
      <vt:lpstr>Wingdings</vt:lpstr>
      <vt:lpstr>Arial</vt:lpstr>
      <vt:lpstr>1_Office Theme</vt:lpstr>
      <vt:lpstr>6th Grade Accelerated Math  Unit 5, Lesson 1  What Are Ratios?  Volume 1, pg. 173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Guided Instruction</vt:lpstr>
      <vt:lpstr>PowerPoint Presentation</vt:lpstr>
      <vt:lpstr>PowerPoint Presentation</vt:lpstr>
      <vt:lpstr>PowerPoint Presentation</vt:lpstr>
      <vt:lpstr>Collaboration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jslater9816@gmail.com</cp:lastModifiedBy>
  <cp:revision>21</cp:revision>
  <dcterms:created xsi:type="dcterms:W3CDTF">2015-03-17T18:51:18Z</dcterms:created>
  <dcterms:modified xsi:type="dcterms:W3CDTF">2022-07-28T02:24:11Z</dcterms:modified>
</cp:coreProperties>
</file>