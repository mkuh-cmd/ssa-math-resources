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323" r:id="rId8"/>
    <p:sldId id="324" r:id="rId9"/>
    <p:sldId id="346" r:id="rId10"/>
    <p:sldId id="347" r:id="rId11"/>
    <p:sldId id="311" r:id="rId12"/>
    <p:sldId id="312" r:id="rId13"/>
    <p:sldId id="333" r:id="rId14"/>
    <p:sldId id="345" r:id="rId15"/>
    <p:sldId id="344" r:id="rId16"/>
    <p:sldId id="343" r:id="rId17"/>
    <p:sldId id="348" r:id="rId18"/>
    <p:sldId id="349" r:id="rId19"/>
    <p:sldId id="302" r:id="rId20"/>
    <p:sldId id="303" r:id="rId21"/>
    <p:sldId id="340" r:id="rId22"/>
    <p:sldId id="306" r:id="rId23"/>
    <p:sldId id="307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BF5F"/>
    <a:srgbClr val="26B7D4"/>
    <a:srgbClr val="FDAEB0"/>
    <a:srgbClr val="276C46"/>
    <a:srgbClr val="C9DF6F"/>
    <a:srgbClr val="417DBF"/>
    <a:srgbClr val="3F2A67"/>
    <a:srgbClr val="E24E5F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85"/>
    <p:restoredTop sz="94767"/>
  </p:normalViewPr>
  <p:slideViewPr>
    <p:cSldViewPr snapToGrid="0">
      <p:cViewPr varScale="1">
        <p:scale>
          <a:sx n="79" d="100"/>
          <a:sy n="79" d="100"/>
        </p:scale>
        <p:origin x="686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192543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38950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47526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90262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77145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46084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0242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91630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2826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4" Type="http://schemas.openxmlformats.org/officeDocument/2006/relationships/image" Target="../media/image1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1.png"/><Relationship Id="rId4" Type="http://schemas.openxmlformats.org/officeDocument/2006/relationships/image" Target="../media/image20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266683"/>
            <a:ext cx="4925167" cy="2982049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1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5, Lesson 9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Applying Ratios to Solve Problems Involving Percentages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214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185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716822" y="2038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322" y="23781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65321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144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470991" y="1600200"/>
            <a:ext cx="925001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MA.6.AR.3.4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ratio relationships to solve mathematical and real-world problems involving percentages using the relationship between two quantities.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089" y="24263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611739" y="0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749287" y="1596390"/>
            <a:ext cx="928118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5321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144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471903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741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692522" y="1547093"/>
            <a:ext cx="918868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apply ratio relationships to solve problems involving percentages.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5321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144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5321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144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40250" y="-8226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03897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5.9.1 Warm-Up: Percentages on the Number Line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597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79F083F-A67E-0047-8E64-5125815AF3D8}"/>
              </a:ext>
            </a:extLst>
          </p:cNvPr>
          <p:cNvSpPr/>
          <p:nvPr/>
        </p:nvSpPr>
        <p:spPr>
          <a:xfrm>
            <a:off x="1625911" y="1386025"/>
            <a:ext cx="95039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Place a digit in each blue box to create an accurate number line. Use only digits 0 to 9, at most one time each. The number line is not drawn to scale.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72DFC20-922C-F446-B0B2-26F10933BF89}"/>
              </a:ext>
            </a:extLst>
          </p:cNvPr>
          <p:cNvGrpSpPr/>
          <p:nvPr/>
        </p:nvGrpSpPr>
        <p:grpSpPr>
          <a:xfrm>
            <a:off x="2805748" y="3487000"/>
            <a:ext cx="6580505" cy="1588770"/>
            <a:chOff x="0" y="0"/>
            <a:chExt cx="6580608" cy="1588958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9229FF7-FB01-C74D-BF4E-24CBD8BA0016}"/>
                </a:ext>
              </a:extLst>
            </p:cNvPr>
            <p:cNvGrpSpPr/>
            <p:nvPr/>
          </p:nvGrpSpPr>
          <p:grpSpPr>
            <a:xfrm>
              <a:off x="0" y="0"/>
              <a:ext cx="5892384" cy="1588958"/>
              <a:chOff x="0" y="0"/>
              <a:chExt cx="5892384" cy="1588958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952C10E5-80DB-C848-84EF-1904B3920A09}"/>
                  </a:ext>
                </a:extLst>
              </p:cNvPr>
              <p:cNvGrpSpPr/>
              <p:nvPr/>
            </p:nvGrpSpPr>
            <p:grpSpPr>
              <a:xfrm>
                <a:off x="170721" y="475105"/>
                <a:ext cx="5721663" cy="494665"/>
                <a:chOff x="0" y="0"/>
                <a:chExt cx="5721663" cy="494665"/>
              </a:xfrm>
            </p:grpSpPr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0C5C3317-F5A7-B749-9A93-1D555B98CF7C}"/>
                    </a:ext>
                  </a:extLst>
                </p:cNvPr>
                <p:cNvCxnSpPr/>
                <p:nvPr/>
              </p:nvCxnSpPr>
              <p:spPr>
                <a:xfrm>
                  <a:off x="0" y="192582"/>
                  <a:ext cx="5711252" cy="0"/>
                </a:xfrm>
                <a:prstGeom prst="line">
                  <a:avLst/>
                </a:prstGeom>
                <a:effectLst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27C02763-F6EB-AD40-9ECB-518CE5BFBDCF}"/>
                    </a:ext>
                  </a:extLst>
                </p:cNvPr>
                <p:cNvCxnSpPr/>
                <p:nvPr/>
              </p:nvCxnSpPr>
              <p:spPr>
                <a:xfrm>
                  <a:off x="10410" y="0"/>
                  <a:ext cx="0" cy="494665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00D610A2-899D-424B-8553-1B448008167D}"/>
                    </a:ext>
                  </a:extLst>
                </p:cNvPr>
                <p:cNvCxnSpPr/>
                <p:nvPr/>
              </p:nvCxnSpPr>
              <p:spPr>
                <a:xfrm>
                  <a:off x="1539407" y="0"/>
                  <a:ext cx="0" cy="494665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AA0BE98D-3DFA-8D44-AB25-BB031A38505A}"/>
                    </a:ext>
                  </a:extLst>
                </p:cNvPr>
                <p:cNvCxnSpPr/>
                <p:nvPr/>
              </p:nvCxnSpPr>
              <p:spPr>
                <a:xfrm>
                  <a:off x="5721663" y="0"/>
                  <a:ext cx="0" cy="494665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" name="Text Box 10">
                <a:extLst>
                  <a:ext uri="{FF2B5EF4-FFF2-40B4-BE49-F238E27FC236}">
                    <a16:creationId xmlns:a16="http://schemas.microsoft.com/office/drawing/2014/main" id="{1BE88E0A-7AE0-0E4B-9A4F-BC8D1EE75999}"/>
                  </a:ext>
                </a:extLst>
              </p:cNvPr>
              <p:cNvSpPr txBox="1"/>
              <p:nvPr/>
            </p:nvSpPr>
            <p:spPr>
              <a:xfrm>
                <a:off x="0" y="0"/>
                <a:ext cx="479425" cy="343379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80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Text Box 14">
                <a:extLst>
                  <a:ext uri="{FF2B5EF4-FFF2-40B4-BE49-F238E27FC236}">
                    <a16:creationId xmlns:a16="http://schemas.microsoft.com/office/drawing/2014/main" id="{BB7F4A54-953D-6D4B-95C2-930AAEEEBE0B}"/>
                  </a:ext>
                </a:extLst>
              </p:cNvPr>
              <p:cNvSpPr txBox="1"/>
              <p:nvPr/>
            </p:nvSpPr>
            <p:spPr>
              <a:xfrm>
                <a:off x="0" y="1064302"/>
                <a:ext cx="659567" cy="524656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80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0%</a:t>
                </a:r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0" name="Text Box 15">
              <a:extLst>
                <a:ext uri="{FF2B5EF4-FFF2-40B4-BE49-F238E27FC236}">
                  <a16:creationId xmlns:a16="http://schemas.microsoft.com/office/drawing/2014/main" id="{67EA687C-5E75-F642-95B1-7F87531EF304}"/>
                </a:ext>
              </a:extLst>
            </p:cNvPr>
            <p:cNvSpPr txBox="1"/>
            <p:nvPr/>
          </p:nvSpPr>
          <p:spPr>
            <a:xfrm>
              <a:off x="5531370" y="1064302"/>
              <a:ext cx="1049238" cy="434569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80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100%</a:t>
              </a:r>
              <a:endParaRPr lang="x-none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 Box 24">
              <a:extLst>
                <a:ext uri="{FF2B5EF4-FFF2-40B4-BE49-F238E27FC236}">
                  <a16:creationId xmlns:a16="http://schemas.microsoft.com/office/drawing/2014/main" id="{ACF7F258-7526-7541-93CC-95AE3E3F93F6}"/>
                </a:ext>
              </a:extLst>
            </p:cNvPr>
            <p:cNvSpPr txBox="1"/>
            <p:nvPr/>
          </p:nvSpPr>
          <p:spPr>
            <a:xfrm>
              <a:off x="2217712" y="1175185"/>
              <a:ext cx="467615" cy="323686"/>
            </a:xfrm>
            <a:prstGeom prst="rect">
              <a:avLst/>
            </a:prstGeom>
            <a:solidFill>
              <a:schemeClr val="lt1"/>
            </a:solidFill>
            <a:ln w="6350">
              <a:noFill/>
              <a:prstDash val="dash"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  <a:spcAft>
                  <a:spcPts val="1000"/>
                </a:spcAft>
              </a:pPr>
              <a:r>
                <a:rPr lang="en-US" sz="16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%</a:t>
              </a:r>
              <a:endParaRPr lang="x-none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F8A2B67D-EE38-964E-A3D8-D00AF9587076}"/>
              </a:ext>
            </a:extLst>
          </p:cNvPr>
          <p:cNvSpPr/>
          <p:nvPr/>
        </p:nvSpPr>
        <p:spPr>
          <a:xfrm>
            <a:off x="4008437" y="3475570"/>
            <a:ext cx="457200" cy="4572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63072C-E96F-C145-A684-3878E9514302}"/>
              </a:ext>
            </a:extLst>
          </p:cNvPr>
          <p:cNvSpPr/>
          <p:nvPr/>
        </p:nvSpPr>
        <p:spPr>
          <a:xfrm>
            <a:off x="4565332" y="3473665"/>
            <a:ext cx="457200" cy="4572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CFBA16-AF44-1D4D-970D-363186515EF5}"/>
              </a:ext>
            </a:extLst>
          </p:cNvPr>
          <p:cNvSpPr/>
          <p:nvPr/>
        </p:nvSpPr>
        <p:spPr>
          <a:xfrm>
            <a:off x="4009072" y="4530940"/>
            <a:ext cx="457200" cy="4572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097300-49D2-A843-85C8-FE4CAE9E4FB9}"/>
              </a:ext>
            </a:extLst>
          </p:cNvPr>
          <p:cNvSpPr/>
          <p:nvPr/>
        </p:nvSpPr>
        <p:spPr>
          <a:xfrm>
            <a:off x="4565967" y="4529035"/>
            <a:ext cx="457200" cy="4572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4C1C7E7-7DE4-A94E-A047-BA963C279D8C}"/>
              </a:ext>
            </a:extLst>
          </p:cNvPr>
          <p:cNvSpPr/>
          <p:nvPr/>
        </p:nvSpPr>
        <p:spPr>
          <a:xfrm>
            <a:off x="8141017" y="3455885"/>
            <a:ext cx="457200" cy="4572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70610A-0570-AD46-AD45-20F99C6217BF}"/>
              </a:ext>
            </a:extLst>
          </p:cNvPr>
          <p:cNvSpPr/>
          <p:nvPr/>
        </p:nvSpPr>
        <p:spPr>
          <a:xfrm>
            <a:off x="8697912" y="3453980"/>
            <a:ext cx="457200" cy="4572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Google Shape;282;g104476d1465_1_17"/>
          <p:cNvSpPr txBox="1"/>
          <p:nvPr/>
        </p:nvSpPr>
        <p:spPr>
          <a:xfrm>
            <a:off x="865321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144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5321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144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22768" y="-3721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4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5.9.2 Guided Practice: Applying Ratio Relationships to Solve Percentage Problems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2960" y="12881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84678E3-B391-614C-B449-94320C557524}"/>
                  </a:ext>
                </a:extLst>
              </p:cNvPr>
              <p:cNvSpPr/>
              <p:nvPr/>
            </p:nvSpPr>
            <p:spPr>
              <a:xfrm>
                <a:off x="1258957" y="1454515"/>
                <a:ext cx="9146153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There is a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off sale on laptop computers. Ryan saved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$35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off of the original laptop price during the sale. Use the ratio table to determine the original price of the laptop.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4678E3-B391-614C-B449-94320C5575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957" y="1454515"/>
                <a:ext cx="9146153" cy="1569660"/>
              </a:xfrm>
              <a:prstGeom prst="rect">
                <a:avLst/>
              </a:prstGeom>
              <a:blipFill rotWithShape="0">
                <a:blip r:embed="rId4"/>
                <a:stretch>
                  <a:fillRect l="-1067" t="-6615" r="-333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62A9C647-044E-184D-9AB4-8A3BF0BDAF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9662472"/>
                  </p:ext>
                </p:extLst>
              </p:nvPr>
            </p:nvGraphicFramePr>
            <p:xfrm>
              <a:off x="4180840" y="3600067"/>
              <a:ext cx="3830320" cy="146304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87220">
                      <a:extLst>
                        <a:ext uri="{9D8B030D-6E8A-4147-A177-3AD203B41FA5}">
                          <a16:colId xmlns:a16="http://schemas.microsoft.com/office/drawing/2014/main" val="1644631984"/>
                        </a:ext>
                      </a:extLst>
                    </a:gridCol>
                    <a:gridCol w="1943100">
                      <a:extLst>
                        <a:ext uri="{9D8B030D-6E8A-4147-A177-3AD203B41FA5}">
                          <a16:colId xmlns:a16="http://schemas.microsoft.com/office/drawing/2014/main" val="381927125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Dollar Amount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Percentage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96634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10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4115053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100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2015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62A9C647-044E-184D-9AB4-8A3BF0BDAF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9662472"/>
                  </p:ext>
                </p:extLst>
              </p:nvPr>
            </p:nvGraphicFramePr>
            <p:xfrm>
              <a:off x="2656840" y="3600067"/>
              <a:ext cx="3830320" cy="146304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87220">
                      <a:extLst>
                        <a:ext uri="{9D8B030D-6E8A-4147-A177-3AD203B41FA5}">
                          <a16:colId xmlns:a16="http://schemas.microsoft.com/office/drawing/2014/main" val="1644631984"/>
                        </a:ext>
                      </a:extLst>
                    </a:gridCol>
                    <a:gridCol w="1943100">
                      <a:extLst>
                        <a:ext uri="{9D8B030D-6E8A-4147-A177-3AD203B41FA5}">
                          <a16:colId xmlns:a16="http://schemas.microsoft.com/office/drawing/2014/main" val="3819271254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Dollar Amount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Percentage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96634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98039" t="-138889" r="-1307" b="-10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115053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98039" t="-238889" r="-1307" b="-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01538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65321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144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84678E3-B391-614C-B449-94320C557524}"/>
                  </a:ext>
                </a:extLst>
              </p:cNvPr>
              <p:cNvSpPr/>
              <p:nvPr/>
            </p:nvSpPr>
            <p:spPr>
              <a:xfrm>
                <a:off x="940904" y="553969"/>
                <a:ext cx="9393997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Lily was running in her first 10K race in Islamorada, Florida. She asked her sister to cheer for her when she was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75%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of the way finished with the race so that it would motivate her to finish strong. The race is approximately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6.2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miles long. Use the number line diagram to determine how many miles Lily will have run when she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75%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finished with the race.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4678E3-B391-614C-B449-94320C5575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904" y="553969"/>
                <a:ext cx="9393997" cy="2677656"/>
              </a:xfrm>
              <a:prstGeom prst="rect">
                <a:avLst/>
              </a:prstGeom>
              <a:blipFill rotWithShape="0">
                <a:blip r:embed="rId3"/>
                <a:stretch>
                  <a:fillRect l="-973" t="-1822" r="-1168" b="-4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Shape, rectangle&#10;&#10;Description automatically generated">
            <a:extLst>
              <a:ext uri="{FF2B5EF4-FFF2-40B4-BE49-F238E27FC236}">
                <a16:creationId xmlns:a16="http://schemas.microsoft.com/office/drawing/2014/main" id="{49A03884-665A-0440-845B-438F1361B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960" y="4403494"/>
            <a:ext cx="4958080" cy="1459230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65321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144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6903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84678E3-B391-614C-B449-94320C557524}"/>
                  </a:ext>
                </a:extLst>
              </p:cNvPr>
              <p:cNvSpPr/>
              <p:nvPr/>
            </p:nvSpPr>
            <p:spPr>
              <a:xfrm>
                <a:off x="1139687" y="553969"/>
                <a:ext cx="10130264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During the first part of his hike along the Myakka Hiking Trail in Florida State Park, Andre drank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1.5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liters of water. If this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40%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of the water he brought on the hike, use the tape diagrams to determine how much water he brought.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4678E3-B391-614C-B449-94320C5575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687" y="553969"/>
                <a:ext cx="10130264" cy="1569660"/>
              </a:xfrm>
              <a:prstGeom prst="rect">
                <a:avLst/>
              </a:prstGeom>
              <a:blipFill rotWithShape="0">
                <a:blip r:embed="rId3"/>
                <a:stretch>
                  <a:fillRect l="-963" t="-3113" r="-1564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8B3FB2F-B3B6-684D-B46D-5C1EA59EB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974768"/>
              </p:ext>
            </p:extLst>
          </p:nvPr>
        </p:nvGraphicFramePr>
        <p:xfrm>
          <a:off x="2534202" y="2792987"/>
          <a:ext cx="7341234" cy="1035925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53622638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551055131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34071266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211273914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397194361"/>
                    </a:ext>
                  </a:extLst>
                </a:gridCol>
                <a:gridCol w="711834">
                  <a:extLst>
                    <a:ext uri="{9D8B030D-6E8A-4147-A177-3AD203B41FA5}">
                      <a16:colId xmlns:a16="http://schemas.microsoft.com/office/drawing/2014/main" val="3570021579"/>
                    </a:ext>
                  </a:extLst>
                </a:gridCol>
              </a:tblGrid>
              <a:tr h="423284">
                <a:tc>
                  <a:txBody>
                    <a:bodyPr/>
                    <a:lstStyle/>
                    <a:p>
                      <a:pPr marL="72771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water (liters)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957409"/>
                  </a:ext>
                </a:extLst>
              </a:tr>
              <a:tr h="164932">
                <a:tc>
                  <a:txBody>
                    <a:bodyPr/>
                    <a:lstStyle/>
                    <a:p>
                      <a:pPr marL="72771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7283324"/>
                  </a:ext>
                </a:extLst>
              </a:tr>
              <a:tr h="423284">
                <a:tc>
                  <a:txBody>
                    <a:bodyPr/>
                    <a:lstStyle/>
                    <a:p>
                      <a:pPr marL="72771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percentage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AE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AE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AE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AE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AE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3107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16DCD6B5-41D8-BE48-84B8-BE0BFE802180}"/>
              </a:ext>
            </a:extLst>
          </p:cNvPr>
          <p:cNvSpPr/>
          <p:nvPr/>
        </p:nvSpPr>
        <p:spPr>
          <a:xfrm>
            <a:off x="1139687" y="4405533"/>
            <a:ext cx="101302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90538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Andre brought _____ liters of water with him on the hike.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5321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144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0345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5321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144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634142" y="8937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5.9.3 Exploration: Using Tables and Unit Rates with Percentages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0694" y="337498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05AB5A2-AF35-B14C-AE54-D2A0628C823C}"/>
                  </a:ext>
                </a:extLst>
              </p:cNvPr>
              <p:cNvSpPr/>
              <p:nvPr/>
            </p:nvSpPr>
            <p:spPr>
              <a:xfrm>
                <a:off x="1572949" y="1521193"/>
                <a:ext cx="9387462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restaurant has a sign by the front door that says, “Maximum Occupancy: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people.”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Damian completed the first two rows of a ratio table representing this situation. His work is shown.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05AB5A2-AF35-B14C-AE54-D2A0628C82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949" y="1521193"/>
                <a:ext cx="9387462" cy="1938992"/>
              </a:xfrm>
              <a:prstGeom prst="rect">
                <a:avLst/>
              </a:prstGeom>
              <a:blipFill rotWithShape="0">
                <a:blip r:embed="rId4"/>
                <a:stretch>
                  <a:fillRect l="-974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C21AB8FE-4D73-CA41-8D3B-4DE37991DD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3228" y="3749622"/>
            <a:ext cx="6681512" cy="2078964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65321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144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6EBC228-FF81-F24F-AEB8-9068AF825BE0}"/>
                  </a:ext>
                </a:extLst>
              </p:cNvPr>
              <p:cNvSpPr/>
              <p:nvPr/>
            </p:nvSpPr>
            <p:spPr>
              <a:xfrm>
                <a:off x="1865358" y="319123"/>
                <a:ext cx="8625738" cy="63269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333375"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statements to describe Damian’s work.</a:t>
                </a:r>
              </a:p>
              <a:p>
                <a:pPr marL="1238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2700"/>
                <a:r>
                  <a:rPr lang="en-US" sz="2000" dirty="0">
                    <a:solidFill>
                      <a:srgbClr val="26B7D4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First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Damian interpreted the restaurant sign to mean that _____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%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equal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75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people. </a:t>
                </a:r>
              </a:p>
              <a:p>
                <a:pPr marL="127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2700">
                  <a:lnSpc>
                    <a:spcPct val="200000"/>
                  </a:lnSpc>
                </a:pP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Next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he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multiplied both values in the ratio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s-ES" sz="20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75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find the unit rate of the                                                   in the restaurant. He multiplied this factor by both values to find an equivalent ratio.</a:t>
                </a:r>
              </a:p>
              <a:p>
                <a:pPr marL="127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27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He </a:t>
                </a:r>
                <a:r>
                  <a:rPr lang="en-US" sz="2000" dirty="0">
                    <a:solidFill>
                      <a:srgbClr val="FFC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then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rewrote the result,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100</m:t>
                        </m:r>
                      </m:num>
                      <m:den>
                        <m:r>
                          <a:rPr lang="es-ES" sz="2000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75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as an equivalent fraction,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num>
                      <m:den>
                        <m:r>
                          <a:rPr lang="es-ES" sz="2000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by dividing both the numerator and denominator by ____.</a:t>
                </a:r>
              </a:p>
              <a:p>
                <a:pPr marL="12700">
                  <a:lnSpc>
                    <a:spcPct val="20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96EBC228-FF81-F24F-AEB8-9068AF825B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358" y="319123"/>
                <a:ext cx="8625738" cy="6326988"/>
              </a:xfrm>
              <a:prstGeom prst="rect">
                <a:avLst/>
              </a:prstGeom>
              <a:blipFill rotWithShape="0">
                <a:blip r:embed="rId3"/>
                <a:stretch>
                  <a:fillRect l="-636" t="-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C2D24420-170B-0740-AEAC-B9C5332B9D8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1345" y="3063468"/>
            <a:ext cx="4170218" cy="722715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65321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144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32FB2E-EC85-7547-997A-F8CC3AB0EE91}"/>
              </a:ext>
            </a:extLst>
          </p:cNvPr>
          <p:cNvSpPr/>
          <p:nvPr/>
        </p:nvSpPr>
        <p:spPr>
          <a:xfrm>
            <a:off x="1113183" y="357337"/>
            <a:ext cx="101485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your partner, complete the table to find additional equivalent ratios. Use arrows and multiplication to show how you determine the values in each row.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33A35B2-CDC1-8045-9379-B41F98AF4F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5814935"/>
                  </p:ext>
                </p:extLst>
              </p:nvPr>
            </p:nvGraphicFramePr>
            <p:xfrm>
              <a:off x="4180840" y="2286101"/>
              <a:ext cx="3830320" cy="329184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87220">
                      <a:extLst>
                        <a:ext uri="{9D8B030D-6E8A-4147-A177-3AD203B41FA5}">
                          <a16:colId xmlns:a16="http://schemas.microsoft.com/office/drawing/2014/main" val="404992375"/>
                        </a:ext>
                      </a:extLst>
                    </a:gridCol>
                    <a:gridCol w="1943100">
                      <a:extLst>
                        <a:ext uri="{9D8B030D-6E8A-4147-A177-3AD203B41FA5}">
                          <a16:colId xmlns:a16="http://schemas.microsoft.com/office/drawing/2014/main" val="74639165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People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Percentage of Occupancy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23678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smtClean="0">
                                    <a:solidFill>
                                      <a:srgbClr val="26B7D4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75</m:t>
                                </m:r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124029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1800" i="1" smtClean="0">
                                      <a:solidFill>
                                        <a:srgbClr val="FFC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>
                                      <a:solidFill>
                                        <a:srgbClr val="FFC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sz="1800">
                                      <a:solidFill>
                                        <a:srgbClr val="FFC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3973775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366471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51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3286626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5954159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058784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33A35B2-CDC1-8045-9379-B41F98AF4F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5814935"/>
                  </p:ext>
                </p:extLst>
              </p:nvPr>
            </p:nvGraphicFramePr>
            <p:xfrm>
              <a:off x="2656840" y="2286101"/>
              <a:ext cx="3830320" cy="329184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87220">
                      <a:extLst>
                        <a:ext uri="{9D8B030D-6E8A-4147-A177-3AD203B41FA5}">
                          <a16:colId xmlns:a16="http://schemas.microsoft.com/office/drawing/2014/main" val="404992375"/>
                        </a:ext>
                      </a:extLst>
                    </a:gridCol>
                    <a:gridCol w="1943100">
                      <a:extLst>
                        <a:ext uri="{9D8B030D-6E8A-4147-A177-3AD203B41FA5}">
                          <a16:colId xmlns:a16="http://schemas.microsoft.com/office/drawing/2014/main" val="746391652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People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Percentage of Occupancy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23678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71" t="-136111" r="-104027" b="-5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8039" t="-136111" r="-1307" b="-5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24029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71" t="-229730" r="-104027" b="-3918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8039" t="-229730" r="-1307" b="-3918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973775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71" t="-338889" r="-104027" b="-3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366471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71" t="-438889" r="-104027" b="-2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3286626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8039" t="-538889" r="-1307" b="-10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954159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8039" t="-638889" r="-1307" b="-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58784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65321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144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196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0349866-9A2F-9642-8136-D99DA46E15A8}"/>
                  </a:ext>
                </a:extLst>
              </p:cNvPr>
              <p:cNvSpPr/>
              <p:nvPr/>
            </p:nvSpPr>
            <p:spPr>
              <a:xfrm>
                <a:off x="1046922" y="812427"/>
                <a:ext cx="10223886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statements to interpret the ratios.</a:t>
                </a:r>
              </a:p>
              <a:p>
                <a:pPr marL="407988" indent="-407988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07988" indent="-407988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700" indent="-127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When there are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people in the restaurant, it is ____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full.</a:t>
                </a:r>
              </a:p>
              <a:p>
                <a:pPr marL="407988" indent="-407988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12700" indent="-127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restaurant is at ____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capacity when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people are inside.</a:t>
                </a:r>
              </a:p>
              <a:p>
                <a:pPr marL="407988" indent="-407988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12700" indent="-127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restaurant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40%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full when ____ people are there.</a:t>
                </a:r>
              </a:p>
              <a:p>
                <a:pPr marL="407988" indent="-407988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0349866-9A2F-9642-8136-D99DA46E15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922" y="812427"/>
                <a:ext cx="10223886" cy="3416320"/>
              </a:xfrm>
              <a:prstGeom prst="rect">
                <a:avLst/>
              </a:prstGeom>
              <a:blipFill rotWithShape="0">
                <a:blip r:embed="rId3"/>
                <a:stretch>
                  <a:fillRect l="-954" t="-1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65321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144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71072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8853ABC-DADE-924D-B06F-31B56BCC7722}"/>
                  </a:ext>
                </a:extLst>
              </p:cNvPr>
              <p:cNvSpPr/>
              <p:nvPr/>
            </p:nvSpPr>
            <p:spPr>
              <a:xfrm>
                <a:off x="980661" y="862383"/>
                <a:ext cx="1032731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Christian wondered if it is possible for the restaurant to ever be at exactly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capacity. Discuss his thinking with your partner. Then, write a brief summary of your discussion.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8853ABC-DADE-924D-B06F-31B56BCC77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661" y="862383"/>
                <a:ext cx="10327310" cy="1200329"/>
              </a:xfrm>
              <a:prstGeom prst="rect">
                <a:avLst/>
              </a:prstGeom>
              <a:blipFill rotWithShape="0">
                <a:blip r:embed="rId3"/>
                <a:stretch>
                  <a:fillRect l="-945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65321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144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5802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8853ABC-DADE-924D-B06F-31B56BCC7722}"/>
                  </a:ext>
                </a:extLst>
              </p:cNvPr>
              <p:cNvSpPr/>
              <p:nvPr/>
            </p:nvSpPr>
            <p:spPr>
              <a:xfrm>
                <a:off x="1232452" y="238929"/>
                <a:ext cx="9823728" cy="25545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Last Sunday,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1,575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people visited an amusement park.</a:t>
                </a:r>
              </a:p>
              <a:p>
                <a:pPr marL="763588" indent="-1778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56%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 the visitors were adults</a:t>
                </a:r>
              </a:p>
              <a:p>
                <a:pPr marL="763588" indent="-1778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16%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 the visitors were teenagers</a:t>
                </a:r>
              </a:p>
              <a:p>
                <a:pPr marL="763588" indent="-1778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28%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 the visitors were children under the age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12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use the equivalent ratio table below to determine the number of adults, teenagers, and children who visited the park last Sunday. Show your work.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8853ABC-DADE-924D-B06F-31B56BCC77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452" y="238929"/>
                <a:ext cx="9823728" cy="2554545"/>
              </a:xfrm>
              <a:prstGeom prst="rect">
                <a:avLst/>
              </a:prstGeom>
              <a:blipFill rotWithShape="0">
                <a:blip r:embed="rId3"/>
                <a:stretch>
                  <a:fillRect l="-682" t="-1193" b="-3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5FE6EEF-171C-F14A-93C3-9AFA3C051F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4800645"/>
                  </p:ext>
                </p:extLst>
              </p:nvPr>
            </p:nvGraphicFramePr>
            <p:xfrm>
              <a:off x="4180840" y="3013433"/>
              <a:ext cx="3830320" cy="329184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87220">
                      <a:extLst>
                        <a:ext uri="{9D8B030D-6E8A-4147-A177-3AD203B41FA5}">
                          <a16:colId xmlns:a16="http://schemas.microsoft.com/office/drawing/2014/main" val="404992375"/>
                        </a:ext>
                      </a:extLst>
                    </a:gridCol>
                    <a:gridCol w="1943100">
                      <a:extLst>
                        <a:ext uri="{9D8B030D-6E8A-4147-A177-3AD203B41FA5}">
                          <a16:colId xmlns:a16="http://schemas.microsoft.com/office/drawing/2014/main" val="74639165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Visitors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Percentage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23678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124029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3973775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366471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3286626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5954159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058784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5FE6EEF-171C-F14A-93C3-9AFA3C051F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4800645"/>
                  </p:ext>
                </p:extLst>
              </p:nvPr>
            </p:nvGraphicFramePr>
            <p:xfrm>
              <a:off x="2656840" y="3013433"/>
              <a:ext cx="3830320" cy="329184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87220">
                      <a:extLst>
                        <a:ext uri="{9D8B030D-6E8A-4147-A177-3AD203B41FA5}">
                          <a16:colId xmlns:a16="http://schemas.microsoft.com/office/drawing/2014/main" val="404992375"/>
                        </a:ext>
                      </a:extLst>
                    </a:gridCol>
                    <a:gridCol w="1943100">
                      <a:extLst>
                        <a:ext uri="{9D8B030D-6E8A-4147-A177-3AD203B41FA5}">
                          <a16:colId xmlns:a16="http://schemas.microsoft.com/office/drawing/2014/main" val="746391652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Visitors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Percentage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23678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8039" t="-136111" r="-1307" b="-5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24029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3973775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366471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3286626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5954159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058784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65321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144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143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8853ABC-DADE-924D-B06F-31B56BCC7722}"/>
                  </a:ext>
                </a:extLst>
              </p:cNvPr>
              <p:cNvSpPr/>
              <p:nvPr/>
            </p:nvSpPr>
            <p:spPr>
              <a:xfrm>
                <a:off x="1179443" y="613000"/>
                <a:ext cx="9929746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statements.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Last Sunday, _____ adults, _____ teenagers, and _____ children under the age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visited the amusement park.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8853ABC-DADE-924D-B06F-31B56BCC77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443" y="613000"/>
                <a:ext cx="9929746" cy="1938992"/>
              </a:xfrm>
              <a:prstGeom prst="rect">
                <a:avLst/>
              </a:prstGeom>
              <a:blipFill rotWithShape="0">
                <a:blip r:embed="rId3"/>
                <a:stretch>
                  <a:fillRect l="-921" t="-2516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65321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144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0247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5321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144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313902" y="124390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5.9.4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602" y="12439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66A031F-2EC8-DF4C-B3F5-E7AC5B8F3239}"/>
                  </a:ext>
                </a:extLst>
              </p:cNvPr>
              <p:cNvSpPr/>
              <p:nvPr/>
            </p:nvSpPr>
            <p:spPr>
              <a:xfrm>
                <a:off x="1313902" y="1126600"/>
                <a:ext cx="9632776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68312" indent="-457200">
                  <a:buSzPts val="1800"/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At a hardware store, a tool set costs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$80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Using a coupon, Denise is able to pay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$12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less than the original price. </a:t>
                </a:r>
              </a:p>
              <a:p>
                <a:pPr marL="407988" indent="-396875">
                  <a:buSzPts val="1800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5988" indent="-446088">
                  <a:buSzPts val="1800"/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66A031F-2EC8-DF4C-B3F5-E7AC5B8F32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902" y="1126600"/>
                <a:ext cx="9632776" cy="1323439"/>
              </a:xfrm>
              <a:prstGeom prst="rect">
                <a:avLst/>
              </a:prstGeom>
              <a:blipFill rotWithShape="0">
                <a:blip r:embed="rId4"/>
                <a:stretch>
                  <a:fillRect l="-443" t="-5991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40F8DF4-DAFE-3C44-BB04-4F4007106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015439"/>
              </p:ext>
            </p:extLst>
          </p:nvPr>
        </p:nvGraphicFramePr>
        <p:xfrm>
          <a:off x="4180840" y="2569338"/>
          <a:ext cx="3830320" cy="237744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887220">
                  <a:extLst>
                    <a:ext uri="{9D8B030D-6E8A-4147-A177-3AD203B41FA5}">
                      <a16:colId xmlns:a16="http://schemas.microsoft.com/office/drawing/2014/main" val="1644631984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3819271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Dollar Amount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Percentage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6634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11505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01538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35069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8612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0FB6951-DC6C-B64A-B1D2-B5E332432FFE}"/>
                  </a:ext>
                </a:extLst>
              </p:cNvPr>
              <p:cNvSpPr/>
              <p:nvPr/>
            </p:nvSpPr>
            <p:spPr>
              <a:xfrm>
                <a:off x="1643270" y="5282963"/>
                <a:ext cx="875041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68312" indent="-457200">
                  <a:buSzPts val="1800"/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coupon gives Denise _____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%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off of the original price.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F0FB6951-DC6C-B64A-B1D2-B5E332432F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3270" y="5282963"/>
                <a:ext cx="8750410" cy="400110"/>
              </a:xfrm>
              <a:prstGeom prst="rect">
                <a:avLst/>
              </a:prstGeom>
              <a:blipFill rotWithShape="0">
                <a:blip r:embed="rId5"/>
                <a:stretch>
                  <a:fillRect l="-488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65321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144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AF1552-9966-3643-BA84-BB4BC68EDBB5}"/>
                  </a:ext>
                </a:extLst>
              </p:cNvPr>
              <p:cNvSpPr/>
              <p:nvPr/>
            </p:nvSpPr>
            <p:spPr>
              <a:xfrm>
                <a:off x="1099930" y="331351"/>
                <a:ext cx="10261006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SzPts val="1800"/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bathtub can hold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gallons of water. Isaiah fills it up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65%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capacity to take a bath. </a:t>
                </a:r>
              </a:p>
              <a:p>
                <a:pPr marL="350838" indent="-350838">
                  <a:buSzPts val="1800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5988" indent="-446088">
                  <a:buSzPts val="1800"/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table to determine how many gallons of water Isaiah had in the bathtub.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9AF1552-9966-3643-BA84-BB4BC68EDB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930" y="331351"/>
                <a:ext cx="10261006" cy="1631216"/>
              </a:xfrm>
              <a:prstGeom prst="rect">
                <a:avLst/>
              </a:prstGeom>
              <a:blipFill rotWithShape="0">
                <a:blip r:embed="rId3"/>
                <a:stretch>
                  <a:fillRect l="-475" t="-1866" r="-1010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D3A5E52-3109-7440-8586-B0B2CC8DE8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037397"/>
              </p:ext>
            </p:extLst>
          </p:nvPr>
        </p:nvGraphicFramePr>
        <p:xfrm>
          <a:off x="4180840" y="2098283"/>
          <a:ext cx="3830320" cy="237744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887220">
                  <a:extLst>
                    <a:ext uri="{9D8B030D-6E8A-4147-A177-3AD203B41FA5}">
                      <a16:colId xmlns:a16="http://schemas.microsoft.com/office/drawing/2014/main" val="1644631984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3819271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Number of Gallons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Percentage of Capacity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6634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11505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01538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35069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8612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95AD379-9FA1-E44A-87A4-A89717D9F3CA}"/>
                  </a:ext>
                </a:extLst>
              </p:cNvPr>
              <p:cNvSpPr/>
              <p:nvPr/>
            </p:nvSpPr>
            <p:spPr>
              <a:xfrm>
                <a:off x="1563756" y="4792514"/>
                <a:ext cx="979717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SzPts val="1800"/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Isaiah filled the tub with _____ gallons of water to be 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65%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capacity. 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95AD379-9FA1-E44A-87A4-A89717D9F3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756" y="4792514"/>
                <a:ext cx="9797179" cy="400110"/>
              </a:xfrm>
              <a:prstGeom prst="rect">
                <a:avLst/>
              </a:prstGeom>
              <a:blipFill rotWithShape="0">
                <a:blip r:embed="rId4"/>
                <a:stretch>
                  <a:fillRect l="-560" t="-7576" r="-31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65321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144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435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6CBF5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5321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144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65097" y="-82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5.9.5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647" y="23754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0A85065-1747-6C4E-8BA4-9C1ED8A185A6}"/>
                  </a:ext>
                </a:extLst>
              </p:cNvPr>
              <p:cNvSpPr/>
              <p:nvPr/>
            </p:nvSpPr>
            <p:spPr>
              <a:xfrm>
                <a:off x="1382947" y="1393501"/>
                <a:ext cx="9736016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large school bus can hold a maximum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72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children. This morning, Malachi’s school bus only had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students on board. What percentage of Malachi’s school bus is full?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0A85065-1747-6C4E-8BA4-9C1ED8A185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2947" y="1393501"/>
                <a:ext cx="9736016" cy="1015663"/>
              </a:xfrm>
              <a:prstGeom prst="rect">
                <a:avLst/>
              </a:prstGeom>
              <a:blipFill rotWithShape="0">
                <a:blip r:embed="rId4"/>
                <a:stretch>
                  <a:fillRect l="-689" t="-4217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4FB72FF-A4A6-4C40-A4E2-B5BBB3783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871616"/>
              </p:ext>
            </p:extLst>
          </p:nvPr>
        </p:nvGraphicFramePr>
        <p:xfrm>
          <a:off x="4180840" y="2811331"/>
          <a:ext cx="3830320" cy="237744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887220">
                  <a:extLst>
                    <a:ext uri="{9D8B030D-6E8A-4147-A177-3AD203B41FA5}">
                      <a16:colId xmlns:a16="http://schemas.microsoft.com/office/drawing/2014/main" val="1644631984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3819271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Number of Students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Percentage of Capacity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6634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11505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01538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35069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861226"/>
                  </a:ext>
                </a:extLst>
              </a:tr>
            </a:tbl>
          </a:graphicData>
        </a:graphic>
      </p:graphicFrame>
      <p:sp>
        <p:nvSpPr>
          <p:cNvPr id="10" name="Google Shape;282;g104476d1465_1_17"/>
          <p:cNvSpPr txBox="1"/>
          <p:nvPr/>
        </p:nvSpPr>
        <p:spPr>
          <a:xfrm>
            <a:off x="865321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144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1325</TotalTime>
  <Words>1078</Words>
  <Application>Microsoft Office PowerPoint</Application>
  <PresentationFormat>Widescreen</PresentationFormat>
  <Paragraphs>181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6th Grade Accelerated Math   Unit 5, Lesson 9  Applying Ratios to Solve Problems Involving Percentages  Volume 1, pg. 214  </vt:lpstr>
      <vt:lpstr>Benchmark</vt:lpstr>
      <vt:lpstr>PowerPoint Presentation</vt:lpstr>
      <vt:lpstr>PowerPoint Presentation</vt:lpstr>
      <vt:lpstr>Warm-Up</vt:lpstr>
      <vt:lpstr>PowerPoint Presentation</vt:lpstr>
      <vt:lpstr>Guided Practice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Cassie O'Connor</cp:lastModifiedBy>
  <cp:revision>23</cp:revision>
  <dcterms:created xsi:type="dcterms:W3CDTF">2015-03-17T18:51:18Z</dcterms:created>
  <dcterms:modified xsi:type="dcterms:W3CDTF">2022-06-29T18:52:18Z</dcterms:modified>
</cp:coreProperties>
</file>