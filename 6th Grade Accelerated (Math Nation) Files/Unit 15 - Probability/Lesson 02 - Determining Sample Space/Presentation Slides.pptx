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332" r:id="rId11"/>
    <p:sldId id="333" r:id="rId12"/>
    <p:sldId id="334" r:id="rId13"/>
    <p:sldId id="335" r:id="rId14"/>
    <p:sldId id="336" r:id="rId15"/>
    <p:sldId id="329" r:id="rId16"/>
    <p:sldId id="330" r:id="rId17"/>
    <p:sldId id="331" r:id="rId18"/>
    <p:sldId id="323" r:id="rId19"/>
    <p:sldId id="324" r:id="rId20"/>
    <p:sldId id="325" r:id="rId21"/>
    <p:sldId id="306" r:id="rId22"/>
    <p:sldId id="30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704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25"/>
    <p:restoredTop sz="94694"/>
  </p:normalViewPr>
  <p:slideViewPr>
    <p:cSldViewPr snapToGrid="0">
      <p:cViewPr varScale="1">
        <p:scale>
          <a:sx n="83" d="100"/>
          <a:sy n="83" d="100"/>
        </p:scale>
        <p:origin x="86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94591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5.png"/><Relationship Id="rId7" Type="http://schemas.openxmlformats.org/officeDocument/2006/relationships/hyperlink" Target="https://commons.wikimedia.org/wiki/File:One_die.jpe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jpeg"/><Relationship Id="rId5" Type="http://schemas.openxmlformats.org/officeDocument/2006/relationships/hyperlink" Target="http://flickr.com/photos/matthiasxc/3600940260" TargetMode="Externa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15,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Determining Sample Space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406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602709" y="11181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209" y="34758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602709" y="1600200"/>
            <a:ext cx="898658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MA.7.DP.2.1</a:t>
            </a:r>
          </a:p>
          <a:p>
            <a:pPr indent="0">
              <a:buNone/>
            </a:pPr>
            <a:r>
              <a:rPr lang="en-US" sz="2400" dirty="0">
                <a:solidFill>
                  <a:srgbClr val="000000"/>
                </a:solidFill>
                <a:latin typeface="Verdana"/>
                <a:ea typeface="Verdana"/>
                <a:cs typeface="Calibri Light"/>
              </a:rPr>
              <a:t>Determine the sample space for a simple experiment.</a:t>
            </a:r>
            <a:endParaRPr lang="en-US" sz="24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880" y="3599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508530" y="11731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508530" y="1596390"/>
            <a:ext cx="97627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b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20299" y="-5151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137" y="23768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618735" y="1600200"/>
            <a:ext cx="895453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/>
                <a:ea typeface="Cambria Math"/>
                <a:cs typeface="Calibri"/>
              </a:rPr>
              <a:t>I </a:t>
            </a:r>
            <a:r>
              <a:rPr lang="en-US" sz="3600" dirty="0">
                <a:latin typeface="Verdana"/>
                <a:ea typeface="Cambria Math"/>
                <a:cs typeface="Calibri Light"/>
              </a:rPr>
              <a:t>can determine the sample space for a simple experiment.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72418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15.2.1 Warm-Up: Which Game Would You Choose?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118" y="27162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383957" y="1386026"/>
                <a:ext cx="9680118" cy="3631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Two games are described.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Game 1: A player flips a coin and wins if it lands on 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heads.</a:t>
                </a:r>
              </a:p>
              <a:p>
                <a:pPr marL="457200">
                  <a:spcBef>
                    <a:spcPts val="1200"/>
                  </a:spcBef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Game 2: A player rolls a standard number cube and wins if</a:t>
                </a:r>
              </a:p>
              <a:p>
                <a:pPr marL="457200" indent="1200150"/>
                <a:r>
                  <a:rPr lang="en-US" sz="2000" dirty="0">
                    <a:latin typeface="Verdana"/>
                    <a:ea typeface="Verdana"/>
                    <a:cs typeface="Verdana"/>
                  </a:rPr>
                  <a:t>it lands on a number that is divisible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3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marL="457200" indent="1200150"/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Which game would you rather play?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Explain your reasoning.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3957" y="1386026"/>
                <a:ext cx="9680118" cy="3631763"/>
              </a:xfrm>
              <a:prstGeom prst="rect">
                <a:avLst/>
              </a:prstGeom>
              <a:blipFill rotWithShape="0">
                <a:blip r:embed="rId4"/>
                <a:stretch>
                  <a:fillRect l="-693" t="-1007" b="-2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73570" y="7813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15.2.2 Exploration: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Simple Experiments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7272" y="326264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1469526" y="1386025"/>
            <a:ext cx="95089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Work with your partner to complete the following.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Discuss the sample space for both games from the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Warm-Up with your partner.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Write the sample space for each in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3214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482273"/>
              </p:ext>
            </p:extLst>
          </p:nvPr>
        </p:nvGraphicFramePr>
        <p:xfrm>
          <a:off x="3076575" y="3092450"/>
          <a:ext cx="6838950" cy="341376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Random</a:t>
                      </a:r>
                      <a:r>
                        <a:rPr lang="en-PH" sz="2000" b="1" baseline="0" dirty="0">
                          <a:latin typeface="Verdana" pitchFamily="34" charset="0"/>
                          <a:ea typeface="Verdana" pitchFamily="34" charset="0"/>
                        </a:rPr>
                        <a:t> Process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Sample</a:t>
                      </a:r>
                      <a:r>
                        <a:rPr lang="en-PH" sz="2000" b="1" baseline="0" dirty="0">
                          <a:latin typeface="Verdana" pitchFamily="34" charset="0"/>
                          <a:ea typeface="Verdana" pitchFamily="34" charset="0"/>
                        </a:rPr>
                        <a:t> Space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Flipping a</a:t>
                      </a:r>
                      <a:r>
                        <a:rPr lang="en-PH" sz="2000" baseline="0" dirty="0">
                          <a:latin typeface="Verdana" pitchFamily="34" charset="0"/>
                          <a:ea typeface="Verdana" pitchFamily="34" charset="0"/>
                        </a:rPr>
                        <a:t> </a:t>
                      </a:r>
                      <a:br>
                        <a:rPr lang="en-PH" sz="2000" baseline="0" dirty="0">
                          <a:latin typeface="Verdana" pitchFamily="34" charset="0"/>
                          <a:ea typeface="Verdana" pitchFamily="34" charset="0"/>
                        </a:rPr>
                      </a:br>
                      <a:r>
                        <a:rPr lang="en-PH" sz="2000" baseline="0" dirty="0">
                          <a:latin typeface="Verdana" pitchFamily="34" charset="0"/>
                          <a:ea typeface="Verdana" pitchFamily="34" charset="0"/>
                        </a:rPr>
                        <a:t>Coin</a:t>
                      </a:r>
                    </a:p>
                    <a:p>
                      <a:endParaRPr lang="en-PH" sz="2000" baseline="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baseline="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Rolling a </a:t>
                      </a:r>
                      <a:b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</a:b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Standard </a:t>
                      </a:r>
                      <a:b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</a:b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Number </a:t>
                      </a:r>
                      <a:b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</a:b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Cube</a:t>
                      </a: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11" descr="Old Quarter Tail (Back) | Matthias | Flickr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604702" y="3700462"/>
            <a:ext cx="902335" cy="904875"/>
          </a:xfrm>
          <a:prstGeom prst="rect">
            <a:avLst/>
          </a:prstGeom>
        </p:spPr>
      </p:pic>
      <p:pic>
        <p:nvPicPr>
          <p:cNvPr id="13" name="Picture 12" descr="File:One die.jpeg - Wikimedia Commons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604701" y="5062601"/>
            <a:ext cx="859790" cy="844550"/>
          </a:xfrm>
          <a:prstGeom prst="rect">
            <a:avLst/>
          </a:prstGeom>
        </p:spPr>
      </p:pic>
      <p:sp>
        <p:nvSpPr>
          <p:cNvPr id="15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1248032" y="374089"/>
            <a:ext cx="98466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the possible outcomes in the event of landing on heads in Game 1 from the Warm-Up?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What fraction of the possible outcomes from Game 1 results in a win?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1186249" y="374089"/>
                <a:ext cx="9970168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What are the possible outcomes in the event of rolling a number divisible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3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in Game 2 from the Warm-Up?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What fraction of the possible outcomes from Game 2 results in a win?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249" y="374089"/>
                <a:ext cx="9970168" cy="3416320"/>
              </a:xfrm>
              <a:prstGeom prst="rect">
                <a:avLst/>
              </a:prstGeom>
              <a:blipFill rotWithShape="0">
                <a:blip r:embed="rId3"/>
                <a:stretch>
                  <a:fillRect t="-1426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132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939114" y="374089"/>
                <a:ext cx="10464438" cy="4233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Based on your answers to Parts B-E, complete the statement.</a:t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A player has a greater likelihood of winning</a:t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	          because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PH" sz="2400" i="1">
                            <a:latin typeface="Cambria Math"/>
                            <a:ea typeface="Cambria Math"/>
                          </a:rPr>
                          <m:t>         </m:t>
                        </m:r>
                      </m:num>
                      <m:den>
                        <m:r>
                          <a:rPr lang="en-PH" sz="2400" i="1">
                            <a:latin typeface="Cambria Math"/>
                            <a:ea typeface="Cambria Math"/>
                          </a:rPr>
                          <m:t> </m:t>
                        </m:r>
                      </m:den>
                    </m:f>
                    <m:r>
                      <a:rPr lang="en-US" sz="2400" i="1">
                        <a:latin typeface="Cambria Math"/>
                        <a:ea typeface="Cambria Math"/>
                        <a:cs typeface="Verdana"/>
                      </a:rPr>
                      <m:t>&gt;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PH" sz="2400" i="1">
                            <a:latin typeface="Cambria Math"/>
                            <a:ea typeface="Cambria Math"/>
                          </a:rPr>
                          <m:t>         </m:t>
                        </m:r>
                      </m:num>
                      <m:den>
                        <m:r>
                          <a:rPr lang="en-PH" sz="2400" i="1">
                            <a:latin typeface="Cambria Math"/>
                            <a:ea typeface="Cambria Math"/>
                          </a:rPr>
                          <m:t> 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6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How could Game 2 be modified so the likelihood of winning either game is the same?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114" y="374089"/>
                <a:ext cx="10464438" cy="4233018"/>
              </a:xfrm>
              <a:prstGeom prst="rect">
                <a:avLst/>
              </a:prstGeom>
              <a:blipFill rotWithShape="0">
                <a:blip r:embed="rId3"/>
                <a:stretch>
                  <a:fillRect t="-1151" b="-2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912637" y="2327581"/>
            <a:ext cx="1878614" cy="976579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07000"/>
              </a:lnSpc>
              <a:buFont typeface="Courier New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Game 1</a:t>
            </a:r>
            <a:endParaRPr lang="en-US" sz="2400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Courier New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Cambria Math"/>
              </a:rPr>
              <a:t>Game 2</a:t>
            </a:r>
            <a:endParaRPr lang="en-US" sz="2400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4898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1037968" y="374089"/>
            <a:ext cx="1026673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With your partner, determine who is partner A and who is partner B. For this activity, you and your partner will pull slips of paper from a bag.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Make a guess about what is on the slips of paper.</a:t>
            </a:r>
          </a:p>
          <a:p>
            <a:pPr marL="914400" indent="-457200">
              <a:spcBef>
                <a:spcPts val="24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Without looking in the bag, partner A should take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out one of the papers and show it to partner B.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Both partners record what was printed on the paper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in the first row of 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301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425536"/>
              </p:ext>
            </p:extLst>
          </p:nvPr>
        </p:nvGraphicFramePr>
        <p:xfrm>
          <a:off x="2999509" y="3427201"/>
          <a:ext cx="6916017" cy="30784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686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Who?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What is printed on the paper?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A, Choice 1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B, Choice 1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A, Choice 2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B, Choice 2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A, Choice 3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Partner B, Choice 3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9928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963827" y="374090"/>
            <a:ext cx="104150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Bef>
                <a:spcPts val="1200"/>
              </a:spcBef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Partner A should put the paper back into the bag. Then, partner B should take out one of the papers and show it to partner A for both to record in the table.</a:t>
            </a:r>
          </a:p>
          <a:p>
            <a:pPr marL="914400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After both partners have made their first selection and put it back in the bag, make a revised guess of the sample space.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Continue taking turns and recording the results in the table until each partner has taken three turns.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Make a revised guess of the sample space.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9408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902043" y="374090"/>
            <a:ext cx="1053858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r>
              <a:rPr lang="en-US" sz="2000" dirty="0">
                <a:latin typeface="Verdana"/>
                <a:ea typeface="Verdana"/>
                <a:cs typeface="Verdana"/>
              </a:rPr>
              <a:t>Rate your confidence in your last guess using the </a:t>
            </a:r>
            <a:r>
              <a:rPr lang="en-US" sz="2000" dirty="0" err="1">
                <a:latin typeface="Verdana"/>
                <a:ea typeface="Verdana"/>
                <a:cs typeface="Verdana"/>
              </a:rPr>
              <a:t>emoji</a:t>
            </a:r>
            <a:r>
              <a:rPr lang="en-US" sz="2000" dirty="0">
                <a:latin typeface="Verdana"/>
                <a:ea typeface="Verdana"/>
                <a:cs typeface="Verdana"/>
              </a:rPr>
              <a:t> scale.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r>
              <a:rPr lang="en-US" sz="2000" dirty="0">
                <a:latin typeface="Verdana"/>
                <a:ea typeface="Verdana"/>
                <a:cs typeface="Verdana"/>
              </a:rPr>
              <a:t>Discuss with your partner what you could do to make a better guess of the sample space. Write at least two strategies you discussed.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 startAt="7"/>
            </a:pPr>
            <a:r>
              <a:rPr lang="en-US" sz="2000" dirty="0">
                <a:latin typeface="Verdana"/>
                <a:ea typeface="Verdana"/>
                <a:cs typeface="Verdana"/>
              </a:rPr>
              <a:t>Look at all the papers in the bag. Write the sample space.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4851" y="1168401"/>
            <a:ext cx="7300051" cy="2149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6376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91400" y="-3336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15.2.3 Bring It Together: Defining Simple Experiments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1025611" y="1386026"/>
            <a:ext cx="1039681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The games from the exploration are all considered </a:t>
            </a:r>
            <a:r>
              <a:rPr lang="en-US" sz="2000" b="1" dirty="0">
                <a:latin typeface="Verdana"/>
                <a:ea typeface="Verdana"/>
                <a:cs typeface="Verdana"/>
              </a:rPr>
              <a:t>simple experiments</a:t>
            </a:r>
            <a:r>
              <a:rPr lang="en-US" sz="2000" dirty="0">
                <a:latin typeface="Verdana"/>
                <a:ea typeface="Verdana"/>
                <a:cs typeface="Verdana"/>
              </a:rPr>
              <a:t>.</a:t>
            </a: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r>
              <a:rPr lang="en-US" sz="2000" dirty="0">
                <a:latin typeface="Verdana"/>
                <a:ea typeface="Verdana"/>
                <a:cs typeface="Verdana"/>
              </a:rPr>
              <a:t>In a simple experiment, each outcome in the sample space is equally likely to happen; however, events, which are subsets of the sample space, may have different likelihoods of happening. This is called probability.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9678" y="16604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2139024" y="2309344"/>
            <a:ext cx="7271676" cy="1526057"/>
            <a:chOff x="1389024" y="2660343"/>
            <a:chExt cx="7271676" cy="1526057"/>
          </a:xfrm>
        </p:grpSpPr>
        <p:sp>
          <p:nvSpPr>
            <p:cNvPr id="13" name="Rectangle 12"/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1600">
                  <a:latin typeface="Cambria Math"/>
                  <a:ea typeface="Cambria Math"/>
                  <a:cs typeface="Cambria Math"/>
                </a:rPr>
                <a:t> 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1389024" y="2660343"/>
              <a:ext cx="7271676" cy="1526057"/>
              <a:chOff x="-642276" y="-713257"/>
              <a:chExt cx="7271676" cy="1526057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>
                    <a:latin typeface="Cambria Math"/>
                    <a:ea typeface="Cambria Math"/>
                    <a:cs typeface="Cambria Math"/>
                  </a:rPr>
                  <a:t> </a:t>
                </a:r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-642276" y="-713257"/>
                <a:ext cx="7271676" cy="962873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108000" rIns="91425" bIns="0" anchor="ctr" anchorCtr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6C993D"/>
                    </a:solidFill>
                    <a:latin typeface="Verdana"/>
                    <a:ea typeface="Verdana"/>
                    <a:cs typeface="Verdana"/>
                  </a:rPr>
                  <a:t>A </a:t>
                </a:r>
                <a:r>
                  <a:rPr lang="en-US" sz="2000" b="1" i="1" dirty="0">
                    <a:solidFill>
                      <a:srgbClr val="6C993D"/>
                    </a:solidFill>
                    <a:latin typeface="Verdana"/>
                    <a:ea typeface="Verdana"/>
                    <a:cs typeface="Verdana"/>
                  </a:rPr>
                  <a:t>simple experiment</a:t>
                </a:r>
                <a:r>
                  <a:rPr lang="en-US" sz="2000" dirty="0">
                    <a:solidFill>
                      <a:srgbClr val="6C993D"/>
                    </a:solidFill>
                    <a:latin typeface="Verdana"/>
                    <a:ea typeface="Verdana"/>
                    <a:cs typeface="Verdana"/>
                  </a:rPr>
                  <a:t> is an action that has a definite outcome that cannot be predicted with certainty.</a:t>
                </a:r>
                <a:endParaRPr lang="en-US" sz="1800" dirty="0">
                  <a:latin typeface="Cambria Math"/>
                  <a:ea typeface="Cambria Math"/>
                  <a:cs typeface="Cambria Math"/>
                </a:endParaRPr>
              </a:p>
            </p:txBody>
          </p:sp>
        </p:grpSp>
      </p:grpSp>
      <p:sp>
        <p:nvSpPr>
          <p:cNvPr id="26" name="Rounded Rectangle 25"/>
          <p:cNvSpPr/>
          <p:nvPr/>
        </p:nvSpPr>
        <p:spPr>
          <a:xfrm>
            <a:off x="2139024" y="4968916"/>
            <a:ext cx="7271677" cy="962873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108000" rIns="91425" bIns="0" anchor="ctr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The </a:t>
            </a:r>
            <a:r>
              <a:rPr lang="en-US" sz="2000" b="1" i="1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probability</a:t>
            </a:r>
            <a:r>
              <a:rPr lang="en-US" sz="2000" dirty="0">
                <a:solidFill>
                  <a:srgbClr val="6C993D"/>
                </a:solidFill>
                <a:latin typeface="Verdana"/>
                <a:ea typeface="Verdana"/>
                <a:cs typeface="Verdana"/>
              </a:rPr>
              <a:t> of an event is a measure of the likelihood the event will occur.</a:t>
            </a:r>
            <a:endParaRPr lang="en-US" sz="1800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17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1173892" y="435050"/>
            <a:ext cx="9844216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Consider the simple experiment involving pulling papers from the bag in the Exploration.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Explain whether all of the possible outcomes in the sample space were equally likely or not.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PH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Explain which of the following events would have been more likely to happen in that experiment – pulling out a paper with a vowel on it or pulling out a paper with a consonant on it.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2790" y="2800350"/>
            <a:ext cx="1638300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429352"/>
                  </p:ext>
                </p:extLst>
              </p:nvPr>
            </p:nvGraphicFramePr>
            <p:xfrm>
              <a:off x="2638425" y="2178050"/>
              <a:ext cx="7315200" cy="43281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6766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385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Simple Experiment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Sample</a:t>
                          </a:r>
                          <a:r>
                            <a:rPr lang="en-PH" sz="2000" b="1" baseline="0" dirty="0">
                              <a:latin typeface="Verdana" pitchFamily="34" charset="0"/>
                              <a:ea typeface="Verdana" pitchFamily="34" charset="0"/>
                            </a:rPr>
                            <a:t> Space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Spinning the </a:t>
                          </a:r>
                          <a:b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spinner</a:t>
                          </a:r>
                        </a:p>
                        <a:p>
                          <a:endParaRPr lang="en-PH" sz="2000" baseline="0" dirty="0">
                            <a:solidFill>
                              <a:srgbClr val="000000"/>
                            </a:solidFill>
                            <a:effectLst/>
                            <a:latin typeface="Verdana"/>
                            <a:ea typeface="Verdana"/>
                          </a:endParaRPr>
                        </a:p>
                        <a:p>
                          <a:endParaRPr lang="en-PH" sz="2000" baseline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endParaRPr lang="en-PH" sz="2000" baseline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endParaRPr lang="en-PH" sz="2000" baseline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Rolling a fair </a:t>
                          </a:r>
                          <a:b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12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-sided die</a:t>
                          </a:r>
                        </a:p>
                        <a:p>
                          <a:endParaRPr lang="en-PH" sz="2000" dirty="0">
                            <a:solidFill>
                              <a:srgbClr val="000000"/>
                            </a:solidFill>
                            <a:effectLst/>
                            <a:latin typeface="Verdana"/>
                            <a:ea typeface="Verdana"/>
                          </a:endParaRPr>
                        </a:p>
                        <a:p>
                          <a:endParaRPr lang="en-PH" sz="2000" dirty="0">
                            <a:solidFill>
                              <a:srgbClr val="000000"/>
                            </a:solidFill>
                            <a:effectLst/>
                            <a:latin typeface="Verdana"/>
                            <a:ea typeface="Verdana"/>
                          </a:endParaRPr>
                        </a:p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429352"/>
                  </p:ext>
                </p:extLst>
              </p:nvPr>
            </p:nvGraphicFramePr>
            <p:xfrm>
              <a:off x="1114425" y="2178050"/>
              <a:ext cx="7315200" cy="43281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676650"/>
                    <a:gridCol w="3638550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Simple Experiment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Sample</a:t>
                          </a:r>
                          <a:r>
                            <a:rPr lang="en-PH" sz="2000" b="1" baseline="0" dirty="0" smtClean="0">
                              <a:latin typeface="Verdana" pitchFamily="34" charset="0"/>
                              <a:ea typeface="Verdana" pitchFamily="34" charset="0"/>
                            </a:rPr>
                            <a:t> Space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920240">
                    <a:tc>
                      <a:txBody>
                        <a:bodyPr/>
                        <a:lstStyle/>
                        <a:p>
                          <a:r>
                            <a:rPr lang="en-US" sz="2000" dirty="0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Spinning the </a:t>
                          </a:r>
                          <a:br>
                            <a:rPr lang="en-US" sz="2000" dirty="0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dirty="0" smtClean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spinner</a:t>
                          </a:r>
                        </a:p>
                        <a:p>
                          <a:endParaRPr lang="en-PH" sz="2000" baseline="0" dirty="0" smtClean="0">
                            <a:solidFill>
                              <a:srgbClr val="000000"/>
                            </a:solidFill>
                            <a:effectLst/>
                            <a:latin typeface="Verdana"/>
                            <a:ea typeface="Verdana"/>
                          </a:endParaRPr>
                        </a:p>
                        <a:p>
                          <a:endParaRPr lang="en-PH" sz="2000" baseline="0" dirty="0" smtClean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endParaRPr lang="en-PH" sz="2000" baseline="0" dirty="0" smtClean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endParaRPr lang="en-PH" sz="2000" baseline="0" dirty="0" smtClean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920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66" t="-125397" r="-99005" b="-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70671" y="-4745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15.2.4 Guided Practice: Determining Sample Space of Simple Experiments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0863" y="19271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902043" y="1386025"/>
            <a:ext cx="10643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For each simple experiment in the table, determine the sample space.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4" name="Picture 13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42790" y="4761690"/>
            <a:ext cx="1468120" cy="143891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42374" y="386281"/>
            <a:ext cx="3517195" cy="3517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790832" y="386282"/>
            <a:ext cx="946873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following.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Given the sample space of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{Reese’s, Snickers, Twix,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Kit Kat}, label the game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wheel so that there is a fair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chance of winning each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candy bar as a prize.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Explain how you determined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the labels for the game board.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69005" y="5093695"/>
            <a:ext cx="1924050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91037" y="-2381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15.2.5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737" y="22300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149178" y="1386025"/>
            <a:ext cx="10149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For each simple experiment in the table, determine the sample space.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-9976" y="-810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507457"/>
              </p:ext>
            </p:extLst>
          </p:nvPr>
        </p:nvGraphicFramePr>
        <p:xfrm>
          <a:off x="2638425" y="2178050"/>
          <a:ext cx="7315200" cy="432816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Simple Experiment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Sample</a:t>
                      </a:r>
                      <a:r>
                        <a:rPr lang="en-PH" sz="2000" b="1" baseline="0" dirty="0">
                          <a:latin typeface="Verdana" pitchFamily="34" charset="0"/>
                          <a:ea typeface="Verdana" pitchFamily="34" charset="0"/>
                        </a:rPr>
                        <a:t> Space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Selecting a day of the week from a deck of </a:t>
                      </a:r>
                      <a:b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cards with each day written on one card</a:t>
                      </a:r>
                    </a:p>
                    <a:p>
                      <a:pPr algn="ctr"/>
                      <a:endParaRPr lang="en-PH" sz="2000" baseline="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Flipping an integer chip</a:t>
                      </a:r>
                    </a:p>
                    <a:p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endParaRPr lang="en-PH" sz="2000" dirty="0">
                        <a:solidFill>
                          <a:srgbClr val="000000"/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914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Google Shape;282;g104476d1465_1_17"/>
          <p:cNvSpPr txBox="1"/>
          <p:nvPr/>
        </p:nvSpPr>
        <p:spPr>
          <a:xfrm>
            <a:off x="8750011" y="645792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823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1062</Words>
  <Application>Microsoft Office PowerPoint</Application>
  <PresentationFormat>Widescreen</PresentationFormat>
  <Paragraphs>169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Calibri</vt:lpstr>
      <vt:lpstr>Cambria Math</vt:lpstr>
      <vt:lpstr>Century Gothic</vt:lpstr>
      <vt:lpstr>Courier New</vt:lpstr>
      <vt:lpstr>Verdana</vt:lpstr>
      <vt:lpstr>1_Office Theme</vt:lpstr>
      <vt:lpstr>6th Grade Accelerated Math  Unit 15, Lesson 2  Determining Sample Space  Volume 2, pg. 406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34</cp:revision>
  <dcterms:created xsi:type="dcterms:W3CDTF">2015-03-17T18:51:18Z</dcterms:created>
  <dcterms:modified xsi:type="dcterms:W3CDTF">2022-07-02T05:09:06Z</dcterms:modified>
</cp:coreProperties>
</file>