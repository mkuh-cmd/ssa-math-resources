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08" r:id="rId11"/>
    <p:sldId id="332" r:id="rId12"/>
    <p:sldId id="333" r:id="rId13"/>
    <p:sldId id="334" r:id="rId14"/>
    <p:sldId id="335" r:id="rId15"/>
    <p:sldId id="336" r:id="rId16"/>
    <p:sldId id="311" r:id="rId17"/>
    <p:sldId id="312" r:id="rId18"/>
    <p:sldId id="313" r:id="rId19"/>
    <p:sldId id="317" r:id="rId20"/>
    <p:sldId id="318" r:id="rId21"/>
    <p:sldId id="319" r:id="rId22"/>
    <p:sldId id="337" r:id="rId23"/>
    <p:sldId id="338" r:id="rId24"/>
    <p:sldId id="306" r:id="rId25"/>
    <p:sldId id="30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0704"/>
    <a:srgbClr val="33BEA6"/>
    <a:srgbClr val="CB0597"/>
    <a:srgbClr val="F79647"/>
    <a:srgbClr val="FCBD1E"/>
    <a:srgbClr val="C9DF6F"/>
    <a:srgbClr val="417DBF"/>
    <a:srgbClr val="3F2A67"/>
    <a:srgbClr val="E24E5F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59"/>
    <p:restoredTop sz="94694"/>
  </p:normalViewPr>
  <p:slideViewPr>
    <p:cSldViewPr snapToGrid="0">
      <p:cViewPr varScale="1">
        <p:scale>
          <a:sx n="81" d="100"/>
          <a:sy n="81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03987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15,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Exploring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Sample Space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401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15485" y="8768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326" y="36142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722535" y="1600200"/>
            <a:ext cx="874693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MA.7.DP.2.1</a:t>
            </a: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Determine the sample space for a simple experiment.</a:t>
            </a:r>
            <a:endParaRPr lang="en-US" sz="24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497" y="34540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90147" y="102773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90147" y="1596390"/>
            <a:ext cx="979946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</a:t>
            </a:r>
            <a:b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</a:b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</a:t>
            </a:r>
            <a:b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1916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754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501916" y="1600200"/>
            <a:ext cx="918816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651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determine all possible outcomes of a given scenario.</a:t>
            </a:r>
          </a:p>
          <a:p>
            <a:pPr marL="571500" indent="-5651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571500" indent="-5651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determine whether or not a simple experiment is fair.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23062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15.1.1 Warm-Up: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Carolyn Beatrice Parker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762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323062" y="1386025"/>
            <a:ext cx="6267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Carolyn Beatrice Parker, born in Gainesville, FL in 1917, was the first African American woman known to receive a graduate degree in physics and subsequently work on the top-secret government project known as the Manhattan Project. Before earning her master’s degree in physics, she earned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master’s degree in mathematics and was also a teacher in Florida.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A picture containing text, wall, person, person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0431" y="1386025"/>
            <a:ext cx="2744470" cy="28562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323062" y="4691200"/>
            <a:ext cx="93449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itchFamily="34" charset="0"/>
                <a:ea typeface="Verdana" pitchFamily="34" charset="0"/>
              </a:rPr>
              <a:t>In 2020, an elementary school in Gainesville, FL was re-named </a:t>
            </a: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</a:rPr>
              <a:t>in her honor. At this time, 11 of the 21 elementary schools </a:t>
            </a: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</a:rPr>
              <a:t>in the Alachua County Public School system were named </a:t>
            </a: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</a:rPr>
              <a:t>after people.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96788" y="520394"/>
                <a:ext cx="994909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Without performing any calculations, select the statement that best describes the percentage of the elementary schools in Alachua County that were named after people as of 2020.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buFont typeface="Courier New" pitchFamily="49" charset="0"/>
                  <a:buChar char="o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significantly less than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50%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buFont typeface="Courier New" pitchFamily="49" charset="0"/>
                  <a:buChar char="o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slightly less than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50%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buFont typeface="Courier New" pitchFamily="49" charset="0"/>
                  <a:buChar char="o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exactly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50%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buFont typeface="Courier New" pitchFamily="49" charset="0"/>
                  <a:buChar char="o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slightly more than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50%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buFont typeface="Courier New" pitchFamily="49" charset="0"/>
                  <a:buChar char="o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significantly more than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50%</m:t>
                    </m:r>
                  </m:oMath>
                </a14:m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buFont typeface="Courier New" pitchFamily="49" charset="0"/>
                  <a:buChar char="o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Explain your reasoning.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788" y="520394"/>
                <a:ext cx="9949090" cy="4524315"/>
              </a:xfrm>
              <a:prstGeom prst="rect">
                <a:avLst/>
              </a:prstGeom>
              <a:blipFill rotWithShape="0">
                <a:blip r:embed="rId3"/>
                <a:stretch>
                  <a:fillRect l="-919" t="-1077" r="-429" b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7.png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77" t="8554" r="10550" b="6515"/>
          <a:stretch/>
        </p:blipFill>
        <p:spPr bwMode="auto">
          <a:xfrm>
            <a:off x="7104135" y="2885900"/>
            <a:ext cx="3021330" cy="30670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54035" y="-4877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15.1.2 Guided Instruction: Determining Outcomes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6735" y="15849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1102659" y="1386026"/>
            <a:ext cx="92849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spinner divided into four equal areas is shown.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outcomes are there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from spinning the spinner?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060449" y="1384072"/>
            <a:ext cx="6788277" cy="880565"/>
            <a:chOff x="2031300" y="3305835"/>
            <a:chExt cx="6788277" cy="880565"/>
          </a:xfrm>
        </p:grpSpPr>
        <p:sp>
          <p:nvSpPr>
            <p:cNvPr id="14" name="Rectangle 13"/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40" rIns="91425" bIns="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600">
                  <a:latin typeface="Cambria Math"/>
                  <a:ea typeface="Cambria Math"/>
                  <a:cs typeface="Cambria Math"/>
                </a:rPr>
                <a:t> 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031300" y="3305835"/>
              <a:ext cx="6788277" cy="598518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108000" rIns="91425" bIns="0" anchor="ctr" anchorCtr="0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An </a:t>
              </a:r>
              <a:r>
                <a:rPr lang="en-US" sz="2000" b="1" i="1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outcome</a:t>
              </a:r>
              <a:r>
                <a:rPr lang="en-US" sz="2000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 is a possible result of an experiment.</a:t>
              </a:r>
              <a:endParaRPr lang="en-US" sz="1800" dirty="0">
                <a:latin typeface="Cambria Math"/>
                <a:ea typeface="Cambria Math"/>
                <a:cs typeface="Cambria Math"/>
              </a:endParaRPr>
            </a:p>
          </p:txBody>
        </p:sp>
      </p:grpSp>
      <p:sp>
        <p:nvSpPr>
          <p:cNvPr id="12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968188" y="288745"/>
            <a:ext cx="102556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discuss the sample space for the spinner. Write a list of the possible outcomes.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932432" y="305022"/>
            <a:ext cx="8327136" cy="1327228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108000" rIns="91425" bIns="0" anchor="ctr" anchorCtr="0">
            <a:spAutoFit/>
          </a:bodyPr>
          <a:lstStyle/>
          <a:p>
            <a:pPr marL="685800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In a probability model for a random process, the </a:t>
            </a:r>
            <a:r>
              <a:rPr lang="en-US" sz="2000" b="1" i="1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sample space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 is a list of the individual outcomes that are being considered.</a:t>
            </a:r>
            <a:endParaRPr lang="en-US" sz="1800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9" name="Shape 7" descr="Icon&#10;&#10;Description automatically generated"/>
          <p:cNvPicPr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1375" y="454025"/>
            <a:ext cx="539750" cy="539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779929" y="288746"/>
            <a:ext cx="1063214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outcomes are included in the event that the spinner lands on blue?</a:t>
            </a: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Primary colors include yellow, blue, and red. How many outcomes are included in the event that the spinner lands on a primary color?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932432" y="288746"/>
            <a:ext cx="8327136" cy="1359783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108000" rIns="91425" bIns="0" anchor="ctr" anchorCtr="0">
            <a:spAutoFit/>
          </a:bodyPr>
          <a:lstStyle/>
          <a:p>
            <a:pPr marL="685800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An </a:t>
            </a:r>
            <a:r>
              <a:rPr lang="en-US" sz="2000" b="1" i="1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event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 is a set of possible outcomes resulting from an experiment. In general, an event is any subset of a sample space.</a:t>
            </a:r>
            <a:endParaRPr lang="en-US" sz="2000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9" name="Shape 7" descr="Icon&#10;&#10;Description automatically generated"/>
          <p:cNvPicPr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1375" y="454025"/>
            <a:ext cx="539750" cy="539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7813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089212" y="288745"/>
            <a:ext cx="10193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Doug’s parents created a set of cards with chores on them. Each Saturday, Doug chooses a card to determine his chore.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786833"/>
              </p:ext>
            </p:extLst>
          </p:nvPr>
        </p:nvGraphicFramePr>
        <p:xfrm>
          <a:off x="2501731" y="1194642"/>
          <a:ext cx="6810435" cy="5269497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547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7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7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390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Mow the yard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Dust and vacuum the house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Clean the bathrooms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Clean your bedroom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9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90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Clean your bedroom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Mow the yard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Weed the garden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Mow the yard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9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90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Clean the bathrooms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Parents’ choice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BE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Dust and vacuum the house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Free day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0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8685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60612" y="288745"/>
            <a:ext cx="95787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the possible outcomes for the chore cards?</a:t>
            </a: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Which outcomes have more than one card?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1703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968188" y="288745"/>
            <a:ext cx="1043545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On a particularly hot Saturday, Doug is hoping he doesn’t select an outdoor chore. Which outcomes could be included in the event that he chooses an outdoor chore?</a:t>
            </a: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How many outcomes could be included in the event that Doug chooses an indoor chore?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4368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075765" y="288745"/>
                <a:ext cx="10220302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Use the word bank to complete the summary of key concepts below.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>
                  <a:lnSpc>
                    <a:spcPct val="200000"/>
                  </a:lnSpc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To determine the </a:t>
                </a:r>
                <a:r>
                  <a:rPr lang="en-US" sz="2000" b="1" dirty="0">
                    <a:latin typeface="Verdana"/>
                    <a:ea typeface="Verdana"/>
                    <a:cs typeface="Verdana"/>
                  </a:rPr>
                  <a:t>________________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of a simple experiment, find all the </a:t>
                </a:r>
                <a:r>
                  <a:rPr lang="en-US" sz="2000" b="1" dirty="0">
                    <a:latin typeface="Verdana"/>
                    <a:ea typeface="Verdana"/>
                    <a:cs typeface="Verdana"/>
                  </a:rPr>
                  <a:t>______________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that are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possible and write them as a </a:t>
                </a:r>
                <a:r>
                  <a:rPr lang="en-US" sz="2000" b="1" dirty="0">
                    <a:latin typeface="Verdana"/>
                    <a:ea typeface="Verdana"/>
                    <a:cs typeface="Verdana"/>
                  </a:rPr>
                  <a:t>_______________.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An </a:t>
                </a:r>
                <a:r>
                  <a:rPr lang="en-US" sz="2000" b="1" dirty="0">
                    <a:latin typeface="Verdana"/>
                    <a:ea typeface="Verdana"/>
                    <a:cs typeface="Verdana"/>
                  </a:rPr>
                  <a:t>_______________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is a subset of the sample space, such as rolling an even number on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6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-sided die.</a:t>
                </a: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765" y="288745"/>
                <a:ext cx="10220302" cy="4708981"/>
              </a:xfrm>
              <a:prstGeom prst="rect">
                <a:avLst/>
              </a:prstGeom>
              <a:blipFill rotWithShape="0">
                <a:blip r:embed="rId3"/>
                <a:stretch>
                  <a:fillRect l="-656" t="-7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20315" y="1249600"/>
            <a:ext cx="6111435" cy="68215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37160" rIns="91425" bIns="45700" anchor="ctr" anchorCtr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Verdana"/>
                <a:ea typeface="Verdana"/>
                <a:cs typeface="Verdana"/>
              </a:rPr>
              <a:t>event     outcomes     sample space     set</a:t>
            </a:r>
            <a:endParaRPr lang="en-US" sz="1800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6111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61698" y="100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15.1.3 Exploration: Digging Deeper into Outcomes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5400" y="249131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1157654" y="1386026"/>
            <a:ext cx="9229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</a:rPr>
              <a:t>Two spinners are shown.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-39964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2366" y="2043528"/>
            <a:ext cx="7254869" cy="4176122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2007765" y="374089"/>
            <a:ext cx="832713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Work with your partner to compare and contrast the features of the two spinners.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One of the spinners is considered a fair spinner. Complete the sentence by selecting the fair spinner and writing an explanation.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/>
                <a:ea typeface="Verdana"/>
                <a:cs typeface="Verdana"/>
              </a:rPr>
              <a:t>		       is the fair spinner because _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__________</a:t>
            </a:r>
          </a:p>
          <a:p>
            <a:pPr marL="457200"/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457200"/>
            <a:r>
              <a:rPr lang="en-US" sz="2000" dirty="0">
                <a:latin typeface="Verdana" pitchFamily="34" charset="0"/>
                <a:ea typeface="Verdana" pitchFamily="34" charset="0"/>
              </a:rPr>
              <a:t>_____________________________________________.</a:t>
            </a:r>
            <a:endParaRPr lang="en-PH" sz="2000" dirty="0">
              <a:latin typeface="Verdana" pitchFamily="34" charset="0"/>
              <a:ea typeface="Verdana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236465"/>
              </p:ext>
            </p:extLst>
          </p:nvPr>
        </p:nvGraphicFramePr>
        <p:xfrm>
          <a:off x="2600326" y="1210402"/>
          <a:ext cx="7458075" cy="2309016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372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Similarities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Differences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595880" y="5064421"/>
            <a:ext cx="1818465" cy="830821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36538" indent="-293688">
              <a:lnSpc>
                <a:spcPct val="107000"/>
              </a:lnSpc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Spinner A</a:t>
            </a:r>
            <a:endParaRPr lang="en-US" sz="2000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236538" indent="-293688">
              <a:lnSpc>
                <a:spcPct val="107000"/>
              </a:lnSpc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Spinner B</a:t>
            </a:r>
            <a:endParaRPr lang="en-US" sz="2000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52781" y="-4756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15.1.4 Activity: Gallery Walk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2973" y="24038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981635" y="1386026"/>
            <a:ext cx="10484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determine the sample space for each game and whether the game is fair. Fill in the chart with your answers.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2834ACB5-9863-9B4D-A302-444ED7CCE577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615604"/>
              </p:ext>
            </p:extLst>
          </p:nvPr>
        </p:nvGraphicFramePr>
        <p:xfrm>
          <a:off x="2625924" y="2617471"/>
          <a:ext cx="7432477" cy="3145155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927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74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Game Name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Sample Space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Is it fair?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22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err="1">
                          <a:effectLst/>
                          <a:latin typeface="Verdana" pitchFamily="34" charset="0"/>
                          <a:ea typeface="Verdana" pitchFamily="34" charset="0"/>
                        </a:rPr>
                        <a:t>Skee</a:t>
                      </a: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-Ball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Card Draw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649161"/>
              </p:ext>
            </p:extLst>
          </p:nvPr>
        </p:nvGraphicFramePr>
        <p:xfrm>
          <a:off x="2620500" y="337514"/>
          <a:ext cx="7432477" cy="3145155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927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74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Game Name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Sample Space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Is it fair?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22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Prize Wheel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Rubber Ducks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1264024" y="374090"/>
            <a:ext cx="981461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Which game has the largest sample space?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Discuss with your partner which game’s sample space was the most difficult to determine.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Carnivals include many games similar to these. What do you notice about the fairness of such games?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5143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995082" y="374090"/>
            <a:ext cx="1035250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/>
                <a:ea typeface="Verdana"/>
                <a:cs typeface="Verdana"/>
              </a:rPr>
              <a:t>Find another pair of partners to form a group of four. Compare your responses on whether each game is fair and discuss your reasoning. Record one similarity and one difference you notice in your reasoning.</a:t>
            </a: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/>
                <a:ea typeface="Verdana"/>
                <a:cs typeface="Verdana"/>
              </a:rPr>
              <a:t>Future lessons in this unit will explore probabilities with fair coins, fair dice, and fair spinners. Describe what you think it means for a coin, a die, or a spinner to be fair.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822991"/>
              </p:ext>
            </p:extLst>
          </p:nvPr>
        </p:nvGraphicFramePr>
        <p:xfrm>
          <a:off x="2594902" y="1884331"/>
          <a:ext cx="7458075" cy="2309016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372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Similarity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Difference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8776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24530" y="-9023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15.1.5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230" y="17619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324530" y="1386026"/>
            <a:ext cx="979897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 based on your understanding at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this point.</a:t>
            </a: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Cambria Math"/>
                <a:cs typeface="Cambria Math"/>
              </a:rPr>
              <a:t>I am still unsure about ____________________________</a:t>
            </a:r>
            <a:br>
              <a:rPr lang="en-US" sz="2000" dirty="0">
                <a:latin typeface="Verdana"/>
                <a:ea typeface="Cambria Math"/>
                <a:cs typeface="Cambria Math"/>
              </a:rPr>
            </a:br>
            <a:br>
              <a:rPr lang="en-US" sz="2000" dirty="0">
                <a:latin typeface="Verdana"/>
                <a:ea typeface="Cambria Math"/>
                <a:cs typeface="Cambria Math"/>
              </a:rPr>
            </a:br>
            <a:r>
              <a:rPr lang="en-US" sz="2000" dirty="0">
                <a:latin typeface="Verdana"/>
                <a:ea typeface="Cambria Math"/>
                <a:cs typeface="Cambria Math"/>
              </a:rPr>
              <a:t>_______________________________________________</a:t>
            </a:r>
            <a:br>
              <a:rPr lang="en-US" sz="2000" dirty="0">
                <a:latin typeface="Verdana"/>
                <a:ea typeface="Cambria Math"/>
                <a:cs typeface="Cambria Math"/>
              </a:rPr>
            </a:br>
            <a:br>
              <a:rPr lang="en-US" sz="2000" dirty="0">
                <a:latin typeface="Verdana"/>
                <a:ea typeface="Cambria Math"/>
                <a:cs typeface="Cambria Math"/>
              </a:rPr>
            </a:br>
            <a:r>
              <a:rPr lang="en-US" sz="2000" dirty="0">
                <a:latin typeface="Verdana"/>
                <a:ea typeface="Cambria Math"/>
                <a:cs typeface="Cambria Math"/>
              </a:rPr>
              <a:t>______________________________________________.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Cambria Math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question I have that will help me better understand is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______________________________________________?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1324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1124</Words>
  <Application>Microsoft Office PowerPoint</Application>
  <PresentationFormat>Widescreen</PresentationFormat>
  <Paragraphs>241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 Black</vt:lpstr>
      <vt:lpstr>Calibri</vt:lpstr>
      <vt:lpstr>Cambria Math</vt:lpstr>
      <vt:lpstr>Century Gothic</vt:lpstr>
      <vt:lpstr>Courier New</vt:lpstr>
      <vt:lpstr>Verdana</vt:lpstr>
      <vt:lpstr>1_Office Theme</vt:lpstr>
      <vt:lpstr>6th Grade Accelerated Math  Unit 15, Lesson 1  Exploring  Sample Space  Volume 2, pg. 401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40</cp:revision>
  <dcterms:created xsi:type="dcterms:W3CDTF">2015-03-17T18:51:18Z</dcterms:created>
  <dcterms:modified xsi:type="dcterms:W3CDTF">2022-07-02T05:08:40Z</dcterms:modified>
</cp:coreProperties>
</file>