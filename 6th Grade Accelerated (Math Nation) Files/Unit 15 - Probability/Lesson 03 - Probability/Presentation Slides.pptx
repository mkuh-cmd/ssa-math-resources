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13" r:id="rId11"/>
    <p:sldId id="332" r:id="rId12"/>
    <p:sldId id="333" r:id="rId13"/>
    <p:sldId id="334" r:id="rId14"/>
    <p:sldId id="339" r:id="rId15"/>
    <p:sldId id="329" r:id="rId16"/>
    <p:sldId id="330" r:id="rId17"/>
    <p:sldId id="331" r:id="rId18"/>
    <p:sldId id="335" r:id="rId19"/>
    <p:sldId id="289" r:id="rId20"/>
    <p:sldId id="290" r:id="rId21"/>
    <p:sldId id="308" r:id="rId22"/>
    <p:sldId id="340" r:id="rId23"/>
    <p:sldId id="336" r:id="rId24"/>
    <p:sldId id="320" r:id="rId25"/>
    <p:sldId id="321" r:id="rId26"/>
    <p:sldId id="322" r:id="rId27"/>
    <p:sldId id="337" r:id="rId28"/>
    <p:sldId id="338" r:id="rId29"/>
    <p:sldId id="306" r:id="rId30"/>
    <p:sldId id="30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704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0"/>
    <p:restoredTop sz="94694"/>
  </p:normalViewPr>
  <p:slideViewPr>
    <p:cSldViewPr snapToGrid="0">
      <p:cViewPr varScale="1">
        <p:scale>
          <a:sx n="83" d="100"/>
          <a:sy n="83" d="100"/>
        </p:scale>
        <p:origin x="58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1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06752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67688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0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4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if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15,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Probability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411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86698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683" y="35963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58983" y="1600200"/>
            <a:ext cx="927403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MA.7.DP.2.2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the probability of a chance event, interpret the likelihood of it occurring. </a:t>
            </a:r>
            <a:b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Compare the probabilities of chance events.</a:t>
            </a:r>
          </a:p>
          <a:p>
            <a:pPr marL="0" indent="0">
              <a:buSzPts val="1100"/>
              <a:buNone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MA.7.NSO.1.2</a:t>
            </a: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Rewrite rational numbers in different but equivalent forms including fractions, mixed numbers, repeating decimals, and percentages to solve mathematical and real-world problems.</a:t>
            </a:r>
            <a:endParaRPr lang="en-US" sz="24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709" y="3594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6359" y="116788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86359" y="1596390"/>
            <a:ext cx="980704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98128" y="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966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98128" y="1600200"/>
            <a:ext cx="919574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express the probability of a chance event using a fraction, percentage, or decimal.</a:t>
            </a: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compare probabilities of chance events.</a:t>
            </a: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50246" y="-81344"/>
            <a:ext cx="970285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15.3.1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947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450246" y="1386025"/>
            <a:ext cx="8937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Some of the cards in the card game SET are shown.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95564" y="1900239"/>
            <a:ext cx="6410325" cy="349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378039" y="520393"/>
            <a:ext cx="95865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What do you notice?</a:t>
            </a: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lphaLcPeriod"/>
            </a:pPr>
            <a:endParaRPr lang="en-PH" sz="24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What do you wonder?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9792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15.3.2 Exploration: Representing Probabilities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3494" y="308451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1594196" y="1386026"/>
                <a:ext cx="9411206" cy="3568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When performing simple experiments, all of the outcomes have the same likelihood of happening.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For example, when flipping a fair coin, the sample space includes two possible outcomes, {heads, tails}. Each outcome has an equal chance of happening. Therefore, the chance of landing on heads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/>
                            <a:ea typeface="Times New Roman"/>
                            <a:cs typeface="Times New Roman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because this event represents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outcome out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possible outcomes. Represented as a decimal or a percentage, the chance of landing on heads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0.5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50%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, respectively.</a:t>
                </a:r>
                <a:endParaRPr lang="en-US" sz="2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196" y="1386026"/>
                <a:ext cx="9411206" cy="3568541"/>
              </a:xfrm>
              <a:prstGeom prst="rect">
                <a:avLst/>
              </a:prstGeom>
              <a:blipFill rotWithShape="0">
                <a:blip r:embed="rId4"/>
                <a:stretch>
                  <a:fillRect l="-1037" t="-1365" r="-648" b="-2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1094704" y="374090"/>
                <a:ext cx="10153258" cy="2074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Work with your partner to complete the following.</a:t>
                </a:r>
              </a:p>
              <a:p>
                <a:pPr marL="457200" indent="-457200">
                  <a:spcBef>
                    <a:spcPts val="2400"/>
                  </a:spcBef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From the percentages listed below, determine the percent chance of each event occurring. Each value is used once.</a:t>
                </a:r>
              </a:p>
              <a:p>
                <a:pPr marL="457200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16.</m:t>
                    </m:r>
                    <m:bar>
                      <m:barPr>
                        <m:pos m:val="top"/>
                        <m:ctrlPr>
                          <a:rPr lang="en-PH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barPr>
                      <m:e>
                        <m:r>
                          <a:rPr lang="en-PH" sz="2400" i="1" dirty="0">
                            <a:latin typeface="Cambria Math"/>
                            <a:ea typeface="Verdana" panose="020B0604030504040204" pitchFamily="34" charset="0"/>
                          </a:rPr>
                          <m:t>6</m:t>
                        </m:r>
                      </m:e>
                    </m:bar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33.</m:t>
                    </m:r>
                    <m:bar>
                      <m:barPr>
                        <m:pos m:val="top"/>
                        <m:ctrlPr>
                          <a:rPr lang="en-PH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</a:rPr>
                        </m:ctrlPr>
                      </m:barPr>
                      <m:e>
                        <m:r>
                          <a:rPr lang="en-PH" sz="2400" i="1" dirty="0">
                            <a:latin typeface="Cambria Math"/>
                            <a:ea typeface="Verdana" panose="020B0604030504040204" pitchFamily="34" charset="0"/>
                          </a:rPr>
                          <m:t>3</m:t>
                        </m:r>
                      </m:e>
                    </m:bar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100%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704" y="374090"/>
                <a:ext cx="10153258" cy="2074863"/>
              </a:xfrm>
              <a:prstGeom prst="rect">
                <a:avLst/>
              </a:prstGeom>
              <a:blipFill rotWithShape="0">
                <a:blip r:embed="rId3"/>
                <a:stretch>
                  <a:fillRect l="-961" t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39143"/>
              </p:ext>
            </p:extLst>
          </p:nvPr>
        </p:nvGraphicFramePr>
        <p:xfrm>
          <a:off x="2535750" y="3064780"/>
          <a:ext cx="7431210" cy="280416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6120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Verdana" pitchFamily="34" charset="0"/>
                          <a:ea typeface="Verdana" pitchFamily="34" charset="0"/>
                        </a:rPr>
                        <a:t>Event</a:t>
                      </a:r>
                    </a:p>
                  </a:txBody>
                  <a:tcPr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Times New Roman"/>
                        </a:rPr>
                        <a:t>Percent Chance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eriod"/>
                      </a:pPr>
                      <a:r>
                        <a:rPr lang="en-US" sz="2000" dirty="0">
                          <a:latin typeface="Verdana" pitchFamily="34" charset="0"/>
                          <a:ea typeface="Verdana" pitchFamily="34" charset="0"/>
                        </a:rPr>
                        <a:t>When given three doors with only one containing a prize behind it, what is the chance of opening the prize-winning door?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lphaLcPeriod" startAt="2"/>
                      </a:pP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When reaching into a dark closet with </a:t>
                      </a:r>
                      <a:b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</a:br>
                      <a:r>
                        <a:rPr lang="en-US" sz="2000" dirty="0">
                          <a:effectLst/>
                          <a:latin typeface="Verdana"/>
                          <a:ea typeface="Times New Roman"/>
                          <a:cs typeface="Times New Roman"/>
                        </a:rPr>
                        <a:t>five pairs of shoes, what is the chance of pulling out a left shoe?</a:t>
                      </a:r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8526839"/>
                  </p:ext>
                </p:extLst>
              </p:nvPr>
            </p:nvGraphicFramePr>
            <p:xfrm>
              <a:off x="2535750" y="374089"/>
              <a:ext cx="7431210" cy="3505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1205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106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Percent Chance</a:t>
                          </a: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3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prompted to randomly select a crayon from a group of red, blue, and yellow crayons, what is the chance you choose a purple crayon?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4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rolling a fair six-sided die, what is the chance of landing on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5"/>
                          </a:pPr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flipping a coin, what is the chance of landing on either heads or tails?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8526839"/>
                  </p:ext>
                </p:extLst>
              </p:nvPr>
            </p:nvGraphicFramePr>
            <p:xfrm>
              <a:off x="1011750" y="374089"/>
              <a:ext cx="7431210" cy="350520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6120570"/>
                    <a:gridCol w="1310640"/>
                  </a:tblGrid>
                  <a:tr h="792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Times New Roman"/>
                            </a:rPr>
                            <a:t>Percent Chance</a:t>
                          </a: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3106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3"/>
                          </a:pPr>
                          <a:r>
                            <a:rPr lang="en-US" sz="2000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prompted to randomly select a crayon from a group of red, blue, and yellow crayons, what is the chance you choose a purple crayon?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" t="-300000" r="-21414" b="-1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701040">
                    <a:tc>
                      <a:txBody>
                        <a:bodyPr/>
                        <a:lstStyle/>
                        <a:p>
                          <a:pPr marL="457200" indent="-457200">
                            <a:buFont typeface="+mj-lt"/>
                            <a:buAutoNum type="alphaLcPeriod" startAt="5"/>
                          </a:pPr>
                          <a:r>
                            <a:rPr lang="en-US" sz="2000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When flipping a coin, what is the chance of landing on either heads or tails?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098968-A000-451C-B348-30C63A6BCABB}"/>
                  </a:ext>
                </a:extLst>
              </p:cNvPr>
              <p:cNvSpPr txBox="1"/>
              <p:nvPr/>
            </p:nvSpPr>
            <p:spPr>
              <a:xfrm>
                <a:off x="2380395" y="4235551"/>
                <a:ext cx="7431210" cy="50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algn="ctr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PH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0%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16.</m:t>
                    </m:r>
                    <m:bar>
                      <m:barPr>
                        <m:pos m:val="top"/>
                        <m:ctrlPr>
                          <a:rPr lang="en-PH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PH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e>
                    </m:bar>
                    <m:r>
                      <a:rPr lang="en-PH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33.</m:t>
                    </m:r>
                    <m:bar>
                      <m:barPr>
                        <m:pos m:val="top"/>
                        <m:ctrlPr>
                          <a:rPr lang="en-PH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PH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bar>
                    <m:r>
                      <a:rPr lang="en-PH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50%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PH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Verdana" panose="020B0604030504040204" pitchFamily="34" charset="0"/>
                      </a:rPr>
                      <m:t>100%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5098968-A000-451C-B348-30C63A6BC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95" y="4235550"/>
                <a:ext cx="7431210" cy="5052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386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914400" y="374089"/>
            <a:ext cx="10513866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Plot and label a point to represent the percent chance of each event happening from the previous question. Use the letters labeling each event.</a:t>
            </a: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Consider the event from question 1 that is least likely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to occur.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Which event is the least likely to happen?</a:t>
            </a: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5285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09318" y="1459992"/>
            <a:ext cx="7539433" cy="1105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2552701" y="2727416"/>
            <a:ext cx="7782201" cy="1657169"/>
            <a:chOff x="0" y="-117385"/>
            <a:chExt cx="7782201" cy="1657169"/>
          </a:xfrm>
        </p:grpSpPr>
        <p:grpSp>
          <p:nvGrpSpPr>
            <p:cNvPr id="10" name="Group 9"/>
            <p:cNvGrpSpPr/>
            <p:nvPr/>
          </p:nvGrpSpPr>
          <p:grpSpPr>
            <a:xfrm>
              <a:off x="0" y="-117385"/>
              <a:ext cx="7782201" cy="1657169"/>
              <a:chOff x="0" y="-129963"/>
              <a:chExt cx="7782201" cy="1834723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ounded Rectangle 14"/>
                  <p:cNvSpPr/>
                  <p:nvPr/>
                </p:nvSpPr>
                <p:spPr>
                  <a:xfrm>
                    <a:off x="0" y="-129963"/>
                    <a:ext cx="7782201" cy="1834723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91440" rIns="91425" bIns="45700" anchor="ctr" anchorCtr="0">
                    <a:spAutoFit/>
                  </a:bodyPr>
                  <a:lstStyle/>
                  <a:p>
                    <a:pPr marL="74295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The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probability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 of an event is a measure of the likelihood the event will occur. Probabilities are expressed using numbers from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oMath>
                    </a14:m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 to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1</m:t>
                        </m:r>
                      </m:oMath>
                    </a14:m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 as a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decimal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,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percentage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, or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fraction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/>
                        <a:ea typeface="Verdana"/>
                        <a:cs typeface="Verdana"/>
                      </a:rPr>
                      <a:t>.</a:t>
                    </a:r>
                    <a:endParaRPr lang="en-US" dirty="0">
                      <a:latin typeface="Cambria"/>
                      <a:ea typeface="Times New Roman"/>
                      <a:cs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15" name="Rounded Rectangle 1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-129963"/>
                    <a:ext cx="7782201" cy="1834723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1" name="image15.png" descr="Icon&#10;&#10;Description automatically generated"/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5100" y="177800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7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9676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1171977" y="374090"/>
            <a:ext cx="9998712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Describe, using sentences, the likelihood of this event happening.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Discuss with your partner whether or not it is possible to have a probability less than this.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4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Consider the event from question 1 that is most likely to occur.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Which event is the most likely to occur?</a:t>
            </a:r>
            <a:endParaRPr lang="en-PH" sz="2000" dirty="0">
              <a:latin typeface="Verdana"/>
              <a:ea typeface="Times New Roman"/>
              <a:cs typeface="Times New Roman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412-413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9717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875763" y="374089"/>
            <a:ext cx="105911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Describe, in sentences, the likelihood of this event happening.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Discuss with your partner whether or not it is possible to have a probability greater than this.</a:t>
            </a: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2400"/>
              </a:spcBef>
              <a:buFont typeface="+mj-lt"/>
              <a:buAutoNum type="alphaLcPeriod" startAt="2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spcBef>
                <a:spcPts val="2400"/>
              </a:spcBef>
              <a:buFont typeface="+mj-lt"/>
              <a:buAutoNum type="arabicPeriod" startAt="5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Which event has the same likelihood of happening or not happening?</a:t>
            </a:r>
            <a:endParaRPr lang="en-PH" sz="2000" dirty="0">
              <a:latin typeface="Verdana"/>
              <a:ea typeface="Times New Roman"/>
              <a:cs typeface="Times New Roman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3522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66000" y="4087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15.3.3 Bring It Together: Representing Probabilities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2060448" y="1386026"/>
                <a:ext cx="8327136" cy="36317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Complete the statements.</a:t>
                </a:r>
              </a:p>
              <a:p>
                <a:pPr marL="457200">
                  <a:lnSpc>
                    <a:spcPct val="25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probability of an event can be any number between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A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means it is		      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for the event to occur. A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means it is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		      the event will occur. 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48" y="1386025"/>
                <a:ext cx="8327136" cy="3631763"/>
              </a:xfrm>
              <a:prstGeom prst="rect">
                <a:avLst/>
              </a:prstGeom>
              <a:blipFill rotWithShape="1">
                <a:blip r:embed="rId4"/>
                <a:stretch>
                  <a:fillRect l="-732" t="-1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4573" y="2842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ounded Rectangle 8"/>
          <p:cNvSpPr/>
          <p:nvPr/>
        </p:nvSpPr>
        <p:spPr>
          <a:xfrm>
            <a:off x="7507916" y="2750620"/>
            <a:ext cx="1877384" cy="7747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certain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impossible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519850" y="4250508"/>
            <a:ext cx="1877384" cy="7747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certain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66700" indent="-266700">
              <a:spcAft>
                <a:spcPts val="1000"/>
              </a:spcAft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impossible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932432" y="435049"/>
                <a:ext cx="8461248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4500"/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closer a probability is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the	         likely it is to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occur, while the closer it is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the	    	likely it is to </a:t>
                </a: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br>
                  <a:rPr lang="en-US" sz="20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occur. A probability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0.5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means the event is</a:t>
                </a: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2" y="435049"/>
                <a:ext cx="8461248" cy="2862322"/>
              </a:xfrm>
              <a:prstGeom prst="rect">
                <a:avLst/>
              </a:prstGeom>
              <a:blipFill rotWithShape="1">
                <a:blip r:embed="rId4"/>
                <a:stretch>
                  <a:fillRect t="-1064" b="-27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40252" y="323383"/>
            <a:ext cx="1151324" cy="7747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more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Font typeface="Courier New"/>
              <a:buChar char="o"/>
            </a:pPr>
            <a:r>
              <a:rPr lang="en-PH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less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5876" y="1464076"/>
            <a:ext cx="1151324" cy="774700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more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Font typeface="Courier New"/>
              <a:buChar char="o"/>
            </a:pPr>
            <a:r>
              <a:rPr lang="en-PH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less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93996" y="2340290"/>
            <a:ext cx="2297804" cy="1464231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likely.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unlikely.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228600" indent="-228600">
              <a:spcAft>
                <a:spcPts val="1000"/>
              </a:spcAft>
              <a:buFont typeface="Courier New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neither likely</a:t>
            </a:r>
            <a:b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</a:b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Times New Roman"/>
              </a:rPr>
              <a:t>nor unlikely.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1275008" y="435049"/>
                <a:ext cx="977609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Probabilities can be represented by decimals, percentages, or fractions with equivalent values between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</a:t>
                </a:r>
                <a:endParaRPr lang="en-PH" sz="2000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5008" y="435049"/>
                <a:ext cx="9776096" cy="707886"/>
              </a:xfrm>
              <a:prstGeom prst="rect">
                <a:avLst/>
              </a:prstGeom>
              <a:blipFill rotWithShape="0">
                <a:blip r:embed="rId3"/>
                <a:stretch>
                  <a:fillRect l="-623" t="-4310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70532" y="1270570"/>
            <a:ext cx="8197850" cy="298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8270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87691" y="4033859"/>
            <a:ext cx="1642110" cy="2256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060449" y="1351225"/>
            <a:ext cx="8188701" cy="2522284"/>
            <a:chOff x="-1" y="-175292"/>
            <a:chExt cx="8188701" cy="2522284"/>
          </a:xfrm>
        </p:grpSpPr>
        <p:grpSp>
          <p:nvGrpSpPr>
            <p:cNvPr id="11" name="Group 10"/>
            <p:cNvGrpSpPr/>
            <p:nvPr/>
          </p:nvGrpSpPr>
          <p:grpSpPr>
            <a:xfrm>
              <a:off x="-1" y="-175292"/>
              <a:ext cx="8188701" cy="2522284"/>
              <a:chOff x="-1" y="-194074"/>
              <a:chExt cx="8188701" cy="2792531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0" y="0"/>
                <a:ext cx="6629400" cy="786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ounded Rectangle 16"/>
                  <p:cNvSpPr/>
                  <p:nvPr/>
                </p:nvSpPr>
                <p:spPr>
                  <a:xfrm>
                    <a:off x="-1" y="-194074"/>
                    <a:ext cx="8188701" cy="2792531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spcFirstLastPara="1" wrap="square" lIns="91425" tIns="108000" rIns="91425" bIns="0" anchor="ctr" anchorCtr="0">
                    <a:spAutoFit/>
                  </a:bodyPr>
                  <a:lstStyle/>
                  <a:p>
                    <a:pPr marL="742950">
                      <a:spcAft>
                        <a:spcPts val="1000"/>
                      </a:spcAft>
                    </a:pPr>
                    <a:r>
                      <a:rPr lang="en-US" sz="2000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The </a:t>
                    </a:r>
                    <a:r>
                      <a:rPr lang="en-US" sz="2000" b="1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probability</a:t>
                    </a:r>
                    <a:r>
                      <a:rPr lang="en-US" sz="2000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 of an event occurring, notated as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𝑃</m:t>
                        </m:r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𝑒𝑣𝑒𝑛𝑡</m:t>
                        </m:r>
                        <m:r>
                          <a:rPr lang="en-US" sz="2000" i="1">
                            <a:solidFill>
                              <a:srgbClr val="0075BF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)</m:t>
                        </m:r>
                      </m:oMath>
                    </a14:m>
                    <a:r>
                      <a:rPr lang="en-US" sz="2000" dirty="0">
                        <a:solidFill>
                          <a:srgbClr val="0075BF"/>
                        </a:solidFill>
                        <a:latin typeface="Verdana" pitchFamily="34" charset="0"/>
                        <a:ea typeface="Verdana" pitchFamily="34" charset="0"/>
                        <a:cs typeface="Verdana"/>
                      </a:rPr>
                      <a:t>, is determined by dividing the number of outcomes in the event by the possible outcomes in the sample space.</a:t>
                    </a:r>
                    <a:endParaRPr lang="en-US" sz="2000" dirty="0">
                      <a:latin typeface="Verdana" pitchFamily="34" charset="0"/>
                      <a:ea typeface="Verdana" pitchFamily="34" charset="0"/>
                      <a:cs typeface="Times New Roman"/>
                    </a:endParaRPr>
                  </a:p>
                  <a:p>
                    <a:pPr marL="742950">
                      <a:spcAft>
                        <a:spcPts val="1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𝑒𝑣𝑒𝑛𝑡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rgbClr val="0075BF"/>
                              </a:solidFill>
                              <a:latin typeface="Cambria Math"/>
                              <a:ea typeface="Verdana"/>
                              <a:cs typeface="Verdana"/>
                            </a:rPr>
                            <m:t>= 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rgbClr val="0075BF"/>
                                  </a:solidFill>
                                  <a:latin typeface="Cambria Math" panose="02040503050406030204" pitchFamily="18" charset="0"/>
                                  <a:ea typeface="Verdana"/>
                                  <a:cs typeface="Verdana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number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of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outcomes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in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the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event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total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possible</m:t>
                              </m:r>
                              <m: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0075BF"/>
                                  </a:solidFill>
                                  <a:latin typeface="Cambria Math"/>
                                  <a:ea typeface="Verdana"/>
                                  <a:cs typeface="Verdana"/>
                                </a:rPr>
                                <m:t>outcomes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>
                      <a:latin typeface="Verdana" pitchFamily="34" charset="0"/>
                      <a:ea typeface="Verdana" pitchFamily="34" charset="0"/>
                      <a:cs typeface="Times New Roman"/>
                    </a:endParaRPr>
                  </a:p>
                </p:txBody>
              </p:sp>
            </mc:Choice>
            <mc:Fallback xmlns="">
              <p:sp>
                <p:nvSpPr>
                  <p:cNvPr id="17" name="Rounded Rectangle 1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-194074"/>
                    <a:ext cx="8188701" cy="2792531"/>
                  </a:xfrm>
                  <a:prstGeom prst="roundRect">
                    <a:avLst>
                      <a:gd name="adj" fmla="val 16667"/>
                    </a:avLst>
                  </a:prstGeom>
                  <a:blipFill rotWithShape="1"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/>
                  <a:lstStyle/>
                  <a:p>
                    <a:r>
                      <a:rPr lang="en-PH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4" name="image15.png" descr="Icon&#10;&#10;Description automatically generated"/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5100" y="86360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06205" y="-916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15.3.4 Guided Instruction: Expressing Probabilities of Events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8905" y="19810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206205" y="4279333"/>
                <a:ext cx="6810035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Harper is playing a game where she draws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lettered tile out of a bag without looking.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notation 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this context means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“the probability of pulling out a tile with the letter A on it.”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205" y="4279333"/>
                <a:ext cx="6810035" cy="1938992"/>
              </a:xfrm>
              <a:prstGeom prst="rect">
                <a:avLst/>
              </a:prstGeom>
              <a:blipFill rotWithShape="0">
                <a:blip r:embed="rId7"/>
                <a:stretch>
                  <a:fillRect l="-985" t="-1887" r="-2059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9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33342" y="288745"/>
                <a:ext cx="9321300" cy="59400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Find the probability of each event, represented as a fraction.</a:t>
                </a:r>
              </a:p>
              <a:p>
                <a:endParaRPr lang="en-US" sz="2000" i="1" dirty="0">
                  <a:latin typeface="Verdana"/>
                  <a:ea typeface="Verdana" panose="020B0604030504040204" pitchFamily="34" charset="0"/>
                  <a:cs typeface="Times New Roman"/>
                </a:endParaRPr>
              </a:p>
              <a:p>
                <a:pPr marL="914400" indent="-457200"/>
                <a:r>
                  <a:rPr lang="en-PH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itchFamily="34" charset="0"/>
                        <a:cs typeface="Verdana" pitchFamily="34" charset="0"/>
                      </a:rPr>
                      <m:t>𝑃</m:t>
                    </m:r>
                  </m:oMath>
                </a14:m>
                <a:r>
                  <a:rPr lang="en-PH" sz="2000" dirty="0">
                    <a:latin typeface="Cambria Math" pitchFamily="18" charset="0"/>
                    <a:ea typeface="Cambria Math" pitchFamily="18" charset="0"/>
                    <a:cs typeface="Verdana" pitchFamily="34" charset="0"/>
                  </a:rPr>
                  <a:t>(A)</a:t>
                </a:r>
                <a:endParaRPr lang="en-US" sz="2000" dirty="0">
                  <a:latin typeface="Cambria Math" pitchFamily="18" charset="0"/>
                  <a:ea typeface="Cambria Math" pitchFamily="18" charset="0"/>
                  <a:cs typeface="Verdana" panose="020B0604030504040204" pitchFamily="34" charset="0"/>
                </a:endParaRPr>
              </a:p>
              <a:p>
                <a:pPr marL="914400" indent="-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(B)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(M)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(vowel)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lnSpc>
                    <a:spcPct val="300000"/>
                  </a:lnSpc>
                  <a:spcBef>
                    <a:spcPts val="1200"/>
                  </a:spcBef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e.	</a:t>
                </a:r>
                <a14:m>
                  <m:oMath xmlns:m="http://schemas.openxmlformats.org/officeDocument/2006/math">
                    <m:r>
                      <a:rPr lang="en-PH" sz="2000" i="1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Cambria Math" pitchFamily="18" charset="0"/>
                    <a:ea typeface="Cambria Math" pitchFamily="18" charset="0"/>
                    <a:cs typeface="Verdana" panose="020B0604030504040204" pitchFamily="34" charset="0"/>
                  </a:rPr>
                  <a:t>(letter)</a:t>
                </a:r>
              </a:p>
              <a:p>
                <a:pPr marL="457200" indent="-457200">
                  <a:spcBef>
                    <a:spcPts val="2400"/>
                  </a:spcBef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3342" y="288745"/>
                <a:ext cx="9321300" cy="5940088"/>
              </a:xfrm>
              <a:prstGeom prst="rect">
                <a:avLst/>
              </a:prstGeom>
              <a:blipFill rotWithShape="0">
                <a:blip r:embed="rId3"/>
                <a:stretch>
                  <a:fillRect l="-719" t="-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901521" y="288746"/>
            <a:ext cx="105840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2400"/>
              </a:spcBef>
              <a:buFont typeface="+mj-lt"/>
              <a:buAutoNum type="arabi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Consider the probability of pulling a tile with a consonant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on it.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Complete the table to find the fraction, decimal, and percentage equivalents of the probability.</a:t>
            </a: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PH" sz="20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spcBef>
                <a:spcPts val="12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Times New Roman"/>
              <a:cs typeface="Times New Roman"/>
            </a:endParaRPr>
          </a:p>
          <a:p>
            <a:pPr marL="914400">
              <a:spcBef>
                <a:spcPts val="1200"/>
              </a:spcBef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The probability of this event is a repeating decimal.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When this occurs, the decimal or percentage representation is typically rounded.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7680358"/>
                  </p:ext>
                </p:extLst>
              </p:nvPr>
            </p:nvGraphicFramePr>
            <p:xfrm>
              <a:off x="2964180" y="1951631"/>
              <a:ext cx="7277100" cy="1493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192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8192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Decimal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Percent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PH" sz="2000" b="0" i="1" smtClean="0">
                                  <a:latin typeface="Cambria Math"/>
                                  <a:ea typeface="Verdana" pitchFamily="34" charset="0"/>
                                </a:rPr>
                                <m:t>𝑃</m:t>
                              </m:r>
                            </m:oMath>
                          </a14:m>
                          <a:r>
                            <a:rPr lang="en-PH" sz="2000" dirty="0">
                              <a:latin typeface="Cambria Math" pitchFamily="18" charset="0"/>
                              <a:ea typeface="Cambria Math" pitchFamily="18" charset="0"/>
                            </a:rPr>
                            <a:t>(consonant)</a:t>
                          </a:r>
                        </a:p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7680358"/>
                  </p:ext>
                </p:extLst>
              </p:nvPr>
            </p:nvGraphicFramePr>
            <p:xfrm>
              <a:off x="1440180" y="1951631"/>
              <a:ext cx="7277100" cy="149352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819275"/>
                    <a:gridCol w="1819275"/>
                    <a:gridCol w="1819275"/>
                    <a:gridCol w="1819275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Fraction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Decimal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Percent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48485" r="-299331" b="-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0639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378040" y="288746"/>
                <a:ext cx="9630994" cy="381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𝑃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consonant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represented as a decimal rounded to the nearest hundredth?</a:t>
                </a: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Times New Roman"/>
                  <a:cs typeface="Times New Roman"/>
                </a:endParaRPr>
              </a:p>
              <a:p>
                <a:pPr marL="914400" indent="-457200">
                  <a:spcBef>
                    <a:spcPts val="1200"/>
                  </a:spcBef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𝑃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latin typeface="Cambria Math"/>
                        <a:ea typeface="Times New Roman"/>
                        <a:cs typeface="Times New Roman"/>
                      </a:rPr>
                      <m:t>consonant</m:t>
                    </m:r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)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represented as a percentage rounded to the nearest tenth?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040" y="288746"/>
                <a:ext cx="9630994" cy="3816429"/>
              </a:xfrm>
              <a:prstGeom prst="rect">
                <a:avLst/>
              </a:prstGeom>
              <a:blipFill rotWithShape="0">
                <a:blip r:embed="rId3"/>
                <a:stretch>
                  <a:fillRect t="-1438" r="-823" b="-2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8832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91242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15.3.5 Try It: Expressing Probabilities of Events in Different Forms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6936" y="34827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1406744" y="1386025"/>
                <a:ext cx="9634544" cy="2831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The probability of rolling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on a standard </a:t>
                </a:r>
                <a:br>
                  <a:rPr lang="en-US" sz="2400" dirty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six-sided die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16.67%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, rounded to the nearest hundredth. </a:t>
                </a: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Maisie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says that this probability is greater than an event whose probability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0.6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because </a:t>
                </a:r>
                <a14:m>
                  <m:oMath xmlns:m="http://schemas.openxmlformats.org/officeDocument/2006/math">
                    <m:r>
                      <a:rPr lang="en-PH" sz="2400" i="1">
                        <a:latin typeface="Cambria Math"/>
                        <a:ea typeface="Times New Roman"/>
                        <a:cs typeface="Times New Roman"/>
                      </a:rPr>
                      <m:t>16.67</m:t>
                    </m:r>
                    <m:r>
                      <a:rPr lang="en-PH" sz="2400" i="1">
                        <a:latin typeface="Cambria Math"/>
                        <a:ea typeface="Cambria Math"/>
                        <a:cs typeface="Times New Roman"/>
                      </a:rPr>
                      <m:t>&gt;0.6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>
                  <a:spcBef>
                    <a:spcPts val="1200"/>
                  </a:spcBef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Explain whether you agree or disagree with </a:t>
                </a: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Maisie’s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conclusion. Support your argument by showing your work.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744" y="1386025"/>
                <a:ext cx="9634544" cy="2831544"/>
              </a:xfrm>
              <a:prstGeom prst="rect">
                <a:avLst/>
              </a:prstGeom>
              <a:blipFill rotWithShape="0">
                <a:blip r:embed="rId4"/>
                <a:stretch>
                  <a:fillRect l="-1013" t="-1935" r="-1709" b="-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F37EE21E-8B35-FE4A-9307-F19691384C8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1056068" y="349705"/>
            <a:ext cx="100798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The probabilities of five events are given.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400" dirty="0">
              <a:latin typeface="Verdana"/>
              <a:ea typeface="Times New Roman"/>
              <a:cs typeface="Times New Roman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/>
              <a:ea typeface="Times New Roman"/>
              <a:cs typeface="Times New Roman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Order the values of the probabilities from least to greatest.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386534"/>
                  </p:ext>
                </p:extLst>
              </p:nvPr>
            </p:nvGraphicFramePr>
            <p:xfrm>
              <a:off x="2535750" y="960120"/>
              <a:ext cx="7624250" cy="15849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5248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248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A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B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C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D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40%</m:t>
                                </m:r>
                              </m:oMath>
                            </m:oMathPara>
                          </a14:m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/>
                          <a:endParaRPr lang="en-PH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0.25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PH" sz="2000" b="0" i="1" smtClean="0">
                                    <a:latin typeface="Cambria Math"/>
                                    <a:ea typeface="Verdana" pitchFamily="34" charset="0"/>
                                  </a:rPr>
                                  <m:t>42.9</m:t>
                                </m:r>
                                <m:r>
                                  <a:rPr lang="en-PH" sz="2000" b="0" i="0" smtClean="0">
                                    <a:latin typeface="Cambria Math"/>
                                    <a:ea typeface="Verdana" pitchFamily="34" charset="0"/>
                                  </a:rPr>
                                  <m:t>%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PH" sz="2000" b="0" i="1" smtClean="0">
                                        <a:latin typeface="Cambria Math"/>
                                        <a:ea typeface="Verdana" pitchFamily="34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386534"/>
                  </p:ext>
                </p:extLst>
              </p:nvPr>
            </p:nvGraphicFramePr>
            <p:xfrm>
              <a:off x="1011750" y="960120"/>
              <a:ext cx="7624250" cy="15849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524850"/>
                    <a:gridCol w="1524850"/>
                    <a:gridCol w="1524850"/>
                    <a:gridCol w="1524850"/>
                    <a:gridCol w="1524850"/>
                  </a:tblGrid>
                  <a:tr h="4876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A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B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C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D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E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0" t="-45000" r="-400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400" t="-45000" r="-300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99602" t="-45000" r="-1992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00800" t="-45000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0800" t="-45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1466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7.png"/>
          <p:cNvPicPr/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577" t="8554" r="10550" b="6515"/>
          <a:stretch/>
        </p:blipFill>
        <p:spPr bwMode="auto">
          <a:xfrm>
            <a:off x="3095943" y="1662430"/>
            <a:ext cx="1092835" cy="11099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1133341" y="349705"/>
            <a:ext cx="9925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Match the probabilities with the events described in </a:t>
            </a:r>
            <a:br>
              <a:rPr lang="en-US" sz="2000" dirty="0">
                <a:latin typeface="Verdana"/>
                <a:ea typeface="Times New Roman"/>
                <a:cs typeface="Times New Roman"/>
              </a:rPr>
            </a:br>
            <a:r>
              <a:rPr lang="en-US" sz="2000" dirty="0">
                <a:latin typeface="Verdana"/>
                <a:ea typeface="Times New Roman"/>
                <a:cs typeface="Times New Roman"/>
              </a:rPr>
              <a:t>the table.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282139"/>
                  </p:ext>
                </p:extLst>
              </p:nvPr>
            </p:nvGraphicFramePr>
            <p:xfrm>
              <a:off x="2980945" y="1195832"/>
              <a:ext cx="7182231" cy="49377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3820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2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>
                              <a:latin typeface="Verdana" pitchFamily="34" charset="0"/>
                              <a:ea typeface="Verdana" pitchFamily="34" charset="0"/>
                            </a:rPr>
                            <a:t>Probability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  <a:p>
                          <a:pPr algn="l"/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green on the spinner shown</a:t>
                          </a:r>
                          <a:endParaRPr lang="en-US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Arial"/>
                          </a:endParaRPr>
                        </a:p>
                        <a:p>
                          <a:pPr algn="l"/>
                          <a:endParaRPr lang="en-US" sz="2000" dirty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</a:txBody>
                      <a:tcPr marL="137160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Pulling a blue marble from a bag containing equal numbers of red, orange, yellow, green, and blue marbles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a factor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10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when rolling a fair ten-sided die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Picking a card with a vowel on it from a set of cards with each letter in the word FLORIDA on it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a number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Times New Roman"/>
                                  <a:cs typeface="Times New Roman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 on a standard six-sided die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2282139"/>
                  </p:ext>
                </p:extLst>
              </p:nvPr>
            </p:nvGraphicFramePr>
            <p:xfrm>
              <a:off x="1456944" y="1195832"/>
              <a:ext cx="7182231" cy="493776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5382006"/>
                    <a:gridCol w="1800225"/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Event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b="1" dirty="0" smtClean="0">
                              <a:latin typeface="Verdana" pitchFamily="34" charset="0"/>
                              <a:ea typeface="Verdana" pitchFamily="34" charset="0"/>
                            </a:rPr>
                            <a:t>Probability</a:t>
                          </a:r>
                          <a:endParaRPr lang="en-US" sz="2000" b="1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274064">
                    <a:tc>
                      <a:txBody>
                        <a:bodyPr/>
                        <a:lstStyle/>
                        <a:p>
                          <a:pPr algn="l"/>
                          <a:endParaRPr lang="en-US" sz="2000" dirty="0" smtClean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  <a:p>
                          <a:pPr algn="l"/>
                          <a:r>
                            <a:rPr lang="en-US" sz="2000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Landing on green on the spinner shown</a:t>
                          </a:r>
                          <a:endParaRPr lang="en-US" sz="2000" dirty="0" smtClean="0">
                            <a:effectLst/>
                            <a:latin typeface="Verdana" pitchFamily="34" charset="0"/>
                            <a:ea typeface="Verdana" pitchFamily="34" charset="0"/>
                            <a:cs typeface="Arial"/>
                          </a:endParaRPr>
                        </a:p>
                        <a:p>
                          <a:pPr algn="l"/>
                          <a:endParaRPr lang="en-US" sz="2000" dirty="0" smtClean="0">
                            <a:effectLst/>
                            <a:latin typeface="Verdana"/>
                            <a:ea typeface="Times New Roman"/>
                            <a:cs typeface="Times New Roman"/>
                          </a:endParaRPr>
                        </a:p>
                      </a:txBody>
                      <a:tcPr marL="1371600"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96926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Pulling a blue marble from a bag containing equal numbers of red, orange, yellow, green, and blue marbles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4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401835" r="-33522" b="-265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969264">
                    <a:tc>
                      <a:txBody>
                        <a:bodyPr/>
                        <a:lstStyle/>
                        <a:p>
                          <a:r>
                            <a:rPr lang="en-US" sz="2000" dirty="0" smtClean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Picking a card with a vowel on it from a set of cards with each letter in the word FLORIDA on it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644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t="-647706" r="-33522" b="-192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27432" marB="2743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55385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347CCE-34A7-8044-BA67-B5895157AE55}"/>
              </a:ext>
            </a:extLst>
          </p:cNvPr>
          <p:cNvSpPr txBox="1"/>
          <p:nvPr/>
        </p:nvSpPr>
        <p:spPr>
          <a:xfrm>
            <a:off x="1236372" y="349706"/>
            <a:ext cx="97192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Explain which event is the least likely to occur based on the probabilities.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DBC627A-4143-AD4E-B8AF-FA569ACE060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9471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416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534198" y="-5540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15.3.6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996" y="1325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223493" y="1386026"/>
            <a:ext cx="1000104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Times New Roman"/>
                <a:cs typeface="Times New Roman"/>
              </a:rPr>
              <a:t>Draw an </a:t>
            </a:r>
            <a:r>
              <a:rPr lang="en-US" sz="2000" b="1" dirty="0">
                <a:latin typeface="Verdana"/>
                <a:ea typeface="Times New Roman"/>
                <a:cs typeface="Times New Roman"/>
              </a:rPr>
              <a:t>X</a:t>
            </a:r>
            <a:r>
              <a:rPr lang="en-US" sz="2000" dirty="0">
                <a:latin typeface="Verdana"/>
                <a:ea typeface="Times New Roman"/>
                <a:cs typeface="Times New Roman"/>
              </a:rPr>
              <a:t> on each line to indicate where your current level of understanding is related to each target.</a:t>
            </a:r>
          </a:p>
          <a:p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I can express the probability of a chance event using a fraction, percentage, or decimal.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/>
              <a:ea typeface="Verdana" panose="020B0604030504040204" pitchFamily="34" charset="0"/>
              <a:cs typeface="Times New Roman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I can compare probabilities of chance events.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E0704"/>
          </a:solidFill>
          <a:ln w="9525" cap="flat" cmpd="sng">
            <a:solidFill>
              <a:srgbClr val="CE070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602000" y="3961130"/>
            <a:ext cx="75516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238769"/>
              </p:ext>
            </p:extLst>
          </p:nvPr>
        </p:nvGraphicFramePr>
        <p:xfrm>
          <a:off x="2752726" y="3278851"/>
          <a:ext cx="7267575" cy="548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help.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can’t get started.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I’m getting there, but </a:t>
                      </a:r>
                      <a:b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more practice.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understand this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and I feel confident.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2602000" y="5770880"/>
            <a:ext cx="7551650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545039"/>
              </p:ext>
            </p:extLst>
          </p:nvPr>
        </p:nvGraphicFramePr>
        <p:xfrm>
          <a:off x="2744038" y="5061855"/>
          <a:ext cx="7267575" cy="548640"/>
        </p:xfrm>
        <a:graphic>
          <a:graphicData uri="http://schemas.openxmlformats.org/drawingml/2006/table">
            <a:tbl>
              <a:tblPr firstRow="1" bandRow="1">
                <a:tableStyleId>{A91F0D33-8C57-4600-99A7-42BC86742BE1}</a:tableStyleId>
              </a:tblPr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help.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can’t get started.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I’m getting there, but </a:t>
                      </a:r>
                      <a:b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</a:br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need more practice.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I understand this</a:t>
                      </a:r>
                    </a:p>
                    <a:p>
                      <a:pPr algn="ctr"/>
                      <a:r>
                        <a:rPr lang="en-US" sz="15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Verdana" pitchFamily="34" charset="0"/>
                          <a:ea typeface="Verdana" pitchFamily="34" charset="0"/>
                          <a:cs typeface="Arial"/>
                          <a:sym typeface="Arial"/>
                        </a:rPr>
                        <a:t>and I feel confident.</a:t>
                      </a:r>
                      <a:endParaRPr lang="en-US" sz="1500" dirty="0">
                        <a:latin typeface="Verdana" pitchFamily="34" charset="0"/>
                        <a:ea typeface="Verdana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Google Shape;282;g104476d1465_1_17"/>
          <p:cNvSpPr txBox="1"/>
          <p:nvPr/>
        </p:nvSpPr>
        <p:spPr>
          <a:xfrm>
            <a:off x="870566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416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389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1525</Words>
  <Application>Microsoft Office PowerPoint</Application>
  <PresentationFormat>Widescreen</PresentationFormat>
  <Paragraphs>234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1_Office Theme</vt:lpstr>
      <vt:lpstr>6th Grade Accelerated Math  Unit 15, Lesson 3  Probability  Volume 2, pg. 411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Cassie O'Connor</cp:lastModifiedBy>
  <cp:revision>39</cp:revision>
  <dcterms:created xsi:type="dcterms:W3CDTF">2015-03-17T18:51:18Z</dcterms:created>
  <dcterms:modified xsi:type="dcterms:W3CDTF">2022-07-02T05:10:02Z</dcterms:modified>
</cp:coreProperties>
</file>