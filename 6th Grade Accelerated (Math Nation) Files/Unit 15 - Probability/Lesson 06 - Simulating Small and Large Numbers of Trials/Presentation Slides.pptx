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8" roundtripDataSignature="AMtx7mjwnTOErQXLLq1yqO4SrRRRrTx9i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2"/>
    <p:restoredTop sz="94695"/>
  </p:normalViewPr>
  <p:slideViewPr>
    <p:cSldViewPr snapToGrid="0">
      <p:cViewPr varScale="1">
        <p:scale>
          <a:sx n="79" d="100"/>
          <a:sy n="79" d="100"/>
        </p:scale>
        <p:origin x="821"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8"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g104476d146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g104476d1465_1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0" name="Google Shape;120;g104476d1465_1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 name="Google Shape;130;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1" name="Google Shape;131;p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 name="Google Shape;141;g104476d1465_1_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2" name="Google Shape;142;g104476d1465_1_3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1" name="Google Shape;151;p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2" name="Google Shape;152;p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p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 name="Google Shape;164;p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p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4" name="Google Shape;174;p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5" name="Google Shape;185;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6" name="Google Shape;186;p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4" name="Google Shape;194;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5" name="Google Shape;195;p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5" name="Google Shape;205;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6" name="Google Shape;206;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5" name="Google Shape;215;p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6" name="Google Shape;216;p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4" name="Google Shape;224;p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5" name="Google Shape;225;p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4" name="Google Shape;234;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5" name="Google Shape;235;p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1" name="Google Shape;251;p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52" name="Google Shape;252;p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3" name="Google Shape;263;p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4" name="Google Shape;264;p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4" name="Google Shape;274;p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5" name="Google Shape;275;p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4" name="Google Shape;284;p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5" name="Google Shape;285;p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6" name="Google Shape;296;p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7" name="Google Shape;297;p1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5" name="Google Shape;305;p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6" name="Google Shape;306;p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5" name="Google Shape;315;p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6" name="Google Shape;316;p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9"/>
        <p:cNvGrpSpPr/>
        <p:nvPr/>
      </p:nvGrpSpPr>
      <p:grpSpPr>
        <a:xfrm>
          <a:off x="0" y="0"/>
          <a:ext cx="0" cy="0"/>
          <a:chOff x="0" y="0"/>
          <a:chExt cx="0" cy="0"/>
        </a:xfrm>
      </p:grpSpPr>
      <p:sp>
        <p:nvSpPr>
          <p:cNvPr id="20" name="Google Shape;20;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algn="l">
              <a:lnSpc>
                <a:spcPct val="100000"/>
              </a:lnSpc>
              <a:spcBef>
                <a:spcPts val="0"/>
              </a:spcBef>
              <a:spcAft>
                <a:spcPts val="0"/>
              </a:spcAft>
              <a:buSzPts val="1400"/>
              <a:buNone/>
              <a:defRPr sz="7200"/>
            </a:lvl2pPr>
            <a:lvl3pPr lvl="2" algn="l">
              <a:lnSpc>
                <a:spcPct val="100000"/>
              </a:lnSpc>
              <a:spcBef>
                <a:spcPts val="0"/>
              </a:spcBef>
              <a:spcAft>
                <a:spcPts val="0"/>
              </a:spcAft>
              <a:buSzPts val="1400"/>
              <a:buNone/>
              <a:defRPr sz="7200"/>
            </a:lvl3pPr>
            <a:lvl4pPr lvl="3" algn="l">
              <a:lnSpc>
                <a:spcPct val="100000"/>
              </a:lnSpc>
              <a:spcBef>
                <a:spcPts val="0"/>
              </a:spcBef>
              <a:spcAft>
                <a:spcPts val="0"/>
              </a:spcAft>
              <a:buSzPts val="1400"/>
              <a:buNone/>
              <a:defRPr sz="7200"/>
            </a:lvl4pPr>
            <a:lvl5pPr lvl="4" algn="l">
              <a:lnSpc>
                <a:spcPct val="100000"/>
              </a:lnSpc>
              <a:spcBef>
                <a:spcPts val="0"/>
              </a:spcBef>
              <a:spcAft>
                <a:spcPts val="0"/>
              </a:spcAft>
              <a:buSzPts val="1400"/>
              <a:buNone/>
              <a:defRPr sz="7200"/>
            </a:lvl5pPr>
            <a:lvl6pPr lvl="5" algn="l">
              <a:lnSpc>
                <a:spcPct val="100000"/>
              </a:lnSpc>
              <a:spcBef>
                <a:spcPts val="0"/>
              </a:spcBef>
              <a:spcAft>
                <a:spcPts val="0"/>
              </a:spcAft>
              <a:buSzPts val="1400"/>
              <a:buNone/>
              <a:defRPr sz="7200"/>
            </a:lvl6pPr>
            <a:lvl7pPr lvl="6" algn="l">
              <a:lnSpc>
                <a:spcPct val="100000"/>
              </a:lnSpc>
              <a:spcBef>
                <a:spcPts val="0"/>
              </a:spcBef>
              <a:spcAft>
                <a:spcPts val="0"/>
              </a:spcAft>
              <a:buSzPts val="1400"/>
              <a:buNone/>
              <a:defRPr sz="7200"/>
            </a:lvl7pPr>
            <a:lvl8pPr lvl="7" algn="l">
              <a:lnSpc>
                <a:spcPct val="100000"/>
              </a:lnSpc>
              <a:spcBef>
                <a:spcPts val="0"/>
              </a:spcBef>
              <a:spcAft>
                <a:spcPts val="0"/>
              </a:spcAft>
              <a:buSzPts val="1400"/>
              <a:buNone/>
              <a:defRPr sz="7200"/>
            </a:lvl8pPr>
            <a:lvl9pPr lvl="8" algn="l">
              <a:lnSpc>
                <a:spcPct val="100000"/>
              </a:lnSpc>
              <a:spcBef>
                <a:spcPts val="0"/>
              </a:spcBef>
              <a:spcAft>
                <a:spcPts val="0"/>
              </a:spcAft>
              <a:buSzPts val="1400"/>
              <a:buNone/>
              <a:defRPr sz="72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24" name="Google Shape;24;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0" name="Google Shape;30;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sp>
        <p:nvSpPr>
          <p:cNvPr id="34" name="Google Shape;34;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6" name="Google Shape;36;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sp>
        <p:nvSpPr>
          <p:cNvPr id="40" name="Google Shape;40;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2" name="Google Shape;42;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3" name="Google Shape;43;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sp>
        <p:nvSpPr>
          <p:cNvPr id="47" name="Google Shape;47;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49" name="Google Shape;49;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0" name="Google Shape;50;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51" name="Google Shape;51;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2" name="Google Shape;52;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5"/>
        <p:cNvGrpSpPr/>
        <p:nvPr/>
      </p:nvGrpSpPr>
      <p:grpSpPr>
        <a:xfrm>
          <a:off x="0" y="0"/>
          <a:ext cx="0" cy="0"/>
          <a:chOff x="0" y="0"/>
          <a:chExt cx="0" cy="0"/>
        </a:xfrm>
      </p:grpSpPr>
      <p:sp>
        <p:nvSpPr>
          <p:cNvPr id="56" name="Google Shape;56;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32.png"/><Relationship Id="rId7" Type="http://schemas.microsoft.com/office/2007/relationships/hdphoto" Target="../media/hdphoto1.wdp"/><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g104476d1465_0_0"/>
          <p:cNvSpPr txBox="1">
            <a:spLocks noGrp="1"/>
          </p:cNvSpPr>
          <p:nvPr>
            <p:ph type="ctrTitle" idx="4294967295"/>
          </p:nvPr>
        </p:nvSpPr>
        <p:spPr>
          <a:xfrm>
            <a:off x="5549901" y="2054277"/>
            <a:ext cx="5168900" cy="3194455"/>
          </a:xfrm>
          <a:prstGeom prst="rect">
            <a:avLst/>
          </a:prstGeom>
          <a:noFill/>
          <a:ln>
            <a:noFill/>
          </a:ln>
        </p:spPr>
        <p:txBody>
          <a:bodyPr spcFirstLastPara="1" wrap="square" lIns="91425" tIns="45700" rIns="91425" bIns="45700" anchor="ctr" anchorCtr="0">
            <a:noAutofit/>
          </a:bodyPr>
          <a:lstStyle/>
          <a:p>
            <a:pPr algn="ctr">
              <a:lnSpc>
                <a:spcPct val="100000"/>
              </a:lnSpc>
            </a:pPr>
            <a:r>
              <a:rPr lang="en-US" sz="3800" b="1">
                <a:solidFill>
                  <a:srgbClr val="417DBF"/>
                </a:solidFill>
                <a:latin typeface="Verdana"/>
                <a:ea typeface="Verdana"/>
                <a:cs typeface="Verdana"/>
                <a:sym typeface="Verdana"/>
              </a:rPr>
              <a:t>6</a:t>
            </a:r>
            <a:r>
              <a:rPr lang="en-US" sz="3800" b="1" baseline="30000">
                <a:solidFill>
                  <a:srgbClr val="417DBF"/>
                </a:solidFill>
                <a:latin typeface="Verdana"/>
                <a:ea typeface="Verdana"/>
                <a:cs typeface="Verdana"/>
                <a:sym typeface="Verdana"/>
              </a:rPr>
              <a:t>th</a:t>
            </a:r>
            <a:r>
              <a:rPr lang="en-US" sz="3800" b="1">
                <a:solidFill>
                  <a:srgbClr val="417DBF"/>
                </a:solidFill>
                <a:latin typeface="Verdana"/>
                <a:ea typeface="Verdana"/>
                <a:cs typeface="Verdana"/>
                <a:sym typeface="Verdana"/>
              </a:rPr>
              <a:t> Grade Accelerated Math</a:t>
            </a:r>
            <a:br>
              <a:rPr lang="en-US" sz="3800" b="1">
                <a:solidFill>
                  <a:srgbClr val="417DBF"/>
                </a:solidFill>
                <a:latin typeface="Verdana"/>
                <a:ea typeface="Verdana"/>
                <a:cs typeface="Verdana"/>
                <a:sym typeface="Verdana"/>
              </a:rPr>
            </a:br>
            <a:endParaRPr sz="3800" b="1">
              <a:solidFill>
                <a:srgbClr val="417DBF"/>
              </a:solidFill>
              <a:latin typeface="Verdana"/>
              <a:ea typeface="Verdana"/>
              <a:cs typeface="Verdana"/>
              <a:sym typeface="Verdana"/>
            </a:endParaRPr>
          </a:p>
          <a:p>
            <a:pPr algn="ctr">
              <a:lnSpc>
                <a:spcPct val="100000"/>
              </a:lnSpc>
              <a:buClr>
                <a:srgbClr val="000000"/>
              </a:buClr>
            </a:pPr>
            <a:r>
              <a:rPr lang="en-US" sz="3800" b="1">
                <a:solidFill>
                  <a:srgbClr val="417DBF"/>
                </a:solidFill>
                <a:latin typeface="Verdana"/>
                <a:ea typeface="Verdana"/>
                <a:cs typeface="Verdana"/>
                <a:sym typeface="Verdana"/>
              </a:rPr>
              <a:t>Unit 15, Lesson 6</a:t>
            </a:r>
            <a:br>
              <a:rPr lang="en-US" sz="3800" b="1">
                <a:solidFill>
                  <a:srgbClr val="417DBF"/>
                </a:solidFill>
                <a:latin typeface="Verdana"/>
                <a:ea typeface="Verdana"/>
                <a:cs typeface="Verdana"/>
                <a:sym typeface="Verdana"/>
              </a:rPr>
            </a:br>
            <a:br>
              <a:rPr lang="en-US" sz="3800" b="1">
                <a:solidFill>
                  <a:srgbClr val="417DBF"/>
                </a:solidFill>
                <a:latin typeface="Verdana"/>
                <a:ea typeface="Verdana"/>
                <a:cs typeface="Verdana"/>
                <a:sym typeface="Verdana"/>
              </a:rPr>
            </a:br>
            <a:r>
              <a:rPr lang="en-US" sz="3000" b="1">
                <a:solidFill>
                  <a:srgbClr val="417DBF"/>
                </a:solidFill>
                <a:latin typeface="Verdana"/>
                <a:ea typeface="Verdana"/>
                <a:cs typeface="Verdana"/>
                <a:sym typeface="Verdana"/>
              </a:rPr>
              <a:t>Simulating Small and Large Numbers of Trials</a:t>
            </a:r>
            <a:br>
              <a:rPr lang="en-US" sz="3800" b="1">
                <a:solidFill>
                  <a:srgbClr val="417DBF"/>
                </a:solidFill>
                <a:latin typeface="Verdana"/>
                <a:ea typeface="Verdana"/>
                <a:cs typeface="Verdana"/>
                <a:sym typeface="Verdana"/>
              </a:rPr>
            </a:br>
            <a:br>
              <a:rPr lang="en-US" sz="3800" b="1">
                <a:solidFill>
                  <a:srgbClr val="417DBF"/>
                </a:solidFill>
                <a:latin typeface="Verdana"/>
                <a:ea typeface="Verdana"/>
                <a:cs typeface="Verdana"/>
                <a:sym typeface="Verdana"/>
              </a:rPr>
            </a:br>
            <a:r>
              <a:rPr lang="en-US" sz="2800" b="1">
                <a:solidFill>
                  <a:srgbClr val="417DBF"/>
                </a:solidFill>
                <a:latin typeface="Verdana"/>
                <a:ea typeface="Verdana"/>
                <a:cs typeface="Verdana"/>
                <a:sym typeface="Verdana"/>
              </a:rPr>
              <a:t>Volume 2, pg. 426</a:t>
            </a:r>
            <a:endParaRPr/>
          </a:p>
          <a:p>
            <a:pPr algn="ctr">
              <a:lnSpc>
                <a:spcPct val="100000"/>
              </a:lnSpc>
              <a:buClr>
                <a:srgbClr val="000000"/>
              </a:buClr>
            </a:pPr>
            <a:endParaRPr sz="3400" b="1">
              <a:solidFill>
                <a:srgbClr val="417DBF"/>
              </a:solidFill>
              <a:latin typeface="Verdana"/>
              <a:ea typeface="Verdana"/>
              <a:cs typeface="Verdana"/>
              <a:sym typeface="Verdana"/>
            </a:endParaRPr>
          </a:p>
          <a:p>
            <a:pPr algn="ctr">
              <a:lnSpc>
                <a:spcPct val="75000"/>
              </a:lnSpc>
            </a:pPr>
            <a:endParaRPr sz="3100">
              <a:solidFill>
                <a:srgbClr val="417DBF"/>
              </a:solidFill>
            </a:endParaRPr>
          </a:p>
        </p:txBody>
      </p:sp>
      <p:sp>
        <p:nvSpPr>
          <p:cNvPr id="6" name="Google Shape;309;g104476d1465_1_39">
            <a:extLst>
              <a:ext uri="{FF2B5EF4-FFF2-40B4-BE49-F238E27FC236}">
                <a16:creationId xmlns:a16="http://schemas.microsoft.com/office/drawing/2014/main" id="{ACFE2A5F-0BF2-4B53-987D-CE965BFFDF07}"/>
              </a:ext>
            </a:extLst>
          </p:cNvPr>
          <p:cNvSpPr/>
          <p:nvPr/>
        </p:nvSpPr>
        <p:spPr>
          <a:xfrm>
            <a:off x="0" y="0"/>
            <a:ext cx="4094106" cy="6866100"/>
          </a:xfrm>
          <a:prstGeom prst="rect">
            <a:avLst/>
          </a:prstGeom>
          <a:solidFill>
            <a:srgbClr val="CE0704"/>
          </a:solidFill>
          <a:ln w="9525" cap="flat" cmpd="sng">
            <a:solidFill>
              <a:srgbClr val="CE0704"/>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116" name="Google Shape;116;g104476d1465_0_0" descr="A blue sign with white text&#10;&#10;Description automatically generated with medium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501762" y="1850136"/>
            <a:ext cx="3090582" cy="3602736"/>
          </a:xfrm>
          <a:prstGeom prst="rect">
            <a:avLst/>
          </a:prstGeom>
          <a:noFill/>
          <a:ln>
            <a:noFill/>
          </a:ln>
          <a:effectLst>
            <a:outerShdw blurRad="50800" dist="38100" dir="2700000" algn="tl" rotWithShape="0">
              <a:srgbClr val="000000">
                <a:alpha val="4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3" name="Google Shape;123;g104476d1465_1_17"/>
          <p:cNvSpPr txBox="1">
            <a:spLocks noGrp="1"/>
          </p:cNvSpPr>
          <p:nvPr>
            <p:ph type="title" idx="4294967295"/>
          </p:nvPr>
        </p:nvSpPr>
        <p:spPr>
          <a:xfrm>
            <a:off x="1548262" y="2038"/>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a:solidFill>
                  <a:srgbClr val="54B5D1"/>
                </a:solidFill>
                <a:latin typeface="Verdana"/>
                <a:ea typeface="Verdana"/>
                <a:cs typeface="Verdana"/>
                <a:sym typeface="Verdana"/>
              </a:rPr>
              <a:t>Benchmark</a:t>
            </a:r>
            <a:endParaRPr sz="3700" b="1">
              <a:solidFill>
                <a:srgbClr val="54B5D1"/>
              </a:solidFill>
              <a:latin typeface="Verdana"/>
              <a:ea typeface="Verdana"/>
              <a:cs typeface="Verdana"/>
              <a:sym typeface="Verdana"/>
            </a:endParaRPr>
          </a:p>
        </p:txBody>
      </p:sp>
      <p:pic>
        <p:nvPicPr>
          <p:cNvPr id="124" name="Google Shape;124;g104476d1465_1_17"/>
          <p:cNvPicPr preferRelativeResize="0"/>
          <p:nvPr/>
        </p:nvPicPr>
        <p:blipFill rotWithShape="1">
          <a:blip r:embed="rId3">
            <a:alphaModFix/>
          </a:blip>
          <a:srcRect/>
          <a:stretch/>
        </p:blipFill>
        <p:spPr>
          <a:xfrm>
            <a:off x="724762" y="237813"/>
            <a:ext cx="747300" cy="747300"/>
          </a:xfrm>
          <a:prstGeom prst="rect">
            <a:avLst/>
          </a:prstGeom>
          <a:noFill/>
          <a:ln>
            <a:noFill/>
          </a:ln>
          <a:effectLst>
            <a:outerShdw blurRad="57150" dist="19050" dir="5400000" algn="bl" rotWithShape="0">
              <a:srgbClr val="000000">
                <a:alpha val="49803"/>
              </a:srgbClr>
            </a:outerShdw>
          </a:effectLst>
        </p:spPr>
      </p:pic>
      <p:sp>
        <p:nvSpPr>
          <p:cNvPr id="125" name="Google Shape;125;g104476d1465_1_17"/>
          <p:cNvSpPr txBox="1"/>
          <p:nvPr/>
        </p:nvSpPr>
        <p:spPr>
          <a:xfrm>
            <a:off x="871370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a:t>
            </a:r>
            <a:r>
              <a:rPr lang="en-US" i="1" dirty="0">
                <a:latin typeface="Calibri"/>
                <a:ea typeface="Calibri"/>
                <a:cs typeface="Calibri"/>
                <a:sym typeface="Calibri"/>
              </a:rPr>
              <a:t>426</a:t>
            </a:r>
            <a:endParaRPr i="1" dirty="0">
              <a:latin typeface="Calibri"/>
              <a:ea typeface="Calibri"/>
              <a:cs typeface="Calibri"/>
              <a:sym typeface="Calibri"/>
            </a:endParaRPr>
          </a:p>
        </p:txBody>
      </p:sp>
      <p:pic>
        <p:nvPicPr>
          <p:cNvPr id="126"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51934" y="6200599"/>
            <a:ext cx="563850" cy="657276"/>
          </a:xfrm>
          <a:prstGeom prst="rect">
            <a:avLst/>
          </a:prstGeom>
          <a:noFill/>
          <a:ln>
            <a:noFill/>
          </a:ln>
          <a:effectLst>
            <a:outerShdw blurRad="57150" dist="19050" dir="5400000" algn="bl" rotWithShape="0">
              <a:srgbClr val="000000">
                <a:alpha val="49803"/>
              </a:srgbClr>
            </a:outerShdw>
          </a:effectLst>
        </p:spPr>
      </p:pic>
      <p:sp>
        <p:nvSpPr>
          <p:cNvPr id="8" name="Google Shape;278;g104476d1465_1_17">
            <a:extLst>
              <a:ext uri="{FF2B5EF4-FFF2-40B4-BE49-F238E27FC236}">
                <a16:creationId xmlns:a16="http://schemas.microsoft.com/office/drawing/2014/main" id="{A1D72BA0-81EA-4150-B6A8-984BA8EE93D4}"/>
              </a:ext>
            </a:extLst>
          </p:cNvPr>
          <p:cNvSpPr/>
          <p:nvPr/>
        </p:nvSpPr>
        <p:spPr>
          <a:xfrm>
            <a:off x="0" y="0"/>
            <a:ext cx="223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9" name="Google Shape;280;g104476d1465_1_17">
            <a:extLst>
              <a:ext uri="{FF2B5EF4-FFF2-40B4-BE49-F238E27FC236}">
                <a16:creationId xmlns:a16="http://schemas.microsoft.com/office/drawing/2014/main" id="{9BABAAF8-B077-409B-A6B4-799CD7A5294E}"/>
              </a:ext>
            </a:extLst>
          </p:cNvPr>
          <p:cNvSpPr txBox="1">
            <a:spLocks/>
          </p:cNvSpPr>
          <p:nvPr/>
        </p:nvSpPr>
        <p:spPr>
          <a:xfrm>
            <a:off x="1722767" y="1600200"/>
            <a:ext cx="8746466"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400" dirty="0">
                <a:solidFill>
                  <a:schemeClr val="tx1"/>
                </a:solidFill>
                <a:latin typeface="Verdana"/>
                <a:ea typeface="Verdana"/>
                <a:cs typeface="Verdana"/>
                <a:sym typeface="Verdana"/>
              </a:rPr>
              <a:t>MA.7.DP.2.4</a:t>
            </a:r>
          </a:p>
          <a:p>
            <a:pPr indent="0">
              <a:buNone/>
            </a:pPr>
            <a:r>
              <a:rPr lang="en-US" sz="2400" dirty="0">
                <a:solidFill>
                  <a:schemeClr val="tx1"/>
                </a:solidFill>
                <a:latin typeface="Verdana"/>
                <a:ea typeface="Verdana"/>
                <a:cs typeface="Verdana"/>
                <a:sym typeface="Verdana"/>
              </a:rPr>
              <a:t>Use a simulation of a simple experiment to find experimental probabilities and compare them to theoretical probabilities.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4" name="Google Shape;134;p1"/>
          <p:cNvSpPr txBox="1"/>
          <p:nvPr/>
        </p:nvSpPr>
        <p:spPr>
          <a:xfrm>
            <a:off x="1502148" y="0"/>
            <a:ext cx="79584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4700" b="1">
                <a:solidFill>
                  <a:srgbClr val="52BDA6"/>
                </a:solidFill>
                <a:latin typeface="Verdana"/>
                <a:ea typeface="Verdana"/>
                <a:cs typeface="Verdana"/>
                <a:sym typeface="Verdana"/>
              </a:rPr>
              <a:t>Learning Target</a:t>
            </a:r>
            <a:endParaRPr/>
          </a:p>
        </p:txBody>
      </p:sp>
      <p:pic>
        <p:nvPicPr>
          <p:cNvPr id="135" name="Google Shape;135;p1"/>
          <p:cNvPicPr preferRelativeResize="0"/>
          <p:nvPr/>
        </p:nvPicPr>
        <p:blipFill rotWithShape="1">
          <a:blip r:embed="rId3">
            <a:alphaModFix/>
          </a:blip>
          <a:srcRect/>
          <a:stretch/>
        </p:blipFill>
        <p:spPr>
          <a:xfrm>
            <a:off x="719986" y="289200"/>
            <a:ext cx="747300" cy="747300"/>
          </a:xfrm>
          <a:prstGeom prst="rect">
            <a:avLst/>
          </a:prstGeom>
          <a:noFill/>
          <a:ln>
            <a:noFill/>
          </a:ln>
          <a:effectLst>
            <a:outerShdw blurRad="50800" dist="38100" dir="2700000" algn="tl" rotWithShape="0">
              <a:srgbClr val="000000">
                <a:alpha val="40000"/>
              </a:srgbClr>
            </a:outerShdw>
          </a:effectLst>
        </p:spPr>
      </p:pic>
      <p:sp>
        <p:nvSpPr>
          <p:cNvPr id="137" name="Google Shape;137;p1"/>
          <p:cNvSpPr txBox="1"/>
          <p:nvPr/>
        </p:nvSpPr>
        <p:spPr>
          <a:xfrm>
            <a:off x="1722767" y="1600200"/>
            <a:ext cx="8746466" cy="4205700"/>
          </a:xfrm>
          <a:prstGeom prst="rect">
            <a:avLst/>
          </a:prstGeom>
          <a:noFill/>
          <a:ln>
            <a:noFill/>
          </a:ln>
        </p:spPr>
        <p:txBody>
          <a:bodyPr spcFirstLastPara="1" wrap="square" lIns="91425" tIns="45700" rIns="91425" bIns="45700" anchor="t" anchorCtr="0">
            <a:noAutofit/>
          </a:bodyPr>
          <a:lstStyle/>
          <a:p>
            <a:pPr marL="457200" indent="-450850">
              <a:buClr>
                <a:srgbClr val="434343"/>
              </a:buClr>
              <a:buSzPts val="3500"/>
              <a:buFont typeface="Verdana"/>
              <a:buChar char="❏"/>
            </a:pPr>
            <a:r>
              <a:rPr lang="en-US" sz="3500">
                <a:solidFill>
                  <a:schemeClr val="dk1"/>
                </a:solidFill>
                <a:latin typeface="Verdana"/>
                <a:ea typeface="Verdana"/>
                <a:cs typeface="Verdana"/>
                <a:sym typeface="Verdana"/>
              </a:rPr>
              <a:t> I can compare the experimental probability from a simulation to the theoretical probability of a simple experiment.</a:t>
            </a:r>
            <a:endParaRPr/>
          </a:p>
          <a:p>
            <a:pPr marL="457200" indent="-450850">
              <a:buClr>
                <a:srgbClr val="434343"/>
              </a:buClr>
              <a:buSzPts val="3500"/>
              <a:buFont typeface="Verdana"/>
              <a:buChar char="❏"/>
            </a:pPr>
            <a:r>
              <a:rPr lang="en-US" sz="3500" dirty="0">
                <a:solidFill>
                  <a:schemeClr val="dk1"/>
                </a:solidFill>
                <a:latin typeface="Verdana"/>
                <a:ea typeface="Verdana"/>
                <a:cs typeface="Verdana"/>
                <a:sym typeface="Verdana"/>
              </a:rPr>
              <a:t>I can use results from computer-simulated events to informally define the Law of Large Numbers.</a:t>
            </a:r>
            <a:endParaRPr dirty="0"/>
          </a:p>
        </p:txBody>
      </p:sp>
      <p:sp>
        <p:nvSpPr>
          <p:cNvPr id="8" name="Google Shape;278;g104476d1465_1_17">
            <a:extLst>
              <a:ext uri="{FF2B5EF4-FFF2-40B4-BE49-F238E27FC236}">
                <a16:creationId xmlns:a16="http://schemas.microsoft.com/office/drawing/2014/main" id="{9446287A-0D67-44F2-8AC4-EAAEE05DF5B1}"/>
              </a:ext>
            </a:extLst>
          </p:cNvPr>
          <p:cNvSpPr/>
          <p:nvPr/>
        </p:nvSpPr>
        <p:spPr>
          <a:xfrm>
            <a:off x="0" y="-8226"/>
            <a:ext cx="223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9" name="Google Shape;125;g104476d1465_1_17"/>
          <p:cNvSpPr txBox="1"/>
          <p:nvPr/>
        </p:nvSpPr>
        <p:spPr>
          <a:xfrm>
            <a:off x="871370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a:t>
            </a:r>
            <a:r>
              <a:rPr lang="en-US" i="1" dirty="0">
                <a:latin typeface="Calibri"/>
                <a:ea typeface="Calibri"/>
                <a:cs typeface="Calibri"/>
                <a:sym typeface="Calibri"/>
              </a:rPr>
              <a:t>426</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51934"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pic>
        <p:nvPicPr>
          <p:cNvPr id="146" name="Google Shape;146;g104476d1465_1_39"/>
          <p:cNvPicPr preferRelativeResize="0"/>
          <p:nvPr/>
        </p:nvPicPr>
        <p:blipFill rotWithShape="1">
          <a:blip r:embed="rId3">
            <a:alphaModFix/>
          </a:blip>
          <a:srcRect/>
          <a:stretch/>
        </p:blipFill>
        <p:spPr>
          <a:xfrm>
            <a:off x="4635550" y="2879325"/>
            <a:ext cx="1031750" cy="1031750"/>
          </a:xfrm>
          <a:prstGeom prst="rect">
            <a:avLst/>
          </a:prstGeom>
          <a:noFill/>
          <a:ln>
            <a:noFill/>
          </a:ln>
          <a:effectLst>
            <a:outerShdw blurRad="50800" dist="38100" dir="2700000" algn="tl" rotWithShape="0">
              <a:srgbClr val="000000">
                <a:alpha val="40000"/>
              </a:srgbClr>
            </a:outerShdw>
          </a:effectLst>
        </p:spPr>
      </p:pic>
      <p:sp>
        <p:nvSpPr>
          <p:cNvPr id="147" name="Google Shape;147;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F2A67"/>
                </a:solidFill>
                <a:latin typeface="Verdana"/>
                <a:ea typeface="Verdana"/>
                <a:cs typeface="Verdana"/>
                <a:sym typeface="Verdana"/>
              </a:rPr>
              <a:t>Warm-Up</a:t>
            </a:r>
            <a:endParaRPr sz="5100" b="1">
              <a:solidFill>
                <a:srgbClr val="3F2A67"/>
              </a:solidFill>
              <a:latin typeface="Verdana"/>
              <a:ea typeface="Verdana"/>
              <a:cs typeface="Verdana"/>
              <a:sym typeface="Verdana"/>
            </a:endParaRPr>
          </a:p>
        </p:txBody>
      </p:sp>
      <p:sp>
        <p:nvSpPr>
          <p:cNvPr id="7" name="Google Shape;309;g104476d1465_1_39">
            <a:extLst>
              <a:ext uri="{FF2B5EF4-FFF2-40B4-BE49-F238E27FC236}">
                <a16:creationId xmlns:a16="http://schemas.microsoft.com/office/drawing/2014/main" id="{B913E5C4-E690-4107-A8D8-1E8D4AFB2976}"/>
              </a:ext>
            </a:extLst>
          </p:cNvPr>
          <p:cNvSpPr/>
          <p:nvPr/>
        </p:nvSpPr>
        <p:spPr>
          <a:xfrm>
            <a:off x="0" y="0"/>
            <a:ext cx="2731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8" name="Google Shape;125;g104476d1465_1_17"/>
          <p:cNvSpPr txBox="1"/>
          <p:nvPr/>
        </p:nvSpPr>
        <p:spPr>
          <a:xfrm>
            <a:off x="871370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427</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51934"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5" name="Google Shape;155;p2"/>
          <p:cNvSpPr txBox="1"/>
          <p:nvPr/>
        </p:nvSpPr>
        <p:spPr>
          <a:xfrm>
            <a:off x="1454267" y="71308"/>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a:solidFill>
                  <a:srgbClr val="3F2A67"/>
                </a:solidFill>
                <a:latin typeface="Verdana"/>
                <a:ea typeface="Verdana"/>
                <a:cs typeface="Verdana"/>
                <a:sym typeface="Verdana"/>
              </a:rPr>
              <a:t>15.6.1 Warm-Up: Which One Doesn’t Belong?</a:t>
            </a:r>
            <a:endParaRPr/>
          </a:p>
        </p:txBody>
      </p:sp>
      <p:pic>
        <p:nvPicPr>
          <p:cNvPr id="156" name="Google Shape;156;p2"/>
          <p:cNvPicPr preferRelativeResize="0"/>
          <p:nvPr/>
        </p:nvPicPr>
        <p:blipFill rotWithShape="1">
          <a:blip r:embed="rId3">
            <a:alphaModFix/>
          </a:blip>
          <a:srcRect/>
          <a:stretch/>
        </p:blipFill>
        <p:spPr>
          <a:xfrm>
            <a:off x="706967" y="276059"/>
            <a:ext cx="747300" cy="747300"/>
          </a:xfrm>
          <a:prstGeom prst="rect">
            <a:avLst/>
          </a:prstGeom>
          <a:noFill/>
          <a:ln>
            <a:noFill/>
          </a:ln>
          <a:effectLst>
            <a:outerShdw blurRad="50800" dist="38100" dir="2700000" algn="tl" rotWithShape="0">
              <a:srgbClr val="000000">
                <a:alpha val="40000"/>
              </a:srgbClr>
            </a:outerShdw>
          </a:effectLst>
        </p:spPr>
      </p:pic>
      <p:sp>
        <p:nvSpPr>
          <p:cNvPr id="158" name="Google Shape;158;p2"/>
          <p:cNvSpPr txBox="1"/>
          <p:nvPr/>
        </p:nvSpPr>
        <p:spPr>
          <a:xfrm>
            <a:off x="1454267" y="1386026"/>
            <a:ext cx="9539498" cy="4708981"/>
          </a:xfrm>
          <a:prstGeom prst="rect">
            <a:avLst/>
          </a:prstGeom>
          <a:noFill/>
          <a:ln>
            <a:noFill/>
          </a:ln>
        </p:spPr>
        <p:txBody>
          <a:bodyPr spcFirstLastPara="1" wrap="square" lIns="91425" tIns="45700" rIns="91425" bIns="45700" anchor="t" anchorCtr="0">
            <a:spAutoFit/>
          </a:bodyPr>
          <a:lstStyle/>
          <a:p>
            <a:pPr marL="457200" indent="-457200">
              <a:buSzPts val="2500"/>
              <a:buFont typeface="Arial"/>
              <a:buAutoNum type="arabicPeriod"/>
            </a:pPr>
            <a:r>
              <a:rPr lang="en-US" sz="2500" dirty="0">
                <a:latin typeface="Verdana"/>
                <a:ea typeface="Verdana"/>
                <a:cs typeface="Verdana"/>
                <a:sym typeface="Verdana"/>
              </a:rPr>
              <a:t>Four spinners are shown.</a:t>
            </a:r>
            <a:endParaRPr dirty="0"/>
          </a:p>
          <a:p>
            <a:pPr marL="457200" indent="-298450">
              <a:buSzPts val="2500"/>
            </a:pPr>
            <a:endParaRPr sz="2500" dirty="0">
              <a:latin typeface="Verdana"/>
              <a:ea typeface="Verdana"/>
              <a:cs typeface="Verdana"/>
              <a:sym typeface="Verdana"/>
            </a:endParaRPr>
          </a:p>
          <a:p>
            <a:pPr marL="457200" indent="-298450">
              <a:buSzPts val="2500"/>
            </a:pPr>
            <a:endParaRPr sz="2500" dirty="0">
              <a:latin typeface="Verdana"/>
              <a:ea typeface="Verdana"/>
              <a:cs typeface="Verdana"/>
              <a:sym typeface="Verdana"/>
            </a:endParaRPr>
          </a:p>
          <a:p>
            <a:pPr marL="457200" indent="-298450">
              <a:buSzPts val="2500"/>
            </a:pPr>
            <a:endParaRPr sz="2500" dirty="0">
              <a:latin typeface="Verdana"/>
              <a:ea typeface="Verdana"/>
              <a:cs typeface="Verdana"/>
              <a:sym typeface="Verdana"/>
            </a:endParaRPr>
          </a:p>
          <a:p>
            <a:pPr marL="457200" indent="-298450">
              <a:buSzPts val="2500"/>
            </a:pPr>
            <a:endParaRPr sz="2500" dirty="0">
              <a:latin typeface="Verdana"/>
              <a:ea typeface="Verdana"/>
              <a:cs typeface="Verdana"/>
              <a:sym typeface="Verdana"/>
            </a:endParaRPr>
          </a:p>
          <a:p>
            <a:pPr marL="457200" indent="-298450">
              <a:buSzPts val="2500"/>
            </a:pPr>
            <a:endParaRPr sz="2500" dirty="0">
              <a:latin typeface="Verdana"/>
              <a:ea typeface="Verdana"/>
              <a:cs typeface="Verdana"/>
              <a:sym typeface="Verdana"/>
            </a:endParaRPr>
          </a:p>
          <a:p>
            <a:pPr marL="457200" indent="-298450">
              <a:buSzPts val="2500"/>
            </a:pPr>
            <a:endParaRPr sz="2500" dirty="0">
              <a:latin typeface="Verdana"/>
              <a:ea typeface="Verdana"/>
              <a:cs typeface="Verdana"/>
              <a:sym typeface="Verdana"/>
            </a:endParaRPr>
          </a:p>
          <a:p>
            <a:pPr marL="457200" indent="-298450">
              <a:buSzPts val="2500"/>
            </a:pPr>
            <a:endParaRPr sz="2500" dirty="0">
              <a:latin typeface="Verdana"/>
              <a:ea typeface="Verdana"/>
              <a:cs typeface="Verdana"/>
              <a:sym typeface="Verdana"/>
            </a:endParaRPr>
          </a:p>
          <a:p>
            <a:pPr marL="457200" indent="-298450">
              <a:buSzPts val="2500"/>
            </a:pPr>
            <a:endParaRPr sz="2500" dirty="0">
              <a:latin typeface="Verdana"/>
              <a:ea typeface="Verdana"/>
              <a:cs typeface="Verdana"/>
              <a:sym typeface="Verdana"/>
            </a:endParaRPr>
          </a:p>
          <a:p>
            <a:pPr marL="465138"/>
            <a:r>
              <a:rPr lang="en-US" sz="2500" dirty="0">
                <a:latin typeface="Verdana"/>
                <a:ea typeface="Verdana"/>
                <a:cs typeface="Verdana"/>
                <a:sym typeface="Verdana"/>
              </a:rPr>
              <a:t> a. Which spinner doesn’t belong?</a:t>
            </a:r>
            <a:endParaRPr dirty="0"/>
          </a:p>
          <a:p>
            <a:pPr marL="465138"/>
            <a:endParaRPr sz="2500" dirty="0">
              <a:latin typeface="Verdana"/>
              <a:ea typeface="Verdana"/>
              <a:cs typeface="Verdana"/>
              <a:sym typeface="Verdana"/>
            </a:endParaRPr>
          </a:p>
          <a:p>
            <a:pPr marL="465138"/>
            <a:r>
              <a:rPr lang="en-US" sz="2500" dirty="0">
                <a:latin typeface="Verdana"/>
                <a:ea typeface="Verdana"/>
                <a:cs typeface="Verdana"/>
                <a:sym typeface="Verdana"/>
              </a:rPr>
              <a:t> b. Explain your reasoning.</a:t>
            </a:r>
            <a:endParaRPr sz="2500" dirty="0">
              <a:latin typeface="Verdana"/>
              <a:ea typeface="Verdana"/>
              <a:cs typeface="Verdana"/>
              <a:sym typeface="Verdana"/>
            </a:endParaRPr>
          </a:p>
        </p:txBody>
      </p:sp>
      <p:pic>
        <p:nvPicPr>
          <p:cNvPr id="160" name="Google Shape;160;p2" descr="Chart, pie chart&#10;&#10;Description automatically generated"/>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4149118" y="2121488"/>
            <a:ext cx="3736354" cy="2606674"/>
          </a:xfrm>
          <a:prstGeom prst="rect">
            <a:avLst/>
          </a:prstGeom>
          <a:noFill/>
          <a:ln>
            <a:noFill/>
          </a:ln>
        </p:spPr>
      </p:pic>
      <p:sp>
        <p:nvSpPr>
          <p:cNvPr id="9" name="Google Shape;278;g104476d1465_1_17">
            <a:extLst>
              <a:ext uri="{FF2B5EF4-FFF2-40B4-BE49-F238E27FC236}">
                <a16:creationId xmlns:a16="http://schemas.microsoft.com/office/drawing/2014/main" id="{99EFCE60-B5DC-40C4-8729-E7AE13ACEEBE}"/>
              </a:ext>
            </a:extLst>
          </p:cNvPr>
          <p:cNvSpPr/>
          <p:nvPr/>
        </p:nvSpPr>
        <p:spPr>
          <a:xfrm>
            <a:off x="0" y="-8226"/>
            <a:ext cx="223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0" name="Google Shape;125;g104476d1465_1_17"/>
          <p:cNvSpPr txBox="1"/>
          <p:nvPr/>
        </p:nvSpPr>
        <p:spPr>
          <a:xfrm>
            <a:off x="871370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427</a:t>
            </a:r>
            <a:endParaRPr i="1" dirty="0">
              <a:latin typeface="Calibri"/>
              <a:ea typeface="Calibri"/>
              <a:cs typeface="Calibri"/>
              <a:sym typeface="Calibri"/>
            </a:endParaRPr>
          </a:p>
        </p:txBody>
      </p:sp>
      <p:pic>
        <p:nvPicPr>
          <p:cNvPr id="11"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51934"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8" name="Google Shape;168;p4"/>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33BEA6"/>
                </a:solidFill>
                <a:latin typeface="Verdana"/>
                <a:ea typeface="Verdana"/>
                <a:cs typeface="Verdana"/>
                <a:sym typeface="Verdana"/>
              </a:rPr>
              <a:t>Exploration</a:t>
            </a:r>
            <a:endParaRPr sz="5100" b="1">
              <a:solidFill>
                <a:srgbClr val="33BEA6"/>
              </a:solidFill>
              <a:latin typeface="Verdana"/>
              <a:ea typeface="Verdana"/>
              <a:cs typeface="Verdana"/>
              <a:sym typeface="Verdana"/>
            </a:endParaRPr>
          </a:p>
        </p:txBody>
      </p:sp>
      <p:pic>
        <p:nvPicPr>
          <p:cNvPr id="169" name="Google Shape;169;p4" descr="Icon&#10;&#10;Description automatically generated"/>
          <p:cNvPicPr preferRelativeResize="0"/>
          <p:nvPr/>
        </p:nvPicPr>
        <p:blipFill rotWithShape="1">
          <a:blip r:embed="rId3">
            <a:alphaModFix/>
          </a:blip>
          <a:srcRect/>
          <a:stretch/>
        </p:blipFill>
        <p:spPr>
          <a:xfrm>
            <a:off x="4630950" y="2814305"/>
            <a:ext cx="1156228" cy="1156228"/>
          </a:xfrm>
          <a:prstGeom prst="rect">
            <a:avLst/>
          </a:prstGeom>
          <a:noFill/>
          <a:ln>
            <a:noFill/>
          </a:ln>
          <a:effectLst>
            <a:outerShdw blurRad="50800" dist="38100" dir="2700000" algn="tl" rotWithShape="0">
              <a:srgbClr val="000000">
                <a:alpha val="40000"/>
              </a:srgbClr>
            </a:outerShdw>
          </a:effectLst>
        </p:spPr>
      </p:pic>
      <p:sp>
        <p:nvSpPr>
          <p:cNvPr id="7" name="Google Shape;309;g104476d1465_1_39">
            <a:extLst>
              <a:ext uri="{FF2B5EF4-FFF2-40B4-BE49-F238E27FC236}">
                <a16:creationId xmlns:a16="http://schemas.microsoft.com/office/drawing/2014/main" id="{BD42A269-1A0C-4018-9CD5-49D1ECFB643B}"/>
              </a:ext>
            </a:extLst>
          </p:cNvPr>
          <p:cNvSpPr/>
          <p:nvPr/>
        </p:nvSpPr>
        <p:spPr>
          <a:xfrm>
            <a:off x="0" y="-8226"/>
            <a:ext cx="2731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8" name="Google Shape;125;g104476d1465_1_17"/>
          <p:cNvSpPr txBox="1"/>
          <p:nvPr/>
        </p:nvSpPr>
        <p:spPr>
          <a:xfrm>
            <a:off x="871370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427</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51934"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7" name="Google Shape;177;p5"/>
          <p:cNvSpPr txBox="1"/>
          <p:nvPr/>
        </p:nvSpPr>
        <p:spPr>
          <a:xfrm>
            <a:off x="1723919" y="47906"/>
            <a:ext cx="9453668"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000" b="1">
                <a:solidFill>
                  <a:srgbClr val="33BEA6"/>
                </a:solidFill>
                <a:latin typeface="Verdana"/>
                <a:ea typeface="Verdana"/>
                <a:cs typeface="Verdana"/>
                <a:sym typeface="Verdana"/>
              </a:rPr>
              <a:t>15.6.2 Exploration: Comparing Experimental Results to Expected Results</a:t>
            </a:r>
            <a:endParaRPr/>
          </a:p>
        </p:txBody>
      </p:sp>
      <p:pic>
        <p:nvPicPr>
          <p:cNvPr id="178" name="Google Shape;178;p5" descr="Icon&#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749139" y="296031"/>
            <a:ext cx="752254" cy="752254"/>
          </a:xfrm>
          <a:prstGeom prst="rect">
            <a:avLst/>
          </a:prstGeom>
          <a:noFill/>
          <a:ln>
            <a:noFill/>
          </a:ln>
          <a:effectLst>
            <a:outerShdw blurRad="50800" dist="38100" dir="2700000" algn="tl" rotWithShape="0">
              <a:srgbClr val="000000">
                <a:alpha val="40000"/>
              </a:srgbClr>
            </a:outerShdw>
          </a:effectLst>
        </p:spPr>
      </p:pic>
      <p:sp>
        <p:nvSpPr>
          <p:cNvPr id="179" name="Google Shape;179;p5"/>
          <p:cNvSpPr txBox="1"/>
          <p:nvPr/>
        </p:nvSpPr>
        <p:spPr>
          <a:xfrm>
            <a:off x="1271589" y="1424277"/>
            <a:ext cx="9500384" cy="2000548"/>
          </a:xfrm>
          <a:prstGeom prst="rect">
            <a:avLst/>
          </a:prstGeom>
          <a:noFill/>
          <a:ln>
            <a:noFill/>
          </a:ln>
        </p:spPr>
        <p:txBody>
          <a:bodyPr spcFirstLastPara="1" wrap="square" lIns="91425" tIns="45700" rIns="91425" bIns="45700" anchor="t" anchorCtr="0">
            <a:spAutoFit/>
          </a:bodyPr>
          <a:lstStyle/>
          <a:p>
            <a:r>
              <a:rPr lang="en-US" sz="2000" dirty="0">
                <a:latin typeface="Verdana"/>
                <a:ea typeface="Verdana"/>
                <a:cs typeface="Verdana"/>
                <a:sym typeface="Verdana"/>
              </a:rPr>
              <a:t>Work with your partner to complete the following.</a:t>
            </a:r>
            <a:endParaRPr sz="2000" dirty="0"/>
          </a:p>
          <a:p>
            <a:pPr marL="457200" indent="-457200">
              <a:buSzPts val="2000"/>
              <a:buFont typeface="Arial"/>
              <a:buAutoNum type="arabicPeriod"/>
            </a:pPr>
            <a:r>
              <a:rPr lang="en-US" sz="2000" dirty="0">
                <a:solidFill>
                  <a:schemeClr val="dk1"/>
                </a:solidFill>
                <a:latin typeface="Verdana"/>
                <a:ea typeface="Verdana"/>
                <a:cs typeface="Verdana"/>
                <a:sym typeface="Verdana"/>
              </a:rPr>
              <a:t>When performing the simple experiment of flipping a coin over repeated trials, imagine each of the resulting situations listed in the table.</a:t>
            </a:r>
            <a:endParaRPr sz="2000" dirty="0"/>
          </a:p>
          <a:p>
            <a:endParaRPr sz="2000" dirty="0">
              <a:solidFill>
                <a:schemeClr val="dk1"/>
              </a:solidFill>
              <a:latin typeface="Verdana"/>
              <a:ea typeface="Verdana"/>
              <a:cs typeface="Verdana"/>
              <a:sym typeface="Verdana"/>
            </a:endParaRPr>
          </a:p>
          <a:p>
            <a:r>
              <a:rPr lang="en-US" sz="2000" dirty="0">
                <a:solidFill>
                  <a:schemeClr val="dk1"/>
                </a:solidFill>
                <a:latin typeface="Verdana"/>
                <a:ea typeface="Verdana"/>
                <a:cs typeface="Verdana"/>
                <a:sym typeface="Verdana"/>
              </a:rPr>
              <a:t>	a. Complete the table to describe the results. </a:t>
            </a:r>
            <a:endParaRPr sz="2000" dirty="0"/>
          </a:p>
        </p:txBody>
      </p:sp>
      <p:pic>
        <p:nvPicPr>
          <p:cNvPr id="181" name="Google Shape;181;p5" descr="Table&#10;&#10;Description automatically generated"/>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2632504" y="3475496"/>
            <a:ext cx="6081204" cy="3194313"/>
          </a:xfrm>
          <a:prstGeom prst="rect">
            <a:avLst/>
          </a:prstGeom>
          <a:noFill/>
          <a:ln>
            <a:noFill/>
          </a:ln>
        </p:spPr>
      </p:pic>
      <p:sp>
        <p:nvSpPr>
          <p:cNvPr id="9" name="Google Shape;278;g104476d1465_1_17">
            <a:extLst>
              <a:ext uri="{FF2B5EF4-FFF2-40B4-BE49-F238E27FC236}">
                <a16:creationId xmlns:a16="http://schemas.microsoft.com/office/drawing/2014/main" id="{E07D9EF0-F641-4809-8B1E-DBBF303183B7}"/>
              </a:ext>
            </a:extLst>
          </p:cNvPr>
          <p:cNvSpPr/>
          <p:nvPr/>
        </p:nvSpPr>
        <p:spPr>
          <a:xfrm>
            <a:off x="0" y="0"/>
            <a:ext cx="223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0" name="Google Shape;125;g104476d1465_1_17"/>
          <p:cNvSpPr txBox="1"/>
          <p:nvPr/>
        </p:nvSpPr>
        <p:spPr>
          <a:xfrm>
            <a:off x="871370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427</a:t>
            </a:r>
            <a:endParaRPr i="1" dirty="0">
              <a:latin typeface="Calibri"/>
              <a:ea typeface="Calibri"/>
              <a:cs typeface="Calibri"/>
              <a:sym typeface="Calibri"/>
            </a:endParaRPr>
          </a:p>
        </p:txBody>
      </p:sp>
      <p:pic>
        <p:nvPicPr>
          <p:cNvPr id="11"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51934"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9" name="Google Shape;189;p6"/>
          <p:cNvSpPr txBox="1"/>
          <p:nvPr/>
        </p:nvSpPr>
        <p:spPr>
          <a:xfrm>
            <a:off x="1257300" y="596669"/>
            <a:ext cx="9677400" cy="3785611"/>
          </a:xfrm>
          <a:prstGeom prst="rect">
            <a:avLst/>
          </a:prstGeom>
          <a:noFill/>
          <a:ln>
            <a:noFill/>
          </a:ln>
        </p:spPr>
        <p:txBody>
          <a:bodyPr spcFirstLastPara="1" wrap="square" lIns="91425" tIns="45700" rIns="91425" bIns="45700" anchor="t" anchorCtr="0">
            <a:spAutoFit/>
          </a:bodyPr>
          <a:lstStyle/>
          <a:p>
            <a:pPr marL="514350" indent="-514350">
              <a:buFont typeface="+mj-lt"/>
              <a:buAutoNum type="alphaLcPeriod" startAt="2"/>
            </a:pPr>
            <a:r>
              <a:rPr lang="en-US" sz="2400" dirty="0">
                <a:latin typeface="Verdana"/>
                <a:ea typeface="Verdana"/>
                <a:cs typeface="Verdana"/>
                <a:sym typeface="Verdana"/>
              </a:rPr>
              <a:t>If you flip the coin 100 times, explain how many times you would expect the coin to land heads-up.</a:t>
            </a:r>
            <a:endParaRPr lang="en-US" sz="2400" dirty="0">
              <a:ea typeface="Verdana"/>
            </a:endParaRPr>
          </a:p>
          <a:p>
            <a:pPr marL="514350" indent="-514350">
              <a:buFont typeface="+mj-lt"/>
              <a:buAutoNum type="alphaLcPeriod" startAt="2"/>
            </a:pPr>
            <a:endParaRPr lang="en-US" sz="2400" dirty="0">
              <a:latin typeface="Verdana"/>
              <a:ea typeface="Verdana"/>
              <a:cs typeface="Verdana"/>
              <a:sym typeface="Verdana"/>
            </a:endParaRPr>
          </a:p>
          <a:p>
            <a:pPr marL="514350" indent="-514350">
              <a:buFont typeface="+mj-lt"/>
              <a:buAutoNum type="alphaLcPeriod" startAt="2"/>
            </a:pPr>
            <a:endParaRPr lang="en-US" sz="2400" dirty="0">
              <a:latin typeface="Verdana"/>
              <a:ea typeface="Verdana"/>
              <a:cs typeface="Verdana"/>
              <a:sym typeface="Verdana"/>
            </a:endParaRPr>
          </a:p>
          <a:p>
            <a:pPr marL="514350" indent="-514350">
              <a:buFont typeface="+mj-lt"/>
              <a:buAutoNum type="alphaLcPeriod" startAt="2"/>
            </a:pPr>
            <a:endParaRPr lang="en-US" sz="2400" dirty="0">
              <a:latin typeface="Verdana"/>
              <a:ea typeface="Verdana"/>
              <a:cs typeface="Verdana"/>
              <a:sym typeface="Verdana"/>
            </a:endParaRPr>
          </a:p>
          <a:p>
            <a:pPr marL="514350" indent="-514350">
              <a:buFont typeface="+mj-lt"/>
              <a:buAutoNum type="alphaLcPeriod" startAt="2"/>
            </a:pPr>
            <a:endParaRPr lang="en-US" sz="2400" dirty="0">
              <a:latin typeface="Verdana"/>
              <a:ea typeface="Verdana"/>
              <a:cs typeface="Verdana"/>
              <a:sym typeface="Verdana"/>
            </a:endParaRPr>
          </a:p>
          <a:p>
            <a:pPr marL="514350" indent="-514350">
              <a:buFont typeface="+mj-lt"/>
              <a:buAutoNum type="alphaLcPeriod" startAt="2"/>
            </a:pPr>
            <a:endParaRPr sz="2400" dirty="0">
              <a:latin typeface="Verdana"/>
              <a:ea typeface="Verdana"/>
              <a:cs typeface="Verdana"/>
              <a:sym typeface="Verdana"/>
            </a:endParaRPr>
          </a:p>
          <a:p>
            <a:pPr marL="514350" indent="-514350">
              <a:buFont typeface="+mj-lt"/>
              <a:buAutoNum type="alphaLcPeriod" startAt="2"/>
            </a:pPr>
            <a:endParaRPr sz="2400" dirty="0">
              <a:latin typeface="Verdana"/>
              <a:ea typeface="Verdana"/>
              <a:cs typeface="Verdana"/>
              <a:sym typeface="Verdana"/>
            </a:endParaRPr>
          </a:p>
          <a:p>
            <a:pPr marL="514350" indent="-514350">
              <a:buFont typeface="+mj-lt"/>
              <a:buAutoNum type="alphaLcPeriod" startAt="2"/>
            </a:pPr>
            <a:r>
              <a:rPr lang="en-US" sz="2400" dirty="0">
                <a:latin typeface="Verdana"/>
                <a:ea typeface="Verdana"/>
                <a:cs typeface="Verdana"/>
                <a:sym typeface="Verdana"/>
              </a:rPr>
              <a:t>With your partner, discuss some other results that would not be surprising if you flip the coin 100 times.</a:t>
            </a:r>
            <a:endParaRPr sz="2400" dirty="0"/>
          </a:p>
        </p:txBody>
      </p:sp>
      <p:sp>
        <p:nvSpPr>
          <p:cNvPr id="6" name="Google Shape;278;g104476d1465_1_17">
            <a:extLst>
              <a:ext uri="{FF2B5EF4-FFF2-40B4-BE49-F238E27FC236}">
                <a16:creationId xmlns:a16="http://schemas.microsoft.com/office/drawing/2014/main" id="{F0C1ED0D-C246-4E59-84AD-656112D5359B}"/>
              </a:ext>
            </a:extLst>
          </p:cNvPr>
          <p:cNvSpPr/>
          <p:nvPr/>
        </p:nvSpPr>
        <p:spPr>
          <a:xfrm>
            <a:off x="0" y="-8226"/>
            <a:ext cx="223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125;g104476d1465_1_17"/>
          <p:cNvSpPr txBox="1"/>
          <p:nvPr/>
        </p:nvSpPr>
        <p:spPr>
          <a:xfrm>
            <a:off x="871370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427</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51934"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8" name="Google Shape;198;p7"/>
          <p:cNvSpPr txBox="1"/>
          <p:nvPr/>
        </p:nvSpPr>
        <p:spPr>
          <a:xfrm>
            <a:off x="1200150" y="381170"/>
            <a:ext cx="9942366" cy="3108503"/>
          </a:xfrm>
          <a:prstGeom prst="rect">
            <a:avLst/>
          </a:prstGeom>
          <a:noFill/>
          <a:ln>
            <a:noFill/>
          </a:ln>
        </p:spPr>
        <p:txBody>
          <a:bodyPr spcFirstLastPara="1" wrap="square" lIns="91425" tIns="45700" rIns="91425" bIns="45700" anchor="t" anchorCtr="0">
            <a:spAutoFit/>
          </a:bodyPr>
          <a:lstStyle/>
          <a:p>
            <a:r>
              <a:rPr lang="en-US" sz="2400" dirty="0">
                <a:latin typeface="Verdana"/>
                <a:ea typeface="Verdana"/>
                <a:cs typeface="Verdana"/>
                <a:sym typeface="Verdana"/>
              </a:rPr>
              <a:t>2. A spinner is shown.</a:t>
            </a:r>
            <a:endParaRPr sz="2400" dirty="0"/>
          </a:p>
          <a:p>
            <a:endParaRPr sz="2800" dirty="0">
              <a:latin typeface="Verdana"/>
              <a:ea typeface="Verdana"/>
              <a:cs typeface="Verdana"/>
              <a:sym typeface="Verdana"/>
            </a:endParaRPr>
          </a:p>
          <a:p>
            <a:endParaRPr sz="2800" dirty="0">
              <a:latin typeface="Verdana"/>
              <a:ea typeface="Verdana"/>
              <a:cs typeface="Verdana"/>
              <a:sym typeface="Verdana"/>
            </a:endParaRPr>
          </a:p>
          <a:p>
            <a:endParaRPr sz="2800" dirty="0">
              <a:latin typeface="Verdana"/>
              <a:ea typeface="Verdana"/>
              <a:cs typeface="Verdana"/>
              <a:sym typeface="Verdana"/>
            </a:endParaRPr>
          </a:p>
          <a:p>
            <a:endParaRPr sz="2000" dirty="0">
              <a:latin typeface="Verdana"/>
              <a:ea typeface="Verdana"/>
              <a:cs typeface="Verdana"/>
              <a:sym typeface="Verdana"/>
            </a:endParaRPr>
          </a:p>
          <a:p>
            <a:endParaRPr sz="2000" dirty="0">
              <a:latin typeface="Verdana"/>
              <a:ea typeface="Verdana"/>
              <a:cs typeface="Verdana"/>
              <a:sym typeface="Verdana"/>
            </a:endParaRPr>
          </a:p>
          <a:p>
            <a:pPr marL="915988" indent="-465138">
              <a:buFont typeface="+mj-lt"/>
              <a:buAutoNum type="alphaLcPeriod"/>
            </a:pPr>
            <a:r>
              <a:rPr lang="en-US" sz="2400" dirty="0">
                <a:latin typeface="Verdana"/>
                <a:ea typeface="Verdana"/>
                <a:cs typeface="Verdana"/>
                <a:sym typeface="Verdana"/>
              </a:rPr>
              <a:t>Find the theoretical probability of landing on each color as a percentage rounded to the nearest tenth.</a:t>
            </a:r>
            <a:endParaRPr sz="2400" dirty="0">
              <a:latin typeface="Verdana"/>
              <a:ea typeface="Verdana"/>
              <a:cs typeface="Verdana"/>
              <a:sym typeface="Verdana"/>
            </a:endParaRPr>
          </a:p>
        </p:txBody>
      </p:sp>
      <p:pic>
        <p:nvPicPr>
          <p:cNvPr id="201" name="Google Shape;201;p7" descr="Chart, pie chart&#10;&#10;Description automatically generated"/>
          <p:cNvPicPr preferRelativeResize="0"/>
          <p:nvPr/>
        </p:nvPicPr>
        <p:blipFill rotWithShape="1">
          <a:blip r:embed="rId3">
            <a:alphaModFix/>
          </a:blip>
          <a:srcRect/>
          <a:stretch/>
        </p:blipFill>
        <p:spPr>
          <a:xfrm>
            <a:off x="6018402" y="90257"/>
            <a:ext cx="2850295" cy="2282937"/>
          </a:xfrm>
          <a:prstGeom prst="rect">
            <a:avLst/>
          </a:prstGeom>
          <a:noFill/>
          <a:ln>
            <a:noFill/>
          </a:ln>
        </p:spPr>
      </p:pic>
      <p:pic>
        <p:nvPicPr>
          <p:cNvPr id="202" name="Google Shape;202;p7" descr="Table&#10;&#10;Description automatically generated"/>
          <p:cNvPicPr preferRelativeResize="0"/>
          <p:nvPr/>
        </p:nvPicPr>
        <p:blipFill rotWithShape="1">
          <a:blip r:embed="rId4">
            <a:alphaModFix/>
          </a:blip>
          <a:srcRect/>
          <a:stretch/>
        </p:blipFill>
        <p:spPr>
          <a:xfrm>
            <a:off x="1892326" y="4248708"/>
            <a:ext cx="8724501" cy="1388416"/>
          </a:xfrm>
          <a:prstGeom prst="rect">
            <a:avLst/>
          </a:prstGeom>
          <a:noFill/>
          <a:ln>
            <a:noFill/>
          </a:ln>
        </p:spPr>
      </p:pic>
      <p:sp>
        <p:nvSpPr>
          <p:cNvPr id="8" name="Google Shape;278;g104476d1465_1_17">
            <a:extLst>
              <a:ext uri="{FF2B5EF4-FFF2-40B4-BE49-F238E27FC236}">
                <a16:creationId xmlns:a16="http://schemas.microsoft.com/office/drawing/2014/main" id="{CBA6B998-6193-4501-916D-87FCEDB32249}"/>
              </a:ext>
            </a:extLst>
          </p:cNvPr>
          <p:cNvSpPr/>
          <p:nvPr/>
        </p:nvSpPr>
        <p:spPr>
          <a:xfrm>
            <a:off x="0" y="0"/>
            <a:ext cx="223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9" name="Google Shape;125;g104476d1465_1_17"/>
          <p:cNvSpPr txBox="1"/>
          <p:nvPr/>
        </p:nvSpPr>
        <p:spPr>
          <a:xfrm>
            <a:off x="871370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428</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51934"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9" name="Google Shape;209;p8"/>
          <p:cNvSpPr txBox="1"/>
          <p:nvPr/>
        </p:nvSpPr>
        <p:spPr>
          <a:xfrm>
            <a:off x="1085850" y="280453"/>
            <a:ext cx="10248426" cy="2123618"/>
          </a:xfrm>
          <a:prstGeom prst="rect">
            <a:avLst/>
          </a:prstGeom>
          <a:noFill/>
          <a:ln>
            <a:noFill/>
          </a:ln>
        </p:spPr>
        <p:txBody>
          <a:bodyPr spcFirstLastPara="1" wrap="square" lIns="91425" tIns="45700" rIns="91425" bIns="45700" anchor="t" anchorCtr="0">
            <a:spAutoFit/>
          </a:bodyPr>
          <a:lstStyle/>
          <a:p>
            <a:pPr marL="457200" indent="-457200">
              <a:buFont typeface="+mj-lt"/>
              <a:buAutoNum type="alphaLcPeriod" startAt="2"/>
            </a:pPr>
            <a:r>
              <a:rPr lang="en-US" sz="2200" dirty="0">
                <a:latin typeface="Verdana"/>
                <a:ea typeface="Verdana"/>
                <a:cs typeface="Verdana"/>
                <a:sym typeface="Verdana"/>
              </a:rPr>
              <a:t>Sara used a computer-simulated spinner to perform different numbers of trials with the spinner. The results show the percentage of times it landed on each color in each simulation.</a:t>
            </a:r>
            <a:endParaRPr dirty="0"/>
          </a:p>
          <a:p>
            <a:endParaRPr sz="2200" dirty="0">
              <a:latin typeface="Verdana"/>
              <a:ea typeface="Verdana"/>
              <a:cs typeface="Verdana"/>
              <a:sym typeface="Verdana"/>
            </a:endParaRPr>
          </a:p>
          <a:p>
            <a:pPr marL="465138"/>
            <a:r>
              <a:rPr lang="en-US" sz="2200" dirty="0">
                <a:latin typeface="Verdana"/>
                <a:ea typeface="Verdana"/>
                <a:cs typeface="Verdana"/>
                <a:sym typeface="Verdana"/>
              </a:rPr>
              <a:t>Circle the experimental probabilities that are more</a:t>
            </a:r>
            <a:endParaRPr dirty="0"/>
          </a:p>
          <a:p>
            <a:pPr marL="465138"/>
            <a:r>
              <a:rPr lang="en-US" sz="2200" dirty="0">
                <a:latin typeface="Verdana"/>
                <a:ea typeface="Verdana"/>
                <a:cs typeface="Verdana"/>
                <a:sym typeface="Verdana"/>
              </a:rPr>
              <a:t>than 1% different from the theoretical probability</a:t>
            </a:r>
            <a:r>
              <a:rPr lang="en-US" sz="2000" dirty="0">
                <a:latin typeface="Verdana"/>
                <a:ea typeface="Verdana"/>
                <a:cs typeface="Verdana"/>
                <a:sym typeface="Verdana"/>
              </a:rPr>
              <a:t>. </a:t>
            </a:r>
            <a:endParaRPr dirty="0"/>
          </a:p>
        </p:txBody>
      </p:sp>
      <p:pic>
        <p:nvPicPr>
          <p:cNvPr id="211" name="Google Shape;211;p8" descr="Table&#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2946501" y="2858410"/>
            <a:ext cx="6527124" cy="3670828"/>
          </a:xfrm>
          <a:prstGeom prst="rect">
            <a:avLst/>
          </a:prstGeom>
          <a:noFill/>
          <a:ln>
            <a:noFill/>
          </a:ln>
        </p:spPr>
      </p:pic>
      <p:sp>
        <p:nvSpPr>
          <p:cNvPr id="7" name="Google Shape;278;g104476d1465_1_17">
            <a:extLst>
              <a:ext uri="{FF2B5EF4-FFF2-40B4-BE49-F238E27FC236}">
                <a16:creationId xmlns:a16="http://schemas.microsoft.com/office/drawing/2014/main" id="{493D26CA-481F-4C27-97C9-114265C0C2EA}"/>
              </a:ext>
            </a:extLst>
          </p:cNvPr>
          <p:cNvSpPr/>
          <p:nvPr/>
        </p:nvSpPr>
        <p:spPr>
          <a:xfrm>
            <a:off x="-48702" y="-8226"/>
            <a:ext cx="223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125;g104476d1465_1_17"/>
          <p:cNvSpPr txBox="1"/>
          <p:nvPr/>
        </p:nvSpPr>
        <p:spPr>
          <a:xfrm>
            <a:off x="871370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428</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51934"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9" name="Google Shape;219;p9"/>
          <p:cNvSpPr txBox="1"/>
          <p:nvPr/>
        </p:nvSpPr>
        <p:spPr>
          <a:xfrm>
            <a:off x="2018003" y="470190"/>
            <a:ext cx="8404596" cy="5909270"/>
          </a:xfrm>
          <a:prstGeom prst="rect">
            <a:avLst/>
          </a:prstGeom>
          <a:noFill/>
          <a:ln>
            <a:noFill/>
          </a:ln>
        </p:spPr>
        <p:txBody>
          <a:bodyPr spcFirstLastPara="1" wrap="square" lIns="91425" tIns="45700" rIns="91425" bIns="45700" anchor="t" anchorCtr="0">
            <a:spAutoFit/>
          </a:bodyPr>
          <a:lstStyle/>
          <a:p>
            <a:pPr marL="457200" indent="-457200">
              <a:buFont typeface="+mj-lt"/>
              <a:buAutoNum type="alphaLcPeriod" startAt="3"/>
            </a:pPr>
            <a:r>
              <a:rPr lang="en-US" sz="2400" dirty="0">
                <a:latin typeface="Verdana"/>
                <a:ea typeface="Verdana"/>
                <a:cs typeface="Verdana"/>
                <a:sym typeface="Verdana"/>
              </a:rPr>
              <a:t>Discuss with your partner what you notice when comparing the experimental probabilities to the theoretical probabilities.</a:t>
            </a:r>
          </a:p>
          <a:p>
            <a:pPr marL="342900" indent="-342900">
              <a:buFont typeface="+mj-lt"/>
              <a:buAutoNum type="alphaLcPeriod" startAt="3"/>
            </a:pPr>
            <a:endParaRPr dirty="0"/>
          </a:p>
          <a:p>
            <a:pPr marL="457200" indent="-457200">
              <a:buFont typeface="+mj-lt"/>
              <a:buAutoNum type="alphaLcPeriod" startAt="3"/>
            </a:pPr>
            <a:r>
              <a:rPr lang="en-US" sz="2400" dirty="0">
                <a:latin typeface="Verdana"/>
                <a:ea typeface="Verdana"/>
                <a:cs typeface="Verdana"/>
                <a:sym typeface="Verdana"/>
              </a:rPr>
              <a:t>In which simulation(s) were the experimental probabilities the most different from the theoretical probabilities?</a:t>
            </a:r>
          </a:p>
          <a:p>
            <a:pPr marL="342900" indent="-342900">
              <a:buFont typeface="+mj-lt"/>
              <a:buAutoNum type="alphaLcPeriod" startAt="3"/>
            </a:pPr>
            <a:endParaRPr dirty="0"/>
          </a:p>
          <a:p>
            <a:pPr marL="457200" indent="-457200">
              <a:buFont typeface="+mj-lt"/>
              <a:buAutoNum type="alphaLcPeriod" startAt="3"/>
            </a:pPr>
            <a:r>
              <a:rPr lang="en-US" sz="2400" dirty="0">
                <a:latin typeface="Verdana"/>
                <a:ea typeface="Verdana"/>
                <a:cs typeface="Verdana"/>
                <a:sym typeface="Verdana"/>
              </a:rPr>
              <a:t>In which simulation(s) were the experimental probabilities the most similar to the theoretical probabilities?</a:t>
            </a:r>
          </a:p>
          <a:p>
            <a:pPr marL="342900" indent="-342900">
              <a:buFont typeface="+mj-lt"/>
              <a:buAutoNum type="alphaLcPeriod" startAt="3"/>
            </a:pPr>
            <a:endParaRPr dirty="0"/>
          </a:p>
          <a:p>
            <a:pPr marL="457200" indent="-457200">
              <a:buFont typeface="+mj-lt"/>
              <a:buAutoNum type="alphaLcPeriod" startAt="3"/>
            </a:pPr>
            <a:r>
              <a:rPr lang="en-US" sz="2400" dirty="0">
                <a:latin typeface="Verdana"/>
                <a:ea typeface="Verdana"/>
                <a:cs typeface="Verdana"/>
                <a:sym typeface="Verdana"/>
              </a:rPr>
              <a:t>Imagine Sara used the computer-simulated spinner to perform 600,000 spins. Describe how you think the experimental probabilities of landing on each color would compare to the theoretical</a:t>
            </a:r>
            <a:r>
              <a:rPr lang="en-US" dirty="0">
                <a:ea typeface="Verdana"/>
              </a:rPr>
              <a:t> </a:t>
            </a:r>
            <a:r>
              <a:rPr lang="en-US" sz="2400" dirty="0">
                <a:latin typeface="Verdana"/>
                <a:ea typeface="Verdana"/>
                <a:cs typeface="Verdana"/>
                <a:sym typeface="Verdana"/>
              </a:rPr>
              <a:t>probabilities. </a:t>
            </a:r>
            <a:endParaRPr dirty="0"/>
          </a:p>
        </p:txBody>
      </p:sp>
      <p:sp>
        <p:nvSpPr>
          <p:cNvPr id="6" name="Google Shape;278;g104476d1465_1_17">
            <a:extLst>
              <a:ext uri="{FF2B5EF4-FFF2-40B4-BE49-F238E27FC236}">
                <a16:creationId xmlns:a16="http://schemas.microsoft.com/office/drawing/2014/main" id="{020A27EE-D1A7-4FDA-9F4D-6598364E913F}"/>
              </a:ext>
            </a:extLst>
          </p:cNvPr>
          <p:cNvSpPr/>
          <p:nvPr/>
        </p:nvSpPr>
        <p:spPr>
          <a:xfrm>
            <a:off x="0" y="-8225"/>
            <a:ext cx="223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125;g104476d1465_1_17"/>
          <p:cNvSpPr txBox="1"/>
          <p:nvPr/>
        </p:nvSpPr>
        <p:spPr>
          <a:xfrm>
            <a:off x="871370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428</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51934"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9" name="Google Shape;229;p10"/>
          <p:cNvSpPr txBox="1">
            <a:spLocks noGrp="1"/>
          </p:cNvSpPr>
          <p:nvPr>
            <p:ph type="title" idx="4294967295"/>
          </p:nvPr>
        </p:nvSpPr>
        <p:spPr>
          <a:xfrm>
            <a:off x="5518563"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26B7D4"/>
                </a:solidFill>
                <a:latin typeface="Verdana"/>
                <a:ea typeface="Verdana"/>
                <a:cs typeface="Verdana"/>
                <a:sym typeface="Verdana"/>
              </a:rPr>
              <a:t>Bring It Together</a:t>
            </a:r>
            <a:endParaRPr sz="5100" b="1">
              <a:solidFill>
                <a:srgbClr val="26B7D4"/>
              </a:solidFill>
              <a:latin typeface="Verdana"/>
              <a:ea typeface="Verdana"/>
              <a:cs typeface="Verdana"/>
              <a:sym typeface="Verdana"/>
            </a:endParaRPr>
          </a:p>
        </p:txBody>
      </p:sp>
      <p:pic>
        <p:nvPicPr>
          <p:cNvPr id="231" name="Google Shape;231;p10" descr="Icon&#10;&#10;Description automatically generated"/>
          <p:cNvPicPr preferRelativeResize="0"/>
          <p:nvPr/>
        </p:nvPicPr>
        <p:blipFill rotWithShape="1">
          <a:blip r:embed="rId3">
            <a:alphaModFix/>
          </a:blip>
          <a:srcRect/>
          <a:stretch/>
        </p:blipFill>
        <p:spPr>
          <a:xfrm>
            <a:off x="4705255" y="2852923"/>
            <a:ext cx="1152144" cy="1152144"/>
          </a:xfrm>
          <a:prstGeom prst="rect">
            <a:avLst/>
          </a:prstGeom>
          <a:noFill/>
          <a:ln>
            <a:noFill/>
          </a:ln>
          <a:effectLst>
            <a:outerShdw blurRad="50800" dist="38100" dir="2700000" algn="tl" rotWithShape="0">
              <a:srgbClr val="000000">
                <a:alpha val="40000"/>
              </a:srgbClr>
            </a:outerShdw>
          </a:effectLst>
        </p:spPr>
      </p:pic>
      <p:sp>
        <p:nvSpPr>
          <p:cNvPr id="7" name="Google Shape;309;g104476d1465_1_39">
            <a:extLst>
              <a:ext uri="{FF2B5EF4-FFF2-40B4-BE49-F238E27FC236}">
                <a16:creationId xmlns:a16="http://schemas.microsoft.com/office/drawing/2014/main" id="{A4CAC536-9618-43D6-B3E4-E37B5A69E4B8}"/>
              </a:ext>
            </a:extLst>
          </p:cNvPr>
          <p:cNvSpPr/>
          <p:nvPr/>
        </p:nvSpPr>
        <p:spPr>
          <a:xfrm>
            <a:off x="0" y="0"/>
            <a:ext cx="2731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8" name="Google Shape;125;g104476d1465_1_17"/>
          <p:cNvSpPr txBox="1"/>
          <p:nvPr/>
        </p:nvSpPr>
        <p:spPr>
          <a:xfrm>
            <a:off x="8713708" y="64658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429</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51934" y="62088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8" name="Google Shape;238;p11"/>
          <p:cNvSpPr txBox="1"/>
          <p:nvPr/>
        </p:nvSpPr>
        <p:spPr>
          <a:xfrm>
            <a:off x="1362825" y="-87695"/>
            <a:ext cx="9367084"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000" b="1">
                <a:solidFill>
                  <a:srgbClr val="54B5D1"/>
                </a:solidFill>
                <a:latin typeface="Verdana"/>
                <a:ea typeface="Verdana"/>
                <a:cs typeface="Verdana"/>
                <a:sym typeface="Verdana"/>
              </a:rPr>
              <a:t>15.6.3 Bring It Together: Comparing Experimental Results to Expected Results </a:t>
            </a:r>
            <a:endParaRPr/>
          </a:p>
        </p:txBody>
      </p:sp>
      <p:pic>
        <p:nvPicPr>
          <p:cNvPr id="241" name="Google Shape;241;p11" descr="Icon&#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496541" y="140974"/>
            <a:ext cx="749808" cy="749808"/>
          </a:xfrm>
          <a:prstGeom prst="rect">
            <a:avLst/>
          </a:prstGeom>
          <a:noFill/>
          <a:ln>
            <a:noFill/>
          </a:ln>
          <a:effectLst>
            <a:outerShdw blurRad="50800" dist="38100" dir="2700000" algn="tl" rotWithShape="0">
              <a:srgbClr val="000000">
                <a:alpha val="40000"/>
              </a:srgbClr>
            </a:outerShdw>
          </a:effectLst>
        </p:spPr>
      </p:pic>
      <p:sp>
        <p:nvSpPr>
          <p:cNvPr id="245" name="Google Shape;245;p11"/>
          <p:cNvSpPr/>
          <p:nvPr/>
        </p:nvSpPr>
        <p:spPr>
          <a:xfrm>
            <a:off x="2300749" y="1475678"/>
            <a:ext cx="7590502" cy="1471284"/>
          </a:xfrm>
          <a:prstGeom prst="roundRect">
            <a:avLst>
              <a:gd name="adj" fmla="val 16667"/>
            </a:avLst>
          </a:prstGeom>
          <a:solidFill>
            <a:srgbClr val="C4E0B2"/>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algn="ctr"/>
            <a:r>
              <a:rPr lang="en-US" sz="2000">
                <a:solidFill>
                  <a:srgbClr val="385623"/>
                </a:solidFill>
                <a:latin typeface="Verdana"/>
                <a:ea typeface="Verdana"/>
                <a:cs typeface="Verdana"/>
                <a:sym typeface="Verdana"/>
              </a:rPr>
              <a:t>           </a:t>
            </a:r>
            <a:r>
              <a:rPr lang="en-US" sz="1900">
                <a:solidFill>
                  <a:srgbClr val="548135"/>
                </a:solidFill>
                <a:latin typeface="Verdana"/>
                <a:ea typeface="Verdana"/>
                <a:cs typeface="Verdana"/>
                <a:sym typeface="Verdana"/>
              </a:rPr>
              <a:t>A </a:t>
            </a:r>
            <a:r>
              <a:rPr lang="en-US" sz="1900" b="1">
                <a:solidFill>
                  <a:srgbClr val="548135"/>
                </a:solidFill>
                <a:latin typeface="Verdana"/>
                <a:ea typeface="Verdana"/>
                <a:cs typeface="Verdana"/>
                <a:sym typeface="Verdana"/>
              </a:rPr>
              <a:t>simulation</a:t>
            </a:r>
            <a:r>
              <a:rPr lang="en-US" sz="1900">
                <a:solidFill>
                  <a:srgbClr val="548135"/>
                </a:solidFill>
                <a:latin typeface="Verdana"/>
                <a:ea typeface="Verdana"/>
                <a:cs typeface="Verdana"/>
                <a:sym typeface="Verdana"/>
              </a:rPr>
              <a:t> is an approximate imitation of a statistical experiment, often done with a</a:t>
            </a:r>
            <a:endParaRPr/>
          </a:p>
          <a:p>
            <a:pPr algn="ctr"/>
            <a:r>
              <a:rPr lang="en-US" sz="1900">
                <a:solidFill>
                  <a:srgbClr val="548135"/>
                </a:solidFill>
                <a:latin typeface="Verdana"/>
                <a:ea typeface="Verdana"/>
                <a:cs typeface="Verdana"/>
                <a:sym typeface="Verdana"/>
              </a:rPr>
              <a:t>          computer program to examine the statistics of a large quantity of trials. </a:t>
            </a:r>
            <a:endParaRPr/>
          </a:p>
        </p:txBody>
      </p:sp>
      <p:pic>
        <p:nvPicPr>
          <p:cNvPr id="247" name="Google Shape;247;p11"/>
          <p:cNvPicPr preferRelativeResize="0"/>
          <p:nvPr/>
        </p:nvPicPr>
        <p:blipFill rotWithShape="1">
          <a:blip r:embed="rId4">
            <a:alphaModFix/>
          </a:blip>
          <a:srcRect/>
          <a:stretch/>
        </p:blipFill>
        <p:spPr>
          <a:xfrm>
            <a:off x="2570235" y="1781721"/>
            <a:ext cx="819150" cy="819150"/>
          </a:xfrm>
          <a:prstGeom prst="rect">
            <a:avLst/>
          </a:prstGeom>
          <a:noFill/>
          <a:ln>
            <a:noFill/>
          </a:ln>
        </p:spPr>
      </p:pic>
      <p:sp>
        <p:nvSpPr>
          <p:cNvPr id="14" name="Google Shape;278;g104476d1465_1_17">
            <a:extLst>
              <a:ext uri="{FF2B5EF4-FFF2-40B4-BE49-F238E27FC236}">
                <a16:creationId xmlns:a16="http://schemas.microsoft.com/office/drawing/2014/main" id="{04D79698-23DF-4D7C-93E4-139AF3CA98F6}"/>
              </a:ext>
            </a:extLst>
          </p:cNvPr>
          <p:cNvSpPr/>
          <p:nvPr/>
        </p:nvSpPr>
        <p:spPr>
          <a:xfrm>
            <a:off x="0" y="0"/>
            <a:ext cx="223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pSp>
        <p:nvGrpSpPr>
          <p:cNvPr id="3" name="Group 2">
            <a:extLst>
              <a:ext uri="{FF2B5EF4-FFF2-40B4-BE49-F238E27FC236}">
                <a16:creationId xmlns:a16="http://schemas.microsoft.com/office/drawing/2014/main" id="{D9332328-6F10-4CF9-BADB-102B7C7C28A7}"/>
              </a:ext>
            </a:extLst>
          </p:cNvPr>
          <p:cNvGrpSpPr/>
          <p:nvPr/>
        </p:nvGrpSpPr>
        <p:grpSpPr>
          <a:xfrm>
            <a:off x="1995513" y="3253006"/>
            <a:ext cx="8791586" cy="2601691"/>
            <a:chOff x="650417" y="3074261"/>
            <a:chExt cx="8791586" cy="2601691"/>
          </a:xfrm>
        </p:grpSpPr>
        <p:sp>
          <p:nvSpPr>
            <p:cNvPr id="239" name="Google Shape;239;p11"/>
            <p:cNvSpPr txBox="1"/>
            <p:nvPr/>
          </p:nvSpPr>
          <p:spPr>
            <a:xfrm>
              <a:off x="1124700" y="3620169"/>
              <a:ext cx="8317303" cy="1708120"/>
            </a:xfrm>
            <a:prstGeom prst="rect">
              <a:avLst/>
            </a:prstGeom>
            <a:noFill/>
            <a:ln>
              <a:noFill/>
            </a:ln>
          </p:spPr>
          <p:txBody>
            <a:bodyPr spcFirstLastPara="1" wrap="square" lIns="91425" tIns="45700" rIns="91425" bIns="45700" anchor="t" anchorCtr="0">
              <a:spAutoFit/>
            </a:bodyPr>
            <a:lstStyle/>
            <a:p>
              <a:r>
                <a:rPr lang="en-US" sz="2100" dirty="0">
                  <a:latin typeface="Verdana"/>
                  <a:ea typeface="Verdana"/>
                  <a:cs typeface="Verdana"/>
                  <a:sym typeface="Verdana"/>
                </a:rPr>
                <a:t>As the number of trials in a simulation of a simple</a:t>
              </a:r>
            </a:p>
            <a:p>
              <a:endParaRPr lang="en-US" sz="2100" dirty="0">
                <a:latin typeface="Verdana"/>
                <a:ea typeface="Verdana"/>
                <a:cs typeface="Verdana"/>
                <a:sym typeface="Verdana"/>
              </a:endParaRPr>
            </a:p>
            <a:p>
              <a:r>
                <a:rPr lang="en-US" sz="2100" dirty="0">
                  <a:latin typeface="Verdana"/>
                  <a:ea typeface="Verdana"/>
                  <a:cs typeface="Verdana"/>
                  <a:sym typeface="Verdana"/>
                </a:rPr>
                <a:t>experiment increases, the 			probability </a:t>
              </a:r>
            </a:p>
            <a:p>
              <a:endParaRPr lang="en-US" sz="2100" dirty="0">
                <a:latin typeface="Verdana"/>
                <a:ea typeface="Verdana"/>
                <a:cs typeface="Verdana"/>
                <a:sym typeface="Verdana"/>
              </a:endParaRPr>
            </a:p>
            <a:p>
              <a:r>
                <a:rPr lang="en-US" sz="2100" dirty="0">
                  <a:latin typeface="Verdana"/>
                  <a:ea typeface="Verdana"/>
                  <a:cs typeface="Verdana"/>
                  <a:sym typeface="Verdana"/>
                </a:rPr>
                <a:t>gets</a:t>
              </a:r>
              <a:r>
                <a:rPr lang="en-US" dirty="0">
                  <a:ea typeface="Verdana"/>
                </a:rPr>
                <a:t> 		              </a:t>
              </a:r>
              <a:r>
                <a:rPr lang="en-US" sz="2100" dirty="0">
                  <a:latin typeface="Verdana"/>
                  <a:ea typeface="Verdana"/>
                  <a:cs typeface="Verdana"/>
                  <a:sym typeface="Verdana"/>
                </a:rPr>
                <a:t>the 		    probability </a:t>
              </a:r>
            </a:p>
          </p:txBody>
        </p:sp>
        <p:pic>
          <p:nvPicPr>
            <p:cNvPr id="243" name="Google Shape;243;p11" descr="A picture containing graphical user interface&#10;&#10;Description automatically generated"/>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4226844" y="4825228"/>
              <a:ext cx="1839098" cy="832406"/>
            </a:xfrm>
            <a:prstGeom prst="rect">
              <a:avLst/>
            </a:prstGeom>
            <a:noFill/>
            <a:ln>
              <a:noFill/>
            </a:ln>
          </p:spPr>
        </p:pic>
        <p:pic>
          <p:nvPicPr>
            <p:cNvPr id="244" name="Google Shape;244;p11" descr="Shape&#10;&#10;Description automatically generated with medium confidence"/>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865385" y="4825228"/>
              <a:ext cx="1839098" cy="850724"/>
            </a:xfrm>
            <a:prstGeom prst="rect">
              <a:avLst/>
            </a:prstGeom>
            <a:noFill/>
            <a:ln>
              <a:noFill/>
            </a:ln>
          </p:spPr>
        </p:pic>
        <p:pic>
          <p:nvPicPr>
            <p:cNvPr id="242" name="Google Shape;242;p11" descr="A picture containing graphical user interface&#10;&#10;Description automatically generated"/>
            <p:cNvPicPr preferRelativeResize="0"/>
            <p:nvPr/>
          </p:nvPicPr>
          <p:blipFill rotWithShape="1">
            <a:blip r:embed="rId7" cstate="screen">
              <a:alphaModFix/>
              <a:extLst>
                <a:ext uri="{28A0092B-C50C-407E-A947-70E740481C1C}">
                  <a14:useLocalDpi xmlns:a14="http://schemas.microsoft.com/office/drawing/2010/main"/>
                </a:ext>
              </a:extLst>
            </a:blip>
            <a:srcRect/>
            <a:stretch/>
          </p:blipFill>
          <p:spPr>
            <a:xfrm>
              <a:off x="4790916" y="4076348"/>
              <a:ext cx="1767267" cy="799895"/>
            </a:xfrm>
            <a:prstGeom prst="rect">
              <a:avLst/>
            </a:prstGeom>
            <a:noFill/>
            <a:ln>
              <a:noFill/>
            </a:ln>
          </p:spPr>
        </p:pic>
        <p:sp>
          <p:nvSpPr>
            <p:cNvPr id="2" name="TextBox 1">
              <a:extLst>
                <a:ext uri="{FF2B5EF4-FFF2-40B4-BE49-F238E27FC236}">
                  <a16:creationId xmlns:a16="http://schemas.microsoft.com/office/drawing/2014/main" id="{A1D2ECE4-826E-4EFE-8814-4FB22CE49A0D}"/>
                </a:ext>
              </a:extLst>
            </p:cNvPr>
            <p:cNvSpPr txBox="1"/>
            <p:nvPr/>
          </p:nvSpPr>
          <p:spPr>
            <a:xfrm>
              <a:off x="650417" y="3074261"/>
              <a:ext cx="5415525" cy="415498"/>
            </a:xfrm>
            <a:prstGeom prst="rect">
              <a:avLst/>
            </a:prstGeom>
            <a:noFill/>
          </p:spPr>
          <p:txBody>
            <a:bodyPr wrap="square" rtlCol="0">
              <a:spAutoFit/>
            </a:bodyPr>
            <a:lstStyle/>
            <a:p>
              <a:pPr marL="457200" indent="-457200">
                <a:buFont typeface="+mj-lt"/>
                <a:buAutoNum type="arabicPeriod"/>
              </a:pPr>
              <a:r>
                <a:rPr lang="en-US" sz="2100" dirty="0">
                  <a:latin typeface="Verdana" panose="020B0604030504040204" pitchFamily="34" charset="0"/>
                  <a:ea typeface="Verdana" panose="020B0604030504040204" pitchFamily="34" charset="0"/>
                </a:rPr>
                <a:t>Complete the statement.</a:t>
              </a:r>
            </a:p>
          </p:txBody>
        </p:sp>
      </p:grpSp>
      <p:sp>
        <p:nvSpPr>
          <p:cNvPr id="15" name="Google Shape;125;g104476d1465_1_17"/>
          <p:cNvSpPr txBox="1"/>
          <p:nvPr/>
        </p:nvSpPr>
        <p:spPr>
          <a:xfrm>
            <a:off x="8713708" y="64658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429</a:t>
            </a:r>
            <a:endParaRPr i="1" dirty="0">
              <a:latin typeface="Calibri"/>
              <a:ea typeface="Calibri"/>
              <a:cs typeface="Calibri"/>
              <a:sym typeface="Calibri"/>
            </a:endParaRPr>
          </a:p>
        </p:txBody>
      </p:sp>
      <p:pic>
        <p:nvPicPr>
          <p:cNvPr id="16" name="Google Shape;126;g104476d1465_1_17"/>
          <p:cNvPicPr preferRelativeResize="0"/>
          <p:nvPr/>
        </p:nvPicPr>
        <p:blipFill rotWithShape="1">
          <a:blip r:embed="rId8" cstate="screen">
            <a:alphaModFix/>
            <a:extLst>
              <a:ext uri="{28A0092B-C50C-407E-A947-70E740481C1C}">
                <a14:useLocalDpi xmlns:a14="http://schemas.microsoft.com/office/drawing/2010/main"/>
              </a:ext>
            </a:extLst>
          </a:blip>
          <a:srcRect/>
          <a:stretch/>
        </p:blipFill>
        <p:spPr>
          <a:xfrm>
            <a:off x="11451934" y="62088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5" name="Google Shape;255;p12"/>
          <p:cNvSpPr txBox="1"/>
          <p:nvPr/>
        </p:nvSpPr>
        <p:spPr>
          <a:xfrm>
            <a:off x="1400176" y="374091"/>
            <a:ext cx="9875416" cy="5586104"/>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startAt="2"/>
            </a:pPr>
            <a:r>
              <a:rPr lang="en-US" sz="2100" dirty="0">
                <a:latin typeface="Verdana"/>
                <a:ea typeface="Verdana"/>
                <a:cs typeface="Verdana"/>
                <a:sym typeface="Verdana"/>
              </a:rPr>
              <a:t>Imagine flipping a coin 3 times, and it has come up heads once. The experimental probability of landing on heads after 3 trials is 1/3. Discuss with your partner whether flipping the coin one more time is guaranteed to result in landing on heads so the experimental probability, 2/4, will equal the theoretical probability 1/2. </a:t>
            </a:r>
            <a:endParaRPr dirty="0"/>
          </a:p>
          <a:p>
            <a:endParaRPr sz="2100" dirty="0">
              <a:latin typeface="Verdana"/>
              <a:ea typeface="Verdana"/>
              <a:cs typeface="Verdana"/>
              <a:sym typeface="Verdana"/>
            </a:endParaRPr>
          </a:p>
          <a:p>
            <a:endParaRPr sz="2100" dirty="0">
              <a:latin typeface="Verdana"/>
              <a:ea typeface="Verdana"/>
              <a:cs typeface="Verdana"/>
              <a:sym typeface="Verdana"/>
            </a:endParaRPr>
          </a:p>
          <a:p>
            <a:endParaRPr sz="2100" dirty="0">
              <a:latin typeface="Verdana"/>
              <a:ea typeface="Verdana"/>
              <a:cs typeface="Verdana"/>
              <a:sym typeface="Verdana"/>
            </a:endParaRPr>
          </a:p>
          <a:p>
            <a:endParaRPr sz="2100" dirty="0">
              <a:latin typeface="Verdana"/>
              <a:ea typeface="Verdana"/>
              <a:cs typeface="Verdana"/>
              <a:sym typeface="Verdana"/>
            </a:endParaRPr>
          </a:p>
          <a:p>
            <a:endParaRPr sz="2100" dirty="0">
              <a:latin typeface="Verdana"/>
              <a:ea typeface="Verdana"/>
              <a:cs typeface="Verdana"/>
              <a:sym typeface="Verdana"/>
            </a:endParaRPr>
          </a:p>
          <a:p>
            <a:endParaRPr sz="2100" dirty="0">
              <a:latin typeface="Verdana"/>
              <a:ea typeface="Verdana"/>
              <a:cs typeface="Verdana"/>
              <a:sym typeface="Verdana"/>
            </a:endParaRPr>
          </a:p>
          <a:p>
            <a:endParaRPr sz="2100" dirty="0">
              <a:latin typeface="Verdana"/>
              <a:ea typeface="Verdana"/>
              <a:cs typeface="Verdana"/>
              <a:sym typeface="Verdana"/>
            </a:endParaRPr>
          </a:p>
          <a:p>
            <a:endParaRPr sz="2100" dirty="0">
              <a:latin typeface="Verdana"/>
              <a:ea typeface="Verdana"/>
              <a:cs typeface="Verdana"/>
              <a:sym typeface="Verdana"/>
            </a:endParaRPr>
          </a:p>
          <a:p>
            <a:endParaRPr sz="2100" dirty="0">
              <a:latin typeface="Verdana"/>
              <a:ea typeface="Verdana"/>
              <a:cs typeface="Verdana"/>
              <a:sym typeface="Verdana"/>
            </a:endParaRPr>
          </a:p>
          <a:p>
            <a:endParaRPr sz="2100" dirty="0">
              <a:latin typeface="Verdana"/>
              <a:ea typeface="Verdana"/>
              <a:cs typeface="Verdana"/>
              <a:sym typeface="Verdana"/>
            </a:endParaRPr>
          </a:p>
          <a:p>
            <a:r>
              <a:rPr lang="en-US" sz="2100" dirty="0">
                <a:latin typeface="Verdana"/>
                <a:ea typeface="Verdana"/>
                <a:cs typeface="Verdana"/>
                <a:sym typeface="Verdana"/>
              </a:rPr>
              <a:t>Simulations are useful when it is hard or time consuming to gather enough information to estimate the probability of some event.</a:t>
            </a:r>
            <a:endParaRPr sz="2100" dirty="0">
              <a:latin typeface="Verdana"/>
              <a:ea typeface="Verdana"/>
              <a:cs typeface="Verdana"/>
              <a:sym typeface="Verdana"/>
            </a:endParaRPr>
          </a:p>
        </p:txBody>
      </p:sp>
      <p:sp>
        <p:nvSpPr>
          <p:cNvPr id="257" name="Google Shape;257;p12"/>
          <p:cNvSpPr/>
          <p:nvPr/>
        </p:nvSpPr>
        <p:spPr>
          <a:xfrm>
            <a:off x="2182749" y="2836300"/>
            <a:ext cx="8434200" cy="1952100"/>
          </a:xfrm>
          <a:prstGeom prst="roundRect">
            <a:avLst>
              <a:gd name="adj" fmla="val 16667"/>
            </a:avLst>
          </a:prstGeom>
          <a:solidFill>
            <a:srgbClr val="9BD6E9"/>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1371600"/>
            <a:r>
              <a:rPr lang="en-US" sz="1900">
                <a:solidFill>
                  <a:srgbClr val="0070C0"/>
                </a:solidFill>
                <a:latin typeface="Verdana"/>
                <a:ea typeface="Verdana"/>
                <a:cs typeface="Verdana"/>
                <a:sym typeface="Verdana"/>
              </a:rPr>
              <a:t>When performing simple experiments, the                   experimental probabilities may differ from theoretical probabilities due to random variation. However, as the number of repetitions increases, experimental probabilities will typically better approximate the theoretical probabilities.</a:t>
            </a:r>
            <a:endParaRPr/>
          </a:p>
        </p:txBody>
      </p:sp>
      <p:sp>
        <p:nvSpPr>
          <p:cNvPr id="258" name="Google Shape;258;p12"/>
          <p:cNvSpPr txBox="1"/>
          <p:nvPr/>
        </p:nvSpPr>
        <p:spPr>
          <a:xfrm>
            <a:off x="4476750" y="3292350"/>
            <a:ext cx="5905500" cy="307800"/>
          </a:xfrm>
          <a:prstGeom prst="rect">
            <a:avLst/>
          </a:prstGeom>
          <a:noFill/>
          <a:ln>
            <a:noFill/>
          </a:ln>
        </p:spPr>
        <p:txBody>
          <a:bodyPr spcFirstLastPara="1" wrap="square" lIns="91425" tIns="45700" rIns="91425" bIns="45700" anchor="t" anchorCtr="0">
            <a:spAutoFit/>
          </a:bodyPr>
          <a:lstStyle/>
          <a:p>
            <a:endParaRPr/>
          </a:p>
        </p:txBody>
      </p:sp>
      <p:pic>
        <p:nvPicPr>
          <p:cNvPr id="259" name="Google Shape;259;p12"/>
          <p:cNvPicPr preferRelativeResize="0"/>
          <p:nvPr/>
        </p:nvPicPr>
        <p:blipFill rotWithShape="1">
          <a:blip r:embed="rId3">
            <a:alphaModFix/>
          </a:blip>
          <a:srcRect/>
          <a:stretch/>
        </p:blipFill>
        <p:spPr>
          <a:xfrm>
            <a:off x="2392851" y="3007038"/>
            <a:ext cx="835575" cy="835575"/>
          </a:xfrm>
          <a:prstGeom prst="rect">
            <a:avLst/>
          </a:prstGeom>
          <a:noFill/>
          <a:ln>
            <a:noFill/>
          </a:ln>
        </p:spPr>
      </p:pic>
      <p:sp>
        <p:nvSpPr>
          <p:cNvPr id="9" name="Google Shape;278;g104476d1465_1_17">
            <a:extLst>
              <a:ext uri="{FF2B5EF4-FFF2-40B4-BE49-F238E27FC236}">
                <a16:creationId xmlns:a16="http://schemas.microsoft.com/office/drawing/2014/main" id="{CE39B291-295D-471D-B443-7505E41184B1}"/>
              </a:ext>
            </a:extLst>
          </p:cNvPr>
          <p:cNvSpPr/>
          <p:nvPr/>
        </p:nvSpPr>
        <p:spPr>
          <a:xfrm>
            <a:off x="0" y="0"/>
            <a:ext cx="223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0" name="Google Shape;125;g104476d1465_1_17"/>
          <p:cNvSpPr txBox="1"/>
          <p:nvPr/>
        </p:nvSpPr>
        <p:spPr>
          <a:xfrm>
            <a:off x="8713708" y="64658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429</a:t>
            </a:r>
            <a:endParaRPr i="1" dirty="0">
              <a:latin typeface="Calibri"/>
              <a:ea typeface="Calibri"/>
              <a:cs typeface="Calibri"/>
              <a:sym typeface="Calibri"/>
            </a:endParaRPr>
          </a:p>
        </p:txBody>
      </p:sp>
      <p:pic>
        <p:nvPicPr>
          <p:cNvPr id="11"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51934" y="62088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7" name="Google Shape;267;p13"/>
          <p:cNvSpPr txBox="1"/>
          <p:nvPr/>
        </p:nvSpPr>
        <p:spPr>
          <a:xfrm>
            <a:off x="1214438" y="245806"/>
            <a:ext cx="10158754" cy="5262939"/>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startAt="3"/>
            </a:pPr>
            <a:r>
              <a:rPr lang="en-US" sz="2100" dirty="0">
                <a:latin typeface="Verdana"/>
                <a:ea typeface="Verdana"/>
                <a:cs typeface="Verdana"/>
                <a:sym typeface="Verdana"/>
              </a:rPr>
              <a:t>Consider the situations described in the table.</a:t>
            </a:r>
            <a:endParaRPr dirty="0"/>
          </a:p>
          <a:p>
            <a:endParaRPr sz="2100" dirty="0">
              <a:latin typeface="Verdana"/>
              <a:ea typeface="Verdana"/>
              <a:cs typeface="Verdana"/>
              <a:sym typeface="Verdana"/>
            </a:endParaRPr>
          </a:p>
          <a:p>
            <a:endParaRPr sz="2100" dirty="0">
              <a:latin typeface="Verdana"/>
              <a:ea typeface="Verdana"/>
              <a:cs typeface="Verdana"/>
              <a:sym typeface="Verdana"/>
            </a:endParaRPr>
          </a:p>
          <a:p>
            <a:endParaRPr sz="2100" dirty="0">
              <a:latin typeface="Verdana"/>
              <a:ea typeface="Verdana"/>
              <a:cs typeface="Verdana"/>
              <a:sym typeface="Verdana"/>
            </a:endParaRPr>
          </a:p>
          <a:p>
            <a:endParaRPr sz="2100" dirty="0">
              <a:latin typeface="Verdana"/>
              <a:ea typeface="Verdana"/>
              <a:cs typeface="Verdana"/>
              <a:sym typeface="Verdana"/>
            </a:endParaRPr>
          </a:p>
          <a:p>
            <a:endParaRPr sz="2100" dirty="0">
              <a:latin typeface="Verdana"/>
              <a:ea typeface="Verdana"/>
              <a:cs typeface="Verdana"/>
              <a:sym typeface="Verdana"/>
            </a:endParaRPr>
          </a:p>
          <a:p>
            <a:endParaRPr sz="2100" dirty="0">
              <a:latin typeface="Verdana"/>
              <a:ea typeface="Verdana"/>
              <a:cs typeface="Verdana"/>
              <a:sym typeface="Verdana"/>
            </a:endParaRPr>
          </a:p>
          <a:p>
            <a:endParaRPr sz="2100" dirty="0">
              <a:latin typeface="Verdana"/>
              <a:ea typeface="Verdana"/>
              <a:cs typeface="Verdana"/>
              <a:sym typeface="Verdana"/>
            </a:endParaRPr>
          </a:p>
          <a:p>
            <a:endParaRPr sz="2100" dirty="0">
              <a:latin typeface="Verdana"/>
              <a:ea typeface="Verdana"/>
              <a:cs typeface="Verdana"/>
              <a:sym typeface="Verdana"/>
            </a:endParaRPr>
          </a:p>
          <a:p>
            <a:endParaRPr sz="2100" dirty="0">
              <a:latin typeface="Verdana"/>
              <a:ea typeface="Verdana"/>
              <a:cs typeface="Verdana"/>
              <a:sym typeface="Verdana"/>
            </a:endParaRPr>
          </a:p>
          <a:p>
            <a:endParaRPr sz="2100" dirty="0">
              <a:latin typeface="Verdana"/>
              <a:ea typeface="Verdana"/>
              <a:cs typeface="Verdana"/>
              <a:sym typeface="Verdana"/>
            </a:endParaRPr>
          </a:p>
          <a:p>
            <a:endParaRPr sz="2100" dirty="0">
              <a:latin typeface="Verdana"/>
              <a:ea typeface="Verdana"/>
              <a:cs typeface="Verdana"/>
              <a:sym typeface="Verdana"/>
            </a:endParaRPr>
          </a:p>
          <a:p>
            <a:endParaRPr sz="2100" dirty="0">
              <a:latin typeface="Verdana"/>
              <a:ea typeface="Verdana"/>
              <a:cs typeface="Verdana"/>
              <a:sym typeface="Verdana"/>
            </a:endParaRPr>
          </a:p>
          <a:p>
            <a:endParaRPr sz="2100" dirty="0">
              <a:latin typeface="Verdana"/>
              <a:ea typeface="Verdana"/>
              <a:cs typeface="Verdana"/>
              <a:sym typeface="Verdana"/>
            </a:endParaRPr>
          </a:p>
          <a:p>
            <a:endParaRPr sz="2100" dirty="0">
              <a:latin typeface="Verdana"/>
              <a:ea typeface="Verdana"/>
              <a:cs typeface="Verdana"/>
              <a:sym typeface="Verdana"/>
            </a:endParaRPr>
          </a:p>
          <a:p>
            <a:endParaRPr sz="2100" dirty="0">
              <a:latin typeface="Verdana"/>
              <a:ea typeface="Verdana"/>
              <a:cs typeface="Verdana"/>
              <a:sym typeface="Verdana"/>
            </a:endParaRPr>
          </a:p>
        </p:txBody>
      </p:sp>
      <p:sp>
        <p:nvSpPr>
          <p:cNvPr id="269" name="Google Shape;269;p13"/>
          <p:cNvSpPr txBox="1"/>
          <p:nvPr/>
        </p:nvSpPr>
        <p:spPr>
          <a:xfrm>
            <a:off x="3723968" y="3292319"/>
            <a:ext cx="4635908" cy="307777"/>
          </a:xfrm>
          <a:prstGeom prst="rect">
            <a:avLst/>
          </a:prstGeom>
          <a:noFill/>
          <a:ln>
            <a:noFill/>
          </a:ln>
        </p:spPr>
        <p:txBody>
          <a:bodyPr spcFirstLastPara="1" wrap="square" lIns="91425" tIns="45700" rIns="91425" bIns="45700" anchor="t" anchorCtr="0">
            <a:spAutoFit/>
          </a:bodyPr>
          <a:lstStyle/>
          <a:p>
            <a:endParaRPr/>
          </a:p>
        </p:txBody>
      </p:sp>
      <p:pic>
        <p:nvPicPr>
          <p:cNvPr id="270" name="Google Shape;270;p13" descr="Text, table&#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2926005" y="1120564"/>
            <a:ext cx="6523542" cy="4343509"/>
          </a:xfrm>
          <a:prstGeom prst="rect">
            <a:avLst/>
          </a:prstGeom>
          <a:noFill/>
          <a:ln>
            <a:noFill/>
          </a:ln>
        </p:spPr>
      </p:pic>
      <p:sp>
        <p:nvSpPr>
          <p:cNvPr id="8" name="Google Shape;278;g104476d1465_1_17">
            <a:extLst>
              <a:ext uri="{FF2B5EF4-FFF2-40B4-BE49-F238E27FC236}">
                <a16:creationId xmlns:a16="http://schemas.microsoft.com/office/drawing/2014/main" id="{7A8D13AB-CF66-4B67-AE28-C4DD790314A1}"/>
              </a:ext>
            </a:extLst>
          </p:cNvPr>
          <p:cNvSpPr/>
          <p:nvPr/>
        </p:nvSpPr>
        <p:spPr>
          <a:xfrm>
            <a:off x="0" y="13157"/>
            <a:ext cx="223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 name="TextBox 1">
            <a:extLst>
              <a:ext uri="{FF2B5EF4-FFF2-40B4-BE49-F238E27FC236}">
                <a16:creationId xmlns:a16="http://schemas.microsoft.com/office/drawing/2014/main" id="{6A8470AA-9104-476C-8F92-7AC2266553DA}"/>
              </a:ext>
            </a:extLst>
          </p:cNvPr>
          <p:cNvSpPr txBox="1"/>
          <p:nvPr/>
        </p:nvSpPr>
        <p:spPr>
          <a:xfrm>
            <a:off x="1353760" y="5575132"/>
            <a:ext cx="8110254" cy="954107"/>
          </a:xfrm>
          <a:prstGeom prst="rect">
            <a:avLst/>
          </a:prstGeom>
          <a:noFill/>
        </p:spPr>
        <p:txBody>
          <a:bodyPr wrap="square" rtlCol="0">
            <a:spAutoFit/>
          </a:bodyPr>
          <a:lstStyle/>
          <a:p>
            <a:r>
              <a:rPr lang="en-US" sz="2100" dirty="0">
                <a:latin typeface="Verdana" panose="020B0604030504040204" pitchFamily="34" charset="0"/>
                <a:ea typeface="Verdana" panose="020B0604030504040204" pitchFamily="34" charset="0"/>
                <a:cs typeface="Verdana"/>
                <a:sym typeface="Verdana"/>
              </a:rPr>
              <a:t>Explain which situation could be simulated using the</a:t>
            </a:r>
            <a:r>
              <a:rPr lang="en-US" sz="2100" dirty="0">
                <a:latin typeface="Verdana" panose="020B0604030504040204" pitchFamily="34" charset="0"/>
                <a:ea typeface="Verdana" panose="020B0604030504040204" pitchFamily="34" charset="0"/>
              </a:rPr>
              <a:t> </a:t>
            </a:r>
            <a:r>
              <a:rPr lang="en-US" sz="2100" dirty="0">
                <a:latin typeface="Verdana" panose="020B0604030504040204" pitchFamily="34" charset="0"/>
                <a:ea typeface="Verdana" panose="020B0604030504040204" pitchFamily="34" charset="0"/>
                <a:cs typeface="Verdana"/>
                <a:sym typeface="Verdana"/>
              </a:rPr>
              <a:t>spinner from the Exploration.</a:t>
            </a:r>
            <a:endParaRPr lang="en-US" sz="2100" dirty="0">
              <a:latin typeface="Verdana" panose="020B0604030504040204" pitchFamily="34" charset="0"/>
              <a:ea typeface="Verdana" panose="020B0604030504040204" pitchFamily="34" charset="0"/>
            </a:endParaRPr>
          </a:p>
          <a:p>
            <a:endParaRPr lang="en-US" dirty="0"/>
          </a:p>
        </p:txBody>
      </p:sp>
      <p:sp>
        <p:nvSpPr>
          <p:cNvPr id="9" name="Google Shape;125;g104476d1465_1_17"/>
          <p:cNvSpPr txBox="1"/>
          <p:nvPr/>
        </p:nvSpPr>
        <p:spPr>
          <a:xfrm>
            <a:off x="8713708" y="64658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429</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51934" y="62088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9" name="Google Shape;279;p14"/>
          <p:cNvSpPr txBox="1">
            <a:spLocks noGrp="1"/>
          </p:cNvSpPr>
          <p:nvPr>
            <p:ph type="title" idx="4294967295"/>
          </p:nvPr>
        </p:nvSpPr>
        <p:spPr>
          <a:xfrm>
            <a:off x="5116285" y="2766150"/>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3BEA6"/>
                </a:solidFill>
                <a:latin typeface="Verdana"/>
                <a:ea typeface="Verdana"/>
                <a:cs typeface="Verdana"/>
                <a:sym typeface="Verdana"/>
              </a:rPr>
              <a:t>Try It</a:t>
            </a:r>
            <a:endParaRPr sz="5100" b="1">
              <a:solidFill>
                <a:srgbClr val="33BEA6"/>
              </a:solidFill>
              <a:latin typeface="Verdana"/>
              <a:ea typeface="Verdana"/>
              <a:cs typeface="Verdana"/>
              <a:sym typeface="Verdana"/>
            </a:endParaRPr>
          </a:p>
        </p:txBody>
      </p:sp>
      <p:pic>
        <p:nvPicPr>
          <p:cNvPr id="281" name="Google Shape;281;p14"/>
          <p:cNvPicPr preferRelativeResize="0"/>
          <p:nvPr/>
        </p:nvPicPr>
        <p:blipFill rotWithShape="1">
          <a:blip r:embed="rId3">
            <a:alphaModFix/>
          </a:blip>
          <a:srcRect/>
          <a:stretch/>
        </p:blipFill>
        <p:spPr>
          <a:xfrm>
            <a:off x="4813171" y="2852928"/>
            <a:ext cx="1152144" cy="1152144"/>
          </a:xfrm>
          <a:prstGeom prst="rect">
            <a:avLst/>
          </a:prstGeom>
          <a:noFill/>
          <a:ln>
            <a:noFill/>
          </a:ln>
          <a:effectLst>
            <a:outerShdw blurRad="50800" dist="38100" dir="2700000" algn="tl" rotWithShape="0">
              <a:srgbClr val="000000">
                <a:alpha val="40000"/>
              </a:srgbClr>
            </a:outerShdw>
          </a:effectLst>
        </p:spPr>
      </p:pic>
      <p:sp>
        <p:nvSpPr>
          <p:cNvPr id="7" name="Google Shape;309;g104476d1465_1_39">
            <a:extLst>
              <a:ext uri="{FF2B5EF4-FFF2-40B4-BE49-F238E27FC236}">
                <a16:creationId xmlns:a16="http://schemas.microsoft.com/office/drawing/2014/main" id="{C388EDB3-19D0-46EA-BEF5-875A992CFC9A}"/>
              </a:ext>
            </a:extLst>
          </p:cNvPr>
          <p:cNvSpPr/>
          <p:nvPr/>
        </p:nvSpPr>
        <p:spPr>
          <a:xfrm>
            <a:off x="0" y="-13725"/>
            <a:ext cx="2731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8" name="Google Shape;125;g104476d1465_1_17"/>
          <p:cNvSpPr txBox="1"/>
          <p:nvPr/>
        </p:nvSpPr>
        <p:spPr>
          <a:xfrm>
            <a:off x="8713708" y="64658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430</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51934" y="62088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8" name="Google Shape;288;p15"/>
          <p:cNvSpPr txBox="1"/>
          <p:nvPr/>
        </p:nvSpPr>
        <p:spPr>
          <a:xfrm>
            <a:off x="1462575" y="60326"/>
            <a:ext cx="91959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100" b="1">
                <a:solidFill>
                  <a:srgbClr val="33BEA6"/>
                </a:solidFill>
                <a:latin typeface="Verdana"/>
                <a:ea typeface="Verdana"/>
                <a:cs typeface="Verdana"/>
                <a:sym typeface="Verdana"/>
              </a:rPr>
              <a:t>15.6.4 Try It: Using Simulations to Determine Experimental Probabilities  </a:t>
            </a:r>
            <a:endParaRPr/>
          </a:p>
        </p:txBody>
      </p:sp>
      <p:pic>
        <p:nvPicPr>
          <p:cNvPr id="289" name="Google Shape;289;p15"/>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712767" y="348272"/>
            <a:ext cx="749808" cy="749808"/>
          </a:xfrm>
          <a:prstGeom prst="rect">
            <a:avLst/>
          </a:prstGeom>
          <a:noFill/>
          <a:ln>
            <a:noFill/>
          </a:ln>
          <a:effectLst>
            <a:outerShdw blurRad="50800" dist="38100" dir="2700000" algn="tl" rotWithShape="0">
              <a:srgbClr val="000000">
                <a:alpha val="40000"/>
              </a:srgbClr>
            </a:outerShdw>
          </a:effectLst>
        </p:spPr>
      </p:pic>
      <p:sp>
        <p:nvSpPr>
          <p:cNvPr id="290" name="Google Shape;290;p15"/>
          <p:cNvSpPr txBox="1"/>
          <p:nvPr/>
        </p:nvSpPr>
        <p:spPr>
          <a:xfrm>
            <a:off x="900113" y="1495711"/>
            <a:ext cx="4093385" cy="4093388"/>
          </a:xfrm>
          <a:prstGeom prst="rect">
            <a:avLst/>
          </a:prstGeom>
          <a:noFill/>
          <a:ln>
            <a:noFill/>
          </a:ln>
        </p:spPr>
        <p:txBody>
          <a:bodyPr spcFirstLastPara="1" wrap="square" lIns="91425" tIns="45700" rIns="91425" bIns="45700" anchor="t" anchorCtr="0">
            <a:spAutoFit/>
          </a:bodyPr>
          <a:lstStyle/>
          <a:p>
            <a:r>
              <a:rPr lang="en-US" sz="2000">
                <a:latin typeface="Verdana"/>
                <a:ea typeface="Verdana"/>
                <a:cs typeface="Verdana"/>
                <a:sym typeface="Verdana"/>
              </a:rPr>
              <a:t>1. </a:t>
            </a:r>
            <a:r>
              <a:rPr lang="en-US" sz="2000" dirty="0">
                <a:latin typeface="Verdana"/>
                <a:ea typeface="Verdana"/>
                <a:cs typeface="Verdana"/>
                <a:sym typeface="Verdana"/>
              </a:rPr>
              <a:t>Four situations are described.</a:t>
            </a:r>
            <a:endParaRPr dirty="0"/>
          </a:p>
          <a:p>
            <a:pPr marL="457200" indent="-330200">
              <a:buSzPts val="2000"/>
            </a:pPr>
            <a:endParaRPr sz="2000" dirty="0">
              <a:latin typeface="Verdana"/>
              <a:ea typeface="Verdana"/>
              <a:cs typeface="Verdana"/>
              <a:sym typeface="Verdana"/>
            </a:endParaRPr>
          </a:p>
          <a:p>
            <a:pPr marL="457200" indent="-330200">
              <a:buSzPts val="2000"/>
            </a:pPr>
            <a:endParaRPr sz="2000" dirty="0">
              <a:latin typeface="Verdana"/>
              <a:ea typeface="Verdana"/>
              <a:cs typeface="Verdana"/>
              <a:sym typeface="Verdana"/>
            </a:endParaRPr>
          </a:p>
          <a:p>
            <a:pPr marL="457200" indent="-330200">
              <a:buSzPts val="2000"/>
            </a:pPr>
            <a:endParaRPr sz="2000" dirty="0">
              <a:latin typeface="Verdana"/>
              <a:ea typeface="Verdana"/>
              <a:cs typeface="Verdana"/>
              <a:sym typeface="Verdana"/>
            </a:endParaRPr>
          </a:p>
          <a:p>
            <a:pPr marL="457200" indent="-330200">
              <a:buSzPts val="2000"/>
            </a:pPr>
            <a:endParaRPr sz="2000" dirty="0">
              <a:latin typeface="Verdana"/>
              <a:ea typeface="Verdana"/>
              <a:cs typeface="Verdana"/>
              <a:sym typeface="Verdana"/>
            </a:endParaRPr>
          </a:p>
          <a:p>
            <a:pPr marL="457200" indent="-330200">
              <a:buSzPts val="2000"/>
            </a:pPr>
            <a:endParaRPr sz="2000" dirty="0">
              <a:latin typeface="Verdana"/>
              <a:ea typeface="Verdana"/>
              <a:cs typeface="Verdana"/>
              <a:sym typeface="Verdana"/>
            </a:endParaRPr>
          </a:p>
          <a:p>
            <a:pPr marL="457200" indent="-330200">
              <a:buSzPts val="2000"/>
            </a:pPr>
            <a:endParaRPr sz="2000" dirty="0">
              <a:latin typeface="Verdana"/>
              <a:ea typeface="Verdana"/>
              <a:cs typeface="Verdana"/>
              <a:sym typeface="Verdana"/>
            </a:endParaRPr>
          </a:p>
          <a:p>
            <a:pPr marL="457200" indent="-330200">
              <a:buSzPts val="2000"/>
            </a:pPr>
            <a:endParaRPr sz="2000" dirty="0">
              <a:latin typeface="Verdana"/>
              <a:ea typeface="Verdana"/>
              <a:cs typeface="Verdana"/>
              <a:sym typeface="Verdana"/>
            </a:endParaRPr>
          </a:p>
          <a:p>
            <a:pPr marL="457200" indent="-330200">
              <a:buSzPts val="2000"/>
            </a:pPr>
            <a:endParaRPr sz="2000" dirty="0">
              <a:latin typeface="Verdana"/>
              <a:ea typeface="Verdana"/>
              <a:cs typeface="Verdana"/>
              <a:sym typeface="Verdana"/>
            </a:endParaRPr>
          </a:p>
          <a:p>
            <a:r>
              <a:rPr lang="en-US" sz="2000" dirty="0">
                <a:latin typeface="Verdana"/>
                <a:ea typeface="Verdana"/>
                <a:cs typeface="Verdana"/>
                <a:sym typeface="Verdana"/>
              </a:rPr>
              <a:t>Work with your partner to match each situation to a simulation on the next page</a:t>
            </a:r>
            <a:r>
              <a:rPr lang="en-US" sz="2000" dirty="0"/>
              <a:t>. </a:t>
            </a:r>
            <a:endParaRPr sz="2000" dirty="0">
              <a:latin typeface="Verdana"/>
              <a:ea typeface="Verdana"/>
              <a:cs typeface="Verdana"/>
              <a:sym typeface="Verdana"/>
            </a:endParaRPr>
          </a:p>
        </p:txBody>
      </p:sp>
      <p:pic>
        <p:nvPicPr>
          <p:cNvPr id="292" name="Google Shape;292;p15" descr="Text&#10;&#10;Description automatically generated"/>
          <p:cNvPicPr preferRelativeResize="0"/>
          <p:nvPr/>
        </p:nvPicPr>
        <p:blipFill rotWithShape="1">
          <a:blip r:embed="rId4">
            <a:alphaModFix/>
          </a:blip>
          <a:srcRect/>
          <a:stretch/>
        </p:blipFill>
        <p:spPr>
          <a:xfrm>
            <a:off x="4984956" y="1386026"/>
            <a:ext cx="4996921" cy="5175179"/>
          </a:xfrm>
          <a:prstGeom prst="rect">
            <a:avLst/>
          </a:prstGeom>
          <a:noFill/>
          <a:ln>
            <a:noFill/>
          </a:ln>
        </p:spPr>
      </p:pic>
      <p:sp>
        <p:nvSpPr>
          <p:cNvPr id="9" name="Google Shape;278;g104476d1465_1_17">
            <a:extLst>
              <a:ext uri="{FF2B5EF4-FFF2-40B4-BE49-F238E27FC236}">
                <a16:creationId xmlns:a16="http://schemas.microsoft.com/office/drawing/2014/main" id="{1DCFBD7D-DD83-473E-AFB9-7470D249E4EE}"/>
              </a:ext>
            </a:extLst>
          </p:cNvPr>
          <p:cNvSpPr/>
          <p:nvPr/>
        </p:nvSpPr>
        <p:spPr>
          <a:xfrm>
            <a:off x="0" y="0"/>
            <a:ext cx="223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0" name="Google Shape;125;g104476d1465_1_17"/>
          <p:cNvSpPr txBox="1"/>
          <p:nvPr/>
        </p:nvSpPr>
        <p:spPr>
          <a:xfrm>
            <a:off x="8713708" y="64658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430</a:t>
            </a:r>
            <a:endParaRPr i="1" dirty="0">
              <a:latin typeface="Calibri"/>
              <a:ea typeface="Calibri"/>
              <a:cs typeface="Calibri"/>
              <a:sym typeface="Calibri"/>
            </a:endParaRPr>
          </a:p>
        </p:txBody>
      </p:sp>
      <p:pic>
        <p:nvPicPr>
          <p:cNvPr id="11"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51934" y="62088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pic>
        <p:nvPicPr>
          <p:cNvPr id="301" name="Google Shape;301;p16" descr="Table&#10;&#10;Description automatically generated"/>
          <p:cNvPicPr preferRelativeResize="0"/>
          <p:nvPr/>
        </p:nvPicPr>
        <p:blipFill rotWithShape="1">
          <a:blip r:embed="rId3">
            <a:alphaModFix/>
          </a:blip>
          <a:srcRect/>
          <a:stretch/>
        </p:blipFill>
        <p:spPr>
          <a:xfrm>
            <a:off x="3460679" y="-8225"/>
            <a:ext cx="4822018" cy="6676103"/>
          </a:xfrm>
          <a:prstGeom prst="rect">
            <a:avLst/>
          </a:prstGeom>
          <a:noFill/>
          <a:ln>
            <a:noFill/>
          </a:ln>
        </p:spPr>
      </p:pic>
      <p:sp>
        <p:nvSpPr>
          <p:cNvPr id="7" name="Google Shape;278;g104476d1465_1_17">
            <a:extLst>
              <a:ext uri="{FF2B5EF4-FFF2-40B4-BE49-F238E27FC236}">
                <a16:creationId xmlns:a16="http://schemas.microsoft.com/office/drawing/2014/main" id="{3FAF0245-C292-4FFF-A748-5FA54AF4ED3D}"/>
              </a:ext>
            </a:extLst>
          </p:cNvPr>
          <p:cNvSpPr/>
          <p:nvPr/>
        </p:nvSpPr>
        <p:spPr>
          <a:xfrm>
            <a:off x="0" y="-8225"/>
            <a:ext cx="223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125;g104476d1465_1_17"/>
          <p:cNvSpPr txBox="1"/>
          <p:nvPr/>
        </p:nvSpPr>
        <p:spPr>
          <a:xfrm>
            <a:off x="8713708" y="64658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430</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51934" y="62088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11" name="Google Shape;311;p17"/>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F2A67"/>
                </a:solidFill>
                <a:latin typeface="Verdana"/>
                <a:ea typeface="Verdana"/>
                <a:cs typeface="Verdana"/>
                <a:sym typeface="Verdana"/>
              </a:rPr>
              <a:t>Wrap-Up</a:t>
            </a:r>
            <a:endParaRPr sz="5100" b="1">
              <a:solidFill>
                <a:srgbClr val="3F2A67"/>
              </a:solidFill>
              <a:latin typeface="Verdana"/>
              <a:ea typeface="Verdana"/>
              <a:cs typeface="Verdana"/>
              <a:sym typeface="Verdana"/>
            </a:endParaRPr>
          </a:p>
        </p:txBody>
      </p:sp>
      <p:pic>
        <p:nvPicPr>
          <p:cNvPr id="312" name="Google Shape;312;p17"/>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srgbClr val="000000">
                <a:alpha val="40000"/>
              </a:srgbClr>
            </a:outerShdw>
          </a:effectLst>
        </p:spPr>
      </p:pic>
      <p:sp>
        <p:nvSpPr>
          <p:cNvPr id="7" name="Google Shape;309;g104476d1465_1_39">
            <a:extLst>
              <a:ext uri="{FF2B5EF4-FFF2-40B4-BE49-F238E27FC236}">
                <a16:creationId xmlns:a16="http://schemas.microsoft.com/office/drawing/2014/main" id="{FE84FDBE-9036-4F11-A62D-43FC89CF6391}"/>
              </a:ext>
            </a:extLst>
          </p:cNvPr>
          <p:cNvSpPr/>
          <p:nvPr/>
        </p:nvSpPr>
        <p:spPr>
          <a:xfrm>
            <a:off x="0" y="0"/>
            <a:ext cx="2731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8" name="Google Shape;125;g104476d1465_1_17"/>
          <p:cNvSpPr txBox="1"/>
          <p:nvPr/>
        </p:nvSpPr>
        <p:spPr>
          <a:xfrm>
            <a:off x="8713708" y="64658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431</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51934" y="62088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20" name="Google Shape;320;p18"/>
          <p:cNvSpPr txBox="1"/>
          <p:nvPr/>
        </p:nvSpPr>
        <p:spPr>
          <a:xfrm>
            <a:off x="1420476" y="-72257"/>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a:solidFill>
                  <a:srgbClr val="3F2A67"/>
                </a:solidFill>
                <a:latin typeface="Verdana"/>
                <a:ea typeface="Verdana"/>
                <a:cs typeface="Verdana"/>
                <a:sym typeface="Verdana"/>
              </a:rPr>
              <a:t>15.6.5 Wrap-Up: Reflections</a:t>
            </a:r>
            <a:endParaRPr/>
          </a:p>
        </p:txBody>
      </p:sp>
      <p:pic>
        <p:nvPicPr>
          <p:cNvPr id="321" name="Google Shape;321;p18"/>
          <p:cNvPicPr preferRelativeResize="0"/>
          <p:nvPr/>
        </p:nvPicPr>
        <p:blipFill rotWithShape="1">
          <a:blip r:embed="rId3">
            <a:alphaModFix/>
          </a:blip>
          <a:srcRect/>
          <a:stretch/>
        </p:blipFill>
        <p:spPr>
          <a:xfrm>
            <a:off x="673176" y="216500"/>
            <a:ext cx="747300" cy="747300"/>
          </a:xfrm>
          <a:prstGeom prst="rect">
            <a:avLst/>
          </a:prstGeom>
          <a:noFill/>
          <a:ln>
            <a:noFill/>
          </a:ln>
        </p:spPr>
      </p:pic>
      <p:sp>
        <p:nvSpPr>
          <p:cNvPr id="322" name="Google Shape;322;p18"/>
          <p:cNvSpPr txBox="1"/>
          <p:nvPr/>
        </p:nvSpPr>
        <p:spPr>
          <a:xfrm>
            <a:off x="1128712" y="1120555"/>
            <a:ext cx="10323221" cy="5632271"/>
          </a:xfrm>
          <a:prstGeom prst="rect">
            <a:avLst/>
          </a:prstGeom>
          <a:noFill/>
          <a:ln>
            <a:noFill/>
          </a:ln>
        </p:spPr>
        <p:txBody>
          <a:bodyPr spcFirstLastPara="1" wrap="square" lIns="91425" tIns="45700" rIns="91425" bIns="45700" anchor="t" anchorCtr="0">
            <a:spAutoFit/>
          </a:bodyPr>
          <a:lstStyle/>
          <a:p>
            <a:pPr marL="457200" indent="-457200">
              <a:buSzPts val="2000"/>
              <a:buFont typeface="Arial"/>
              <a:buAutoNum type="arabicPeriod"/>
            </a:pPr>
            <a:r>
              <a:rPr lang="en-US" sz="2000" dirty="0">
                <a:latin typeface="Verdana"/>
                <a:ea typeface="Verdana"/>
                <a:cs typeface="Verdana"/>
                <a:sym typeface="Verdana"/>
              </a:rPr>
              <a:t>What is something that is now “squared away” in your mind about simulating the probability of events?</a:t>
            </a:r>
            <a:endParaRPr dirty="0"/>
          </a:p>
          <a:p>
            <a:pPr marL="457200" indent="-457200">
              <a:buSzPts val="2000"/>
              <a:buFont typeface="Arial"/>
              <a:buAutoNum type="arabicPeriod"/>
            </a:pPr>
            <a:endParaRPr lang="en-US" sz="2000" dirty="0">
              <a:latin typeface="Verdana"/>
              <a:ea typeface="Verdana"/>
              <a:cs typeface="Verdana"/>
              <a:sym typeface="Verdana"/>
            </a:endParaRPr>
          </a:p>
          <a:p>
            <a:pPr marL="457200" indent="-457200">
              <a:buSzPts val="2000"/>
              <a:buFont typeface="Arial"/>
              <a:buAutoNum type="arabicPeriod"/>
            </a:pPr>
            <a:endParaRPr lang="en-US" sz="2000" dirty="0">
              <a:latin typeface="Verdana"/>
              <a:ea typeface="Verdana"/>
              <a:cs typeface="Verdana"/>
              <a:sym typeface="Verdana"/>
            </a:endParaRPr>
          </a:p>
          <a:p>
            <a:pPr marL="457200" indent="-457200">
              <a:buSzPts val="2000"/>
              <a:buFont typeface="Arial"/>
              <a:buAutoNum type="arabicPeriod"/>
            </a:pPr>
            <a:endParaRPr lang="en-US" sz="2000" dirty="0">
              <a:latin typeface="Verdana"/>
              <a:ea typeface="Verdana"/>
              <a:cs typeface="Verdana"/>
              <a:sym typeface="Verdana"/>
            </a:endParaRPr>
          </a:p>
          <a:p>
            <a:pPr marL="457200" indent="-457200">
              <a:buSzPts val="2000"/>
              <a:buFont typeface="Arial"/>
              <a:buAutoNum type="arabicPeriod"/>
            </a:pPr>
            <a:endParaRPr lang="en-US" sz="2000" dirty="0">
              <a:latin typeface="Verdana"/>
              <a:ea typeface="Verdana"/>
              <a:cs typeface="Verdana"/>
              <a:sym typeface="Verdana"/>
            </a:endParaRPr>
          </a:p>
          <a:p>
            <a:pPr marL="457200" indent="-457200">
              <a:buSzPts val="2000"/>
              <a:buFont typeface="Arial"/>
              <a:buAutoNum type="arabicPeriod"/>
            </a:pPr>
            <a:r>
              <a:rPr lang="en-US" sz="2000" dirty="0">
                <a:latin typeface="Verdana"/>
                <a:ea typeface="Verdana"/>
                <a:cs typeface="Verdana"/>
                <a:sym typeface="Verdana"/>
              </a:rPr>
              <a:t>What are three “points” that are important about simulating the probability of events? </a:t>
            </a:r>
            <a:endParaRPr sz="2000" dirty="0">
              <a:latin typeface="Verdana"/>
              <a:ea typeface="Verdana"/>
              <a:cs typeface="Verdana"/>
              <a:sym typeface="Verdana"/>
            </a:endParaRPr>
          </a:p>
          <a:p>
            <a:pPr marL="457200" indent="-457200">
              <a:buSzPts val="2000"/>
              <a:buFont typeface="Arial"/>
              <a:buAutoNum type="arabicPeriod"/>
            </a:pPr>
            <a:endParaRPr lang="en-US" sz="2000" dirty="0">
              <a:latin typeface="Verdana"/>
              <a:ea typeface="Verdana"/>
              <a:cs typeface="Verdana"/>
              <a:sym typeface="Verdana"/>
            </a:endParaRPr>
          </a:p>
          <a:p>
            <a:pPr marL="457200" indent="-457200">
              <a:buSzPts val="2000"/>
              <a:buFont typeface="Arial"/>
              <a:buAutoNum type="arabicPeriod"/>
            </a:pPr>
            <a:endParaRPr lang="en-US" sz="2000" dirty="0">
              <a:latin typeface="Verdana"/>
              <a:ea typeface="Verdana"/>
              <a:cs typeface="Verdana"/>
              <a:sym typeface="Verdana"/>
            </a:endParaRPr>
          </a:p>
          <a:p>
            <a:pPr marL="457200" indent="-457200">
              <a:buSzPts val="2000"/>
              <a:buFont typeface="Arial"/>
              <a:buAutoNum type="arabicPeriod"/>
            </a:pPr>
            <a:endParaRPr lang="en-US" sz="2000" dirty="0">
              <a:latin typeface="Verdana"/>
              <a:ea typeface="Verdana"/>
              <a:cs typeface="Verdana"/>
              <a:sym typeface="Verdana"/>
            </a:endParaRPr>
          </a:p>
          <a:p>
            <a:pPr marL="457200" indent="-457200">
              <a:buSzPts val="2000"/>
              <a:buFont typeface="Arial"/>
              <a:buAutoNum type="arabicPeriod"/>
            </a:pPr>
            <a:endParaRPr lang="en-US" sz="2000" dirty="0">
              <a:latin typeface="Verdana"/>
              <a:ea typeface="Verdana"/>
              <a:cs typeface="Verdana"/>
              <a:sym typeface="Verdana"/>
            </a:endParaRPr>
          </a:p>
          <a:p>
            <a:pPr marL="457200" indent="-457200">
              <a:buSzPts val="2000"/>
              <a:buFont typeface="Arial"/>
              <a:buAutoNum type="arabicPeriod"/>
            </a:pPr>
            <a:r>
              <a:rPr lang="en-US" sz="2000" dirty="0">
                <a:latin typeface="Verdana"/>
                <a:ea typeface="Verdana"/>
                <a:cs typeface="Verdana"/>
                <a:sym typeface="Verdana"/>
              </a:rPr>
              <a:t>What is something that is still “circling” your brain</a:t>
            </a:r>
            <a:r>
              <a:rPr lang="en-US" dirty="0"/>
              <a:t> </a:t>
            </a:r>
            <a:r>
              <a:rPr lang="en-US" sz="2000" dirty="0">
                <a:latin typeface="Verdana"/>
                <a:ea typeface="Verdana"/>
                <a:cs typeface="Verdana"/>
                <a:sym typeface="Verdana"/>
              </a:rPr>
              <a:t>about simulating the probability of events? </a:t>
            </a:r>
            <a:endParaRPr dirty="0"/>
          </a:p>
          <a:p>
            <a:pPr marL="457200" indent="-330200">
              <a:buSzPts val="2000"/>
            </a:pPr>
            <a:endParaRPr sz="2000" dirty="0"/>
          </a:p>
          <a:p>
            <a:pPr marL="457200" indent="-330200">
              <a:buSzPts val="2000"/>
            </a:pPr>
            <a:endParaRPr sz="2000" dirty="0"/>
          </a:p>
          <a:p>
            <a:pPr marL="457200" indent="-330200">
              <a:buSzPts val="2000"/>
            </a:pPr>
            <a:endParaRPr sz="2000" dirty="0"/>
          </a:p>
          <a:p>
            <a:pPr marL="457200" indent="-330200">
              <a:buSzPts val="2000"/>
            </a:pPr>
            <a:endParaRPr sz="2000" dirty="0"/>
          </a:p>
        </p:txBody>
      </p:sp>
      <p:pic>
        <p:nvPicPr>
          <p:cNvPr id="324" name="Google Shape;324;p18" descr="Shape, square&#10;&#10;Description automatically generated"/>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2693000" y="1783848"/>
            <a:ext cx="1252447" cy="1132179"/>
          </a:xfrm>
          <a:prstGeom prst="rect">
            <a:avLst/>
          </a:prstGeom>
          <a:noFill/>
          <a:ln>
            <a:noFill/>
          </a:ln>
        </p:spPr>
      </p:pic>
      <p:pic>
        <p:nvPicPr>
          <p:cNvPr id="325" name="Google Shape;325;p18" descr="Shape&#10;&#10;Description automatically generated"/>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2602001" y="3650613"/>
            <a:ext cx="1434043" cy="1015028"/>
          </a:xfrm>
          <a:prstGeom prst="rect">
            <a:avLst/>
          </a:prstGeom>
          <a:noFill/>
          <a:ln>
            <a:noFill/>
          </a:ln>
        </p:spPr>
      </p:pic>
      <p:pic>
        <p:nvPicPr>
          <p:cNvPr id="326" name="Google Shape;326;p18" descr="Shape, circle&#10;&#10;Description automatically generated"/>
          <p:cNvPicPr preferRelativeResize="0"/>
          <p:nvPr/>
        </p:nvPicPr>
        <p:blipFill rotWithShape="1">
          <a:blip r:embed="rId6" cstate="screen">
            <a:alphaModFix/>
            <a:extLst>
              <a:ext uri="{BEBA8EAE-BF5A-486C-A8C5-ECC9F3942E4B}">
                <a14:imgProps xmlns:a14="http://schemas.microsoft.com/office/drawing/2010/main">
                  <a14:imgLayer r:embed="rId7">
                    <a14:imgEffect>
                      <a14:backgroundRemoval t="6340" b="89914" l="9936" r="89744">
                        <a14:foregroundMark x1="37821" y1="33718" x2="37821" y2="33718"/>
                        <a14:foregroundMark x1="44872" y1="25072" x2="44872" y2="25072"/>
                        <a14:foregroundMark x1="39103" y1="21902" x2="34936" y2="21326"/>
                        <a14:foregroundMark x1="31410" y1="23343" x2="30769" y2="27089"/>
                        <a14:foregroundMark x1="30769" y1="29971" x2="55128" y2="33718"/>
                        <a14:foregroundMark x1="62179" y1="18732" x2="51923" y2="48415"/>
                        <a14:foregroundMark x1="51923" y1="48415" x2="55128" y2="31988"/>
                        <a14:foregroundMark x1="41346" y1="7493" x2="9615" y2="23055"/>
                        <a14:foregroundMark x1="9615" y1="23055" x2="16667" y2="62248"/>
                        <a14:foregroundMark x1="16667" y1="62248" x2="50962" y2="74928"/>
                        <a14:foregroundMark x1="50962" y1="74928" x2="85897" y2="42075"/>
                        <a14:foregroundMark x1="85897" y1="42075" x2="80027" y2="17979"/>
                        <a14:foregroundMark x1="72525" y1="10995" x2="38462" y2="6340"/>
                        <a14:foregroundMark x1="75642" y1="11422" x2="75009" y2="11335"/>
                        <a14:foregroundMark x1="77505" y1="11676" x2="76095" y2="11483"/>
                        <a14:foregroundMark x1="28205" y1="38905" x2="44872" y2="43804"/>
                        <a14:foregroundMark x1="46154" y1="48127" x2="20513" y2="33718"/>
                        <a14:foregroundMark x1="20513" y1="23919" x2="31731" y2="55331"/>
                        <a14:foregroundMark x1="31731" y1="55331" x2="30769" y2="59366"/>
                        <a14:foregroundMark x1="45513" y1="59942" x2="64744" y2="48703"/>
                        <a14:foregroundMark x1="68269" y1="33141" x2="71795" y2="23343"/>
                        <a14:backgroundMark x1="75962" y1="13256" x2="80128" y2="14986"/>
                        <a14:backgroundMark x1="75962" y1="12680" x2="73718" y2="12680"/>
                        <a14:backgroundMark x1="76603" y1="12680" x2="75321" y2="10663"/>
                        <a14:backgroundMark x1="77244" y1="13256" x2="81410" y2="17003"/>
                      </a14:backgroundRemoval>
                    </a14:imgEffect>
                  </a14:imgLayer>
                </a14:imgProps>
              </a:ext>
              <a:ext uri="{28A0092B-C50C-407E-A947-70E740481C1C}">
                <a14:useLocalDpi xmlns:a14="http://schemas.microsoft.com/office/drawing/2010/main"/>
              </a:ext>
            </a:extLst>
          </a:blip>
          <a:srcRect/>
          <a:stretch/>
        </p:blipFill>
        <p:spPr>
          <a:xfrm>
            <a:off x="2602001" y="5478213"/>
            <a:ext cx="1434043" cy="1594913"/>
          </a:xfrm>
          <a:prstGeom prst="rect">
            <a:avLst/>
          </a:prstGeom>
          <a:noFill/>
          <a:ln>
            <a:noFill/>
          </a:ln>
        </p:spPr>
      </p:pic>
      <p:sp>
        <p:nvSpPr>
          <p:cNvPr id="11" name="Google Shape;278;g104476d1465_1_17">
            <a:extLst>
              <a:ext uri="{FF2B5EF4-FFF2-40B4-BE49-F238E27FC236}">
                <a16:creationId xmlns:a16="http://schemas.microsoft.com/office/drawing/2014/main" id="{E7BEB8A8-56BB-440E-8C08-D759FA83FD4D}"/>
              </a:ext>
            </a:extLst>
          </p:cNvPr>
          <p:cNvSpPr/>
          <p:nvPr/>
        </p:nvSpPr>
        <p:spPr>
          <a:xfrm>
            <a:off x="0" y="-8100"/>
            <a:ext cx="223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2" name="Google Shape;125;g104476d1465_1_17"/>
          <p:cNvSpPr txBox="1"/>
          <p:nvPr/>
        </p:nvSpPr>
        <p:spPr>
          <a:xfrm>
            <a:off x="8713708" y="64658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431</a:t>
            </a:r>
            <a:endParaRPr i="1" dirty="0">
              <a:latin typeface="Calibri"/>
              <a:ea typeface="Calibri"/>
              <a:cs typeface="Calibri"/>
              <a:sym typeface="Calibri"/>
            </a:endParaRPr>
          </a:p>
        </p:txBody>
      </p:sp>
      <p:pic>
        <p:nvPicPr>
          <p:cNvPr id="13" name="Google Shape;126;g104476d1465_1_17"/>
          <p:cNvPicPr preferRelativeResize="0"/>
          <p:nvPr/>
        </p:nvPicPr>
        <p:blipFill rotWithShape="1">
          <a:blip r:embed="rId8" cstate="screen">
            <a:alphaModFix/>
            <a:extLst>
              <a:ext uri="{28A0092B-C50C-407E-A947-70E740481C1C}">
                <a14:useLocalDpi xmlns:a14="http://schemas.microsoft.com/office/drawing/2010/main"/>
              </a:ext>
            </a:extLst>
          </a:blip>
          <a:srcRect/>
          <a:stretch/>
        </p:blipFill>
        <p:spPr>
          <a:xfrm>
            <a:off x="11451934" y="62088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TotalTime>
  <Words>814</Words>
  <Application>Microsoft Office PowerPoint</Application>
  <PresentationFormat>Widescreen</PresentationFormat>
  <Paragraphs>157</Paragraphs>
  <Slides>20</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Arial Black</vt:lpstr>
      <vt:lpstr>Calibri</vt:lpstr>
      <vt:lpstr>Verdana</vt:lpstr>
      <vt:lpstr>1_Office Theme</vt:lpstr>
      <vt:lpstr>6th Grade Accelerated Math  Unit 15, Lesson 6  Simulating Small and Large Numbers of Trials  Volume 2, pg. 426  </vt:lpstr>
      <vt:lpstr>Benchmark</vt:lpstr>
      <vt:lpstr>PowerPoint Presentation</vt:lpstr>
      <vt:lpstr>Warm-Up</vt:lpstr>
      <vt:lpstr>PowerPoint Presentation</vt:lpstr>
      <vt:lpstr>Exploration</vt:lpstr>
      <vt:lpstr>PowerPoint Presentation</vt:lpstr>
      <vt:lpstr>PowerPoint Presentation</vt:lpstr>
      <vt:lpstr>PowerPoint Presentation</vt:lpstr>
      <vt:lpstr>PowerPoint Presentation</vt:lpstr>
      <vt:lpstr>PowerPoint Presentation</vt:lpstr>
      <vt:lpstr>Bring It Together</vt:lpstr>
      <vt:lpstr>PowerPoint Presentation</vt:lpstr>
      <vt:lpstr>PowerPoint Presentation</vt:lpstr>
      <vt:lpstr>PowerPoint Presentation</vt:lpstr>
      <vt:lpstr>Try It</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6th Grade Accelerated Math  Unit 15, Lesson 6  Simulating Small and Large Numbers of Trials  Volume 2, pg. 426  </dc:title>
  <dc:creator>Karen McKenzie</dc:creator>
  <cp:lastModifiedBy>Cassie O'Connor</cp:lastModifiedBy>
  <cp:revision>3</cp:revision>
  <dcterms:created xsi:type="dcterms:W3CDTF">2015-03-17T18:51:18Z</dcterms:created>
  <dcterms:modified xsi:type="dcterms:W3CDTF">2022-07-02T05:12:45Z</dcterms:modified>
</cp:coreProperties>
</file>