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85" r:id="rId4"/>
    <p:sldId id="286" r:id="rId5"/>
    <p:sldId id="261" r:id="rId6"/>
    <p:sldId id="287" r:id="rId7"/>
    <p:sldId id="326" r:id="rId8"/>
    <p:sldId id="327" r:id="rId9"/>
    <p:sldId id="317" r:id="rId10"/>
    <p:sldId id="318" r:id="rId11"/>
    <p:sldId id="334" r:id="rId12"/>
    <p:sldId id="348" r:id="rId13"/>
    <p:sldId id="349" r:id="rId14"/>
    <p:sldId id="350" r:id="rId15"/>
    <p:sldId id="351" r:id="rId16"/>
    <p:sldId id="342" r:id="rId17"/>
    <p:sldId id="343" r:id="rId18"/>
    <p:sldId id="344" r:id="rId19"/>
    <p:sldId id="352" r:id="rId20"/>
    <p:sldId id="354" r:id="rId21"/>
    <p:sldId id="353" r:id="rId22"/>
    <p:sldId id="345" r:id="rId23"/>
    <p:sldId id="346" r:id="rId24"/>
    <p:sldId id="347" r:id="rId25"/>
    <p:sldId id="355" r:id="rId26"/>
    <p:sldId id="356" r:id="rId27"/>
    <p:sldId id="357" r:id="rId28"/>
    <p:sldId id="358" r:id="rId29"/>
    <p:sldId id="359" r:id="rId30"/>
    <p:sldId id="306" r:id="rId31"/>
    <p:sldId id="307"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63"/>
    <p:restoredTop sz="94712"/>
  </p:normalViewPr>
  <p:slideViewPr>
    <p:cSldViewPr snapToGrid="0">
      <p:cViewPr varScale="1">
        <p:scale>
          <a:sx n="79" d="100"/>
          <a:sy n="79" d="100"/>
        </p:scale>
        <p:origin x="100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551410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60758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239680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075844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032776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612444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376044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5509619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581057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232843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003746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602657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2125485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7787290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303266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9729790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7240394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870951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6314557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0434584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3468736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0.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0.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 </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Deriving Area Formulas for Trapezoids, Parallelograms, and Rhombi</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314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22471" y="10089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98971" y="33667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22471" y="1600200"/>
            <a:ext cx="914705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MA.7.GR.1.1</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Apply formulas to find the areas of trapezoids, parallelograms, and rhombi</a:t>
            </a:r>
            <a:r>
              <a:rPr lang="en-US" sz="3600" dirty="0"/>
              <a:t>.</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770223" y="360424"/>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94873" y="117791"/>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517523" y="1596596"/>
            <a:ext cx="963689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314</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57417" y="-8226"/>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575255" y="280974"/>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91294" y="1600200"/>
            <a:ext cx="900941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2800" dirty="0">
                <a:latin typeface="Verdana" panose="020B0604030504040204" pitchFamily="34" charset="0"/>
                <a:ea typeface="Verdana" panose="020B0604030504040204" pitchFamily="34" charset="0"/>
                <a:cs typeface="Verdana" panose="020B0604030504040204" pitchFamily="34" charset="0"/>
              </a:rPr>
              <a:t>I can use the formulas for the area of triangles and rectangles to derive formulas for the area of trapezoids, parallelograms, and rhombi.</a:t>
            </a:r>
          </a:p>
          <a:p>
            <a:pPr marL="457200" indent="-450850">
              <a:buClr>
                <a:srgbClr val="434343"/>
              </a:buClr>
              <a:buSzPts val="3500"/>
              <a:buFont typeface="Verdana"/>
              <a:buChar char="❏"/>
            </a:pPr>
            <a:endParaRPr lang="en-US" sz="3500" dirty="0">
              <a:solidFill>
                <a:schemeClr val="tx1"/>
              </a:solidFill>
              <a:latin typeface="Verdana"/>
              <a:ea typeface="Verdana"/>
              <a:cs typeface="Verdana"/>
              <a:sym typeface="Verdana"/>
            </a:endParaRPr>
          </a:p>
        </p:txBody>
      </p:sp>
      <p:sp>
        <p:nvSpPr>
          <p:cNvPr id="9"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314</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5431" y="-11162"/>
            <a:ext cx="98946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7.4.1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08132" y="209123"/>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235034" y="1386026"/>
            <a:ext cx="9152550"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Two figures are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these two figures? </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wonder about the figures?</a:t>
            </a:r>
          </a:p>
        </p:txBody>
      </p:sp>
      <p:sp>
        <p:nvSpPr>
          <p:cNvPr id="9" name="Google Shape;278;g104476d1465_1_17">
            <a:extLst>
              <a:ext uri="{FF2B5EF4-FFF2-40B4-BE49-F238E27FC236}">
                <a16:creationId xmlns:a16="http://schemas.microsoft.com/office/drawing/2014/main" id="{F1992A8F-F621-054D-B71E-96605FF7377D}"/>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a:extLst>
              <a:ext uri="{FF2B5EF4-FFF2-40B4-BE49-F238E27FC236}">
                <a16:creationId xmlns:a16="http://schemas.microsoft.com/office/drawing/2014/main" id="{EAEF3020-C7E5-F54E-9D60-EB39131E6A96}"/>
              </a:ext>
            </a:extLst>
          </p:cNvPr>
          <p:cNvPicPr>
            <a:picLocks noChangeAspect="1"/>
          </p:cNvPicPr>
          <p:nvPr/>
        </p:nvPicPr>
        <p:blipFill>
          <a:blip r:embed="rId4"/>
          <a:stretch>
            <a:fillRect/>
          </a:stretch>
        </p:blipFill>
        <p:spPr>
          <a:xfrm>
            <a:off x="5521234" y="1531699"/>
            <a:ext cx="5017916" cy="1557027"/>
          </a:xfrm>
          <a:prstGeom prst="rect">
            <a:avLst/>
          </a:prstGeom>
        </p:spPr>
      </p:pic>
      <p:sp>
        <p:nvSpPr>
          <p:cNvPr id="11"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315</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5671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7419"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7.4.2 Refresher: Decomposing to Find the Area of a Triangle</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60448" y="21479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DC51FF2-AD43-3B4B-B9DE-330920D33388}"/>
              </a:ext>
            </a:extLst>
          </p:cNvPr>
          <p:cNvSpPr txBox="1"/>
          <p:nvPr/>
        </p:nvSpPr>
        <p:spPr>
          <a:xfrm>
            <a:off x="1317420" y="1273337"/>
            <a:ext cx="3838056"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Figures can be decomposed into smaller pieces that are then rearranged and composed into other shapes. Decomposing is useful when finding the area of a figure.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1. Complete the table. </a:t>
            </a:r>
          </a:p>
        </p:txBody>
      </p:sp>
      <p:sp>
        <p:nvSpPr>
          <p:cNvPr id="8" name="Google Shape;278;g104476d1465_1_17">
            <a:extLst>
              <a:ext uri="{FF2B5EF4-FFF2-40B4-BE49-F238E27FC236}">
                <a16:creationId xmlns:a16="http://schemas.microsoft.com/office/drawing/2014/main" id="{F64BCDC4-6D1D-BC4E-B429-49D405DF49E1}"/>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2D542B4B-4CD0-2441-AA60-33D5F2B55543}"/>
              </a:ext>
            </a:extLst>
          </p:cNvPr>
          <p:cNvPicPr>
            <a:picLocks noChangeAspect="1"/>
          </p:cNvPicPr>
          <p:nvPr/>
        </p:nvPicPr>
        <p:blipFill>
          <a:blip r:embed="rId4"/>
          <a:stretch>
            <a:fillRect/>
          </a:stretch>
        </p:blipFill>
        <p:spPr>
          <a:xfrm>
            <a:off x="5491500" y="1111720"/>
            <a:ext cx="4457250" cy="5389001"/>
          </a:xfrm>
          <a:prstGeom prst="rect">
            <a:avLst/>
          </a:prstGeom>
        </p:spPr>
      </p:pic>
      <p:sp>
        <p:nvSpPr>
          <p:cNvPr id="12"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315</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77577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16111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4178" y="-193"/>
            <a:ext cx="95542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7.4.3 Activity: Deriving the Formula for the Area of a Parallelogram</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4370" y="27317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Google Shape;278;g104476d1465_1_17">
            <a:extLst>
              <a:ext uri="{FF2B5EF4-FFF2-40B4-BE49-F238E27FC236}">
                <a16:creationId xmlns:a16="http://schemas.microsoft.com/office/drawing/2014/main" id="{4E335EDC-9A7C-E240-A274-C7457343831F}"/>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a:extLst>
              <a:ext uri="{FF2B5EF4-FFF2-40B4-BE49-F238E27FC236}">
                <a16:creationId xmlns:a16="http://schemas.microsoft.com/office/drawing/2014/main" id="{09BB015C-8380-7644-824F-136BF8378DB1}"/>
              </a:ext>
            </a:extLst>
          </p:cNvPr>
          <p:cNvPicPr>
            <a:picLocks noChangeAspect="1"/>
          </p:cNvPicPr>
          <p:nvPr/>
        </p:nvPicPr>
        <p:blipFill rotWithShape="1">
          <a:blip r:embed="rId4"/>
          <a:srcRect l="348" t="7018" r="591" b="1853"/>
          <a:stretch/>
        </p:blipFill>
        <p:spPr>
          <a:xfrm>
            <a:off x="2590112" y="1590642"/>
            <a:ext cx="6705600" cy="879567"/>
          </a:xfrm>
          <a:prstGeom prst="rect">
            <a:avLst/>
          </a:prstGeom>
          <a:ln>
            <a:noFill/>
          </a:ln>
          <a:effectLst>
            <a:outerShdw blurRad="50800" dist="50800" dir="5400000" sx="99419" sy="99419" algn="ctr" rotWithShape="0">
              <a:srgbClr val="000000">
                <a:alpha val="43137"/>
              </a:srgbClr>
            </a:outerShdw>
          </a:effectLst>
        </p:spPr>
      </p:pic>
      <p:sp>
        <p:nvSpPr>
          <p:cNvPr id="4" name="TextBox 3">
            <a:extLst>
              <a:ext uri="{FF2B5EF4-FFF2-40B4-BE49-F238E27FC236}">
                <a16:creationId xmlns:a16="http://schemas.microsoft.com/office/drawing/2014/main" id="{9DA0CCA2-5437-2141-8B9A-59B6F50A2244}"/>
              </a:ext>
            </a:extLst>
          </p:cNvPr>
          <p:cNvSpPr txBox="1"/>
          <p:nvPr/>
        </p:nvSpPr>
        <p:spPr>
          <a:xfrm>
            <a:off x="1258785" y="2743375"/>
            <a:ext cx="9368258"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parallelogram is a type of quadrilateral. Not only does a parallelogram have four sides and four vertices, but its opposite sides are also parallel. </a:t>
            </a:r>
          </a:p>
        </p:txBody>
      </p:sp>
      <p:pic>
        <p:nvPicPr>
          <p:cNvPr id="5" name="Picture 4">
            <a:extLst>
              <a:ext uri="{FF2B5EF4-FFF2-40B4-BE49-F238E27FC236}">
                <a16:creationId xmlns:a16="http://schemas.microsoft.com/office/drawing/2014/main" id="{433C1CCF-CE14-C047-9406-A045D0C18BB7}"/>
              </a:ext>
            </a:extLst>
          </p:cNvPr>
          <p:cNvPicPr>
            <a:picLocks noChangeAspect="1"/>
          </p:cNvPicPr>
          <p:nvPr/>
        </p:nvPicPr>
        <p:blipFill rotWithShape="1">
          <a:blip r:embed="rId5"/>
          <a:srcRect l="189" t="4200" r="1222"/>
          <a:stretch/>
        </p:blipFill>
        <p:spPr>
          <a:xfrm>
            <a:off x="2590112" y="4232366"/>
            <a:ext cx="6635950" cy="875990"/>
          </a:xfrm>
          <a:prstGeom prst="rect">
            <a:avLst/>
          </a:prstGeom>
          <a:effectLst>
            <a:outerShdw blurRad="50800" dist="50800" dir="5400000" sx="100430" sy="100430" algn="ctr" rotWithShape="0">
              <a:srgbClr val="000000">
                <a:alpha val="43137"/>
              </a:srgbClr>
            </a:outerShdw>
            <a:softEdge rad="6350"/>
          </a:effectLst>
        </p:spPr>
      </p:pic>
      <p:sp>
        <p:nvSpPr>
          <p:cNvPr id="12"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316</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69935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938151" y="520393"/>
            <a:ext cx="10466364" cy="4708981"/>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parallelogram is shown on a grid with each gridline representing one unit.</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4508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base of the parallelogram is _____ units. </a:t>
            </a:r>
          </a:p>
          <a:p>
            <a:pPr marL="925513" indent="-4508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4508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4508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height of the parallelogram is _____ units.</a:t>
            </a: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2197C835-4206-1F41-A953-815DD1EFD326}"/>
              </a:ext>
            </a:extLst>
          </p:cNvPr>
          <p:cNvPicPr>
            <a:picLocks noChangeAspect="1"/>
          </p:cNvPicPr>
          <p:nvPr/>
        </p:nvPicPr>
        <p:blipFill>
          <a:blip r:embed="rId3"/>
          <a:stretch>
            <a:fillRect/>
          </a:stretch>
        </p:blipFill>
        <p:spPr>
          <a:xfrm>
            <a:off x="5907314" y="1108891"/>
            <a:ext cx="3860800" cy="2794000"/>
          </a:xfrm>
          <a:prstGeom prst="rect">
            <a:avLst/>
          </a:prstGeom>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316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3764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28156" y="520394"/>
            <a:ext cx="10086354" cy="5016758"/>
          </a:xfrm>
          <a:prstGeom prst="rect">
            <a:avLst/>
          </a:prstGeom>
          <a:noFill/>
        </p:spPr>
        <p:txBody>
          <a:bodyPr wrap="square" rtlCol="0">
            <a:spAutoFit/>
          </a:bodyPr>
          <a:lstStyle/>
          <a:p>
            <a:pPr marL="342900" indent="-342900"/>
            <a:r>
              <a:rPr lang="en-US" sz="2000" dirty="0">
                <a:latin typeface="Verdana" panose="020B0604030504040204" pitchFamily="34" charset="0"/>
                <a:ea typeface="Verdana" panose="020B0604030504040204" pitchFamily="34" charset="0"/>
                <a:cs typeface="Verdana" panose="020B0604030504040204" pitchFamily="34" charset="0"/>
              </a:rPr>
              <a:t>2. The images below show the same parallelogram being decomposed and then rearranged to form a rectangle.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463550"/>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pPr marL="925513" indent="-463550"/>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4635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base of the rectangle is _____ units. </a:t>
            </a:r>
          </a:p>
          <a:p>
            <a:pPr marL="925513" indent="-4635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4635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indent="-4635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height of the rectangle is _____ units.</a:t>
            </a: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5A869D40-622C-E145-B2BB-E8953B9A9837}"/>
              </a:ext>
            </a:extLst>
          </p:cNvPr>
          <p:cNvPicPr>
            <a:picLocks noChangeAspect="1"/>
          </p:cNvPicPr>
          <p:nvPr/>
        </p:nvPicPr>
        <p:blipFill>
          <a:blip r:embed="rId3"/>
          <a:stretch>
            <a:fillRect/>
          </a:stretch>
        </p:blipFill>
        <p:spPr>
          <a:xfrm>
            <a:off x="3099617" y="1359627"/>
            <a:ext cx="5992767" cy="2001175"/>
          </a:xfrm>
          <a:prstGeom prst="rect">
            <a:avLst/>
          </a:prstGeom>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316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5209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40031" y="520393"/>
            <a:ext cx="10062604" cy="1107996"/>
          </a:xfrm>
          <a:prstGeom prst="rect">
            <a:avLst/>
          </a:prstGeom>
          <a:noFill/>
        </p:spPr>
        <p:txBody>
          <a:bodyPr wrap="square" rtlCol="0">
            <a:spAutoFit/>
          </a:bodyPr>
          <a:lstStyle/>
          <a:p>
            <a:pPr marL="403225" indent="-403225"/>
            <a:r>
              <a:rPr lang="en-US" sz="2200" dirty="0">
                <a:latin typeface="Verdana" panose="020B0604030504040204" pitchFamily="34" charset="0"/>
                <a:ea typeface="Verdana" panose="020B0604030504040204" pitchFamily="34" charset="0"/>
                <a:cs typeface="Verdana" panose="020B0604030504040204" pitchFamily="34" charset="0"/>
              </a:rPr>
              <a:t>3. Discuss with your partner the relationship between the area of the parallelogram and the area of the rectangle. Write a summary of your discussion.</a:t>
            </a: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00122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698171" y="520393"/>
            <a:ext cx="8636730"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4. Complete the statements.</a:t>
            </a: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AE9D41EA-D78A-7A4C-A55B-A894B7B77299}"/>
              </a:ext>
            </a:extLst>
          </p:cNvPr>
          <p:cNvPicPr>
            <a:picLocks noChangeAspect="1"/>
          </p:cNvPicPr>
          <p:nvPr/>
        </p:nvPicPr>
        <p:blipFill>
          <a:blip r:embed="rId3"/>
          <a:stretch>
            <a:fillRect/>
          </a:stretch>
        </p:blipFill>
        <p:spPr>
          <a:xfrm>
            <a:off x="2013626" y="1343775"/>
            <a:ext cx="7536290" cy="3702612"/>
          </a:xfrm>
          <a:prstGeom prst="rect">
            <a:avLst/>
          </a:prstGeom>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317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32141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66899" y="520394"/>
            <a:ext cx="9468002" cy="46166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5. A parallelogram with its dimensions labeled is shown</a:t>
            </a:r>
            <a:r>
              <a:rPr lang="en-US" sz="2400" dirty="0"/>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726DEF06-AF9A-6F40-9AD7-7E00FBDA8914}"/>
              </a:ext>
            </a:extLst>
          </p:cNvPr>
          <p:cNvPicPr>
            <a:picLocks noChangeAspect="1"/>
          </p:cNvPicPr>
          <p:nvPr/>
        </p:nvPicPr>
        <p:blipFill>
          <a:blip r:embed="rId3"/>
          <a:stretch>
            <a:fillRect/>
          </a:stretch>
        </p:blipFill>
        <p:spPr>
          <a:xfrm>
            <a:off x="6505686" y="982058"/>
            <a:ext cx="3547291" cy="216354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867438-E8B3-3543-895D-891835AA1BC6}"/>
                  </a:ext>
                </a:extLst>
              </p:cNvPr>
              <p:cNvSpPr txBox="1"/>
              <p:nvPr/>
            </p:nvSpPr>
            <p:spPr>
              <a:xfrm>
                <a:off x="1199408" y="1227909"/>
                <a:ext cx="5201393" cy="2936638"/>
              </a:xfrm>
              <a:prstGeom prst="rect">
                <a:avLst/>
              </a:prstGeom>
              <a:noFill/>
            </p:spPr>
            <p:txBody>
              <a:bodyPr wrap="square" rtlCol="0">
                <a:spAutoFit/>
              </a:bodyPr>
              <a:lstStyle/>
              <a:p>
                <a:pPr marL="342900" indent="-3429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Fill in the blanks to find the area of the parallelogram.</a:t>
                </a:r>
              </a:p>
              <a:p>
                <a:pPr marL="342900" indent="-3429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r>
                  <a:rPr lang="en-US" sz="2000" dirty="0">
                    <a:latin typeface="Verdana" panose="020B0604030504040204" pitchFamily="34" charset="0"/>
                    <a:ea typeface="Verdana" panose="020B0604030504040204" pitchFamily="34" charset="0"/>
                    <a:cs typeface="Verdana" panose="020B0604030504040204" pitchFamily="34" charset="0"/>
                  </a:rPr>
                  <a:t>Area of parallelogram = 𝑏 ∙ </a:t>
                </a:r>
                <a:r>
                  <a:rPr lang="en-US" sz="2000" dirty="0" err="1">
                    <a:latin typeface="Verdana" panose="020B0604030504040204" pitchFamily="34" charset="0"/>
                    <a:ea typeface="Verdana" panose="020B0604030504040204" pitchFamily="34" charset="0"/>
                    <a:cs typeface="Verdana" panose="020B0604030504040204" pitchFamily="34" charset="0"/>
                  </a:rPr>
                  <a:t>ℎ</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r>
                  <a:rPr lang="en-US" sz="2000" dirty="0">
                    <a:latin typeface="Verdana" panose="020B0604030504040204" pitchFamily="34" charset="0"/>
                    <a:ea typeface="Verdana" panose="020B0604030504040204" pitchFamily="34" charset="0"/>
                    <a:cs typeface="Verdana" panose="020B0604030504040204" pitchFamily="34" charset="0"/>
                  </a:rPr>
                  <a:t>Area = ________ ∙ ________</a:t>
                </a:r>
              </a:p>
              <a:p>
                <a:pPr marL="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r>
                  <a:rPr lang="en-US" sz="2000" dirty="0">
                    <a:latin typeface="Verdana" panose="020B0604030504040204" pitchFamily="34" charset="0"/>
                    <a:ea typeface="Verdana" panose="020B0604030504040204" pitchFamily="34" charset="0"/>
                    <a:cs typeface="Verdana" panose="020B0604030504040204" pitchFamily="34" charset="0"/>
                  </a:rPr>
                  <a:t>Area = __________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m:rPr>
                            <m:nor/>
                          </m:rPr>
                          <a:rPr lang="en-US" sz="2000" dirty="0">
                            <a:latin typeface="Verdana" panose="020B0604030504040204" pitchFamily="34" charset="0"/>
                            <a:ea typeface="Verdana" panose="020B0604030504040204" pitchFamily="34" charset="0"/>
                            <a:cs typeface="Verdana" panose="020B0604030504040204" pitchFamily="34" charset="0"/>
                          </a:rPr>
                          <m:t>units</m:t>
                        </m:r>
                      </m:e>
                      <m:sup>
                        <m:r>
                          <a:rPr lang="en-US" sz="2000" i="1">
                            <a:latin typeface="Cambria Math" panose="02040503050406030204" pitchFamily="18" charset="0"/>
                            <a:ea typeface="Verdana" panose="020B0604030504040204" pitchFamily="34" charset="0"/>
                            <a:cs typeface="Verdana" panose="020B0604030504040204" pitchFamily="34" charset="0"/>
                          </a:rPr>
                          <m:t>2</m:t>
                        </m:r>
                      </m:sup>
                    </m:sSup>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 name="TextBox 2">
                <a:extLst>
                  <a:ext uri="{FF2B5EF4-FFF2-40B4-BE49-F238E27FC236}">
                    <a16:creationId xmlns:a16="http://schemas.microsoft.com/office/drawing/2014/main" xmlns:a14="http://schemas.microsoft.com/office/drawing/2010/main" xmlns="" id="{CB867438-E8B3-3543-895D-891835AA1BC6}"/>
                  </a:ext>
                </a:extLst>
              </p:cNvPr>
              <p:cNvSpPr txBox="1">
                <a:spLocks noRot="1" noChangeAspect="1" noMove="1" noResize="1" noEditPoints="1" noAdjustHandles="1" noChangeArrowheads="1" noChangeShapeType="1" noTextEdit="1"/>
              </p:cNvSpPr>
              <p:nvPr/>
            </p:nvSpPr>
            <p:spPr>
              <a:xfrm>
                <a:off x="1199408" y="1227909"/>
                <a:ext cx="5201393" cy="2936638"/>
              </a:xfrm>
              <a:prstGeom prst="rect">
                <a:avLst/>
              </a:prstGeom>
              <a:blipFill rotWithShape="0">
                <a:blip r:embed="rId4"/>
                <a:stretch>
                  <a:fillRect l="-1290" t="-124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102187A6-C952-0549-8DC1-1E1117C8F621}"/>
              </a:ext>
            </a:extLst>
          </p:cNvPr>
          <p:cNvSpPr txBox="1"/>
          <p:nvPr/>
        </p:nvSpPr>
        <p:spPr>
          <a:xfrm>
            <a:off x="1199408" y="4415246"/>
            <a:ext cx="8757601" cy="1538883"/>
          </a:xfrm>
          <a:prstGeom prst="rect">
            <a:avLst/>
          </a:prstGeom>
          <a:noFill/>
        </p:spPr>
        <p:txBody>
          <a:bodyPr wrap="square" rtlCol="0">
            <a:spAutoFit/>
          </a:bodyPr>
          <a:lstStyle/>
          <a:p>
            <a:pPr marL="342900" indent="-342900"/>
            <a:r>
              <a:rPr lang="en-US" sz="2000" dirty="0">
                <a:latin typeface="Verdana" panose="020B0604030504040204" pitchFamily="34" charset="0"/>
                <a:ea typeface="Verdana" panose="020B0604030504040204" pitchFamily="34" charset="0"/>
                <a:cs typeface="Verdana" panose="020B0604030504040204" pitchFamily="34" charset="0"/>
              </a:rPr>
              <a:t>b. Three lengths are shown in the figure. With your partner, discuss the length that was not used to find the area of the parallelogram. Then, write an explanation for why this length was not used.</a:t>
            </a:r>
          </a:p>
          <a:p>
            <a:endParaRPr lang="en-US" dirty="0"/>
          </a:p>
        </p:txBody>
      </p:sp>
      <p:sp>
        <p:nvSpPr>
          <p:cNvPr id="10"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317</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9617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9995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2200" y="16561"/>
            <a:ext cx="8019300" cy="117838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7.4.4 Activity: Deriving the Formula for the Area of a Trapezoid</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92392" y="22138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547ABD-563B-A148-B65C-C7679A7B43D4}"/>
                  </a:ext>
                </a:extLst>
              </p:cNvPr>
              <p:cNvSpPr txBox="1"/>
              <p:nvPr/>
            </p:nvSpPr>
            <p:spPr>
              <a:xfrm>
                <a:off x="749526" y="1386026"/>
                <a:ext cx="10808186" cy="470898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trapezoid is another type of quadrilateral.</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Trapezoid A is shown on a grid with each gridline representing one unit.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two parallel sides of a trapezoid are both called bases. To distinguish between the two bases, one is named base one,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and the other base two,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2</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0" name="TextBox 9">
                <a:extLst>
                  <a:ext uri="{FF2B5EF4-FFF2-40B4-BE49-F238E27FC236}">
                    <a16:creationId xmlns:a16="http://schemas.microsoft.com/office/drawing/2014/main" xmlns:a14="http://schemas.microsoft.com/office/drawing/2010/main" xmlns="" id="{A3547ABD-563B-A148-B65C-C7679A7B43D4}"/>
                  </a:ext>
                </a:extLst>
              </p:cNvPr>
              <p:cNvSpPr txBox="1">
                <a:spLocks noRot="1" noChangeAspect="1" noMove="1" noResize="1" noEditPoints="1" noAdjustHandles="1" noChangeArrowheads="1" noChangeShapeType="1" noTextEdit="1"/>
              </p:cNvSpPr>
              <p:nvPr/>
            </p:nvSpPr>
            <p:spPr>
              <a:xfrm>
                <a:off x="749526" y="1386026"/>
                <a:ext cx="10808186" cy="4708981"/>
              </a:xfrm>
              <a:prstGeom prst="rect">
                <a:avLst/>
              </a:prstGeom>
              <a:blipFill rotWithShape="0">
                <a:blip r:embed="rId4"/>
                <a:stretch>
                  <a:fillRect l="-620" t="-647" r="-564" b="-1294"/>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4E335EDC-9A7C-E240-A274-C7457343831F}"/>
              </a:ext>
            </a:extLst>
          </p:cNvPr>
          <p:cNvSpPr/>
          <p:nvPr/>
        </p:nvSpPr>
        <p:spPr>
          <a:xfrm>
            <a:off x="-8732"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E7B7E53E-AA9F-F14F-936A-28D932C41A90}"/>
              </a:ext>
            </a:extLst>
          </p:cNvPr>
          <p:cNvPicPr>
            <a:picLocks noChangeAspect="1"/>
          </p:cNvPicPr>
          <p:nvPr/>
        </p:nvPicPr>
        <p:blipFill rotWithShape="1">
          <a:blip r:embed="rId5"/>
          <a:srcRect b="4720"/>
          <a:stretch/>
        </p:blipFill>
        <p:spPr>
          <a:xfrm>
            <a:off x="2730500" y="1876791"/>
            <a:ext cx="6731000" cy="834934"/>
          </a:xfrm>
          <a:prstGeom prst="rect">
            <a:avLst/>
          </a:prstGeom>
          <a:ln>
            <a:noFill/>
          </a:ln>
          <a:effectLst>
            <a:outerShdw blurRad="50800" dist="50800" dir="5400000" sx="98570" sy="98570" algn="ctr" rotWithShape="0">
              <a:srgbClr val="000000">
                <a:alpha val="49000"/>
              </a:srgbClr>
            </a:outerShdw>
            <a:softEdge rad="12700"/>
          </a:effectLst>
        </p:spPr>
      </p:pic>
      <p:pic>
        <p:nvPicPr>
          <p:cNvPr id="3" name="Picture 2">
            <a:extLst>
              <a:ext uri="{FF2B5EF4-FFF2-40B4-BE49-F238E27FC236}">
                <a16:creationId xmlns:a16="http://schemas.microsoft.com/office/drawing/2014/main" id="{6340C731-9D01-7043-AB1C-9ACADD872186}"/>
              </a:ext>
            </a:extLst>
          </p:cNvPr>
          <p:cNvPicPr>
            <a:picLocks noChangeAspect="1"/>
          </p:cNvPicPr>
          <p:nvPr/>
        </p:nvPicPr>
        <p:blipFill>
          <a:blip r:embed="rId6"/>
          <a:stretch>
            <a:fillRect/>
          </a:stretch>
        </p:blipFill>
        <p:spPr>
          <a:xfrm>
            <a:off x="3732803" y="3429000"/>
            <a:ext cx="4726395" cy="2024194"/>
          </a:xfrm>
          <a:prstGeom prst="rect">
            <a:avLst/>
          </a:prstGeom>
        </p:spPr>
      </p:pic>
      <p:sp>
        <p:nvSpPr>
          <p:cNvPr id="13"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318</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58412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04405" y="520394"/>
                <a:ext cx="10133856" cy="3477875"/>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On Trapezoid A, label one of the bases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1</m:t>
                        </m:r>
                      </m:sub>
                    </m:sSub>
                    <m:r>
                      <a:rPr lang="en-US" sz="2000" i="1">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the other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2</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 </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lvl="4" indent="-4508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length of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1</m:t>
                        </m:r>
                      </m:sub>
                    </m:sSub>
                    <m:r>
                      <a:rPr lang="en-US" sz="2000" i="1">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of Trapezoid A is _____ units. </a:t>
                </a:r>
              </a:p>
              <a:p>
                <a:pPr marL="925513" lvl="4" indent="-4508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lvl="4" indent="-4508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length of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2</m:t>
                        </m:r>
                      </m:sub>
                    </m:sSub>
                    <m:r>
                      <a:rPr lang="en-US" sz="2000" i="1">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of Trapezoid A is _____ units. </a:t>
                </a:r>
              </a:p>
              <a:p>
                <a:pPr marL="925513" lvl="4" indent="-4508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5513" lvl="4" indent="-4508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height of Trapezoid A is _____ units. </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04405" y="520394"/>
                <a:ext cx="10133856" cy="3477875"/>
              </a:xfrm>
              <a:prstGeom prst="rect">
                <a:avLst/>
              </a:prstGeom>
              <a:blipFill rotWithShape="0">
                <a:blip r:embed="rId3"/>
                <a:stretch>
                  <a:fillRect l="-661" t="-11033" b="-227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307FF70B-9DD6-5740-B43B-698B43CC299B}"/>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318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4160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a:extLst>
              <a:ext uri="{FF2B5EF4-FFF2-40B4-BE49-F238E27FC236}">
                <a16:creationId xmlns:a16="http://schemas.microsoft.com/office/drawing/2014/main" id="{AFF5D90C-6887-5943-AC88-BA987362D9AE}"/>
              </a:ext>
            </a:extLst>
          </p:cNvPr>
          <p:cNvPicPr>
            <a:picLocks noChangeAspect="1"/>
          </p:cNvPicPr>
          <p:nvPr/>
        </p:nvPicPr>
        <p:blipFill>
          <a:blip r:embed="rId3"/>
          <a:stretch>
            <a:fillRect/>
          </a:stretch>
        </p:blipFill>
        <p:spPr>
          <a:xfrm>
            <a:off x="6860102" y="465115"/>
            <a:ext cx="3969560" cy="2257611"/>
          </a:xfrm>
          <a:prstGeom prst="rect">
            <a:avLst/>
          </a:prstGeom>
        </p:spPr>
      </p:pic>
      <p:sp>
        <p:nvSpPr>
          <p:cNvPr id="14" name="TextBox 13">
            <a:extLst>
              <a:ext uri="{FF2B5EF4-FFF2-40B4-BE49-F238E27FC236}">
                <a16:creationId xmlns:a16="http://schemas.microsoft.com/office/drawing/2014/main" id="{2FA392D8-3ED3-7940-83A8-1451AA8A08D4}"/>
              </a:ext>
            </a:extLst>
          </p:cNvPr>
          <p:cNvSpPr txBox="1"/>
          <p:nvPr/>
        </p:nvSpPr>
        <p:spPr>
          <a:xfrm>
            <a:off x="1199408" y="520394"/>
            <a:ext cx="5237018" cy="1323439"/>
          </a:xfrm>
          <a:prstGeom prst="rect">
            <a:avLst/>
          </a:prstGeom>
          <a:noFill/>
        </p:spPr>
        <p:txBody>
          <a:bodyPr wrap="square" rtlCol="0">
            <a:spAutoFit/>
          </a:bodyPr>
          <a:lstStyle/>
          <a:p>
            <a:pPr marL="342900" indent="-342900"/>
            <a:r>
              <a:rPr lang="en-US" sz="2000" dirty="0">
                <a:latin typeface="Verdana" panose="020B0604030504040204" pitchFamily="34" charset="0"/>
                <a:ea typeface="Verdana" panose="020B0604030504040204" pitchFamily="34" charset="0"/>
                <a:cs typeface="Verdana" panose="020B0604030504040204" pitchFamily="34" charset="0"/>
              </a:rPr>
              <a:t>3. Trapezoid A is decomposed into two triangles and labeled, as shown below.</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E8638E4-E90C-BC45-9CB0-DBD18A6C2050}"/>
                  </a:ext>
                </a:extLst>
              </p:cNvPr>
              <p:cNvSpPr txBox="1"/>
              <p:nvPr/>
            </p:nvSpPr>
            <p:spPr>
              <a:xfrm>
                <a:off x="1662545" y="2722726"/>
                <a:ext cx="8585026"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Complete the statements.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r>
                  <a:rPr lang="en-US" sz="2000" dirty="0">
                    <a:latin typeface="Verdana" panose="020B0604030504040204" pitchFamily="34" charset="0"/>
                    <a:ea typeface="Verdana" panose="020B0604030504040204" pitchFamily="34" charset="0"/>
                    <a:cs typeface="Verdana" panose="020B0604030504040204" pitchFamily="34" charset="0"/>
                  </a:rPr>
                  <a:t>The base of Triangle M,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is _____ units, and its corresponding height is _____ units. </a:t>
                </a:r>
              </a:p>
              <a:p>
                <a:pPr marL="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r>
                  <a:rPr lang="en-US" sz="2000" dirty="0">
                    <a:latin typeface="Verdana" panose="020B0604030504040204" pitchFamily="34" charset="0"/>
                    <a:ea typeface="Verdana" panose="020B0604030504040204" pitchFamily="34" charset="0"/>
                    <a:cs typeface="Verdana" panose="020B0604030504040204" pitchFamily="34" charset="0"/>
                  </a:rPr>
                  <a:t>The base of Triangle T</a:t>
                </a:r>
                <a:r>
                  <a:rPr lang="en-US" sz="2000" dirty="0">
                    <a:ea typeface="Verdana" panose="020B0604030504040204" pitchFamily="34" charset="0"/>
                    <a:cs typeface="Verdana" panose="020B0604030504040204" pitchFamily="34" charset="0"/>
                  </a:rPr>
                  <a:t>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2</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is _____ units, and its corresponding height is _____ units.</a:t>
                </a:r>
              </a:p>
              <a:p>
                <a:pPr marL="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r>
                  <a:rPr lang="en-US" sz="2000" dirty="0">
                    <a:latin typeface="Verdana" panose="020B0604030504040204" pitchFamily="34" charset="0"/>
                    <a:ea typeface="Verdana" panose="020B0604030504040204" pitchFamily="34" charset="0"/>
                    <a:cs typeface="Verdana" panose="020B0604030504040204" pitchFamily="34" charset="0"/>
                  </a:rPr>
                  <a:t>When a trapezoid is decomposed into two triangles by drawing a diagonal, the height of both triangles will always be the same.</a:t>
                </a:r>
              </a:p>
            </p:txBody>
          </p:sp>
        </mc:Choice>
        <mc:Fallback xmlns="">
          <p:sp>
            <p:nvSpPr>
              <p:cNvPr id="3" name="TextBox 2">
                <a:extLst>
                  <a:ext uri="{FF2B5EF4-FFF2-40B4-BE49-F238E27FC236}">
                    <a16:creationId xmlns:a16="http://schemas.microsoft.com/office/drawing/2014/main" xmlns:a14="http://schemas.microsoft.com/office/drawing/2010/main" xmlns="" id="{2E8638E4-E90C-BC45-9CB0-DBD18A6C2050}"/>
                  </a:ext>
                </a:extLst>
              </p:cNvPr>
              <p:cNvSpPr txBox="1">
                <a:spLocks noRot="1" noChangeAspect="1" noMove="1" noResize="1" noEditPoints="1" noAdjustHandles="1" noChangeArrowheads="1" noChangeShapeType="1" noTextEdit="1"/>
              </p:cNvSpPr>
              <p:nvPr/>
            </p:nvSpPr>
            <p:spPr>
              <a:xfrm>
                <a:off x="1662545" y="2722726"/>
                <a:ext cx="8585026" cy="3477875"/>
              </a:xfrm>
              <a:prstGeom prst="rect">
                <a:avLst/>
              </a:prstGeom>
              <a:blipFill rotWithShape="0">
                <a:blip r:embed="rId4"/>
                <a:stretch>
                  <a:fillRect l="-781" t="-1053" r="-1420" b="-2281"/>
                </a:stretch>
              </a:blipFill>
            </p:spPr>
            <p:txBody>
              <a:bodyPr/>
              <a:lstStyle/>
              <a:p>
                <a:r>
                  <a:rPr lang="en-US">
                    <a:noFill/>
                  </a:rPr>
                  <a:t> </a:t>
                </a:r>
              </a:p>
            </p:txBody>
          </p:sp>
        </mc:Fallback>
      </mc:AlternateContent>
      <p:sp>
        <p:nvSpPr>
          <p:cNvPr id="9"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318</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57208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40031" y="520394"/>
            <a:ext cx="10062604" cy="255454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b. </a:t>
            </a:r>
            <a:r>
              <a:rPr lang="en-US" sz="2000" dirty="0" err="1">
                <a:latin typeface="Verdana" panose="020B0604030504040204" pitchFamily="34" charset="0"/>
                <a:ea typeface="Verdana" panose="020B0604030504040204" pitchFamily="34" charset="0"/>
                <a:cs typeface="Verdana" panose="020B0604030504040204" pitchFamily="34" charset="0"/>
              </a:rPr>
              <a:t>Davita</a:t>
            </a:r>
            <a:r>
              <a:rPr lang="en-US" sz="2000" dirty="0">
                <a:latin typeface="Verdana" panose="020B0604030504040204" pitchFamily="34" charset="0"/>
                <a:ea typeface="Verdana" panose="020B0604030504040204" pitchFamily="34" charset="0"/>
                <a:cs typeface="Verdana" panose="020B0604030504040204" pitchFamily="34" charset="0"/>
              </a:rPr>
              <a:t> wrote a formula for the area of Trapezoid A.</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Explain how </a:t>
            </a:r>
            <a:r>
              <a:rPr lang="en-US" sz="2000" dirty="0" err="1">
                <a:latin typeface="Verdana" panose="020B0604030504040204" pitchFamily="34" charset="0"/>
                <a:ea typeface="Verdana" panose="020B0604030504040204" pitchFamily="34" charset="0"/>
                <a:cs typeface="Verdana" panose="020B0604030504040204" pitchFamily="34" charset="0"/>
              </a:rPr>
              <a:t>Davita</a:t>
            </a:r>
            <a:r>
              <a:rPr lang="en-US" sz="2000" dirty="0">
                <a:latin typeface="Verdana" panose="020B0604030504040204" pitchFamily="34" charset="0"/>
                <a:ea typeface="Verdana" panose="020B0604030504040204" pitchFamily="34" charset="0"/>
                <a:cs typeface="Verdana" panose="020B0604030504040204" pitchFamily="34" charset="0"/>
              </a:rPr>
              <a:t> determined this formula.</a:t>
            </a: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E61F9177-CAE5-3447-83D9-642E102696C4}"/>
              </a:ext>
            </a:extLst>
          </p:cNvPr>
          <p:cNvPicPr>
            <a:picLocks noChangeAspect="1"/>
          </p:cNvPicPr>
          <p:nvPr/>
        </p:nvPicPr>
        <p:blipFill>
          <a:blip r:embed="rId3"/>
          <a:stretch>
            <a:fillRect/>
          </a:stretch>
        </p:blipFill>
        <p:spPr>
          <a:xfrm>
            <a:off x="3098800" y="1099165"/>
            <a:ext cx="5994400" cy="1397000"/>
          </a:xfrm>
          <a:prstGeom prst="rect">
            <a:avLst/>
          </a:prstGeom>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52776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58784" y="520394"/>
            <a:ext cx="9825098" cy="707886"/>
          </a:xfrm>
          <a:prstGeom prst="rect">
            <a:avLst/>
          </a:prstGeom>
          <a:noFill/>
        </p:spPr>
        <p:txBody>
          <a:bodyPr wrap="square" rtlCol="0">
            <a:spAutoFit/>
          </a:bodyPr>
          <a:lstStyle/>
          <a:p>
            <a:pPr marL="295275" indent="-295275"/>
            <a:r>
              <a:rPr lang="en-US" sz="2000" dirty="0">
                <a:latin typeface="Verdana" panose="020B0604030504040204" pitchFamily="34" charset="0"/>
                <a:ea typeface="Verdana" panose="020B0604030504040204" pitchFamily="34" charset="0"/>
                <a:cs typeface="Verdana" panose="020B0604030504040204" pitchFamily="34" charset="0"/>
              </a:rPr>
              <a:t>c. The formula </a:t>
            </a:r>
            <a:r>
              <a:rPr lang="en-US" sz="2000" dirty="0" err="1">
                <a:latin typeface="Verdana" panose="020B0604030504040204" pitchFamily="34" charset="0"/>
                <a:ea typeface="Verdana" panose="020B0604030504040204" pitchFamily="34" charset="0"/>
                <a:cs typeface="Verdana" panose="020B0604030504040204" pitchFamily="34" charset="0"/>
              </a:rPr>
              <a:t>Davita</a:t>
            </a:r>
            <a:r>
              <a:rPr lang="en-US" sz="2000" dirty="0">
                <a:latin typeface="Verdana" panose="020B0604030504040204" pitchFamily="34" charset="0"/>
                <a:ea typeface="Verdana" panose="020B0604030504040204" pitchFamily="34" charset="0"/>
                <a:cs typeface="Verdana" panose="020B0604030504040204" pitchFamily="34" charset="0"/>
              </a:rPr>
              <a:t> wrote can be used to find the area of any trapezoid. Complete the steps described in the table to rewrite the formula.</a:t>
            </a: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87E601D2-B509-4D46-9739-6FBB2E5988F9}"/>
              </a:ext>
            </a:extLst>
          </p:cNvPr>
          <p:cNvPicPr>
            <a:picLocks noChangeAspect="1"/>
          </p:cNvPicPr>
          <p:nvPr/>
        </p:nvPicPr>
        <p:blipFill>
          <a:blip r:embed="rId3"/>
          <a:stretch>
            <a:fillRect/>
          </a:stretch>
        </p:blipFill>
        <p:spPr>
          <a:xfrm>
            <a:off x="2876262" y="1683839"/>
            <a:ext cx="6439477" cy="2774950"/>
          </a:xfrm>
          <a:prstGeom prst="rect">
            <a:avLst/>
          </a:prstGeom>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88972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16892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88075" y="60325"/>
            <a:ext cx="893441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7.4.5 Activity: Deriving the Formula for the Area of a Rhombus</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8268"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1330036" y="1386025"/>
            <a:ext cx="9787960"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rhombus is another type of quadrilateral.</a:t>
            </a:r>
          </a:p>
        </p:txBody>
      </p:sp>
      <p:sp>
        <p:nvSpPr>
          <p:cNvPr id="11" name="Google Shape;278;g104476d1465_1_17">
            <a:extLst>
              <a:ext uri="{FF2B5EF4-FFF2-40B4-BE49-F238E27FC236}">
                <a16:creationId xmlns:a16="http://schemas.microsoft.com/office/drawing/2014/main" id="{4E335EDC-9A7C-E240-A274-C7457343831F}"/>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D5DF33D4-9CAC-E549-A2BA-946150249B9F}"/>
              </a:ext>
            </a:extLst>
          </p:cNvPr>
          <p:cNvPicPr>
            <a:picLocks noChangeAspect="1"/>
          </p:cNvPicPr>
          <p:nvPr/>
        </p:nvPicPr>
        <p:blipFill rotWithShape="1">
          <a:blip r:embed="rId4"/>
          <a:srcRect b="3744"/>
          <a:stretch/>
        </p:blipFill>
        <p:spPr>
          <a:xfrm>
            <a:off x="2743200" y="2074081"/>
            <a:ext cx="6705600" cy="895542"/>
          </a:xfrm>
          <a:prstGeom prst="rect">
            <a:avLst/>
          </a:prstGeom>
          <a:effectLst>
            <a:outerShdw blurRad="50800" dist="50800" dir="5400000" sx="97808" sy="97808" algn="ctr" rotWithShape="0">
              <a:srgbClr val="000000">
                <a:alpha val="33957"/>
              </a:srgbClr>
            </a:outerShdw>
          </a:effectLst>
        </p:spPr>
      </p:pic>
      <p:pic>
        <p:nvPicPr>
          <p:cNvPr id="3" name="Picture 2">
            <a:extLst>
              <a:ext uri="{FF2B5EF4-FFF2-40B4-BE49-F238E27FC236}">
                <a16:creationId xmlns:a16="http://schemas.microsoft.com/office/drawing/2014/main" id="{787A3F3C-F422-B142-AA69-6F92B4F7C5A4}"/>
              </a:ext>
            </a:extLst>
          </p:cNvPr>
          <p:cNvPicPr>
            <a:picLocks noChangeAspect="1"/>
          </p:cNvPicPr>
          <p:nvPr/>
        </p:nvPicPr>
        <p:blipFill>
          <a:blip r:embed="rId5"/>
          <a:stretch>
            <a:fillRect/>
          </a:stretch>
        </p:blipFill>
        <p:spPr>
          <a:xfrm>
            <a:off x="2033189" y="3358191"/>
            <a:ext cx="4064507" cy="2189169"/>
          </a:xfrm>
          <a:prstGeom prst="rect">
            <a:avLst/>
          </a:prstGeom>
        </p:spPr>
      </p:pic>
      <p:pic>
        <p:nvPicPr>
          <p:cNvPr id="4" name="Picture 3">
            <a:extLst>
              <a:ext uri="{FF2B5EF4-FFF2-40B4-BE49-F238E27FC236}">
                <a16:creationId xmlns:a16="http://schemas.microsoft.com/office/drawing/2014/main" id="{49287151-4827-AA47-B27E-DF0B74CA26ED}"/>
              </a:ext>
            </a:extLst>
          </p:cNvPr>
          <p:cNvPicPr>
            <a:picLocks noChangeAspect="1"/>
          </p:cNvPicPr>
          <p:nvPr/>
        </p:nvPicPr>
        <p:blipFill>
          <a:blip r:embed="rId6"/>
          <a:stretch>
            <a:fillRect/>
          </a:stretch>
        </p:blipFill>
        <p:spPr>
          <a:xfrm>
            <a:off x="6214276" y="3339881"/>
            <a:ext cx="4208214" cy="2207478"/>
          </a:xfrm>
          <a:prstGeom prst="rect">
            <a:avLst/>
          </a:prstGeom>
        </p:spPr>
      </p:pic>
      <p:sp>
        <p:nvSpPr>
          <p:cNvPr id="13"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319</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75213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28156" y="520394"/>
            <a:ext cx="10086354" cy="3170099"/>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Felicia wrote expressions to represent the areas of the two triangles.</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whether you agree with the expressions Felicia wrote. Write a summary of your discussion.</a:t>
            </a:r>
          </a:p>
        </p:txBody>
      </p:sp>
      <p:sp>
        <p:nvSpPr>
          <p:cNvPr id="6" name="Google Shape;278;g104476d1465_1_17">
            <a:extLst>
              <a:ext uri="{FF2B5EF4-FFF2-40B4-BE49-F238E27FC236}">
                <a16:creationId xmlns:a16="http://schemas.microsoft.com/office/drawing/2014/main" id="{307FF70B-9DD6-5740-B43B-698B43CC299B}"/>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29559388-F4E2-424C-87B6-4E3F06346001}"/>
              </a:ext>
            </a:extLst>
          </p:cNvPr>
          <p:cNvPicPr>
            <a:picLocks noChangeAspect="1"/>
          </p:cNvPicPr>
          <p:nvPr/>
        </p:nvPicPr>
        <p:blipFill>
          <a:blip r:embed="rId3"/>
          <a:stretch>
            <a:fillRect/>
          </a:stretch>
        </p:blipFill>
        <p:spPr>
          <a:xfrm>
            <a:off x="2235200" y="1318804"/>
            <a:ext cx="7721600" cy="1485900"/>
          </a:xfrm>
          <a:prstGeom prst="rect">
            <a:avLst/>
          </a:prstGeom>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32184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70660" y="520393"/>
            <a:ext cx="9801346" cy="1446550"/>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The diagonals of a rhombus can also be used to find its area. </a:t>
            </a:r>
          </a:p>
          <a:p>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The two diagonals of a rhombus are perpendicular to each other and divide each other in half.</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A967183C-F160-734F-884B-E5E88731636A}"/>
              </a:ext>
            </a:extLst>
          </p:cNvPr>
          <p:cNvPicPr>
            <a:picLocks noChangeAspect="1"/>
          </p:cNvPicPr>
          <p:nvPr/>
        </p:nvPicPr>
        <p:blipFill>
          <a:blip r:embed="rId3"/>
          <a:stretch>
            <a:fillRect/>
          </a:stretch>
        </p:blipFill>
        <p:spPr>
          <a:xfrm>
            <a:off x="3663660" y="2981778"/>
            <a:ext cx="4267200" cy="2984500"/>
          </a:xfrm>
          <a:prstGeom prst="rect">
            <a:avLst/>
          </a:prstGeom>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07270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46909" y="520393"/>
                <a:ext cx="9848848" cy="4654864"/>
              </a:xfrm>
              <a:prstGeom prst="rect">
                <a:avLst/>
              </a:prstGeom>
              <a:noFill/>
            </p:spPr>
            <p:txBody>
              <a:bodyPr wrap="square" rtlCol="0">
                <a:spAutoFit/>
              </a:bodyPr>
              <a:lstStyle/>
              <a:p>
                <a:pPr marL="342900" indent="-331788"/>
                <a:r>
                  <a:rPr lang="en-US" sz="2000" dirty="0">
                    <a:latin typeface="Verdana" panose="020B0604030504040204" pitchFamily="34" charset="0"/>
                    <a:ea typeface="Verdana" panose="020B0604030504040204" pitchFamily="34" charset="0"/>
                    <a:cs typeface="Verdana" panose="020B0604030504040204" pitchFamily="34" charset="0"/>
                  </a:rPr>
                  <a:t>2. The two diagonals,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𝑑</m:t>
                        </m:r>
                      </m:e>
                      <m:sub>
                        <m:r>
                          <a:rPr lang="en-US" sz="2000" i="1">
                            <a:latin typeface="Cambria Math" panose="02040503050406030204" pitchFamily="18" charset="0"/>
                            <a:ea typeface="Verdana" panose="020B0604030504040204" pitchFamily="34" charset="0"/>
                            <a:cs typeface="Verdana" panose="020B0604030504040204" pitchFamily="34" charset="0"/>
                          </a:rPr>
                          <m:t>1 </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𝑑</m:t>
                        </m:r>
                      </m:e>
                      <m:sub>
                        <m:r>
                          <a:rPr lang="en-US" sz="2000" i="1">
                            <a:latin typeface="Cambria Math" panose="02040503050406030204" pitchFamily="18" charset="0"/>
                            <a:ea typeface="Verdana" panose="020B0604030504040204" pitchFamily="34" charset="0"/>
                            <a:cs typeface="Verdana" panose="020B0604030504040204" pitchFamily="34" charset="0"/>
                          </a:rPr>
                          <m:t>2</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of Rhombus F are drawn and labeled below.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Mark on the figure the two lengths that are equal to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𝑑</m:t>
                        </m:r>
                      </m:e>
                      <m:sub>
                        <m:r>
                          <a:rPr lang="en-US" sz="2000" i="1">
                            <a:latin typeface="Cambria Math" panose="02040503050406030204" pitchFamily="18" charset="0"/>
                            <a:ea typeface="Verdana" panose="020B0604030504040204" pitchFamily="34" charset="0"/>
                            <a:cs typeface="Verdana" panose="020B0604030504040204" pitchFamily="34"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and the two lengths that are equal to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𝑑</m:t>
                        </m:r>
                      </m:e>
                      <m:sub>
                        <m:r>
                          <a:rPr lang="en-US" sz="2000" i="1">
                            <a:latin typeface="Cambria Math" panose="02040503050406030204" pitchFamily="18" charset="0"/>
                            <a:ea typeface="Verdana" panose="020B0604030504040204" pitchFamily="34" charset="0"/>
                            <a:cs typeface="Verdana" panose="020B0604030504040204" pitchFamily="34" charset="0"/>
                          </a:rPr>
                          <m:t>2</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46909" y="520393"/>
                <a:ext cx="9848848" cy="4654864"/>
              </a:xfrm>
              <a:prstGeom prst="rect">
                <a:avLst/>
              </a:prstGeom>
              <a:blipFill rotWithShape="0">
                <a:blip r:embed="rId3"/>
                <a:stretch>
                  <a:fillRect l="-681" t="-327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ED92A801-79BD-3042-A918-982345FCAD0C}"/>
              </a:ext>
            </a:extLst>
          </p:cNvPr>
          <p:cNvPicPr>
            <a:picLocks noChangeAspect="1"/>
          </p:cNvPicPr>
          <p:nvPr/>
        </p:nvPicPr>
        <p:blipFill>
          <a:blip r:embed="rId4"/>
          <a:stretch>
            <a:fillRect/>
          </a:stretch>
        </p:blipFill>
        <p:spPr>
          <a:xfrm>
            <a:off x="4233727" y="1667277"/>
            <a:ext cx="3724547" cy="2154697"/>
          </a:xfrm>
          <a:prstGeom prst="rect">
            <a:avLst/>
          </a:prstGeom>
        </p:spPr>
      </p:pic>
      <p:sp>
        <p:nvSpPr>
          <p:cNvPr id="8"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320</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09867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926275" y="520394"/>
            <a:ext cx="10490116" cy="1015663"/>
          </a:xfrm>
          <a:prstGeom prst="rect">
            <a:avLst/>
          </a:prstGeom>
          <a:noFill/>
        </p:spPr>
        <p:txBody>
          <a:bodyPr wrap="square" rtlCol="0">
            <a:spAutoFit/>
          </a:bodyPr>
          <a:lstStyle/>
          <a:p>
            <a:pPr marL="342900" indent="-342900"/>
            <a:r>
              <a:rPr lang="en-US" sz="2000" dirty="0">
                <a:latin typeface="Verdana" panose="020B0604030504040204" pitchFamily="34" charset="0"/>
                <a:ea typeface="Verdana" panose="020B0604030504040204" pitchFamily="34" charset="0"/>
                <a:cs typeface="Verdana" panose="020B0604030504040204" pitchFamily="34" charset="0"/>
              </a:rPr>
              <a:t>3. The first column of the table shows Rhombus F with parts highlighted. Use the lengths marked on Rhombus F in the previous question to fill in the blanks to find the area of the triangles.</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C376787E-8704-6648-99A9-E93205CB8FF6}"/>
              </a:ext>
            </a:extLst>
          </p:cNvPr>
          <p:cNvPicPr>
            <a:picLocks noChangeAspect="1"/>
          </p:cNvPicPr>
          <p:nvPr/>
        </p:nvPicPr>
        <p:blipFill>
          <a:blip r:embed="rId3"/>
          <a:stretch>
            <a:fillRect/>
          </a:stretch>
        </p:blipFill>
        <p:spPr>
          <a:xfrm>
            <a:off x="3335215" y="1658007"/>
            <a:ext cx="6361872" cy="4728418"/>
          </a:xfrm>
          <a:prstGeom prst="rect">
            <a:avLst/>
          </a:prstGeom>
        </p:spPr>
      </p:pic>
      <p:sp>
        <p:nvSpPr>
          <p:cNvPr id="7" name="Google Shape;282;g104476d1465_1_17"/>
          <p:cNvSpPr txBox="1"/>
          <p:nvPr/>
        </p:nvSpPr>
        <p:spPr>
          <a:xfrm>
            <a:off x="871603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30868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28156" y="520393"/>
            <a:ext cx="10086354" cy="3477875"/>
          </a:xfrm>
          <a:prstGeom prst="rect">
            <a:avLst/>
          </a:prstGeom>
          <a:noFill/>
        </p:spPr>
        <p:txBody>
          <a:bodyPr wrap="square" rtlCol="0">
            <a:spAutoFit/>
          </a:bodyPr>
          <a:lstStyle/>
          <a:p>
            <a:pPr marL="342900" indent="-342900"/>
            <a:r>
              <a:rPr lang="en-US" sz="2000" dirty="0">
                <a:latin typeface="Verdana" panose="020B0604030504040204" pitchFamily="34" charset="0"/>
                <a:ea typeface="Verdana" panose="020B0604030504040204" pitchFamily="34" charset="0"/>
                <a:cs typeface="Verdana" panose="020B0604030504040204" pitchFamily="34" charset="0"/>
              </a:rPr>
              <a:t>4. Compare your work with your partner and resolve any differences, if necessary.</a:t>
            </a:r>
          </a:p>
          <a:p>
            <a:pPr marL="342900" indent="-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r>
              <a:rPr lang="en-US" sz="2000" dirty="0">
                <a:latin typeface="Verdana" panose="020B0604030504040204" pitchFamily="34" charset="0"/>
                <a:ea typeface="Verdana" panose="020B0604030504040204" pitchFamily="34" charset="0"/>
                <a:cs typeface="Verdana" panose="020B0604030504040204" pitchFamily="34" charset="0"/>
              </a:rPr>
              <a:t>5. Work with your partner to express the area of Rhombus F as the sum of the area of the yellow triangle and the pink triangle found in the table. </a:t>
            </a:r>
          </a:p>
          <a:p>
            <a:pPr marL="342900" indent="-34290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r>
              <a:rPr lang="en-US" sz="2000" dirty="0">
                <a:latin typeface="Verdana" panose="020B0604030504040204" pitchFamily="34" charset="0"/>
                <a:ea typeface="Verdana" panose="020B0604030504040204" pitchFamily="34" charset="0"/>
                <a:cs typeface="Verdana" panose="020B0604030504040204" pitchFamily="34" charset="0"/>
              </a:rPr>
              <a:t>Area of Rhombus F = __________________________</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p:cNvSpPr txBox="1"/>
          <p:nvPr/>
        </p:nvSpPr>
        <p:spPr>
          <a:xfrm>
            <a:off x="8716039"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4265"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8950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28156" y="520394"/>
                <a:ext cx="10086354" cy="5478423"/>
              </a:xfrm>
              <a:prstGeom prst="rect">
                <a:avLst/>
              </a:prstGeom>
              <a:noFill/>
            </p:spPr>
            <p:txBody>
              <a:bodyPr wrap="square" rtlCol="0">
                <a:spAutoFit/>
              </a:bodyPr>
              <a:lstStyle/>
              <a:p>
                <a:pPr marL="342900" indent="-342900"/>
                <a:r>
                  <a:rPr lang="en-US" sz="2000" dirty="0">
                    <a:latin typeface="Verdana" panose="020B0604030504040204" pitchFamily="34" charset="0"/>
                    <a:ea typeface="Verdana" panose="020B0604030504040204" pitchFamily="34" charset="0"/>
                    <a:cs typeface="Verdana" panose="020B0604030504040204" pitchFamily="34" charset="0"/>
                  </a:rPr>
                  <a:t>6. Use words, values, or expressions from the bank shown to complete the statements. Items from the bank may be used more than once.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Drawing a ____________ of a rhombus divides the rhombus into two identical triangles. The area of the rhombus is equal to the ____________ of the areas of these two triangles. If one of these triangles is equal to ____________, then two of these triangles equal </a:t>
                </a:r>
                <a:r>
                  <a:rPr lang="en-US" sz="2000" dirty="0">
                    <a:latin typeface="Cambria Math" panose="02040503050406030204" pitchFamily="18" charset="0"/>
                    <a:ea typeface="Cambria Math" panose="02040503050406030204" pitchFamily="18"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 ∙ ____________. Therefore, the formula for the area of a rhombus using its diagonals can be written as </a:t>
                </a:r>
              </a:p>
              <a:p>
                <a:pPr>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𝐴 = ___(</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𝑑</m:t>
                        </m:r>
                      </m:e>
                      <m:sub>
                        <m:r>
                          <a:rPr lang="en-US" sz="2000" i="1">
                            <a:latin typeface="Cambria Math" panose="02040503050406030204" pitchFamily="18" charset="0"/>
                            <a:ea typeface="Verdana" panose="020B0604030504040204" pitchFamily="34" charset="0"/>
                            <a:cs typeface="Verdana" panose="020B0604030504040204" pitchFamily="34" charset="0"/>
                          </a:rPr>
                          <m:t>1 </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t>
                </a:r>
                <a14:m>
                  <m:oMath xmlns:m="http://schemas.openxmlformats.org/officeDocument/2006/math">
                    <m:sSub>
                      <m:sSubPr>
                        <m:ctrlPr>
                          <a:rPr lang="en-US"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𝑑</m:t>
                        </m:r>
                      </m:e>
                      <m:sub>
                        <m:r>
                          <a:rPr lang="en-US" sz="2000" i="1">
                            <a:latin typeface="Cambria Math" panose="02040503050406030204" pitchFamily="18" charset="0"/>
                            <a:ea typeface="Verdana" panose="020B0604030504040204" pitchFamily="34" charset="0"/>
                            <a:cs typeface="Verdana" panose="020B0604030504040204" pitchFamily="34" charset="0"/>
                          </a:rPr>
                          <m:t>2 </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28156" y="520394"/>
                <a:ext cx="10086354" cy="5478423"/>
              </a:xfrm>
              <a:prstGeom prst="rect">
                <a:avLst/>
              </a:prstGeom>
              <a:blipFill rotWithShape="0">
                <a:blip r:embed="rId3"/>
                <a:stretch>
                  <a:fillRect l="-604" t="-556" r="-1269" b="-545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008272C1-2DC4-1143-B0FE-B203DA52FF41}"/>
              </a:ext>
            </a:extLst>
          </p:cNvPr>
          <p:cNvPicPr>
            <a:picLocks noChangeAspect="1"/>
          </p:cNvPicPr>
          <p:nvPr/>
        </p:nvPicPr>
        <p:blipFill>
          <a:blip r:embed="rId4"/>
          <a:stretch>
            <a:fillRect/>
          </a:stretch>
        </p:blipFill>
        <p:spPr>
          <a:xfrm>
            <a:off x="2386733" y="1628626"/>
            <a:ext cx="7569200" cy="990600"/>
          </a:xfrm>
          <a:prstGeom prst="rect">
            <a:avLst/>
          </a:prstGeom>
        </p:spPr>
      </p:pic>
      <p:sp>
        <p:nvSpPr>
          <p:cNvPr id="8" name="Google Shape;282;g104476d1465_1_17"/>
          <p:cNvSpPr txBox="1"/>
          <p:nvPr/>
        </p:nvSpPr>
        <p:spPr>
          <a:xfrm>
            <a:off x="8716039"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321</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4265"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65022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16039"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4265"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78842" y="-10034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7.4.6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49392" y="12567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163782" y="1386025"/>
            <a:ext cx="10120468" cy="1107996"/>
          </a:xfrm>
          <a:prstGeom prst="rect">
            <a:avLst/>
          </a:prstGeom>
          <a:noFill/>
        </p:spPr>
        <p:txBody>
          <a:bodyPr wrap="square" rtlCol="0">
            <a:spAutoFit/>
          </a:bodyPr>
          <a:lstStyle/>
          <a:p>
            <a:pPr marL="403225" indent="-403225"/>
            <a:r>
              <a:rPr lang="en-US" sz="2200" dirty="0">
                <a:latin typeface="Verdana" panose="020B0604030504040204" pitchFamily="34" charset="0"/>
                <a:ea typeface="Verdana" panose="020B0604030504040204" pitchFamily="34" charset="0"/>
                <a:cs typeface="Verdana" panose="020B0604030504040204" pitchFamily="34" charset="0"/>
              </a:rPr>
              <a:t>1. What was the muddiest (most difficult or confusing) point for you in today’s lesson on deriving the formula of parallelograms, trapezoids, and rhombi?</a:t>
            </a:r>
          </a:p>
        </p:txBody>
      </p:sp>
      <p:sp>
        <p:nvSpPr>
          <p:cNvPr id="8" name="Google Shape;278;g104476d1465_1_17">
            <a:extLst>
              <a:ext uri="{FF2B5EF4-FFF2-40B4-BE49-F238E27FC236}">
                <a16:creationId xmlns:a16="http://schemas.microsoft.com/office/drawing/2014/main" id="{C9825640-5649-F74D-866E-EC8F188D5640}"/>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939C208D-7590-4646-B4A5-00579840A68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3000"/>
                    </a14:imgEffect>
                  </a14:imgLayer>
                </a14:imgProps>
              </a:ext>
            </a:extLst>
          </a:blip>
          <a:stretch>
            <a:fillRect/>
          </a:stretch>
        </p:blipFill>
        <p:spPr>
          <a:xfrm>
            <a:off x="4673911" y="2711155"/>
            <a:ext cx="2438287" cy="2021418"/>
          </a:xfrm>
          <a:prstGeom prst="rect">
            <a:avLst/>
          </a:prstGeom>
        </p:spPr>
      </p:pic>
      <p:sp>
        <p:nvSpPr>
          <p:cNvPr id="11" name="Google Shape;282;g104476d1465_1_17"/>
          <p:cNvSpPr txBox="1"/>
          <p:nvPr/>
        </p:nvSpPr>
        <p:spPr>
          <a:xfrm>
            <a:off x="8716039"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321</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4265"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1302</TotalTime>
  <Words>1290</Words>
  <Application>Microsoft Office PowerPoint</Application>
  <PresentationFormat>Widescreen</PresentationFormat>
  <Paragraphs>229</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Arial Black</vt:lpstr>
      <vt:lpstr>Calibri</vt:lpstr>
      <vt:lpstr>Cambria Math</vt:lpstr>
      <vt:lpstr>Century Gothic</vt:lpstr>
      <vt:lpstr>Verdana</vt:lpstr>
      <vt:lpstr>1_Office Theme</vt:lpstr>
      <vt:lpstr>6th Grade Accelerated Math   Unit 7, Lesson 4  Deriving Area Formulas for Trapezoids, Parallelograms, and Rhombi  Volume 1, pg. 314  </vt:lpstr>
      <vt:lpstr>Benchmark</vt:lpstr>
      <vt:lpstr>PowerPoint Presentation</vt:lpstr>
      <vt:lpstr>PowerPoint Presentation</vt:lpstr>
      <vt:lpstr>Warm-Up</vt:lpstr>
      <vt:lpstr>PowerPoint Presentation</vt:lpstr>
      <vt:lpstr>Refresher</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23</cp:revision>
  <dcterms:created xsi:type="dcterms:W3CDTF">2015-03-17T18:51:18Z</dcterms:created>
  <dcterms:modified xsi:type="dcterms:W3CDTF">2022-06-29T19:27:44Z</dcterms:modified>
</cp:coreProperties>
</file>