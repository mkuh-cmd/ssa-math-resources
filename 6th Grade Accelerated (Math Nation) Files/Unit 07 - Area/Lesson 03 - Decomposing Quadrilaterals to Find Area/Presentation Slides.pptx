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27"/>
  </p:notesMasterIdLst>
  <p:sldIdLst>
    <p:sldId id="256" r:id="rId2"/>
    <p:sldId id="257" r:id="rId3"/>
    <p:sldId id="285" r:id="rId4"/>
    <p:sldId id="286" r:id="rId5"/>
    <p:sldId id="261" r:id="rId6"/>
    <p:sldId id="287" r:id="rId7"/>
    <p:sldId id="314" r:id="rId8"/>
    <p:sldId id="315" r:id="rId9"/>
    <p:sldId id="332" r:id="rId10"/>
    <p:sldId id="311" r:id="rId11"/>
    <p:sldId id="312" r:id="rId12"/>
    <p:sldId id="333" r:id="rId13"/>
    <p:sldId id="342" r:id="rId14"/>
    <p:sldId id="343" r:id="rId15"/>
    <p:sldId id="344" r:id="rId16"/>
    <p:sldId id="345" r:id="rId17"/>
    <p:sldId id="323" r:id="rId18"/>
    <p:sldId id="324" r:id="rId19"/>
    <p:sldId id="337" r:id="rId20"/>
    <p:sldId id="302" r:id="rId21"/>
    <p:sldId id="303" r:id="rId22"/>
    <p:sldId id="340" r:id="rId23"/>
    <p:sldId id="346" r:id="rId24"/>
    <p:sldId id="306" r:id="rId25"/>
    <p:sldId id="307" r:id="rId26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55" roundtripDataSignature="AMtx7miXGu+iP6Z2M0kNO/4dLqrShsAMT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17DBF"/>
    <a:srgbClr val="41BFAC"/>
    <a:srgbClr val="B399C8"/>
    <a:srgbClr val="276C46"/>
    <a:srgbClr val="C9DF6F"/>
    <a:srgbClr val="3F2A67"/>
    <a:srgbClr val="E24E5F"/>
    <a:srgbClr val="26B7D4"/>
    <a:srgbClr val="54B5D1"/>
    <a:srgbClr val="33BEA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A91F0D33-8C57-4600-99A7-42BC86742BE1}">
  <a:tblStyle styleId="{A91F0D33-8C57-4600-99A7-42BC86742BE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609"/>
    <p:restoredTop sz="94695"/>
  </p:normalViewPr>
  <p:slideViewPr>
    <p:cSldViewPr snapToGrid="0">
      <p:cViewPr varScale="1">
        <p:scale>
          <a:sx n="79" d="100"/>
          <a:sy n="79" d="100"/>
        </p:scale>
        <p:origin x="638" y="6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55" Type="http://customschemas.google.com/relationships/presentationmetadata" Target="meta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59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56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104476d146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104476d146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286833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468404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8337895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803800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3999061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14602280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0524138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2050934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1196724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3581514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83868533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78121154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2939425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3172534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3872673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93803140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1656324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3611023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2028263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31762268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1668810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373281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1_Title Slide">
    <p:bg>
      <p:bgPr>
        <a:blipFill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56"/>
          <p:cNvSpPr txBox="1">
            <a:spLocks noGrp="1"/>
          </p:cNvSpPr>
          <p:nvPr>
            <p:ph type="ctrTitle"/>
          </p:nvPr>
        </p:nvSpPr>
        <p:spPr>
          <a:xfrm>
            <a:off x="5299677" y="1070919"/>
            <a:ext cx="6526000" cy="3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 Black"/>
              <a:buNone/>
              <a:defRPr sz="30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77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7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20" name="Google Shape;20;p7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7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7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78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7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" name="Google Shape;26;p78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78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78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9"/>
          <p:cNvSpPr txBox="1">
            <a:spLocks noGrp="1"/>
          </p:cNvSpPr>
          <p:nvPr>
            <p:ph type="title"/>
          </p:nvPr>
        </p:nvSpPr>
        <p:spPr>
          <a:xfrm>
            <a:off x="831851" y="1709739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79"/>
          <p:cNvSpPr txBox="1"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2" name="Google Shape;32;p79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79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79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0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8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80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" name="Google Shape;39;p80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80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80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1"/>
          <p:cNvSpPr txBox="1">
            <a:spLocks noGrp="1"/>
          </p:cNvSpPr>
          <p:nvPr>
            <p:ph type="title"/>
          </p:nvPr>
        </p:nvSpPr>
        <p:spPr>
          <a:xfrm>
            <a:off x="839788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81"/>
          <p:cNvSpPr txBox="1">
            <a:spLocks noGrp="1"/>
          </p:cNvSpPr>
          <p:nvPr>
            <p:ph type="body" idx="1"/>
          </p:nvPr>
        </p:nvSpPr>
        <p:spPr>
          <a:xfrm>
            <a:off x="839789" y="1681163"/>
            <a:ext cx="51576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5" name="Google Shape;45;p81"/>
          <p:cNvSpPr txBox="1">
            <a:spLocks noGrp="1"/>
          </p:cNvSpPr>
          <p:nvPr>
            <p:ph type="body" idx="2"/>
          </p:nvPr>
        </p:nvSpPr>
        <p:spPr>
          <a:xfrm>
            <a:off x="839789" y="2505075"/>
            <a:ext cx="51576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81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2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7" name="Google Shape;47;p81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2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81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81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81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82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2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82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82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83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83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83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8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84"/>
          <p:cNvSpPr txBox="1">
            <a:spLocks noGrp="1"/>
          </p:cNvSpPr>
          <p:nvPr>
            <p:ph type="body" idx="1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63" name="Google Shape;63;p8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64" name="Google Shape;64;p84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84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84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8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85"/>
          <p:cNvSpPr>
            <a:spLocks noGrp="1"/>
          </p:cNvSpPr>
          <p:nvPr>
            <p:ph type="pic" idx="2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</p:sp>
      <p:sp>
        <p:nvSpPr>
          <p:cNvPr id="70" name="Google Shape;70;p8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71" name="Google Shape;71;p8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8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8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86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86"/>
          <p:cNvSpPr txBox="1">
            <a:spLocks noGrp="1"/>
          </p:cNvSpPr>
          <p:nvPr>
            <p:ph type="body" idx="1"/>
          </p:nvPr>
        </p:nvSpPr>
        <p:spPr>
          <a:xfrm rot="5400000">
            <a:off x="3920400" y="-1256575"/>
            <a:ext cx="4351200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86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86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86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87"/>
          <p:cNvSpPr txBox="1">
            <a:spLocks noGrp="1"/>
          </p:cNvSpPr>
          <p:nvPr>
            <p:ph type="title"/>
          </p:nvPr>
        </p:nvSpPr>
        <p:spPr>
          <a:xfrm rot="5400000">
            <a:off x="7133450" y="1956675"/>
            <a:ext cx="5811900" cy="26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87"/>
          <p:cNvSpPr txBox="1">
            <a:spLocks noGrp="1"/>
          </p:cNvSpPr>
          <p:nvPr>
            <p:ph type="body" idx="1"/>
          </p:nvPr>
        </p:nvSpPr>
        <p:spPr>
          <a:xfrm rot="5400000">
            <a:off x="1799350" y="-596125"/>
            <a:ext cx="5811900" cy="773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8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8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8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Slide">
  <p:cSld name="Text Slide">
    <p:bg>
      <p:bgPr>
        <a:solidFill>
          <a:schemeClr val="lt1"/>
        </a:solidFill>
        <a:effectLst/>
      </p:bgPr>
    </p:bg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88" descr="A picture containing text, sign, seat&#10;&#10;Description automatically generated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76869" y="5603082"/>
            <a:ext cx="3413760" cy="182880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88"/>
          <p:cNvSpPr/>
          <p:nvPr/>
        </p:nvSpPr>
        <p:spPr>
          <a:xfrm>
            <a:off x="0" y="0"/>
            <a:ext cx="198000" cy="6858000"/>
          </a:xfrm>
          <a:prstGeom prst="rect">
            <a:avLst/>
          </a:prstGeom>
          <a:solidFill>
            <a:srgbClr val="2776B6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2">
  <p:cSld name="Divider 2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89" descr="ANation-PPT22_5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89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89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3" name="Google Shape;93;p89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3">
  <p:cSld name="Divider 3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90" descr="ANation-PPT22_6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90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90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8" name="Google Shape;98;p90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1">
  <p:cSld name="Divider 1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91" descr="ANation-PPT22_2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91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91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3" name="Google Shape;103;p91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4">
  <p:cSld name="Divider 4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92" descr="ANation-PPT2_7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92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92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8" name="Google Shape;108;p92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5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5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5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5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5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0.png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0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0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0.png"/><Relationship Id="rId4" Type="http://schemas.openxmlformats.org/officeDocument/2006/relationships/image" Target="../media/image25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0.png"/><Relationship Id="rId4" Type="http://schemas.openxmlformats.org/officeDocument/2006/relationships/image" Target="../media/image24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0.png"/><Relationship Id="rId4" Type="http://schemas.openxmlformats.org/officeDocument/2006/relationships/image" Target="../media/image28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0.png"/><Relationship Id="rId4" Type="http://schemas.openxmlformats.org/officeDocument/2006/relationships/image" Target="../media/image3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309;g104476d1465_1_39">
            <a:extLst>
              <a:ext uri="{FF2B5EF4-FFF2-40B4-BE49-F238E27FC236}">
                <a16:creationId xmlns:a16="http://schemas.microsoft.com/office/drawing/2014/main" id="{566F1422-A32C-7745-9E85-5AF7B9DBC697}"/>
              </a:ext>
            </a:extLst>
          </p:cNvPr>
          <p:cNvSpPr/>
          <p:nvPr/>
        </p:nvSpPr>
        <p:spPr>
          <a:xfrm>
            <a:off x="0" y="0"/>
            <a:ext cx="4094106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261" name="Google Shape;261;g104476d1465_0_0"/>
          <p:cNvSpPr txBox="1">
            <a:spLocks noGrp="1"/>
          </p:cNvSpPr>
          <p:nvPr>
            <p:ph type="ctrTitle" idx="4294967295"/>
          </p:nvPr>
        </p:nvSpPr>
        <p:spPr>
          <a:xfrm>
            <a:off x="5742834" y="2054277"/>
            <a:ext cx="4925167" cy="3194455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6</a:t>
            </a:r>
            <a:r>
              <a:rPr lang="en-US" sz="3800" b="1" baseline="30000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th</a:t>
            </a: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 Grade Accelerated Math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endParaRPr lang="en-US" sz="38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lvl="0" algn="ctr">
              <a:lnSpc>
                <a:spcPct val="100000"/>
              </a:lnSpc>
              <a:buClr>
                <a:srgbClr val="000000"/>
              </a:buClr>
            </a:pP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Unit 7, Lesson 3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800" b="1" dirty="0">
                <a:solidFill>
                  <a:srgbClr val="417DBF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Decomposing Quadrilaterals to Find Area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2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Volume 1, pg. 308</a:t>
            </a: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endParaRPr lang="en-US" sz="34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75000"/>
              </a:lnSpc>
            </a:pPr>
            <a:endParaRPr sz="3100" dirty="0">
              <a:solidFill>
                <a:srgbClr val="417DBF"/>
              </a:solidFill>
            </a:endParaRPr>
          </a:p>
        </p:txBody>
      </p:sp>
      <p:cxnSp>
        <p:nvCxnSpPr>
          <p:cNvPr id="262" name="Google Shape;262;g104476d1465_0_0"/>
          <p:cNvCxnSpPr/>
          <p:nvPr/>
        </p:nvCxnSpPr>
        <p:spPr>
          <a:xfrm>
            <a:off x="-1573225" y="3938167"/>
            <a:ext cx="11526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3" name="Picture 2" descr="A blue sign with white text&#10;&#10;Description automatically generated with medium confidence">
            <a:extLst>
              <a:ext uri="{FF2B5EF4-FFF2-40B4-BE49-F238E27FC236}">
                <a16:creationId xmlns:a16="http://schemas.microsoft.com/office/drawing/2014/main" id="{5DE477E5-56CA-9D49-B76A-D5EDA7B79A42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1640" y="1526626"/>
            <a:ext cx="3270825" cy="3812847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279" name="Google Shape;279;g104476d1465_1_17"/>
          <p:cNvSpPr txBox="1">
            <a:spLocks noGrp="1"/>
          </p:cNvSpPr>
          <p:nvPr>
            <p:ph type="title" idx="4294967295"/>
          </p:nvPr>
        </p:nvSpPr>
        <p:spPr>
          <a:xfrm>
            <a:off x="1478068" y="1976"/>
            <a:ext cx="75099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buSzPts val="5400"/>
            </a:pPr>
            <a:r>
              <a:rPr lang="en-US" sz="47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Benchmark</a:t>
            </a:r>
            <a:endParaRPr sz="37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281" name="Google Shape;281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4568" y="237751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282" name="Google Shape;282;g104476d1465_1_17"/>
          <p:cNvSpPr txBox="1"/>
          <p:nvPr/>
        </p:nvSpPr>
        <p:spPr>
          <a:xfrm>
            <a:off x="86797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308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179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80;g104476d1465_1_17">
            <a:extLst>
              <a:ext uri="{FF2B5EF4-FFF2-40B4-BE49-F238E27FC236}">
                <a16:creationId xmlns:a16="http://schemas.microsoft.com/office/drawing/2014/main" id="{527A9F9F-07B8-ED47-B967-E5507C67DBC5}"/>
              </a:ext>
            </a:extLst>
          </p:cNvPr>
          <p:cNvSpPr txBox="1">
            <a:spLocks/>
          </p:cNvSpPr>
          <p:nvPr/>
        </p:nvSpPr>
        <p:spPr>
          <a:xfrm>
            <a:off x="1478068" y="1600200"/>
            <a:ext cx="9235864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>
              <a:buSzPts val="1100"/>
              <a:buNone/>
            </a:pPr>
            <a:r>
              <a:rPr lang="en-US" sz="3500" dirty="0">
                <a:solidFill>
                  <a:schemeClr val="tx1"/>
                </a:solidFill>
                <a:latin typeface="Verdana"/>
                <a:ea typeface="Verdana"/>
                <a:cs typeface="Verdana"/>
                <a:sym typeface="Verdana"/>
              </a:rPr>
              <a:t>MA.6.GR.2.2</a:t>
            </a:r>
          </a:p>
          <a:p>
            <a:pPr indent="0">
              <a:buNone/>
            </a:pPr>
            <a:r>
              <a:rPr lang="en-US" sz="3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Solve mathematical and real-world problems involving the area of quadrilaterals and composite figures by decomposing them into triangles or rectangles.</a:t>
            </a:r>
            <a:endParaRPr lang="en-US" sz="20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Century Gothic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1" name="Google Shape;281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0585" y="242633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95;g103996e1364_0_10">
            <a:extLst>
              <a:ext uri="{FF2B5EF4-FFF2-40B4-BE49-F238E27FC236}">
                <a16:creationId xmlns:a16="http://schemas.microsoft.com/office/drawing/2014/main" id="{08B3C7FF-E6D0-2145-9A84-003D15672764}"/>
              </a:ext>
            </a:extLst>
          </p:cNvPr>
          <p:cNvSpPr txBox="1">
            <a:spLocks/>
          </p:cNvSpPr>
          <p:nvPr/>
        </p:nvSpPr>
        <p:spPr>
          <a:xfrm>
            <a:off x="1585235" y="0"/>
            <a:ext cx="8024426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0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Integrated Mathematical Thinking and Reasoning Standards</a:t>
            </a:r>
          </a:p>
        </p:txBody>
      </p:sp>
      <p:sp>
        <p:nvSpPr>
          <p:cNvPr id="11" name="Google Shape;296;g103996e1364_0_10">
            <a:extLst>
              <a:ext uri="{FF2B5EF4-FFF2-40B4-BE49-F238E27FC236}">
                <a16:creationId xmlns:a16="http://schemas.microsoft.com/office/drawing/2014/main" id="{A6E18E39-B007-D647-9935-55A748533A45}"/>
              </a:ext>
            </a:extLst>
          </p:cNvPr>
          <p:cNvSpPr txBox="1">
            <a:spLocks/>
          </p:cNvSpPr>
          <p:nvPr/>
        </p:nvSpPr>
        <p:spPr>
          <a:xfrm>
            <a:off x="1585235" y="1596390"/>
            <a:ext cx="9609290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523"/>
            </a:pPr>
            <a:r>
              <a:rPr lang="en-US" sz="1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MA.K12.MTR.1.1 Actively participate in effortful learning both individually and collectively.</a:t>
            </a:r>
          </a:p>
          <a:p>
            <a:pPr marL="457200">
              <a:buSzPts val="523"/>
            </a:pPr>
            <a:endParaRPr lang="en-US" sz="18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1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MA.K12.MTR.2.1 Demonstrate understanding by representing problems in multiple ways.</a:t>
            </a:r>
          </a:p>
          <a:p>
            <a:pPr marL="457200">
              <a:buSzPts val="523"/>
            </a:pPr>
            <a:endParaRPr lang="en-US" sz="18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1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MA.K12.MTR.4.1 Engage in discussions that reflect on the mathematical thinking of self and others.</a:t>
            </a:r>
          </a:p>
          <a:p>
            <a:pPr marL="457200">
              <a:buSzPts val="523"/>
            </a:pPr>
            <a:endParaRPr lang="en-US" sz="18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1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MA.K12.MTR.5.1 Use patterns and structure to help understand and connect mathematical concepts.</a:t>
            </a:r>
          </a:p>
          <a:p>
            <a:pPr>
              <a:buSzPts val="523"/>
            </a:pPr>
            <a:endParaRPr lang="en-US" sz="18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endParaRPr lang="en-US" sz="18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</p:txBody>
      </p:sp>
      <p:sp>
        <p:nvSpPr>
          <p:cNvPr id="10" name="Google Shape;282;g104476d1465_1_17"/>
          <p:cNvSpPr txBox="1"/>
          <p:nvPr/>
        </p:nvSpPr>
        <p:spPr>
          <a:xfrm>
            <a:off x="86797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308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179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0808422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>
              <a:highlight>
                <a:srgbClr val="FFFF00"/>
              </a:highlight>
            </a:endParaRPr>
          </a:p>
        </p:txBody>
      </p:sp>
      <p:sp>
        <p:nvSpPr>
          <p:cNvPr id="10" name="Google Shape;301;g103996e1364_0_16">
            <a:extLst>
              <a:ext uri="{FF2B5EF4-FFF2-40B4-BE49-F238E27FC236}">
                <a16:creationId xmlns:a16="http://schemas.microsoft.com/office/drawing/2014/main" id="{5771FBFA-7311-BB45-8AFF-04B380531EE6}"/>
              </a:ext>
            </a:extLst>
          </p:cNvPr>
          <p:cNvSpPr txBox="1">
            <a:spLocks/>
          </p:cNvSpPr>
          <p:nvPr/>
        </p:nvSpPr>
        <p:spPr>
          <a:xfrm>
            <a:off x="1361375" y="0"/>
            <a:ext cx="79584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4700" b="1" dirty="0">
                <a:solidFill>
                  <a:srgbClr val="52BDA6"/>
                </a:solidFill>
                <a:latin typeface="Verdana"/>
                <a:ea typeface="Verdana"/>
                <a:cs typeface="Verdana"/>
                <a:sym typeface="Verdana"/>
              </a:rPr>
              <a:t>Learning Target</a:t>
            </a:r>
          </a:p>
        </p:txBody>
      </p:sp>
      <p:pic>
        <p:nvPicPr>
          <p:cNvPr id="12" name="Google Shape;303;g103996e1364_0_16">
            <a:extLst>
              <a:ext uri="{FF2B5EF4-FFF2-40B4-BE49-F238E27FC236}">
                <a16:creationId xmlns:a16="http://schemas.microsoft.com/office/drawing/2014/main" id="{81DC7EB0-4FED-FC45-BAEC-D699ED5C2169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4075" y="28920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4" name="Google Shape;302;g103996e1364_0_16">
            <a:extLst>
              <a:ext uri="{FF2B5EF4-FFF2-40B4-BE49-F238E27FC236}">
                <a16:creationId xmlns:a16="http://schemas.microsoft.com/office/drawing/2014/main" id="{9B7C98EC-F13C-9146-B728-D7044DB4247D}"/>
              </a:ext>
            </a:extLst>
          </p:cNvPr>
          <p:cNvSpPr txBox="1">
            <a:spLocks/>
          </p:cNvSpPr>
          <p:nvPr/>
        </p:nvSpPr>
        <p:spPr>
          <a:xfrm>
            <a:off x="1361375" y="1600200"/>
            <a:ext cx="9469250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57200" indent="-450850">
              <a:buClr>
                <a:srgbClr val="434343"/>
              </a:buClr>
              <a:buSzPts val="3500"/>
              <a:buFont typeface="Verdana"/>
              <a:buChar char="❏"/>
            </a:pPr>
            <a:r>
              <a:rPr lang="en-US" sz="2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I can find the area of quadrilaterals by decomposing them into triangles and rectangles.</a:t>
            </a:r>
          </a:p>
        </p:txBody>
      </p:sp>
      <p:sp>
        <p:nvSpPr>
          <p:cNvPr id="9" name="Google Shape;282;g104476d1465_1_17"/>
          <p:cNvSpPr txBox="1"/>
          <p:nvPr/>
        </p:nvSpPr>
        <p:spPr>
          <a:xfrm>
            <a:off x="86797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308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179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0714203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2" name="Google Shape;312;g104476d1465_1_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35550" y="2879325"/>
            <a:ext cx="1031750" cy="10317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844350" y="2766145"/>
            <a:ext cx="40482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Warm-Up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7" name="Google Shape;282;g104476d1465_1_17"/>
          <p:cNvSpPr txBox="1"/>
          <p:nvPr/>
        </p:nvSpPr>
        <p:spPr>
          <a:xfrm>
            <a:off x="86797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308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179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480151" y="74115"/>
            <a:ext cx="80193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7.3.1 Warm-Up: Perimeter and Area of a Rectangle</a:t>
            </a:r>
          </a:p>
        </p:txBody>
      </p:sp>
      <p:pic>
        <p:nvPicPr>
          <p:cNvPr id="13" name="Google Shape;326;g103996e1364_0_25">
            <a:extLst>
              <a:ext uri="{FF2B5EF4-FFF2-40B4-BE49-F238E27FC236}">
                <a16:creationId xmlns:a16="http://schemas.microsoft.com/office/drawing/2014/main" id="{0B25478F-1F7B-DF44-A9BD-898178E878B3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7099" y="289724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1D7562E-134F-D14B-AF1A-DF40E11EF758}"/>
              </a:ext>
            </a:extLst>
          </p:cNvPr>
          <p:cNvSpPr txBox="1"/>
          <p:nvPr/>
        </p:nvSpPr>
        <p:spPr>
          <a:xfrm>
            <a:off x="1166191" y="1386026"/>
            <a:ext cx="10115650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AutoNum type="arabicPeriod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 rectangle is shown with side lengths given in centimeters (cm).</a:t>
            </a:r>
          </a:p>
          <a:p>
            <a:pPr marL="457200" indent="-457200">
              <a:buAutoNum type="arabicPeriod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AutoNum type="arabicPeriod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AutoNum type="arabicPeriod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AutoNum type="arabicPeriod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AutoNum type="arabicPeriod"/>
            </a:pPr>
            <a:endParaRPr lang="en-US" sz="2000" dirty="0"/>
          </a:p>
          <a:p>
            <a:pPr marL="461963">
              <a:buAutoNum type="alphaLcPeriod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 Find the perimeter of the rectangle. Include units. </a:t>
            </a:r>
          </a:p>
          <a:p>
            <a:pPr marL="461963">
              <a:buAutoNum type="alphaLcPeriod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61963"/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      Perimeter = _________ </a:t>
            </a:r>
          </a:p>
          <a:p>
            <a:pPr marL="461963"/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61963"/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61963"/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61963"/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b.  Find the area of the rectangle. Include units. </a:t>
            </a:r>
          </a:p>
          <a:p>
            <a:pPr marL="461963"/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61963"/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      Area = __________</a:t>
            </a:r>
          </a:p>
        </p:txBody>
      </p:sp>
      <p:sp>
        <p:nvSpPr>
          <p:cNvPr id="9" name="Google Shape;278;g104476d1465_1_17">
            <a:extLst>
              <a:ext uri="{FF2B5EF4-FFF2-40B4-BE49-F238E27FC236}">
                <a16:creationId xmlns:a16="http://schemas.microsoft.com/office/drawing/2014/main" id="{F1992A8F-F621-054D-B71E-96605FF7377D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>
              <a:highlight>
                <a:srgbClr val="FFFF00"/>
              </a:highlight>
            </a:endParaRPr>
          </a:p>
        </p:txBody>
      </p:sp>
      <p:pic>
        <p:nvPicPr>
          <p:cNvPr id="4" name="Picture 3" descr="Shape, rectangle&#10;&#10;Description automatically generated">
            <a:extLst>
              <a:ext uri="{FF2B5EF4-FFF2-40B4-BE49-F238E27FC236}">
                <a16:creationId xmlns:a16="http://schemas.microsoft.com/office/drawing/2014/main" id="{5ED2055B-CDCF-CA44-B055-120DC47CFDE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55258" y="2013721"/>
            <a:ext cx="3985371" cy="1255392"/>
          </a:xfrm>
          <a:prstGeom prst="rect">
            <a:avLst/>
          </a:prstGeom>
        </p:spPr>
      </p:pic>
      <p:sp>
        <p:nvSpPr>
          <p:cNvPr id="11" name="Google Shape;282;g104476d1465_1_17"/>
          <p:cNvSpPr txBox="1"/>
          <p:nvPr/>
        </p:nvSpPr>
        <p:spPr>
          <a:xfrm>
            <a:off x="86797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308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" name="Google Shape;283;g104476d1465_1_17"/>
          <p:cNvPicPr preferRelativeResize="0"/>
          <p:nvPr/>
        </p:nvPicPr>
        <p:blipFill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179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9490299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665258" y="2766145"/>
            <a:ext cx="5002742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Collaboration</a:t>
            </a:r>
            <a:endParaRPr sz="5100" b="1" dirty="0">
              <a:solidFill>
                <a:srgbClr val="33BEA6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D0821C8B-4657-A74D-94B5-D6CF373A17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513114" y="2852923"/>
            <a:ext cx="1152144" cy="115214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Google Shape;282;g104476d1465_1_17"/>
          <p:cNvSpPr txBox="1"/>
          <p:nvPr/>
        </p:nvSpPr>
        <p:spPr>
          <a:xfrm>
            <a:off x="86797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309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179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5607887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353659" y="36017"/>
            <a:ext cx="80193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7.3.2 Collaboration: Decomposing Parallelograms</a:t>
            </a:r>
          </a:p>
        </p:txBody>
      </p:sp>
      <p:pic>
        <p:nvPicPr>
          <p:cNvPr id="9" name="Picture 2">
            <a:extLst>
              <a:ext uri="{FF2B5EF4-FFF2-40B4-BE49-F238E27FC236}">
                <a16:creationId xmlns:a16="http://schemas.microsoft.com/office/drawing/2014/main" id="{A80EBD0F-404F-0B4B-AC09-DA5A6DF602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43951" y="284207"/>
            <a:ext cx="749808" cy="74980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E44DF7DE-9172-3E4E-B74A-7A51585FB6EA}"/>
              </a:ext>
            </a:extLst>
          </p:cNvPr>
          <p:cNvSpPr txBox="1"/>
          <p:nvPr/>
        </p:nvSpPr>
        <p:spPr>
          <a:xfrm>
            <a:off x="1353660" y="1386026"/>
            <a:ext cx="5285008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Three parallelograms are shown on the grid. Each square is </a:t>
            </a:r>
            <a:r>
              <a:rPr lang="en-US" sz="2200" dirty="0">
                <a:latin typeface="Cambria Math" panose="02040503050406030204" pitchFamily="18" charset="0"/>
                <a:ea typeface="Cambria Math" panose="02040503050406030204" pitchFamily="18" charset="0"/>
                <a:cs typeface="Verdana" panose="020B0604030504040204" pitchFamily="34" charset="0"/>
              </a:rPr>
              <a:t>1</a:t>
            </a:r>
            <a:r>
              <a:rPr lang="el-GR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centimeter (cm) by </a:t>
            </a:r>
            <a:r>
              <a:rPr lang="en-US" sz="2200" dirty="0">
                <a:latin typeface="Cambria Math" panose="02040503050406030204" pitchFamily="18" charset="0"/>
                <a:ea typeface="Cambria Math" panose="02040503050406030204" pitchFamily="18" charset="0"/>
                <a:cs typeface="Verdana" panose="020B0604030504040204" pitchFamily="34" charset="0"/>
              </a:rPr>
              <a:t>1</a:t>
            </a:r>
            <a:r>
              <a:rPr lang="el-GR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cm.</a:t>
            </a:r>
          </a:p>
        </p:txBody>
      </p:sp>
      <p:sp>
        <p:nvSpPr>
          <p:cNvPr id="11" name="Google Shape;278;g104476d1465_1_17">
            <a:extLst>
              <a:ext uri="{FF2B5EF4-FFF2-40B4-BE49-F238E27FC236}">
                <a16:creationId xmlns:a16="http://schemas.microsoft.com/office/drawing/2014/main" id="{50C37AA2-8B34-A044-9CF0-D6F9EE428461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>
              <a:highlight>
                <a:srgbClr val="FFFF00"/>
              </a:highlight>
            </a:endParaRPr>
          </a:p>
        </p:txBody>
      </p:sp>
      <p:pic>
        <p:nvPicPr>
          <p:cNvPr id="3" name="Picture 2" descr="Chart&#10;&#10;Description automatically generated">
            <a:extLst>
              <a:ext uri="{FF2B5EF4-FFF2-40B4-BE49-F238E27FC236}">
                <a16:creationId xmlns:a16="http://schemas.microsoft.com/office/drawing/2014/main" id="{B5BC1226-15FD-5241-8670-120C9ADE5AD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38668" y="1300681"/>
            <a:ext cx="4261126" cy="1659507"/>
          </a:xfrm>
          <a:prstGeom prst="rect">
            <a:avLst/>
          </a:prstGeom>
        </p:spPr>
      </p:pic>
      <p:pic>
        <p:nvPicPr>
          <p:cNvPr id="5" name="Picture 4" descr="Table&#10;&#10;Description automatically generated">
            <a:extLst>
              <a:ext uri="{FF2B5EF4-FFF2-40B4-BE49-F238E27FC236}">
                <a16:creationId xmlns:a16="http://schemas.microsoft.com/office/drawing/2014/main" id="{4C31CF40-E7E2-414C-89BF-62D7FC22F38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87596" y="3607037"/>
            <a:ext cx="5533742" cy="2924576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7A71AD64-B0FA-AA4E-8E59-95C1E8874C10}"/>
              </a:ext>
            </a:extLst>
          </p:cNvPr>
          <p:cNvSpPr txBox="1"/>
          <p:nvPr/>
        </p:nvSpPr>
        <p:spPr>
          <a:xfrm>
            <a:off x="1353659" y="2899151"/>
            <a:ext cx="1029006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/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1. Work with your partner to complete the table using the figures shown in the grid. Include units.</a:t>
            </a:r>
          </a:p>
        </p:txBody>
      </p:sp>
      <p:sp>
        <p:nvSpPr>
          <p:cNvPr id="14" name="Google Shape;282;g104476d1465_1_17"/>
          <p:cNvSpPr txBox="1"/>
          <p:nvPr/>
        </p:nvSpPr>
        <p:spPr>
          <a:xfrm>
            <a:off x="86797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309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" name="Google Shape;283;g104476d1465_1_17"/>
          <p:cNvPicPr preferRelativeResize="0"/>
          <p:nvPr/>
        </p:nvPicPr>
        <p:blipFill>
          <a:blip r:embed="rId6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179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6744370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>
            <a:extLst>
              <a:ext uri="{FF2B5EF4-FFF2-40B4-BE49-F238E27FC236}">
                <a16:creationId xmlns:a16="http://schemas.microsoft.com/office/drawing/2014/main" id="{2FA392D8-3ED3-7940-83A8-1451AA8A08D4}"/>
              </a:ext>
            </a:extLst>
          </p:cNvPr>
          <p:cNvSpPr txBox="1"/>
          <p:nvPr/>
        </p:nvSpPr>
        <p:spPr>
          <a:xfrm>
            <a:off x="1166191" y="473500"/>
            <a:ext cx="985961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61963" indent="-461963"/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2. Discuss with your partner how the areas of the triangles are related to the area of the parallelogram they form. Write a brief summary of your discussion.</a:t>
            </a:r>
          </a:p>
        </p:txBody>
      </p:sp>
      <p:sp>
        <p:nvSpPr>
          <p:cNvPr id="6" name="Google Shape;278;g104476d1465_1_17">
            <a:extLst>
              <a:ext uri="{FF2B5EF4-FFF2-40B4-BE49-F238E27FC236}">
                <a16:creationId xmlns:a16="http://schemas.microsoft.com/office/drawing/2014/main" id="{5B857E21-14F1-9C47-B2E8-32DB537DBF85}"/>
              </a:ext>
            </a:extLst>
          </p:cNvPr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>
              <a:highlight>
                <a:srgbClr val="FFFF00"/>
              </a:highlight>
            </a:endParaRPr>
          </a:p>
        </p:txBody>
      </p:sp>
      <p:sp>
        <p:nvSpPr>
          <p:cNvPr id="8" name="Google Shape;282;g104476d1465_1_17"/>
          <p:cNvSpPr txBox="1"/>
          <p:nvPr/>
        </p:nvSpPr>
        <p:spPr>
          <a:xfrm>
            <a:off x="86797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309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179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1348416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13252"/>
            <a:ext cx="2731200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844350" y="2766145"/>
            <a:ext cx="439693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Exploration</a:t>
            </a:r>
            <a:endParaRPr sz="5100" b="1" dirty="0">
              <a:solidFill>
                <a:srgbClr val="33BEA6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026" name="Picture 2" descr="Icon&#10;&#10;Description automatically generated">
            <a:extLst>
              <a:ext uri="{FF2B5EF4-FFF2-40B4-BE49-F238E27FC236}">
                <a16:creationId xmlns:a16="http://schemas.microsoft.com/office/drawing/2014/main" id="{467567E5-BEAF-E24A-A492-D25759172D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630950" y="2814305"/>
            <a:ext cx="1156228" cy="115622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Google Shape;282;g104476d1465_1_17"/>
          <p:cNvSpPr txBox="1"/>
          <p:nvPr/>
        </p:nvSpPr>
        <p:spPr>
          <a:xfrm>
            <a:off x="86797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309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179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1969715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431752" y="24247"/>
            <a:ext cx="80193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7.3.3 Exploration: Finding Area by Decomposing</a:t>
            </a:r>
          </a:p>
        </p:txBody>
      </p:sp>
      <p:pic>
        <p:nvPicPr>
          <p:cNvPr id="7" name="Picture 2" descr="Icon&#10;&#10;Description automatically generated">
            <a:extLst>
              <a:ext uri="{FF2B5EF4-FFF2-40B4-BE49-F238E27FC236}">
                <a16:creationId xmlns:a16="http://schemas.microsoft.com/office/drawing/2014/main" id="{A741EC39-D81C-A945-833B-CFC11AA40A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75454" y="272372"/>
            <a:ext cx="752254" cy="75225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52D1D4D-DCB8-A246-B186-D40316579D77}"/>
              </a:ext>
            </a:extLst>
          </p:cNvPr>
          <p:cNvSpPr txBox="1"/>
          <p:nvPr/>
        </p:nvSpPr>
        <p:spPr>
          <a:xfrm>
            <a:off x="1427708" y="1386025"/>
            <a:ext cx="8959876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AutoNum type="arabicPeriod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 quadrilateral with measurements in centimeters (cm) is shown.</a:t>
            </a:r>
          </a:p>
          <a:p>
            <a:pPr marL="457200" indent="-457200">
              <a:buAutoNum type="arabicPeriod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AutoNum type="arabicPeriod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AutoNum type="arabicPeriod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AutoNum type="arabicPeriod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AutoNum type="arabicPeriod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AutoNum type="arabicPeriod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AutoNum type="arabicPeriod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25513" lvl="2" indent="-476250">
              <a:buAutoNum type="alphaLcPeriod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Copy the image on a piece of paper. </a:t>
            </a:r>
          </a:p>
          <a:p>
            <a:pPr marL="457200" lvl="2" indent="-457200">
              <a:buAutoNum type="alphaLcPeriod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lvl="2"/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9" name="Google Shape;278;g104476d1465_1_17">
            <a:extLst>
              <a:ext uri="{FF2B5EF4-FFF2-40B4-BE49-F238E27FC236}">
                <a16:creationId xmlns:a16="http://schemas.microsoft.com/office/drawing/2014/main" id="{D672544D-2ABA-1343-B9BB-B0296BB0511F}"/>
              </a:ext>
            </a:extLst>
          </p:cNvPr>
          <p:cNvSpPr/>
          <p:nvPr/>
        </p:nvSpPr>
        <p:spPr>
          <a:xfrm>
            <a:off x="-10135" y="0"/>
            <a:ext cx="223200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>
              <a:highlight>
                <a:srgbClr val="FFFF00"/>
              </a:highlight>
            </a:endParaRPr>
          </a:p>
        </p:txBody>
      </p:sp>
      <p:pic>
        <p:nvPicPr>
          <p:cNvPr id="3" name="Picture 2" descr="A picture containing diagram&#10;&#10;Description automatically generated">
            <a:extLst>
              <a:ext uri="{FF2B5EF4-FFF2-40B4-BE49-F238E27FC236}">
                <a16:creationId xmlns:a16="http://schemas.microsoft.com/office/drawing/2014/main" id="{8C008107-046C-3E46-99E9-3D4A3B206B6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04179" y="1857620"/>
            <a:ext cx="3377750" cy="2036585"/>
          </a:xfrm>
          <a:prstGeom prst="rect">
            <a:avLst/>
          </a:prstGeom>
        </p:spPr>
      </p:pic>
      <p:pic>
        <p:nvPicPr>
          <p:cNvPr id="5" name="Picture 4" descr="Text&#10;&#10;Description automatically generated">
            <a:extLst>
              <a:ext uri="{FF2B5EF4-FFF2-40B4-BE49-F238E27FC236}">
                <a16:creationId xmlns:a16="http://schemas.microsoft.com/office/drawing/2014/main" id="{DC583B63-74A2-CD4A-9A5D-660D38157DD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95520" y="2711726"/>
            <a:ext cx="1152281" cy="663183"/>
          </a:xfrm>
          <a:prstGeom prst="rect">
            <a:avLst/>
          </a:prstGeom>
        </p:spPr>
      </p:pic>
      <p:sp>
        <p:nvSpPr>
          <p:cNvPr id="11" name="Google Shape;282;g104476d1465_1_17"/>
          <p:cNvSpPr txBox="1"/>
          <p:nvPr/>
        </p:nvSpPr>
        <p:spPr>
          <a:xfrm>
            <a:off x="86797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309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" name="Google Shape;283;g104476d1465_1_17"/>
          <p:cNvPicPr preferRelativeResize="0"/>
          <p:nvPr/>
        </p:nvPicPr>
        <p:blipFill>
          <a:blip r:embed="rId6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179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23524808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>
            <a:extLst>
              <a:ext uri="{FF2B5EF4-FFF2-40B4-BE49-F238E27FC236}">
                <a16:creationId xmlns:a16="http://schemas.microsoft.com/office/drawing/2014/main" id="{2FA392D8-3ED3-7940-83A8-1451AA8A08D4}"/>
              </a:ext>
            </a:extLst>
          </p:cNvPr>
          <p:cNvSpPr txBox="1"/>
          <p:nvPr/>
        </p:nvSpPr>
        <p:spPr>
          <a:xfrm>
            <a:off x="1484243" y="520394"/>
            <a:ext cx="937418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lvl="2" indent="-457200">
              <a:buFont typeface="+mj-lt"/>
              <a:buAutoNum type="alphaLcPeriod" startAt="2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Decompose the quadrilateral into two triangles and a rectangle by cutting along the dotted lines. Glue or tape the three figures here.</a:t>
            </a:r>
          </a:p>
        </p:txBody>
      </p:sp>
      <p:sp>
        <p:nvSpPr>
          <p:cNvPr id="6" name="Google Shape;278;g104476d1465_1_17">
            <a:extLst>
              <a:ext uri="{FF2B5EF4-FFF2-40B4-BE49-F238E27FC236}">
                <a16:creationId xmlns:a16="http://schemas.microsoft.com/office/drawing/2014/main" id="{6760BDC3-AF44-C94E-BD05-E61FF805DD32}"/>
              </a:ext>
            </a:extLst>
          </p:cNvPr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>
              <a:highlight>
                <a:srgbClr val="FFFF00"/>
              </a:highlight>
            </a:endParaRPr>
          </a:p>
        </p:txBody>
      </p:sp>
      <p:sp>
        <p:nvSpPr>
          <p:cNvPr id="8" name="Google Shape;282;g104476d1465_1_17"/>
          <p:cNvSpPr txBox="1"/>
          <p:nvPr/>
        </p:nvSpPr>
        <p:spPr>
          <a:xfrm>
            <a:off x="86797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309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179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552515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>
            <a:extLst>
              <a:ext uri="{FF2B5EF4-FFF2-40B4-BE49-F238E27FC236}">
                <a16:creationId xmlns:a16="http://schemas.microsoft.com/office/drawing/2014/main" id="{2FA392D8-3ED3-7940-83A8-1451AA8A08D4}"/>
              </a:ext>
            </a:extLst>
          </p:cNvPr>
          <p:cNvSpPr txBox="1"/>
          <p:nvPr/>
        </p:nvSpPr>
        <p:spPr>
          <a:xfrm>
            <a:off x="1298713" y="520393"/>
            <a:ext cx="9745240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2" indent="-342900"/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c. Using the measurements given in the original image, label the base and height of each figure. </a:t>
            </a:r>
          </a:p>
          <a:p>
            <a:pPr marL="342900" lvl="2" indent="-342900"/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lvl="2" indent="-342900"/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lvl="2" indent="-342900"/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lvl="2" indent="-342900"/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lvl="2" indent="-342900"/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lvl="2" indent="-342900"/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d. What is the area of each figure? Include units. </a:t>
            </a:r>
          </a:p>
          <a:p>
            <a:pPr marL="342900" lvl="2" indent="-342900"/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lvl="2" indent="-342900"/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lvl="2" indent="-342900"/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lvl="2" indent="-342900"/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lvl="2" indent="-342900"/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lvl="2" indent="-342900"/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lvl="2" indent="-342900"/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e. Find the area of the original quadrilateral by finding the sum of the three figures. Include units.</a:t>
            </a:r>
          </a:p>
        </p:txBody>
      </p:sp>
      <p:sp>
        <p:nvSpPr>
          <p:cNvPr id="6" name="Google Shape;278;g104476d1465_1_17">
            <a:extLst>
              <a:ext uri="{FF2B5EF4-FFF2-40B4-BE49-F238E27FC236}">
                <a16:creationId xmlns:a16="http://schemas.microsoft.com/office/drawing/2014/main" id="{6760BDC3-AF44-C94E-BD05-E61FF805DD32}"/>
              </a:ext>
            </a:extLst>
          </p:cNvPr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>
              <a:highlight>
                <a:srgbClr val="FFFF00"/>
              </a:highlight>
            </a:endParaRPr>
          </a:p>
        </p:txBody>
      </p:sp>
      <p:sp>
        <p:nvSpPr>
          <p:cNvPr id="8" name="Google Shape;282;g104476d1465_1_17"/>
          <p:cNvSpPr txBox="1"/>
          <p:nvPr/>
        </p:nvSpPr>
        <p:spPr>
          <a:xfrm>
            <a:off x="86797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310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179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08795827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>
            <a:extLst>
              <a:ext uri="{FF2B5EF4-FFF2-40B4-BE49-F238E27FC236}">
                <a16:creationId xmlns:a16="http://schemas.microsoft.com/office/drawing/2014/main" id="{2FA392D8-3ED3-7940-83A8-1451AA8A08D4}"/>
              </a:ext>
            </a:extLst>
          </p:cNvPr>
          <p:cNvSpPr txBox="1"/>
          <p:nvPr/>
        </p:nvSpPr>
        <p:spPr>
          <a:xfrm>
            <a:off x="1364974" y="520394"/>
            <a:ext cx="8969927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2. Another quadrilateral is shown.</a:t>
            </a:r>
          </a:p>
          <a:p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754063" indent="-317500"/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a. Decompose the quadrilateral into triangles. Sketch the decomposed triangles here. </a:t>
            </a:r>
          </a:p>
        </p:txBody>
      </p:sp>
      <p:sp>
        <p:nvSpPr>
          <p:cNvPr id="6" name="Google Shape;278;g104476d1465_1_17">
            <a:extLst>
              <a:ext uri="{FF2B5EF4-FFF2-40B4-BE49-F238E27FC236}">
                <a16:creationId xmlns:a16="http://schemas.microsoft.com/office/drawing/2014/main" id="{307FF70B-9DD6-5740-B43B-698B43CC299B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>
              <a:highlight>
                <a:srgbClr val="FFFF00"/>
              </a:highlight>
            </a:endParaRPr>
          </a:p>
        </p:txBody>
      </p:sp>
      <p:pic>
        <p:nvPicPr>
          <p:cNvPr id="3" name="Picture 2" descr="Diagram&#10;&#10;Description automatically generated">
            <a:extLst>
              <a:ext uri="{FF2B5EF4-FFF2-40B4-BE49-F238E27FC236}">
                <a16:creationId xmlns:a16="http://schemas.microsoft.com/office/drawing/2014/main" id="{1525F7BE-C9CE-484D-88EB-5832682191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33372" y="982059"/>
            <a:ext cx="3519365" cy="2886921"/>
          </a:xfrm>
          <a:prstGeom prst="rect">
            <a:avLst/>
          </a:prstGeom>
        </p:spPr>
      </p:pic>
      <p:sp>
        <p:nvSpPr>
          <p:cNvPr id="7" name="Google Shape;282;g104476d1465_1_17"/>
          <p:cNvSpPr txBox="1"/>
          <p:nvPr/>
        </p:nvSpPr>
        <p:spPr>
          <a:xfrm>
            <a:off x="86797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310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179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14864435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>
            <a:extLst>
              <a:ext uri="{FF2B5EF4-FFF2-40B4-BE49-F238E27FC236}">
                <a16:creationId xmlns:a16="http://schemas.microsoft.com/office/drawing/2014/main" id="{2FA392D8-3ED3-7940-83A8-1451AA8A08D4}"/>
              </a:ext>
            </a:extLst>
          </p:cNvPr>
          <p:cNvSpPr txBox="1"/>
          <p:nvPr/>
        </p:nvSpPr>
        <p:spPr>
          <a:xfrm>
            <a:off x="1152939" y="520394"/>
            <a:ext cx="10036788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/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b. Using the measurements given in the original image, label the base and height of each triangle.</a:t>
            </a:r>
          </a:p>
          <a:p>
            <a:pPr marL="342900" indent="-342900"/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/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/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/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/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/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/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/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c. Find the area of the original quadrilateral by finding the sum of the areas of the decomposed triangles. Include units.</a:t>
            </a:r>
          </a:p>
        </p:txBody>
      </p:sp>
      <p:sp>
        <p:nvSpPr>
          <p:cNvPr id="6" name="Google Shape;278;g104476d1465_1_17">
            <a:extLst>
              <a:ext uri="{FF2B5EF4-FFF2-40B4-BE49-F238E27FC236}">
                <a16:creationId xmlns:a16="http://schemas.microsoft.com/office/drawing/2014/main" id="{307FF70B-9DD6-5740-B43B-698B43CC299B}"/>
              </a:ext>
            </a:extLst>
          </p:cNvPr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>
              <a:highlight>
                <a:srgbClr val="FFFF00"/>
              </a:highlight>
            </a:endParaRPr>
          </a:p>
        </p:txBody>
      </p:sp>
      <p:sp>
        <p:nvSpPr>
          <p:cNvPr id="8" name="Google Shape;282;g104476d1465_1_17"/>
          <p:cNvSpPr txBox="1"/>
          <p:nvPr/>
        </p:nvSpPr>
        <p:spPr>
          <a:xfrm>
            <a:off x="86797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310-311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179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10581426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>
            <a:extLst>
              <a:ext uri="{FF2B5EF4-FFF2-40B4-BE49-F238E27FC236}">
                <a16:creationId xmlns:a16="http://schemas.microsoft.com/office/drawing/2014/main" id="{2FA392D8-3ED3-7940-83A8-1451AA8A08D4}"/>
              </a:ext>
            </a:extLst>
          </p:cNvPr>
          <p:cNvSpPr txBox="1"/>
          <p:nvPr/>
        </p:nvSpPr>
        <p:spPr>
          <a:xfrm>
            <a:off x="1404730" y="520394"/>
            <a:ext cx="9533206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54063" indent="-317500"/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d. Sketch any other ways you could have decomposed the original figure.</a:t>
            </a:r>
          </a:p>
          <a:p>
            <a:pPr marL="754063" indent="-317500"/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754063" indent="-317500"/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754063" indent="-317500"/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754063" indent="-317500"/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754063" indent="-317500"/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754063" indent="-317500"/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754063" indent="-317500"/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754063" indent="-317500"/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e. Explain if decomposing the figure changes the area of the original figure.</a:t>
            </a:r>
          </a:p>
        </p:txBody>
      </p:sp>
      <p:sp>
        <p:nvSpPr>
          <p:cNvPr id="6" name="Google Shape;278;g104476d1465_1_17">
            <a:extLst>
              <a:ext uri="{FF2B5EF4-FFF2-40B4-BE49-F238E27FC236}">
                <a16:creationId xmlns:a16="http://schemas.microsoft.com/office/drawing/2014/main" id="{307FF70B-9DD6-5740-B43B-698B43CC299B}"/>
              </a:ext>
            </a:extLst>
          </p:cNvPr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>
              <a:highlight>
                <a:srgbClr val="FFFF00"/>
              </a:highlight>
            </a:endParaRPr>
          </a:p>
        </p:txBody>
      </p:sp>
      <p:sp>
        <p:nvSpPr>
          <p:cNvPr id="8" name="Google Shape;282;g104476d1465_1_17"/>
          <p:cNvSpPr txBox="1"/>
          <p:nvPr/>
        </p:nvSpPr>
        <p:spPr>
          <a:xfrm>
            <a:off x="86797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311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179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79448219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225955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Guided Practice</a:t>
            </a:r>
            <a:endParaRPr sz="51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9218" name="Picture 2" descr="Icon&#10;&#10;Description automatically generated">
            <a:extLst>
              <a:ext uri="{FF2B5EF4-FFF2-40B4-BE49-F238E27FC236}">
                <a16:creationId xmlns:a16="http://schemas.microsoft.com/office/drawing/2014/main" id="{B02E8C6A-53AD-AA4E-A4ED-406F3B0E37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512723" y="2852923"/>
            <a:ext cx="1152144" cy="115214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Google Shape;282;g104476d1465_1_17"/>
          <p:cNvSpPr txBox="1"/>
          <p:nvPr/>
        </p:nvSpPr>
        <p:spPr>
          <a:xfrm>
            <a:off x="86797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311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179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32100008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343;g103996e1364_0_321">
            <a:extLst>
              <a:ext uri="{FF2B5EF4-FFF2-40B4-BE49-F238E27FC236}">
                <a16:creationId xmlns:a16="http://schemas.microsoft.com/office/drawing/2014/main" id="{21B1DF8E-16A0-FA4E-8CEB-434668DFA68D}"/>
              </a:ext>
            </a:extLst>
          </p:cNvPr>
          <p:cNvSpPr txBox="1">
            <a:spLocks/>
          </p:cNvSpPr>
          <p:nvPr/>
        </p:nvSpPr>
        <p:spPr>
          <a:xfrm>
            <a:off x="1565693" y="-24849"/>
            <a:ext cx="80193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7.3.4 Guided Practice: Finding Area by Decomposing </a:t>
            </a:r>
          </a:p>
        </p:txBody>
      </p:sp>
      <p:pic>
        <p:nvPicPr>
          <p:cNvPr id="8" name="Picture 2" descr="Icon&#10;&#10;Description automatically generated">
            <a:extLst>
              <a:ext uri="{FF2B5EF4-FFF2-40B4-BE49-F238E27FC236}">
                <a16:creationId xmlns:a16="http://schemas.microsoft.com/office/drawing/2014/main" id="{B3C42596-1BDF-794D-A82A-7C54635CB8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15885" y="141177"/>
            <a:ext cx="749808" cy="74980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31D40250-DEDD-2C41-8538-3D4DD18CCC4A}"/>
              </a:ext>
            </a:extLst>
          </p:cNvPr>
          <p:cNvSpPr txBox="1"/>
          <p:nvPr/>
        </p:nvSpPr>
        <p:spPr>
          <a:xfrm>
            <a:off x="1565693" y="1386025"/>
            <a:ext cx="882189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1. Decompose the quadrilateral to find the area. Lengths are shown in feet (ft). Include units.</a:t>
            </a:r>
          </a:p>
        </p:txBody>
      </p:sp>
      <p:sp>
        <p:nvSpPr>
          <p:cNvPr id="9" name="Google Shape;278;g104476d1465_1_17">
            <a:extLst>
              <a:ext uri="{FF2B5EF4-FFF2-40B4-BE49-F238E27FC236}">
                <a16:creationId xmlns:a16="http://schemas.microsoft.com/office/drawing/2014/main" id="{DC83FE6C-2A92-0840-AA21-B0B38F631C93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>
              <a:highlight>
                <a:srgbClr val="FFFF00"/>
              </a:highlight>
            </a:endParaRPr>
          </a:p>
        </p:txBody>
      </p:sp>
      <p:pic>
        <p:nvPicPr>
          <p:cNvPr id="3" name="Picture 2" descr="A picture containing graphical user interface&#10;&#10;Description automatically generated">
            <a:extLst>
              <a:ext uri="{FF2B5EF4-FFF2-40B4-BE49-F238E27FC236}">
                <a16:creationId xmlns:a16="http://schemas.microsoft.com/office/drawing/2014/main" id="{F4D32184-26C5-654F-A59E-225D2F9EF8B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60448" y="2093911"/>
            <a:ext cx="8102600" cy="3949700"/>
          </a:xfrm>
          <a:prstGeom prst="rect">
            <a:avLst/>
          </a:prstGeom>
        </p:spPr>
      </p:pic>
      <p:sp>
        <p:nvSpPr>
          <p:cNvPr id="12" name="Google Shape;282;g104476d1465_1_17"/>
          <p:cNvSpPr txBox="1"/>
          <p:nvPr/>
        </p:nvSpPr>
        <p:spPr>
          <a:xfrm>
            <a:off x="86797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311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" name="Google Shape;283;g104476d1465_1_17"/>
          <p:cNvPicPr preferRelativeResize="0"/>
          <p:nvPr/>
        </p:nvPicPr>
        <p:blipFill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179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18446687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>
            <a:extLst>
              <a:ext uri="{FF2B5EF4-FFF2-40B4-BE49-F238E27FC236}">
                <a16:creationId xmlns:a16="http://schemas.microsoft.com/office/drawing/2014/main" id="{2FA392D8-3ED3-7940-83A8-1451AA8A08D4}"/>
              </a:ext>
            </a:extLst>
          </p:cNvPr>
          <p:cNvSpPr txBox="1"/>
          <p:nvPr/>
        </p:nvSpPr>
        <p:spPr>
          <a:xfrm>
            <a:off x="1113183" y="446315"/>
            <a:ext cx="4394988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/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2. The floor plan of a store is shown with measurements in yards (yd).</a:t>
            </a:r>
          </a:p>
          <a:p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6" name="Google Shape;278;g104476d1465_1_17">
            <a:extLst>
              <a:ext uri="{FF2B5EF4-FFF2-40B4-BE49-F238E27FC236}">
                <a16:creationId xmlns:a16="http://schemas.microsoft.com/office/drawing/2014/main" id="{DCFC9A26-671E-2C45-82EC-8B136C03E0A5}"/>
              </a:ext>
            </a:extLst>
          </p:cNvPr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>
              <a:highlight>
                <a:srgbClr val="FFFF00"/>
              </a:highlight>
            </a:endParaRPr>
          </a:p>
        </p:txBody>
      </p:sp>
      <p:pic>
        <p:nvPicPr>
          <p:cNvPr id="3" name="Picture 2" descr="Graphical user interface, text, application&#10;&#10;Description automatically generated with medium confidence">
            <a:extLst>
              <a:ext uri="{FF2B5EF4-FFF2-40B4-BE49-F238E27FC236}">
                <a16:creationId xmlns:a16="http://schemas.microsoft.com/office/drawing/2014/main" id="{5532BDF8-BBB0-164A-A480-70CB1461B6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87549" y="303023"/>
            <a:ext cx="5119008" cy="211203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2E40B281-3645-0F47-820A-2BFC4E0A37AF}"/>
                  </a:ext>
                </a:extLst>
              </p:cNvPr>
              <p:cNvSpPr txBox="1"/>
              <p:nvPr/>
            </p:nvSpPr>
            <p:spPr>
              <a:xfrm>
                <a:off x="1470991" y="2849937"/>
                <a:ext cx="8581985" cy="31700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AutoNum type="alphaLcPeriod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The store found </a:t>
                </a:r>
                <a:r>
                  <a:rPr lang="en-US" sz="2000" dirty="0">
                    <a:latin typeface="Cambria Math" panose="02040503050406030204" pitchFamily="18" charset="0"/>
                    <a:ea typeface="Cambria Math" panose="02040503050406030204" pitchFamily="18" charset="0"/>
                    <a:cs typeface="Verdana" panose="020B0604030504040204" pitchFamily="34" charset="0"/>
                  </a:rPr>
                  <a:t>160</a:t>
                </a: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square yards 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en-US" sz="2000" dirty="0"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yd</m:t>
                        </m:r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) of tile on sale. Based on the floor plan drawn, will the store have enough tiles to redo the flooring if they buy what is on sale?</a:t>
                </a:r>
              </a:p>
              <a:p>
                <a:pPr marL="457200" indent="-457200">
                  <a:buAutoNum type="alphaL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AutoNum type="alphaL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AutoNum type="alphaLcPeriod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Determine the amount of tile, in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en-US" sz="2000" dirty="0"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yd</m:t>
                        </m:r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, the store is short or has left over.</a:t>
                </a:r>
              </a:p>
              <a:p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2E40B281-3645-0F47-820A-2BFC4E0A37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70991" y="2849937"/>
                <a:ext cx="8581985" cy="3170099"/>
              </a:xfrm>
              <a:prstGeom prst="rect">
                <a:avLst/>
              </a:prstGeom>
              <a:blipFill rotWithShape="0">
                <a:blip r:embed="rId4"/>
                <a:stretch>
                  <a:fillRect l="-781" t="-1346" r="-106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Google Shape;282;g104476d1465_1_17"/>
          <p:cNvSpPr txBox="1"/>
          <p:nvPr/>
        </p:nvSpPr>
        <p:spPr>
          <a:xfrm>
            <a:off x="86797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312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" name="Google Shape;283;g104476d1465_1_17"/>
          <p:cNvPicPr preferRelativeResize="0"/>
          <p:nvPr/>
        </p:nvPicPr>
        <p:blipFill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179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85430915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8101"/>
            <a:ext cx="2731200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664867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E24E5F"/>
                </a:solidFill>
                <a:latin typeface="Verdana"/>
                <a:ea typeface="Verdana"/>
                <a:cs typeface="Verdana"/>
                <a:sym typeface="Verdana"/>
              </a:rPr>
              <a:t>Your Turn</a:t>
            </a:r>
            <a:endParaRPr sz="5100" b="1" dirty="0">
              <a:solidFill>
                <a:srgbClr val="E24E5F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8" name="Google Shape;423;g103996e1364_0_416">
            <a:extLst>
              <a:ext uri="{FF2B5EF4-FFF2-40B4-BE49-F238E27FC236}">
                <a16:creationId xmlns:a16="http://schemas.microsoft.com/office/drawing/2014/main" id="{93D338D9-F4F3-AC46-BAB5-0DC7D3916679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412728" y="2897929"/>
            <a:ext cx="1122440" cy="106214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9" name="Google Shape;282;g104476d1465_1_17"/>
          <p:cNvSpPr txBox="1"/>
          <p:nvPr/>
        </p:nvSpPr>
        <p:spPr>
          <a:xfrm>
            <a:off x="86797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312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179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79083965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428;g103996e1364_0_428">
            <a:extLst>
              <a:ext uri="{FF2B5EF4-FFF2-40B4-BE49-F238E27FC236}">
                <a16:creationId xmlns:a16="http://schemas.microsoft.com/office/drawing/2014/main" id="{07112538-C7A8-8B4A-B739-C3032B04086A}"/>
              </a:ext>
            </a:extLst>
          </p:cNvPr>
          <p:cNvSpPr txBox="1">
            <a:spLocks/>
          </p:cNvSpPr>
          <p:nvPr/>
        </p:nvSpPr>
        <p:spPr>
          <a:xfrm>
            <a:off x="1437275" y="164398"/>
            <a:ext cx="8019300" cy="74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4300" b="1" dirty="0">
                <a:solidFill>
                  <a:srgbClr val="E24E5F"/>
                </a:solidFill>
                <a:latin typeface="Verdana"/>
                <a:ea typeface="Verdana"/>
                <a:cs typeface="Verdana"/>
                <a:sym typeface="Verdana"/>
              </a:rPr>
              <a:t>7.3.5 Your Turn!</a:t>
            </a:r>
          </a:p>
        </p:txBody>
      </p:sp>
      <p:pic>
        <p:nvPicPr>
          <p:cNvPr id="9" name="Google Shape;430;g103996e1364_0_428">
            <a:extLst>
              <a:ext uri="{FF2B5EF4-FFF2-40B4-BE49-F238E27FC236}">
                <a16:creationId xmlns:a16="http://schemas.microsoft.com/office/drawing/2014/main" id="{032D5487-B5A9-DE4B-AE87-33198BE1614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89975" y="164398"/>
            <a:ext cx="747300" cy="747300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759C3E41-93EC-B84D-963F-86A3B15AC1C6}"/>
              </a:ext>
            </a:extLst>
          </p:cNvPr>
          <p:cNvSpPr txBox="1"/>
          <p:nvPr/>
        </p:nvSpPr>
        <p:spPr>
          <a:xfrm>
            <a:off x="1550504" y="1092111"/>
            <a:ext cx="878439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Find the area of each quadrilateral by decomposing. Lengths are shown in inches (in.). Include units.</a:t>
            </a:r>
          </a:p>
        </p:txBody>
      </p:sp>
      <p:sp>
        <p:nvSpPr>
          <p:cNvPr id="8" name="Google Shape;278;g104476d1465_1_17">
            <a:extLst>
              <a:ext uri="{FF2B5EF4-FFF2-40B4-BE49-F238E27FC236}">
                <a16:creationId xmlns:a16="http://schemas.microsoft.com/office/drawing/2014/main" id="{EDD7E546-9334-CD4B-9098-7FA33B42DB04}"/>
              </a:ext>
            </a:extLst>
          </p:cNvPr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>
              <a:highlight>
                <a:srgbClr val="FFFF00"/>
              </a:highlight>
            </a:endParaRPr>
          </a:p>
        </p:txBody>
      </p:sp>
      <p:pic>
        <p:nvPicPr>
          <p:cNvPr id="3" name="Picture 2" descr="Chart&#10;&#10;Description automatically generated">
            <a:extLst>
              <a:ext uri="{FF2B5EF4-FFF2-40B4-BE49-F238E27FC236}">
                <a16:creationId xmlns:a16="http://schemas.microsoft.com/office/drawing/2014/main" id="{D9C75542-78EF-9547-9144-1FED8759960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11350" y="2160824"/>
            <a:ext cx="8369300" cy="3416300"/>
          </a:xfrm>
          <a:prstGeom prst="rect">
            <a:avLst/>
          </a:prstGeom>
        </p:spPr>
      </p:pic>
      <p:sp>
        <p:nvSpPr>
          <p:cNvPr id="11" name="Google Shape;282;g104476d1465_1_17"/>
          <p:cNvSpPr txBox="1"/>
          <p:nvPr/>
        </p:nvSpPr>
        <p:spPr>
          <a:xfrm>
            <a:off x="86797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312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" name="Google Shape;283;g104476d1465_1_17"/>
          <p:cNvPicPr preferRelativeResize="0"/>
          <p:nvPr/>
        </p:nvPicPr>
        <p:blipFill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179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10129987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278;g104476d1465_1_17">
            <a:extLst>
              <a:ext uri="{FF2B5EF4-FFF2-40B4-BE49-F238E27FC236}">
                <a16:creationId xmlns:a16="http://schemas.microsoft.com/office/drawing/2014/main" id="{C626DD4B-AF0E-B846-831C-21AC8FD45F48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>
              <a:highlight>
                <a:srgbClr val="FFFF00"/>
              </a:highlight>
            </a:endParaRPr>
          </a:p>
        </p:txBody>
      </p:sp>
      <p:pic>
        <p:nvPicPr>
          <p:cNvPr id="3" name="Picture 2" descr="Chart&#10;&#10;Description automatically generated">
            <a:extLst>
              <a:ext uri="{FF2B5EF4-FFF2-40B4-BE49-F238E27FC236}">
                <a16:creationId xmlns:a16="http://schemas.microsoft.com/office/drawing/2014/main" id="{B373CB7F-216D-2549-82A9-D8900445A8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95528" y="651024"/>
            <a:ext cx="7679844" cy="3743321"/>
          </a:xfrm>
          <a:prstGeom prst="rect">
            <a:avLst/>
          </a:prstGeom>
        </p:spPr>
      </p:pic>
      <p:sp>
        <p:nvSpPr>
          <p:cNvPr id="7" name="Google Shape;282;g104476d1465_1_17"/>
          <p:cNvSpPr txBox="1"/>
          <p:nvPr/>
        </p:nvSpPr>
        <p:spPr>
          <a:xfrm>
            <a:off x="86797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313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179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5243575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278;g104476d1465_1_17">
            <a:extLst>
              <a:ext uri="{FF2B5EF4-FFF2-40B4-BE49-F238E27FC236}">
                <a16:creationId xmlns:a16="http://schemas.microsoft.com/office/drawing/2014/main" id="{C626DD4B-AF0E-B846-831C-21AC8FD45F48}"/>
              </a:ext>
            </a:extLst>
          </p:cNvPr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>
              <a:highlight>
                <a:srgbClr val="FFFF00"/>
              </a:highlight>
            </a:endParaRPr>
          </a:p>
        </p:txBody>
      </p:sp>
      <p:pic>
        <p:nvPicPr>
          <p:cNvPr id="4" name="Picture 3" descr="Chart, radar chart&#10;&#10;Description automatically generated">
            <a:extLst>
              <a:ext uri="{FF2B5EF4-FFF2-40B4-BE49-F238E27FC236}">
                <a16:creationId xmlns:a16="http://schemas.microsoft.com/office/drawing/2014/main" id="{9252B7E5-4B2B-EE41-BBA3-FF79B50957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11350" y="508000"/>
            <a:ext cx="8369300" cy="4470400"/>
          </a:xfrm>
          <a:prstGeom prst="rect">
            <a:avLst/>
          </a:prstGeom>
        </p:spPr>
      </p:pic>
      <p:sp>
        <p:nvSpPr>
          <p:cNvPr id="7" name="Google Shape;282;g104476d1465_1_17"/>
          <p:cNvSpPr txBox="1"/>
          <p:nvPr/>
        </p:nvSpPr>
        <p:spPr>
          <a:xfrm>
            <a:off x="86797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313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179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8709891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8101"/>
            <a:ext cx="2731200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250339" y="2779100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Wrap-Up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7" name="Google Shape;450;g103996e1364_0_457">
            <a:extLst>
              <a:ext uri="{FF2B5EF4-FFF2-40B4-BE49-F238E27FC236}">
                <a16:creationId xmlns:a16="http://schemas.microsoft.com/office/drawing/2014/main" id="{DE95225C-59B5-E847-AFA2-B83DCFFA10D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429333" y="2933695"/>
            <a:ext cx="1008299" cy="101651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9" name="Google Shape;282;g104476d1465_1_17"/>
          <p:cNvSpPr txBox="1"/>
          <p:nvPr/>
        </p:nvSpPr>
        <p:spPr>
          <a:xfrm>
            <a:off x="86797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314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179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67690871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456;g103996e1364_0_463">
            <a:extLst>
              <a:ext uri="{FF2B5EF4-FFF2-40B4-BE49-F238E27FC236}">
                <a16:creationId xmlns:a16="http://schemas.microsoft.com/office/drawing/2014/main" id="{68C03D65-F0BF-3F41-B52A-024F47388982}"/>
              </a:ext>
            </a:extLst>
          </p:cNvPr>
          <p:cNvSpPr txBox="1">
            <a:spLocks/>
          </p:cNvSpPr>
          <p:nvPr/>
        </p:nvSpPr>
        <p:spPr>
          <a:xfrm>
            <a:off x="1478349" y="-133819"/>
            <a:ext cx="9534207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7.3.6 Wrap-Up: Ticket Out the Door</a:t>
            </a:r>
          </a:p>
        </p:txBody>
      </p:sp>
      <p:pic>
        <p:nvPicPr>
          <p:cNvPr id="9" name="Google Shape;458;g103996e1364_0_463">
            <a:extLst>
              <a:ext uri="{FF2B5EF4-FFF2-40B4-BE49-F238E27FC236}">
                <a16:creationId xmlns:a16="http://schemas.microsoft.com/office/drawing/2014/main" id="{EEA44D6C-2366-AC41-B1B5-EDDC34786A6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48900" y="104961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0370EDB7-6994-3D43-ABF9-E04CBAFB9CD9}"/>
              </a:ext>
            </a:extLst>
          </p:cNvPr>
          <p:cNvSpPr txBox="1"/>
          <p:nvPr/>
        </p:nvSpPr>
        <p:spPr>
          <a:xfrm>
            <a:off x="1232452" y="1364253"/>
            <a:ext cx="924088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09575" indent="-396875"/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1. Find the area of each quadrilateral by decomposing. Lengths are given in yards (yd). Include units.</a:t>
            </a:r>
          </a:p>
        </p:txBody>
      </p:sp>
      <p:sp>
        <p:nvSpPr>
          <p:cNvPr id="8" name="Google Shape;278;g104476d1465_1_17">
            <a:extLst>
              <a:ext uri="{FF2B5EF4-FFF2-40B4-BE49-F238E27FC236}">
                <a16:creationId xmlns:a16="http://schemas.microsoft.com/office/drawing/2014/main" id="{C9825640-5649-F74D-866E-EC8F188D5640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>
              <a:highlight>
                <a:srgbClr val="FFFF00"/>
              </a:highlight>
            </a:endParaRPr>
          </a:p>
        </p:txBody>
      </p:sp>
      <p:pic>
        <p:nvPicPr>
          <p:cNvPr id="3" name="Picture 2" descr="Chart&#10;&#10;Description automatically generated">
            <a:extLst>
              <a:ext uri="{FF2B5EF4-FFF2-40B4-BE49-F238E27FC236}">
                <a16:creationId xmlns:a16="http://schemas.microsoft.com/office/drawing/2014/main" id="{96149528-8BA2-C240-99EE-F4EE06E5FB7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5347" y="2326931"/>
            <a:ext cx="7215414" cy="3618876"/>
          </a:xfrm>
          <a:prstGeom prst="rect">
            <a:avLst/>
          </a:prstGeom>
        </p:spPr>
      </p:pic>
      <p:sp>
        <p:nvSpPr>
          <p:cNvPr id="11" name="Google Shape;282;g104476d1465_1_17"/>
          <p:cNvSpPr txBox="1"/>
          <p:nvPr/>
        </p:nvSpPr>
        <p:spPr>
          <a:xfrm>
            <a:off x="86797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314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" name="Google Shape;283;g104476d1465_1_17"/>
          <p:cNvPicPr preferRelativeResize="0"/>
          <p:nvPr/>
        </p:nvPicPr>
        <p:blipFill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179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553995615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1275</TotalTime>
  <Words>812</Words>
  <Application>Microsoft Office PowerPoint</Application>
  <PresentationFormat>Widescreen</PresentationFormat>
  <Paragraphs>160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2" baseType="lpstr">
      <vt:lpstr>Arial</vt:lpstr>
      <vt:lpstr>Arial Black</vt:lpstr>
      <vt:lpstr>Calibri</vt:lpstr>
      <vt:lpstr>Cambria Math</vt:lpstr>
      <vt:lpstr>Century Gothic</vt:lpstr>
      <vt:lpstr>Verdana</vt:lpstr>
      <vt:lpstr>1_Office Theme</vt:lpstr>
      <vt:lpstr>6th Grade Accelerated Math  Unit 7, Lesson 3  Decomposing Quadrilaterals to Find Area  Volume 1, pg. 308  </vt:lpstr>
      <vt:lpstr>Benchmark</vt:lpstr>
      <vt:lpstr>PowerPoint Presentation</vt:lpstr>
      <vt:lpstr>PowerPoint Presentation</vt:lpstr>
      <vt:lpstr>Warm-Up</vt:lpstr>
      <vt:lpstr>PowerPoint Presentation</vt:lpstr>
      <vt:lpstr>Collaboration</vt:lpstr>
      <vt:lpstr>PowerPoint Presentation</vt:lpstr>
      <vt:lpstr>PowerPoint Presentation</vt:lpstr>
      <vt:lpstr>Exploration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Guided Practice</vt:lpstr>
      <vt:lpstr>PowerPoint Presentation</vt:lpstr>
      <vt:lpstr>PowerPoint Presentation</vt:lpstr>
      <vt:lpstr>Your Turn</vt:lpstr>
      <vt:lpstr>PowerPoint Presentation</vt:lpstr>
      <vt:lpstr>PowerPoint Presentation</vt:lpstr>
      <vt:lpstr>PowerPoint Presentation</vt:lpstr>
      <vt:lpstr>Wrap-Up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Algebra 2 Unit 4 Lesson 4  </dc:title>
  <dc:creator>Karen McKenzie</dc:creator>
  <cp:lastModifiedBy>Cassie O'Connor</cp:lastModifiedBy>
  <cp:revision>22</cp:revision>
  <cp:lastPrinted>2022-02-14T16:31:42Z</cp:lastPrinted>
  <dcterms:created xsi:type="dcterms:W3CDTF">2015-03-17T18:51:18Z</dcterms:created>
  <dcterms:modified xsi:type="dcterms:W3CDTF">2022-06-29T19:26:50Z</dcterms:modified>
</cp:coreProperties>
</file>