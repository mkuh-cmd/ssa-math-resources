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289" r:id="rId8"/>
    <p:sldId id="290" r:id="rId9"/>
    <p:sldId id="336" r:id="rId10"/>
    <p:sldId id="343" r:id="rId11"/>
    <p:sldId id="342" r:id="rId12"/>
    <p:sldId id="344" r:id="rId13"/>
    <p:sldId id="345" r:id="rId14"/>
    <p:sldId id="323" r:id="rId15"/>
    <p:sldId id="324" r:id="rId16"/>
    <p:sldId id="337" r:id="rId17"/>
    <p:sldId id="302" r:id="rId18"/>
    <p:sldId id="303" r:id="rId19"/>
    <p:sldId id="340" r:id="rId20"/>
    <p:sldId id="306" r:id="rId21"/>
    <p:sldId id="307"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85"/>
    <p:restoredTop sz="94622"/>
  </p:normalViewPr>
  <p:slideViewPr>
    <p:cSldViewPr snapToGrid="0">
      <p:cViewPr varScale="1">
        <p:scale>
          <a:sx n="59" d="100"/>
          <a:sy n="59" d="100"/>
        </p:scale>
        <p:origin x="234"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174187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680693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180263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30447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Area of Triangles- 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302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04909" y="8332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81409" y="31910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0;g104476d1465_1_17">
            <a:extLst>
              <a:ext uri="{FF2B5EF4-FFF2-40B4-BE49-F238E27FC236}">
                <a16:creationId xmlns:a16="http://schemas.microsoft.com/office/drawing/2014/main" id="{D7A18FBA-5ECD-49C3-91EF-B8EDB241AD67}"/>
              </a:ext>
            </a:extLst>
          </p:cNvPr>
          <p:cNvSpPr txBox="1">
            <a:spLocks/>
          </p:cNvSpPr>
          <p:nvPr/>
        </p:nvSpPr>
        <p:spPr>
          <a:xfrm>
            <a:off x="1428709" y="1600200"/>
            <a:ext cx="933458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MA.6.GR.2.1</a:t>
            </a:r>
          </a:p>
          <a:p>
            <a:pPr indent="0">
              <a:buNone/>
            </a:pPr>
            <a:r>
              <a:rPr lang="en-US" sz="2800" dirty="0">
                <a:latin typeface="Verdana" panose="020B0604030504040204" pitchFamily="34" charset="0"/>
                <a:ea typeface="Verdana" panose="020B0604030504040204" pitchFamily="34" charset="0"/>
              </a:rPr>
              <a:t>Derive a formula for the area of a right triangle using a rectangle. Apply a formula to find the area of a triangle.</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70585" y="389961"/>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5235" y="147328"/>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17885" y="1596390"/>
            <a:ext cx="99439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19040" y="46258"/>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36878" y="33545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44595" y="1600200"/>
            <a:ext cx="910281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solidFill>
                  <a:schemeClr val="tx1"/>
                </a:solidFill>
                <a:latin typeface="Verdana"/>
                <a:ea typeface="Verdana"/>
                <a:cs typeface="Verdana"/>
                <a:sym typeface="Verdana"/>
              </a:rPr>
              <a:t>I can apply a formula to find the area of triangles.</a:t>
            </a:r>
          </a:p>
        </p:txBody>
      </p:sp>
      <p:sp>
        <p:nvSpPr>
          <p:cNvPr id="8"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4262" y="12631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7.2.1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16962" y="263472"/>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248032" y="1386026"/>
            <a:ext cx="9951968" cy="5139869"/>
          </a:xfrm>
          <a:prstGeom prst="rect">
            <a:avLst/>
          </a:prstGeom>
          <a:noFill/>
        </p:spPr>
        <p:txBody>
          <a:bodyPr wrap="square" rtlCol="0">
            <a:spAutoFit/>
          </a:bodyPr>
          <a:lstStyle/>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lvl="0"/>
            <a:endParaRPr lang="en-US" dirty="0"/>
          </a:p>
          <a:p>
            <a:pPr marL="342900" indent="-3429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is the area of the rectangle? Include units.</a:t>
            </a:r>
          </a:p>
          <a:p>
            <a:pPr marL="342900" indent="-3429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is the area of the shaded triangle? Include units.</a:t>
            </a:r>
          </a:p>
          <a:p>
            <a:pPr marL="342900" indent="-3429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the relationship between the area of a rectangle and triangle that have the same height and base.</a:t>
            </a:r>
          </a:p>
          <a:p>
            <a:pPr marL="342900" indent="-342900">
              <a:buAutoNum type="arabicPeriod"/>
            </a:pPr>
            <a:endParaRPr lang="en-US" dirty="0"/>
          </a:p>
        </p:txBody>
      </p:sp>
      <p:sp>
        <p:nvSpPr>
          <p:cNvPr id="9" name="Google Shape;278;g104476d1465_1_17">
            <a:extLst>
              <a:ext uri="{FF2B5EF4-FFF2-40B4-BE49-F238E27FC236}">
                <a16:creationId xmlns:a16="http://schemas.microsoft.com/office/drawing/2014/main" id="{F1992A8F-F621-054D-B71E-96605FF7377D}"/>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4" name="Picture 3" descr="Chart, pie chart&#10;&#10;Description automatically generated">
            <a:extLst>
              <a:ext uri="{FF2B5EF4-FFF2-40B4-BE49-F238E27FC236}">
                <a16:creationId xmlns:a16="http://schemas.microsoft.com/office/drawing/2014/main" id="{E2E233FE-55CF-5142-B6DC-A6EF09E717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839680" y="1213918"/>
            <a:ext cx="4512641" cy="2215082"/>
          </a:xfrm>
          <a:prstGeom prst="rect">
            <a:avLst/>
          </a:prstGeom>
        </p:spPr>
      </p:pic>
      <p:sp>
        <p:nvSpPr>
          <p:cNvPr id="10"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303</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1254" y="-8101"/>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70671" y="-850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7.2.2 Guided Instruction: Find the Area of a Triangle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23371" y="198756"/>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370671" y="1386025"/>
            <a:ext cx="9706690"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To find the area of any triangle, identify a base of the triangle and its corresponding height. </a:t>
            </a:r>
          </a:p>
        </p:txBody>
      </p:sp>
      <p:sp>
        <p:nvSpPr>
          <p:cNvPr id="8" name="Google Shape;278;g104476d1465_1_17">
            <a:extLst>
              <a:ext uri="{FF2B5EF4-FFF2-40B4-BE49-F238E27FC236}">
                <a16:creationId xmlns:a16="http://schemas.microsoft.com/office/drawing/2014/main" id="{2B75021C-9817-6449-B54A-E1D9EB71417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pSp>
        <p:nvGrpSpPr>
          <p:cNvPr id="10" name="Group 9">
            <a:extLst>
              <a:ext uri="{FF2B5EF4-FFF2-40B4-BE49-F238E27FC236}">
                <a16:creationId xmlns:a16="http://schemas.microsoft.com/office/drawing/2014/main" id="{50A3CFCA-D66E-764A-AAC9-43011E631888}"/>
              </a:ext>
            </a:extLst>
          </p:cNvPr>
          <p:cNvGrpSpPr/>
          <p:nvPr/>
        </p:nvGrpSpPr>
        <p:grpSpPr>
          <a:xfrm>
            <a:off x="2146201" y="2336843"/>
            <a:ext cx="6736773" cy="1427249"/>
            <a:chOff x="2031299" y="3067686"/>
            <a:chExt cx="6736773" cy="1427249"/>
          </a:xfrm>
        </p:grpSpPr>
        <p:grpSp>
          <p:nvGrpSpPr>
            <p:cNvPr id="11" name="Group 10">
              <a:extLst>
                <a:ext uri="{FF2B5EF4-FFF2-40B4-BE49-F238E27FC236}">
                  <a16:creationId xmlns:a16="http://schemas.microsoft.com/office/drawing/2014/main" id="{7638BAFF-3F3C-3D40-A51F-0E2A480D327A}"/>
                </a:ext>
              </a:extLst>
            </p:cNvPr>
            <p:cNvGrpSpPr/>
            <p:nvPr/>
          </p:nvGrpSpPr>
          <p:grpSpPr>
            <a:xfrm>
              <a:off x="2031299" y="3067686"/>
              <a:ext cx="6736773" cy="1427249"/>
              <a:chOff x="-1" y="-208049"/>
              <a:chExt cx="6736773" cy="1427249"/>
            </a:xfrm>
          </p:grpSpPr>
          <p:sp>
            <p:nvSpPr>
              <p:cNvPr id="14" name="Rectangle 13">
                <a:extLst>
                  <a:ext uri="{FF2B5EF4-FFF2-40B4-BE49-F238E27FC236}">
                    <a16:creationId xmlns:a16="http://schemas.microsoft.com/office/drawing/2014/main" id="{045B1B71-3748-694A-B068-A02E58C8433F}"/>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C863F247-67C1-EF47-8783-A7861D685B7B}"/>
                  </a:ext>
                </a:extLst>
              </p:cNvPr>
              <p:cNvGrpSpPr/>
              <p:nvPr/>
            </p:nvGrpSpPr>
            <p:grpSpPr>
              <a:xfrm>
                <a:off x="-1" y="-208049"/>
                <a:ext cx="6736773" cy="1427249"/>
                <a:chOff x="-1" y="-208049"/>
                <a:chExt cx="6736773" cy="1427249"/>
              </a:xfrm>
            </p:grpSpPr>
            <p:sp>
              <p:nvSpPr>
                <p:cNvPr id="17" name="Rectangle 16">
                  <a:extLst>
                    <a:ext uri="{FF2B5EF4-FFF2-40B4-BE49-F238E27FC236}">
                      <a16:creationId xmlns:a16="http://schemas.microsoft.com/office/drawing/2014/main" id="{A787C347-F7B2-FD48-B948-4F41C2E724C5}"/>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8" name="Rectangle 17">
                  <a:extLst>
                    <a:ext uri="{FF2B5EF4-FFF2-40B4-BE49-F238E27FC236}">
                      <a16:creationId xmlns:a16="http://schemas.microsoft.com/office/drawing/2014/main" id="{7C5C901D-F029-8F49-B2ED-E47DE9C6C33C}"/>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9" name="Rounded Rectangle 18">
                  <a:extLst>
                    <a:ext uri="{FF2B5EF4-FFF2-40B4-BE49-F238E27FC236}">
                      <a16:creationId xmlns:a16="http://schemas.microsoft.com/office/drawing/2014/main" id="{1D40C494-3A4D-C344-9045-4F93B81678C2}"/>
                    </a:ext>
                  </a:extLst>
                </p:cNvPr>
                <p:cNvSpPr/>
                <p:nvPr/>
              </p:nvSpPr>
              <p:spPr>
                <a:xfrm>
                  <a:off x="-1" y="-208049"/>
                  <a:ext cx="6736773" cy="1427249"/>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15000"/>
                    </a:lnSpc>
                    <a:spcAft>
                      <a:spcPts val="1000"/>
                    </a:spcAft>
                  </a:pPr>
                  <a:endPar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endParaRPr>
                </a:p>
                <a:p>
                  <a:pPr marL="742950">
                    <a:lnSpc>
                      <a:spcPct val="115000"/>
                    </a:lnSpc>
                    <a:spcAft>
                      <a:spcPts val="1000"/>
                    </a:spcAft>
                  </a:pP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Any of the three sides of a triangle can be the </a:t>
                  </a:r>
                  <a:r>
                    <a:rPr lang="en-US" sz="18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base. </a:t>
                  </a: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The term “base” can refer to the side of a triangle and also its measurement.</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742950" indent="742950">
                    <a:spcAft>
                      <a:spcPts val="1000"/>
                    </a:spcAft>
                  </a:pPr>
                  <a:r>
                    <a:rPr lang="en-US" sz="1200" dirty="0">
                      <a:solidFill>
                        <a:srgbClr val="2475BF"/>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16" name="Shape 15" descr="Icon&#10;&#10;Description automatically generated">
                <a:extLst>
                  <a:ext uri="{FF2B5EF4-FFF2-40B4-BE49-F238E27FC236}">
                    <a16:creationId xmlns:a16="http://schemas.microsoft.com/office/drawing/2014/main" id="{16EBF2F7-6C9F-3A48-9C06-D2438FD66ABA}"/>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p:spPr>
          </p:pic>
        </p:grpSp>
      </p:grpSp>
      <p:grpSp>
        <p:nvGrpSpPr>
          <p:cNvPr id="20" name="Group 19">
            <a:extLst>
              <a:ext uri="{FF2B5EF4-FFF2-40B4-BE49-F238E27FC236}">
                <a16:creationId xmlns:a16="http://schemas.microsoft.com/office/drawing/2014/main" id="{C1EFC708-A02B-3649-B620-A7A25BF4CA86}"/>
              </a:ext>
            </a:extLst>
          </p:cNvPr>
          <p:cNvGrpSpPr/>
          <p:nvPr/>
        </p:nvGrpSpPr>
        <p:grpSpPr>
          <a:xfrm>
            <a:off x="2146201" y="4248768"/>
            <a:ext cx="6736772" cy="1946589"/>
            <a:chOff x="2031300" y="3275734"/>
            <a:chExt cx="6629400" cy="1648691"/>
          </a:xfrm>
        </p:grpSpPr>
        <p:grpSp>
          <p:nvGrpSpPr>
            <p:cNvPr id="21" name="Group 20">
              <a:extLst>
                <a:ext uri="{FF2B5EF4-FFF2-40B4-BE49-F238E27FC236}">
                  <a16:creationId xmlns:a16="http://schemas.microsoft.com/office/drawing/2014/main" id="{F86266A5-B9B8-D946-8304-FED7220942A6}"/>
                </a:ext>
              </a:extLst>
            </p:cNvPr>
            <p:cNvGrpSpPr/>
            <p:nvPr/>
          </p:nvGrpSpPr>
          <p:grpSpPr>
            <a:xfrm>
              <a:off x="2031300" y="3275734"/>
              <a:ext cx="6629400" cy="1648691"/>
              <a:chOff x="0" y="-1"/>
              <a:chExt cx="6629400" cy="1648691"/>
            </a:xfrm>
          </p:grpSpPr>
          <p:sp>
            <p:nvSpPr>
              <p:cNvPr id="22" name="Rectangle 21">
                <a:extLst>
                  <a:ext uri="{FF2B5EF4-FFF2-40B4-BE49-F238E27FC236}">
                    <a16:creationId xmlns:a16="http://schemas.microsoft.com/office/drawing/2014/main" id="{D947A543-B938-B048-B9BD-569AAAE3A2C7}"/>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3" name="Group 22">
                <a:extLst>
                  <a:ext uri="{FF2B5EF4-FFF2-40B4-BE49-F238E27FC236}">
                    <a16:creationId xmlns:a16="http://schemas.microsoft.com/office/drawing/2014/main" id="{94454B81-9493-9C4B-A8E4-08A1E6C6E8EE}"/>
                  </a:ext>
                </a:extLst>
              </p:cNvPr>
              <p:cNvGrpSpPr/>
              <p:nvPr/>
            </p:nvGrpSpPr>
            <p:grpSpPr>
              <a:xfrm>
                <a:off x="0" y="-1"/>
                <a:ext cx="6629400" cy="1648691"/>
                <a:chOff x="0" y="-1"/>
                <a:chExt cx="6629400" cy="1648691"/>
              </a:xfrm>
            </p:grpSpPr>
            <p:sp>
              <p:nvSpPr>
                <p:cNvPr id="25" name="Rectangle 24">
                  <a:extLst>
                    <a:ext uri="{FF2B5EF4-FFF2-40B4-BE49-F238E27FC236}">
                      <a16:creationId xmlns:a16="http://schemas.microsoft.com/office/drawing/2014/main" id="{F87449E4-8C77-6040-A47F-037681F56551}"/>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6" name="Rectangle 25">
                  <a:extLst>
                    <a:ext uri="{FF2B5EF4-FFF2-40B4-BE49-F238E27FC236}">
                      <a16:creationId xmlns:a16="http://schemas.microsoft.com/office/drawing/2014/main" id="{814F9C3D-925C-D442-A567-8CC0A3FE323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7" name="Rounded Rectangle 26">
                  <a:extLst>
                    <a:ext uri="{FF2B5EF4-FFF2-40B4-BE49-F238E27FC236}">
                      <a16:creationId xmlns:a16="http://schemas.microsoft.com/office/drawing/2014/main" id="{837A28C1-859C-C642-81B6-2D2FBD6AA3D2}"/>
                    </a:ext>
                  </a:extLst>
                </p:cNvPr>
                <p:cNvSpPr/>
                <p:nvPr/>
              </p:nvSpPr>
              <p:spPr>
                <a:xfrm>
                  <a:off x="0" y="-1"/>
                  <a:ext cx="6629400" cy="164869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The corresponding </a:t>
                  </a:r>
                  <a:r>
                    <a:rPr lang="en-US" sz="18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height </a:t>
                  </a: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of a triangle</a:t>
                  </a:r>
                  <a:r>
                    <a:rPr lang="en-US" sz="18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a:t>
                  </a: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is the length of the perpendicular segment drawn from a base to its opposite vertex. The opposite vertex is the vertex of the triangle that is </a:t>
                  </a:r>
                  <a:r>
                    <a:rPr lang="en-US" sz="1800" i="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not</a:t>
                  </a: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an endpoint of the base.</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24" name="Shape 15" descr="Icon&#10;&#10;Description automatically generated">
                <a:extLst>
                  <a:ext uri="{FF2B5EF4-FFF2-40B4-BE49-F238E27FC236}">
                    <a16:creationId xmlns:a16="http://schemas.microsoft.com/office/drawing/2014/main" id="{B4767C5C-1F25-6247-8AF0-9DD405769178}"/>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p:spPr>
          </p:pic>
        </p:grpSp>
      </p:grpSp>
      <p:sp>
        <p:nvSpPr>
          <p:cNvPr id="28"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303</a:t>
            </a:r>
            <a:endParaRPr i="1" dirty="0">
              <a:latin typeface="Calibri"/>
              <a:ea typeface="Calibri"/>
              <a:cs typeface="Calibri"/>
              <a:sym typeface="Calibri"/>
            </a:endParaRPr>
          </a:p>
        </p:txBody>
      </p:sp>
      <p:pic>
        <p:nvPicPr>
          <p:cNvPr id="2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23319" y="520393"/>
            <a:ext cx="9896028" cy="501675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Examples of bases and their corresponding heights on copies of the same triangle are shown. Each dashed line segment represents the height of the triangle.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each example the height is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a:r>
              <a:rPr lang="en-US" sz="2000" dirty="0">
                <a:latin typeface="Verdana" panose="020B0604030504040204" pitchFamily="34" charset="0"/>
                <a:ea typeface="Verdana" panose="020B0604030504040204" pitchFamily="34" charset="0"/>
                <a:cs typeface="Verdana" panose="020B0604030504040204" pitchFamily="34" charset="0"/>
              </a:rPr>
              <a:t>to the base.</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A picture containing chart&#10;&#10;Description automatically generated">
            <a:extLst>
              <a:ext uri="{FF2B5EF4-FFF2-40B4-BE49-F238E27FC236}">
                <a16:creationId xmlns:a16="http://schemas.microsoft.com/office/drawing/2014/main" id="{1BC453C6-C439-9F48-A086-A17585EB28F8}"/>
              </a:ext>
            </a:extLst>
          </p:cNvPr>
          <p:cNvPicPr>
            <a:picLocks noChangeAspect="1"/>
          </p:cNvPicPr>
          <p:nvPr/>
        </p:nvPicPr>
        <p:blipFill>
          <a:blip r:embed="rId3"/>
          <a:stretch>
            <a:fillRect/>
          </a:stretch>
        </p:blipFill>
        <p:spPr>
          <a:xfrm>
            <a:off x="2813050" y="1901365"/>
            <a:ext cx="6565900" cy="2095500"/>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id="{32BAA51C-5F53-A94F-AD32-9985CA5D83E8}"/>
              </a:ext>
            </a:extLst>
          </p:cNvPr>
          <p:cNvPicPr>
            <a:picLocks noChangeAspect="1"/>
          </p:cNvPicPr>
          <p:nvPr/>
        </p:nvPicPr>
        <p:blipFill>
          <a:blip r:embed="rId4"/>
          <a:stretch>
            <a:fillRect/>
          </a:stretch>
        </p:blipFill>
        <p:spPr>
          <a:xfrm>
            <a:off x="5676494" y="4239958"/>
            <a:ext cx="2641600" cy="1054100"/>
          </a:xfrm>
          <a:prstGeom prst="rect">
            <a:avLst/>
          </a:prstGeom>
        </p:spPr>
      </p:pic>
      <p:sp>
        <p:nvSpPr>
          <p:cNvPr id="8"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303</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750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075038" y="520394"/>
            <a:ext cx="10192590"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side used for the base is labeled on three triangles below. Complete the table to explain why each of the dashed lines do not represent the height of each triangle. </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A picture containing chart&#10;&#10;Description automatically generated">
            <a:extLst>
              <a:ext uri="{FF2B5EF4-FFF2-40B4-BE49-F238E27FC236}">
                <a16:creationId xmlns:a16="http://schemas.microsoft.com/office/drawing/2014/main" id="{FB184995-2821-6048-9F9A-98B55044AFFC}"/>
              </a:ext>
            </a:extLst>
          </p:cNvPr>
          <p:cNvPicPr>
            <a:picLocks noChangeAspect="1"/>
          </p:cNvPicPr>
          <p:nvPr/>
        </p:nvPicPr>
        <p:blipFill>
          <a:blip r:embed="rId3"/>
          <a:stretch>
            <a:fillRect/>
          </a:stretch>
        </p:blipFill>
        <p:spPr>
          <a:xfrm>
            <a:off x="2608144" y="2103921"/>
            <a:ext cx="7126379" cy="1892944"/>
          </a:xfrm>
          <a:prstGeom prst="rect">
            <a:avLst/>
          </a:prstGeom>
        </p:spPr>
      </p:pic>
      <p:sp>
        <p:nvSpPr>
          <p:cNvPr id="7"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49224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aphicFrame>
        <p:nvGraphicFramePr>
          <p:cNvPr id="2" name="Table 1">
            <a:extLst>
              <a:ext uri="{FF2B5EF4-FFF2-40B4-BE49-F238E27FC236}">
                <a16:creationId xmlns:a16="http://schemas.microsoft.com/office/drawing/2014/main" id="{05222B4A-7705-D941-A360-58CE5D3DFE99}"/>
              </a:ext>
            </a:extLst>
          </p:cNvPr>
          <p:cNvGraphicFramePr>
            <a:graphicFrameLocks noGrp="1"/>
          </p:cNvGraphicFramePr>
          <p:nvPr>
            <p:extLst>
              <p:ext uri="{D42A27DB-BD31-4B8C-83A1-F6EECF244321}">
                <p14:modId xmlns:p14="http://schemas.microsoft.com/office/powerpoint/2010/main" val="3008329740"/>
              </p:ext>
            </p:extLst>
          </p:nvPr>
        </p:nvGraphicFramePr>
        <p:xfrm>
          <a:off x="3414414" y="357045"/>
          <a:ext cx="5363172" cy="4351337"/>
        </p:xfrm>
        <a:graphic>
          <a:graphicData uri="http://schemas.openxmlformats.org/drawingml/2006/table">
            <a:tbl>
              <a:tblPr firstRow="1" firstCol="1" bandRow="1">
                <a:tableStyleId>{A91F0D33-8C57-4600-99A7-42BC86742BE1}</a:tableStyleId>
              </a:tblPr>
              <a:tblGrid>
                <a:gridCol w="1177562">
                  <a:extLst>
                    <a:ext uri="{9D8B030D-6E8A-4147-A177-3AD203B41FA5}">
                      <a16:colId xmlns:a16="http://schemas.microsoft.com/office/drawing/2014/main" val="404039260"/>
                    </a:ext>
                  </a:extLst>
                </a:gridCol>
                <a:gridCol w="4185610">
                  <a:extLst>
                    <a:ext uri="{9D8B030D-6E8A-4147-A177-3AD203B41FA5}">
                      <a16:colId xmlns:a16="http://schemas.microsoft.com/office/drawing/2014/main" val="2617813050"/>
                    </a:ext>
                  </a:extLst>
                </a:gridCol>
              </a:tblGrid>
              <a:tr h="278042">
                <a:tc>
                  <a:txBody>
                    <a:bodyPr/>
                    <a:lstStyle/>
                    <a:p>
                      <a:pPr marL="0" marR="0" algn="ctr">
                        <a:spcBef>
                          <a:spcPts val="0"/>
                        </a:spcBef>
                        <a:spcAft>
                          <a:spcPts val="0"/>
                        </a:spcAft>
                        <a:tabLst>
                          <a:tab pos="1722755" algn="l"/>
                        </a:tabLst>
                      </a:pPr>
                      <a:r>
                        <a:rPr lang="en-US" sz="1400" b="1">
                          <a:effectLst/>
                          <a:latin typeface="Verdana" panose="020B0604030504040204" pitchFamily="34" charset="0"/>
                          <a:ea typeface="Verdana" panose="020B0604030504040204" pitchFamily="34" charset="0"/>
                          <a:cs typeface="Verdana" panose="020B0604030504040204" pitchFamily="34" charset="0"/>
                        </a:rPr>
                        <a:t>Triangle</a:t>
                      </a:r>
                      <a:endParaRPr lang="en-US" sz="900" b="1">
                        <a:effectLst/>
                        <a:latin typeface="Verdana" panose="020B0604030504040204" pitchFamily="34" charset="0"/>
                        <a:ea typeface="Verdana" panose="020B0604030504040204" pitchFamily="34" charset="0"/>
                        <a:cs typeface="Verdana" panose="020B0604030504040204" pitchFamily="34" charset="0"/>
                      </a:endParaRP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1400" b="1" dirty="0">
                          <a:effectLst/>
                          <a:latin typeface="Verdana" panose="020B0604030504040204" pitchFamily="34" charset="0"/>
                          <a:ea typeface="Verdana" panose="020B0604030504040204" pitchFamily="34" charset="0"/>
                          <a:cs typeface="Verdana" panose="020B0604030504040204" pitchFamily="34" charset="0"/>
                        </a:rPr>
                        <a:t>Explanation </a:t>
                      </a:r>
                      <a:endParaRPr lang="en-US" sz="900" b="1" dirty="0">
                        <a:effectLst/>
                        <a:latin typeface="Verdana" panose="020B0604030504040204" pitchFamily="34" charset="0"/>
                        <a:ea typeface="Verdana" panose="020B0604030504040204" pitchFamily="34" charset="0"/>
                        <a:cs typeface="Verdana" panose="020B0604030504040204" pitchFamily="34" charset="0"/>
                      </a:endParaRP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06331063"/>
                  </a:ext>
                </a:extLst>
              </a:tr>
              <a:tr h="1357765">
                <a:tc>
                  <a:txBody>
                    <a:bodyPr/>
                    <a:lstStyle/>
                    <a:p>
                      <a:pPr marL="0" marR="0" algn="ctr">
                        <a:spcBef>
                          <a:spcPts val="0"/>
                        </a:spcBef>
                        <a:spcAft>
                          <a:spcPts val="0"/>
                        </a:spcAft>
                        <a:tabLst>
                          <a:tab pos="1722755" algn="l"/>
                        </a:tabLst>
                      </a:pPr>
                      <a:r>
                        <a:rPr lang="en-US" sz="1400" dirty="0">
                          <a:effectLst/>
                          <a:latin typeface="Verdana" panose="020B0604030504040204" pitchFamily="34" charset="0"/>
                          <a:ea typeface="Verdana" panose="020B0604030504040204" pitchFamily="34" charset="0"/>
                          <a:cs typeface="Verdana" panose="020B0604030504040204" pitchFamily="34" charset="0"/>
                        </a:rPr>
                        <a:t>Triangle A</a:t>
                      </a:r>
                      <a:endParaRPr lang="en-US" sz="900" dirty="0">
                        <a:effectLst/>
                        <a:latin typeface="Verdana" panose="020B0604030504040204" pitchFamily="34" charset="0"/>
                        <a:ea typeface="Verdana" panose="020B0604030504040204" pitchFamily="34" charset="0"/>
                        <a:cs typeface="Verdana" panose="020B0604030504040204" pitchFamily="34" charset="0"/>
                      </a:endParaRP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US" sz="900" dirty="0">
                        <a:effectLst/>
                        <a:latin typeface="Verdana" panose="020B0604030504040204" pitchFamily="34" charset="0"/>
                        <a:ea typeface="Verdana" panose="020B0604030504040204" pitchFamily="34" charset="0"/>
                        <a:cs typeface="Verdana" panose="020B0604030504040204" pitchFamily="34" charset="0"/>
                      </a:endParaRPr>
                    </a:p>
                  </a:txBody>
                  <a:tcPr marL="53911" marR="53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3238304"/>
                  </a:ext>
                </a:extLst>
              </a:tr>
              <a:tr h="1357765">
                <a:tc>
                  <a:txBody>
                    <a:bodyPr/>
                    <a:lstStyle/>
                    <a:p>
                      <a:pPr marL="0" marR="0" algn="ctr">
                        <a:spcBef>
                          <a:spcPts val="0"/>
                        </a:spcBef>
                        <a:spcAft>
                          <a:spcPts val="0"/>
                        </a:spcAft>
                        <a:tabLst>
                          <a:tab pos="1722755" algn="l"/>
                        </a:tabLst>
                      </a:pPr>
                      <a:r>
                        <a:rPr lang="en-US" sz="1400">
                          <a:effectLst/>
                          <a:latin typeface="Verdana" panose="020B0604030504040204" pitchFamily="34" charset="0"/>
                          <a:ea typeface="Verdana" panose="020B0604030504040204" pitchFamily="34" charset="0"/>
                          <a:cs typeface="Verdana" panose="020B0604030504040204" pitchFamily="34" charset="0"/>
                        </a:rPr>
                        <a:t>Triangle B</a:t>
                      </a:r>
                      <a:endParaRPr lang="en-US" sz="900">
                        <a:effectLst/>
                        <a:latin typeface="Verdana" panose="020B0604030504040204" pitchFamily="34" charset="0"/>
                        <a:ea typeface="Verdana" panose="020B0604030504040204" pitchFamily="34" charset="0"/>
                        <a:cs typeface="Verdana" panose="020B0604030504040204" pitchFamily="34" charset="0"/>
                      </a:endParaRP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US" sz="900">
                        <a:effectLst/>
                        <a:latin typeface="Verdana" panose="020B0604030504040204" pitchFamily="34" charset="0"/>
                        <a:ea typeface="Verdana" panose="020B0604030504040204" pitchFamily="34" charset="0"/>
                        <a:cs typeface="Verdana" panose="020B0604030504040204" pitchFamily="34" charset="0"/>
                      </a:endParaRPr>
                    </a:p>
                  </a:txBody>
                  <a:tcPr marL="53911" marR="53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164840"/>
                  </a:ext>
                </a:extLst>
              </a:tr>
              <a:tr h="1357765">
                <a:tc>
                  <a:txBody>
                    <a:bodyPr/>
                    <a:lstStyle/>
                    <a:p>
                      <a:pPr marL="0" marR="0" algn="ctr">
                        <a:spcBef>
                          <a:spcPts val="0"/>
                        </a:spcBef>
                        <a:spcAft>
                          <a:spcPts val="0"/>
                        </a:spcAft>
                        <a:tabLst>
                          <a:tab pos="1722755" algn="l"/>
                        </a:tabLst>
                      </a:pPr>
                      <a:r>
                        <a:rPr lang="en-US" sz="1400">
                          <a:effectLst/>
                          <a:latin typeface="Verdana" panose="020B0604030504040204" pitchFamily="34" charset="0"/>
                          <a:ea typeface="Verdana" panose="020B0604030504040204" pitchFamily="34" charset="0"/>
                          <a:cs typeface="Verdana" panose="020B0604030504040204" pitchFamily="34" charset="0"/>
                        </a:rPr>
                        <a:t>Triangle C</a:t>
                      </a:r>
                      <a:endParaRPr lang="en-US" sz="900">
                        <a:effectLst/>
                        <a:latin typeface="Verdana" panose="020B0604030504040204" pitchFamily="34" charset="0"/>
                        <a:ea typeface="Verdana" panose="020B0604030504040204" pitchFamily="34" charset="0"/>
                        <a:cs typeface="Verdana" panose="020B0604030504040204" pitchFamily="34" charset="0"/>
                      </a:endParaRP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US" sz="900" dirty="0">
                        <a:effectLst/>
                        <a:latin typeface="Verdana" panose="020B0604030504040204" pitchFamily="34" charset="0"/>
                        <a:ea typeface="Verdana" panose="020B0604030504040204" pitchFamily="34" charset="0"/>
                        <a:cs typeface="Verdana" panose="020B0604030504040204" pitchFamily="34" charset="0"/>
                      </a:endParaRPr>
                    </a:p>
                  </a:txBody>
                  <a:tcPr marL="53911" marR="53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8796701"/>
                  </a:ext>
                </a:extLst>
              </a:tr>
            </a:tbl>
          </a:graphicData>
        </a:graphic>
      </p:graphicFrame>
      <p:grpSp>
        <p:nvGrpSpPr>
          <p:cNvPr id="7" name="Group 6">
            <a:extLst>
              <a:ext uri="{FF2B5EF4-FFF2-40B4-BE49-F238E27FC236}">
                <a16:creationId xmlns:a16="http://schemas.microsoft.com/office/drawing/2014/main" id="{FA34E767-67E9-814C-ADF2-77BB7B181B9E}"/>
              </a:ext>
            </a:extLst>
          </p:cNvPr>
          <p:cNvGrpSpPr/>
          <p:nvPr/>
        </p:nvGrpSpPr>
        <p:grpSpPr>
          <a:xfrm>
            <a:off x="2781300" y="5079884"/>
            <a:ext cx="6629400" cy="1120717"/>
            <a:chOff x="2031300" y="3163381"/>
            <a:chExt cx="6629400" cy="1120884"/>
          </a:xfrm>
        </p:grpSpPr>
        <p:grpSp>
          <p:nvGrpSpPr>
            <p:cNvPr id="8" name="Group 7">
              <a:extLst>
                <a:ext uri="{FF2B5EF4-FFF2-40B4-BE49-F238E27FC236}">
                  <a16:creationId xmlns:a16="http://schemas.microsoft.com/office/drawing/2014/main" id="{42FA4CA1-CA6C-4243-94E4-17D16247D52A}"/>
                </a:ext>
              </a:extLst>
            </p:cNvPr>
            <p:cNvGrpSpPr/>
            <p:nvPr/>
          </p:nvGrpSpPr>
          <p:grpSpPr>
            <a:xfrm>
              <a:off x="2031300" y="3163381"/>
              <a:ext cx="6629400" cy="1120884"/>
              <a:chOff x="0" y="-112354"/>
              <a:chExt cx="6629400" cy="1120884"/>
            </a:xfrm>
          </p:grpSpPr>
          <p:sp>
            <p:nvSpPr>
              <p:cNvPr id="9" name="Rectangle 8">
                <a:extLst>
                  <a:ext uri="{FF2B5EF4-FFF2-40B4-BE49-F238E27FC236}">
                    <a16:creationId xmlns:a16="http://schemas.microsoft.com/office/drawing/2014/main" id="{8400E8B1-D589-EC41-980B-006F5756D638}"/>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0" name="Group 9">
                <a:extLst>
                  <a:ext uri="{FF2B5EF4-FFF2-40B4-BE49-F238E27FC236}">
                    <a16:creationId xmlns:a16="http://schemas.microsoft.com/office/drawing/2014/main" id="{FF74DF52-2596-BD44-8C65-304C776E7AF9}"/>
                  </a:ext>
                </a:extLst>
              </p:cNvPr>
              <p:cNvGrpSpPr/>
              <p:nvPr/>
            </p:nvGrpSpPr>
            <p:grpSpPr>
              <a:xfrm>
                <a:off x="0" y="-112354"/>
                <a:ext cx="6629400" cy="1120884"/>
                <a:chOff x="0" y="-112354"/>
                <a:chExt cx="6629400" cy="1120884"/>
              </a:xfrm>
            </p:grpSpPr>
            <p:sp>
              <p:nvSpPr>
                <p:cNvPr id="13" name="Rectangle 12">
                  <a:extLst>
                    <a:ext uri="{FF2B5EF4-FFF2-40B4-BE49-F238E27FC236}">
                      <a16:creationId xmlns:a16="http://schemas.microsoft.com/office/drawing/2014/main" id="{590D0313-99E4-924A-985D-F570F88A68B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5" name="Rectangle 14">
                  <a:extLst>
                    <a:ext uri="{FF2B5EF4-FFF2-40B4-BE49-F238E27FC236}">
                      <a16:creationId xmlns:a16="http://schemas.microsoft.com/office/drawing/2014/main" id="{E45C94F3-D632-C840-85FF-51FDD7CB0F1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4B86C554-2779-C242-9646-87FFF890AAB9}"/>
                        </a:ext>
                      </a:extLst>
                    </p:cNvPr>
                    <p:cNvSpPr/>
                    <p:nvPr/>
                  </p:nvSpPr>
                  <p:spPr>
                    <a:xfrm>
                      <a:off x="0" y="-112354"/>
                      <a:ext cx="6629400" cy="1120884"/>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endParaRPr lang="en-US" sz="18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endParaRPr>
                    </a:p>
                    <a:p>
                      <a:pPr marL="685800"/>
                      <a:r>
                        <a:rPr lang="en-US" sz="18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Area of a Triangle </a:t>
                      </a:r>
                      <a14:m>
                        <m:oMath xmlns:m="http://schemas.openxmlformats.org/officeDocument/2006/math">
                          <m:r>
                            <a:rPr lang="en-US" sz="18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𝟏</m:t>
                              </m:r>
                            </m:num>
                            <m:den>
                              <m:r>
                                <a:rPr lang="en-US" sz="18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𝟐</m:t>
                              </m:r>
                            </m:den>
                          </m:f>
                          <m:r>
                            <a:rPr lang="en-US" sz="18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𝒃𝒉</m:t>
                          </m:r>
                        </m:oMath>
                      </a14:m>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685800">
                        <a:spcAft>
                          <a:spcPts val="1000"/>
                        </a:spcAft>
                      </a:pP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where </a:t>
                      </a:r>
                      <a14:m>
                        <m:oMath xmlns:m="http://schemas.openxmlformats.org/officeDocument/2006/math">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is the base and </a:t>
                      </a:r>
                      <a14:m>
                        <m:oMath xmlns:m="http://schemas.openxmlformats.org/officeDocument/2006/math">
                          <m:r>
                            <a:rPr lang="en-US" sz="18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h</m:t>
                          </m:r>
                        </m:oMath>
                      </a14:m>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is the height.</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742950" indent="74295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p>
                  </p:txBody>
                </p:sp>
              </mc:Choice>
              <mc:Fallback xmlns="">
                <p:sp>
                  <p:nvSpPr>
                    <p:cNvPr id="16" name="Rounded Rectangle 15">
                      <a:extLst>
                        <a:ext uri="{FF2B5EF4-FFF2-40B4-BE49-F238E27FC236}">
                          <a16:creationId xmlns:a16="http://schemas.microsoft.com/office/drawing/2014/main" id="{4B86C554-2779-C242-9646-87FFF890AAB9}"/>
                        </a:ext>
                      </a:extLst>
                    </p:cNvPr>
                    <p:cNvSpPr>
                      <a:spLocks noRot="1" noChangeAspect="1" noMove="1" noResize="1" noEditPoints="1" noAdjustHandles="1" noChangeArrowheads="1" noChangeShapeType="1" noTextEdit="1"/>
                    </p:cNvSpPr>
                    <p:nvPr/>
                  </p:nvSpPr>
                  <p:spPr>
                    <a:xfrm>
                      <a:off x="0" y="-112354"/>
                      <a:ext cx="6629400" cy="1120884"/>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pic>
            <p:nvPicPr>
              <p:cNvPr id="11" name="Shape 15" descr="Icon&#10;&#10;Description automatically generated">
                <a:extLst>
                  <a:ext uri="{FF2B5EF4-FFF2-40B4-BE49-F238E27FC236}">
                    <a16:creationId xmlns:a16="http://schemas.microsoft.com/office/drawing/2014/main" id="{1525DA7E-996A-4645-B849-BEE0074E5878}"/>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p:spPr>
          </p:pic>
        </p:grpSp>
      </p:grpSp>
      <p:sp>
        <p:nvSpPr>
          <p:cNvPr id="14"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304</a:t>
            </a:r>
            <a:endParaRPr i="1" dirty="0">
              <a:latin typeface="Calibri"/>
              <a:ea typeface="Calibri"/>
              <a:cs typeface="Calibri"/>
              <a:sym typeface="Calibri"/>
            </a:endParaRPr>
          </a:p>
        </p:txBody>
      </p:sp>
      <p:pic>
        <p:nvPicPr>
          <p:cNvPr id="17"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68090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23319" y="520393"/>
                <a:ext cx="9896028" cy="5632311"/>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Four triangles are shown on the grid. The side length of each square on the grid is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centimeter (cm).</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lvl="2" indent="-45561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For each triangle, label the line segment that is drawn to represent the height, </a:t>
                </a:r>
                <a14:m>
                  <m:oMath xmlns:m="http://schemas.openxmlformats.org/officeDocument/2006/math">
                    <m:r>
                      <a:rPr lang="en-US" sz="2000" i="1">
                        <a:latin typeface="Cambria Math" panose="02040503050406030204" pitchFamily="18" charset="0"/>
                      </a:rPr>
                      <m:t>h</m:t>
                    </m:r>
                  </m:oMath>
                </a14:m>
                <a:r>
                  <a:rPr lang="en-US" sz="2000" dirty="0">
                    <a:latin typeface="Verdana" panose="020B0604030504040204" pitchFamily="34" charset="0"/>
                    <a:ea typeface="Verdana" panose="020B0604030504040204" pitchFamily="34" charset="0"/>
                    <a:cs typeface="Verdana" panose="020B0604030504040204" pitchFamily="34" charset="0"/>
                  </a:rPr>
                  <a:t>. Then, label the side that is the base, </a:t>
                </a:r>
                <a14:m>
                  <m:oMath xmlns:m="http://schemas.openxmlformats.org/officeDocument/2006/math">
                    <m:r>
                      <a:rPr lang="en-US" sz="2000" i="1">
                        <a:latin typeface="Cambria Math" panose="02040503050406030204" pitchFamily="18" charset="0"/>
                      </a:rPr>
                      <m:t>𝑏</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23319" y="520393"/>
                <a:ext cx="9896028" cy="5632311"/>
              </a:xfrm>
              <a:prstGeom prst="rect">
                <a:avLst/>
              </a:prstGeom>
              <a:blipFill rotWithShape="0">
                <a:blip r:embed="rId3"/>
                <a:stretch>
                  <a:fillRect l="-678" t="-649" r="-555" b="-97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Chart, line chart&#10;&#10;Description automatically generated">
            <a:extLst>
              <a:ext uri="{FF2B5EF4-FFF2-40B4-BE49-F238E27FC236}">
                <a16:creationId xmlns:a16="http://schemas.microsoft.com/office/drawing/2014/main" id="{54125CE1-E645-3143-A9BF-F04D635C3C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93065" y="1214426"/>
            <a:ext cx="5405870" cy="3974045"/>
          </a:xfrm>
          <a:prstGeom prst="rect">
            <a:avLst/>
          </a:prstGeom>
        </p:spPr>
      </p:pic>
      <p:sp>
        <p:nvSpPr>
          <p:cNvPr id="7"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304</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7710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98605" y="520394"/>
                <a:ext cx="3632887" cy="2585323"/>
              </a:xfrm>
              <a:prstGeom prst="rect">
                <a:avLst/>
              </a:prstGeom>
              <a:noFill/>
            </p:spPr>
            <p:txBody>
              <a:bodyPr wrap="square" rtlCol="0">
                <a:spAutoFit/>
              </a:bodyPr>
              <a:lstStyle/>
              <a:p>
                <a:pPr marL="457200" indent="-457200">
                  <a:buFont typeface="+mj-lt"/>
                  <a:buAutoNum type="alphaLcPeriod" startAt="2"/>
                </a:pPr>
                <a:r>
                  <a:rPr lang="en-US" sz="1800" dirty="0">
                    <a:latin typeface="Verdana" panose="020B0604030504040204" pitchFamily="34" charset="0"/>
                    <a:ea typeface="Verdana" panose="020B0604030504040204" pitchFamily="34" charset="0"/>
                    <a:cs typeface="Verdana" panose="020B0604030504040204" pitchFamily="34" charset="0"/>
                  </a:rPr>
                  <a:t>In the table, record the measurement for the base and corresponding height for each triangle. Then, find the area of each triangle. Each square on the grid represents </a:t>
                </a:r>
                <a14:m>
                  <m:oMath xmlns:m="http://schemas.openxmlformats.org/officeDocument/2006/math">
                    <m:r>
                      <a:rPr lang="en-US" sz="1800" i="1">
                        <a:latin typeface="Cambria Math" panose="02040503050406030204" pitchFamily="18" charset="0"/>
                      </a:rPr>
                      <m:t>1</m:t>
                    </m:r>
                  </m:oMath>
                </a14:m>
                <a:r>
                  <a:rPr lang="en-US" sz="1800" dirty="0">
                    <a:latin typeface="Verdana" panose="020B0604030504040204" pitchFamily="34" charset="0"/>
                    <a:ea typeface="Verdana" panose="020B0604030504040204" pitchFamily="34" charset="0"/>
                    <a:cs typeface="Verdana" panose="020B0604030504040204" pitchFamily="34" charset="0"/>
                  </a:rPr>
                  <a:t> centimeter (cm) by </a:t>
                </a:r>
                <a14:m>
                  <m:oMath xmlns:m="http://schemas.openxmlformats.org/officeDocument/2006/math">
                    <m:r>
                      <a:rPr lang="en-US" sz="1800" i="1">
                        <a:latin typeface="Cambria Math" panose="02040503050406030204" pitchFamily="18" charset="0"/>
                      </a:rPr>
                      <m:t>1</m:t>
                    </m:r>
                  </m:oMath>
                </a14:m>
                <a:r>
                  <a:rPr lang="en-US" sz="1800" dirty="0">
                    <a:latin typeface="Verdana" panose="020B0604030504040204" pitchFamily="34" charset="0"/>
                    <a:ea typeface="Verdana" panose="020B0604030504040204" pitchFamily="34" charset="0"/>
                    <a:cs typeface="Verdana" panose="020B0604030504040204" pitchFamily="34" charset="0"/>
                  </a:rPr>
                  <a:t> cm.</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98605" y="520394"/>
                <a:ext cx="3632887" cy="2585323"/>
              </a:xfrm>
              <a:prstGeom prst="rect">
                <a:avLst/>
              </a:prstGeom>
              <a:blipFill rotWithShape="0">
                <a:blip r:embed="rId3"/>
                <a:stretch>
                  <a:fillRect l="-1510" t="-1179" b="-283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83C2E50-EB56-1047-8233-7D8E50D4407F}"/>
                  </a:ext>
                </a:extLst>
              </p:cNvPr>
              <p:cNvGraphicFramePr>
                <a:graphicFrameLocks noGrp="1"/>
              </p:cNvGraphicFramePr>
              <p:nvPr>
                <p:extLst>
                  <p:ext uri="{D42A27DB-BD31-4B8C-83A1-F6EECF244321}">
                    <p14:modId xmlns:p14="http://schemas.microsoft.com/office/powerpoint/2010/main" val="1931147796"/>
                  </p:ext>
                </p:extLst>
              </p:nvPr>
            </p:nvGraphicFramePr>
            <p:xfrm>
              <a:off x="5381320" y="537651"/>
              <a:ext cx="5866966" cy="5774595"/>
            </p:xfrm>
            <a:graphic>
              <a:graphicData uri="http://schemas.openxmlformats.org/drawingml/2006/table">
                <a:tbl>
                  <a:tblPr firstRow="1" firstCol="1" bandRow="1">
                    <a:tableStyleId>{A91F0D33-8C57-4600-99A7-42BC86742BE1}</a:tableStyleId>
                  </a:tblPr>
                  <a:tblGrid>
                    <a:gridCol w="1466606">
                      <a:extLst>
                        <a:ext uri="{9D8B030D-6E8A-4147-A177-3AD203B41FA5}">
                          <a16:colId xmlns:a16="http://schemas.microsoft.com/office/drawing/2014/main" val="3704383947"/>
                        </a:ext>
                      </a:extLst>
                    </a:gridCol>
                    <a:gridCol w="1101319">
                      <a:extLst>
                        <a:ext uri="{9D8B030D-6E8A-4147-A177-3AD203B41FA5}">
                          <a16:colId xmlns:a16="http://schemas.microsoft.com/office/drawing/2014/main" val="2685688467"/>
                        </a:ext>
                      </a:extLst>
                    </a:gridCol>
                    <a:gridCol w="1182398">
                      <a:extLst>
                        <a:ext uri="{9D8B030D-6E8A-4147-A177-3AD203B41FA5}">
                          <a16:colId xmlns:a16="http://schemas.microsoft.com/office/drawing/2014/main" val="511394529"/>
                        </a:ext>
                      </a:extLst>
                    </a:gridCol>
                    <a:gridCol w="2116643">
                      <a:extLst>
                        <a:ext uri="{9D8B030D-6E8A-4147-A177-3AD203B41FA5}">
                          <a16:colId xmlns:a16="http://schemas.microsoft.com/office/drawing/2014/main" val="974737599"/>
                        </a:ext>
                      </a:extLst>
                    </a:gridCol>
                  </a:tblGrid>
                  <a:tr h="369421">
                    <a:tc>
                      <a:txBody>
                        <a:bodyPr/>
                        <a:lstStyle/>
                        <a:p>
                          <a:pPr marL="0" marR="0" algn="ctr">
                            <a:spcBef>
                              <a:spcPts val="0"/>
                            </a:spcBef>
                            <a:spcAft>
                              <a:spcPts val="0"/>
                            </a:spcAft>
                            <a:tabLst>
                              <a:tab pos="1722755" algn="l"/>
                            </a:tabLst>
                          </a:pPr>
                          <a:r>
                            <a:rPr lang="en-US" sz="2000" b="1">
                              <a:effectLst/>
                              <a:latin typeface="Verdana" panose="020B0604030504040204" pitchFamily="34" charset="0"/>
                              <a:ea typeface="Verdana" panose="020B0604030504040204" pitchFamily="34" charset="0"/>
                              <a:cs typeface="Verdana" panose="020B0604030504040204" pitchFamily="34" charset="0"/>
                            </a:rPr>
                            <a:t>Triangle</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a:effectLst/>
                              <a:latin typeface="Verdana" panose="020B0604030504040204" pitchFamily="34" charset="0"/>
                              <a:ea typeface="Verdana" panose="020B0604030504040204" pitchFamily="34" charset="0"/>
                              <a:cs typeface="Verdana" panose="020B0604030504040204" pitchFamily="34" charset="0"/>
                            </a:rPr>
                            <a:t>Base</a:t>
                          </a:r>
                        </a:p>
                        <a:p>
                          <a:pPr marL="0" marR="0" algn="ctr">
                            <a:spcBef>
                              <a:spcPts val="0"/>
                            </a:spcBef>
                            <a:spcAft>
                              <a:spcPts val="0"/>
                            </a:spcAft>
                            <a:tabLst>
                              <a:tab pos="1722755" algn="l"/>
                            </a:tabLst>
                          </a:pPr>
                          <a:r>
                            <a:rPr lang="en-US" sz="2000" b="1">
                              <a:effectLst/>
                              <a:latin typeface="Verdana" panose="020B0604030504040204" pitchFamily="34" charset="0"/>
                              <a:ea typeface="Verdana" panose="020B0604030504040204" pitchFamily="34" charset="0"/>
                              <a:cs typeface="Verdana" panose="020B0604030504040204" pitchFamily="34" charset="0"/>
                            </a:rPr>
                            <a:t>(cm)</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a:effectLst/>
                              <a:latin typeface="Verdana" panose="020B0604030504040204" pitchFamily="34" charset="0"/>
                              <a:ea typeface="Verdana" panose="020B0604030504040204" pitchFamily="34" charset="0"/>
                              <a:cs typeface="Verdana" panose="020B0604030504040204" pitchFamily="34" charset="0"/>
                            </a:rPr>
                            <a:t>Height (cm)</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Area</a:t>
                          </a:r>
                        </a:p>
                        <a:p>
                          <a:pPr marL="0" marR="0" algn="ctr">
                            <a:spcBef>
                              <a:spcPts val="0"/>
                            </a:spcBef>
                            <a:spcAft>
                              <a:spcPts val="0"/>
                            </a:spcAft>
                            <a:tabLst>
                              <a:tab pos="1722755"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r>
                            <a:rPr lang="en-US" sz="2000" b="1" baseline="30000" dirty="0">
                              <a:effectLst/>
                              <a:latin typeface="Verdana" panose="020B0604030504040204" pitchFamily="34" charset="0"/>
                              <a:ea typeface="Verdana" panose="020B0604030504040204" pitchFamily="34"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528949976"/>
                      </a:ext>
                    </a:extLst>
                  </a:tr>
                  <a:tr h="1032999">
                    <a:tc>
                      <a:txBody>
                        <a:bodyPr/>
                        <a:lstStyle/>
                        <a:p>
                          <a:pPr marL="0" marR="0" algn="ctr">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Any Triangle</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tabLst>
                              <a:tab pos="1722755"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𝑏</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tabLst>
                              <a:tab pos="1722755"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h</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tabLst>
                              <a:tab pos="1722755" algn="l"/>
                            </a:tabLs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𝑏h</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7839736"/>
                      </a:ext>
                    </a:extLst>
                  </a:tr>
                  <a:tr h="1032999">
                    <a:tc>
                      <a:txBody>
                        <a:bodyPr/>
                        <a:lstStyle/>
                        <a:p>
                          <a:pPr marL="0" marR="0" algn="ctr">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Triangle A</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5227107"/>
                      </a:ext>
                    </a:extLst>
                  </a:tr>
                  <a:tr h="1032999">
                    <a:tc>
                      <a:txBody>
                        <a:bodyPr/>
                        <a:lstStyle/>
                        <a:p>
                          <a:pPr marL="0" marR="0" algn="ctr">
                            <a:spcBef>
                              <a:spcPts val="0"/>
                            </a:spcBef>
                            <a:spcAft>
                              <a:spcPts val="0"/>
                            </a:spcAft>
                            <a:tabLst>
                              <a:tab pos="1722755" algn="l"/>
                            </a:tabLst>
                          </a:pPr>
                          <a:r>
                            <a:rPr lang="en-US" sz="2000">
                              <a:effectLst/>
                              <a:latin typeface="Verdana" panose="020B0604030504040204" pitchFamily="34" charset="0"/>
                              <a:ea typeface="Verdana" panose="020B0604030504040204" pitchFamily="34" charset="0"/>
                              <a:cs typeface="Verdana" panose="020B0604030504040204" pitchFamily="34" charset="0"/>
                            </a:rPr>
                            <a:t>Triangle B</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636673"/>
                      </a:ext>
                    </a:extLst>
                  </a:tr>
                  <a:tr h="1032999">
                    <a:tc>
                      <a:txBody>
                        <a:bodyPr/>
                        <a:lstStyle/>
                        <a:p>
                          <a:pPr marL="0" marR="0" algn="ctr">
                            <a:spcBef>
                              <a:spcPts val="0"/>
                            </a:spcBef>
                            <a:spcAft>
                              <a:spcPts val="0"/>
                            </a:spcAft>
                            <a:tabLst>
                              <a:tab pos="1722755" algn="l"/>
                            </a:tabLst>
                          </a:pPr>
                          <a:r>
                            <a:rPr lang="en-US" sz="2000">
                              <a:effectLst/>
                              <a:latin typeface="Verdana" panose="020B0604030504040204" pitchFamily="34" charset="0"/>
                              <a:ea typeface="Verdana" panose="020B0604030504040204" pitchFamily="34" charset="0"/>
                              <a:cs typeface="Verdana" panose="020B0604030504040204" pitchFamily="34" charset="0"/>
                            </a:rPr>
                            <a:t>Triangle C</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1395509"/>
                      </a:ext>
                    </a:extLst>
                  </a:tr>
                  <a:tr h="1032999">
                    <a:tc>
                      <a:txBody>
                        <a:bodyPr/>
                        <a:lstStyle/>
                        <a:p>
                          <a:pPr marL="0" marR="0" algn="ctr">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Triangle D</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5322985"/>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483C2E50-EB56-1047-8233-7D8E50D4407F}"/>
                  </a:ext>
                </a:extLst>
              </p:cNvPr>
              <p:cNvGraphicFramePr>
                <a:graphicFrameLocks noGrp="1"/>
              </p:cNvGraphicFramePr>
              <p:nvPr>
                <p:extLst>
                  <p:ext uri="{D42A27DB-BD31-4B8C-83A1-F6EECF244321}">
                    <p14:modId xmlns:p14="http://schemas.microsoft.com/office/powerpoint/2010/main" val="1931147796"/>
                  </p:ext>
                </p:extLst>
              </p:nvPr>
            </p:nvGraphicFramePr>
            <p:xfrm>
              <a:off x="5381320" y="537651"/>
              <a:ext cx="5866966" cy="5774595"/>
            </p:xfrm>
            <a:graphic>
              <a:graphicData uri="http://schemas.openxmlformats.org/drawingml/2006/table">
                <a:tbl>
                  <a:tblPr firstRow="1" firstCol="1" bandRow="1">
                    <a:tableStyleId>{A91F0D33-8C57-4600-99A7-42BC86742BE1}</a:tableStyleId>
                  </a:tblPr>
                  <a:tblGrid>
                    <a:gridCol w="1466606">
                      <a:extLst>
                        <a:ext uri="{9D8B030D-6E8A-4147-A177-3AD203B41FA5}">
                          <a16:colId xmlns:a16="http://schemas.microsoft.com/office/drawing/2014/main" xmlns:a14="http://schemas.microsoft.com/office/drawing/2010/main" xmlns="" val="3704383947"/>
                        </a:ext>
                      </a:extLst>
                    </a:gridCol>
                    <a:gridCol w="1101319">
                      <a:extLst>
                        <a:ext uri="{9D8B030D-6E8A-4147-A177-3AD203B41FA5}">
                          <a16:colId xmlns:a16="http://schemas.microsoft.com/office/drawing/2014/main" xmlns:a14="http://schemas.microsoft.com/office/drawing/2010/main" xmlns="" val="2685688467"/>
                        </a:ext>
                      </a:extLst>
                    </a:gridCol>
                    <a:gridCol w="1182398">
                      <a:extLst>
                        <a:ext uri="{9D8B030D-6E8A-4147-A177-3AD203B41FA5}">
                          <a16:colId xmlns:a16="http://schemas.microsoft.com/office/drawing/2014/main" xmlns:a14="http://schemas.microsoft.com/office/drawing/2010/main" xmlns="" val="511394529"/>
                        </a:ext>
                      </a:extLst>
                    </a:gridCol>
                    <a:gridCol w="2116643">
                      <a:extLst>
                        <a:ext uri="{9D8B030D-6E8A-4147-A177-3AD203B41FA5}">
                          <a16:colId xmlns:a16="http://schemas.microsoft.com/office/drawing/2014/main" xmlns:a14="http://schemas.microsoft.com/office/drawing/2010/main" xmlns="" val="974737599"/>
                        </a:ext>
                      </a:extLst>
                    </a:gridCol>
                  </a:tblGrid>
                  <a:tr h="609600">
                    <a:tc>
                      <a:txBody>
                        <a:bodyPr/>
                        <a:lstStyle/>
                        <a:p>
                          <a:pPr marL="0" marR="0" algn="ctr">
                            <a:spcBef>
                              <a:spcPts val="0"/>
                            </a:spcBef>
                            <a:spcAft>
                              <a:spcPts val="0"/>
                            </a:spcAft>
                            <a:tabLst>
                              <a:tab pos="1722755" algn="l"/>
                            </a:tabLst>
                          </a:pPr>
                          <a:r>
                            <a:rPr lang="en-US" sz="2000" b="1">
                              <a:effectLst/>
                              <a:latin typeface="Verdana" panose="020B0604030504040204" pitchFamily="34" charset="0"/>
                              <a:ea typeface="Verdana" panose="020B0604030504040204" pitchFamily="34" charset="0"/>
                              <a:cs typeface="Verdana" panose="020B0604030504040204" pitchFamily="34" charset="0"/>
                            </a:rPr>
                            <a:t>Triangle</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a:effectLst/>
                              <a:latin typeface="Verdana" panose="020B0604030504040204" pitchFamily="34" charset="0"/>
                              <a:ea typeface="Verdana" panose="020B0604030504040204" pitchFamily="34" charset="0"/>
                              <a:cs typeface="Verdana" panose="020B0604030504040204" pitchFamily="34" charset="0"/>
                            </a:rPr>
                            <a:t>Base</a:t>
                          </a:r>
                        </a:p>
                        <a:p>
                          <a:pPr marL="0" marR="0" algn="ctr">
                            <a:spcBef>
                              <a:spcPts val="0"/>
                            </a:spcBef>
                            <a:spcAft>
                              <a:spcPts val="0"/>
                            </a:spcAft>
                            <a:tabLst>
                              <a:tab pos="1722755" algn="l"/>
                            </a:tabLst>
                          </a:pPr>
                          <a:r>
                            <a:rPr lang="en-US" sz="2000" b="1">
                              <a:effectLst/>
                              <a:latin typeface="Verdana" panose="020B0604030504040204" pitchFamily="34" charset="0"/>
                              <a:ea typeface="Verdana" panose="020B0604030504040204" pitchFamily="34" charset="0"/>
                              <a:cs typeface="Verdana" panose="020B0604030504040204" pitchFamily="34" charset="0"/>
                            </a:rPr>
                            <a:t>(cm)</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a:effectLst/>
                              <a:latin typeface="Verdana" panose="020B0604030504040204" pitchFamily="34" charset="0"/>
                              <a:ea typeface="Verdana" panose="020B0604030504040204" pitchFamily="34" charset="0"/>
                              <a:cs typeface="Verdana" panose="020B0604030504040204" pitchFamily="34" charset="0"/>
                            </a:rPr>
                            <a:t>Height (cm)</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Area</a:t>
                          </a:r>
                        </a:p>
                        <a:p>
                          <a:pPr marL="0" marR="0" algn="ctr">
                            <a:spcBef>
                              <a:spcPts val="0"/>
                            </a:spcBef>
                            <a:spcAft>
                              <a:spcPts val="0"/>
                            </a:spcAft>
                            <a:tabLst>
                              <a:tab pos="1722755"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r>
                            <a:rPr lang="en-US" sz="2000" b="1" baseline="30000" dirty="0">
                              <a:effectLst/>
                              <a:latin typeface="Verdana" panose="020B0604030504040204" pitchFamily="34" charset="0"/>
                              <a:ea typeface="Verdana" panose="020B0604030504040204" pitchFamily="34"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528949976"/>
                      </a:ext>
                    </a:extLst>
                  </a:tr>
                  <a:tr h="1032999">
                    <a:tc>
                      <a:txBody>
                        <a:bodyPr/>
                        <a:lstStyle/>
                        <a:p>
                          <a:pPr marL="0" marR="0" algn="ctr">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Any Triangle</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133702" t="-66471" r="-300552" b="-400000"/>
                          </a:stretch>
                        </a:blipFill>
                      </a:tcPr>
                    </a:tc>
                    <a:tc>
                      <a:txBody>
                        <a:bodyPr/>
                        <a:lstStyle/>
                        <a:p>
                          <a:endParaRPr lang="en-US"/>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218041" t="-66471" r="-180412" b="-400000"/>
                          </a:stretch>
                        </a:blipFill>
                      </a:tcPr>
                    </a:tc>
                    <a:tc>
                      <a:txBody>
                        <a:bodyPr/>
                        <a:lstStyle/>
                        <a:p>
                          <a:endParaRPr lang="en-US"/>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177299" t="-66471" r="-575" b="-400000"/>
                          </a:stretch>
                        </a:blipFill>
                      </a:tcPr>
                    </a:tc>
                    <a:extLst>
                      <a:ext uri="{0D108BD9-81ED-4DB2-BD59-A6C34878D82A}">
                        <a16:rowId xmlns:a16="http://schemas.microsoft.com/office/drawing/2014/main" xmlns:a14="http://schemas.microsoft.com/office/drawing/2010/main" xmlns="" val="1047839736"/>
                      </a:ext>
                    </a:extLst>
                  </a:tr>
                  <a:tr h="1032999">
                    <a:tc>
                      <a:txBody>
                        <a:bodyPr/>
                        <a:lstStyle/>
                        <a:p>
                          <a:pPr marL="0" marR="0" algn="ctr">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Triangle A</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005227107"/>
                      </a:ext>
                    </a:extLst>
                  </a:tr>
                  <a:tr h="1032999">
                    <a:tc>
                      <a:txBody>
                        <a:bodyPr/>
                        <a:lstStyle/>
                        <a:p>
                          <a:pPr marL="0" marR="0" algn="ctr">
                            <a:spcBef>
                              <a:spcPts val="0"/>
                            </a:spcBef>
                            <a:spcAft>
                              <a:spcPts val="0"/>
                            </a:spcAft>
                            <a:tabLst>
                              <a:tab pos="1722755" algn="l"/>
                            </a:tabLst>
                          </a:pPr>
                          <a:r>
                            <a:rPr lang="en-US" sz="2000">
                              <a:effectLst/>
                              <a:latin typeface="Verdana" panose="020B0604030504040204" pitchFamily="34" charset="0"/>
                              <a:ea typeface="Verdana" panose="020B0604030504040204" pitchFamily="34" charset="0"/>
                              <a:cs typeface="Verdana" panose="020B0604030504040204" pitchFamily="34" charset="0"/>
                            </a:rPr>
                            <a:t>Triangle B</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97636673"/>
                      </a:ext>
                    </a:extLst>
                  </a:tr>
                  <a:tr h="1032999">
                    <a:tc>
                      <a:txBody>
                        <a:bodyPr/>
                        <a:lstStyle/>
                        <a:p>
                          <a:pPr marL="0" marR="0" algn="ctr">
                            <a:spcBef>
                              <a:spcPts val="0"/>
                            </a:spcBef>
                            <a:spcAft>
                              <a:spcPts val="0"/>
                            </a:spcAft>
                            <a:tabLst>
                              <a:tab pos="1722755" algn="l"/>
                            </a:tabLst>
                          </a:pPr>
                          <a:r>
                            <a:rPr lang="en-US" sz="2000">
                              <a:effectLst/>
                              <a:latin typeface="Verdana" panose="020B0604030504040204" pitchFamily="34" charset="0"/>
                              <a:ea typeface="Verdana" panose="020B0604030504040204" pitchFamily="34" charset="0"/>
                              <a:cs typeface="Verdana" panose="020B0604030504040204" pitchFamily="34" charset="0"/>
                            </a:rPr>
                            <a:t>Triangle C</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71395509"/>
                      </a:ext>
                    </a:extLst>
                  </a:tr>
                  <a:tr h="1032999">
                    <a:tc>
                      <a:txBody>
                        <a:bodyPr/>
                        <a:lstStyle/>
                        <a:p>
                          <a:pPr marL="0" marR="0" algn="ctr">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Triangle D</a:t>
                          </a: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535322985"/>
                      </a:ext>
                    </a:extLst>
                  </a:tr>
                </a:tbl>
              </a:graphicData>
            </a:graphic>
          </p:graphicFrame>
        </mc:Fallback>
      </mc:AlternateContent>
      <p:sp>
        <p:nvSpPr>
          <p:cNvPr id="7"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305</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78983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6412"/>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33602" y="464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7.2.3 Guided Practice: Find the Area of a Triangle</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83794" y="21249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1333602" y="1372171"/>
                <a:ext cx="9780828" cy="1015663"/>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drawings correctly label base, </a:t>
                </a:r>
                <a14:m>
                  <m:oMath xmlns:m="http://schemas.openxmlformats.org/officeDocument/2006/math">
                    <m:r>
                      <a:rPr lang="en-US" sz="2000" i="1">
                        <a:latin typeface="Cambria Math" panose="02040503050406030204" pitchFamily="18" charset="0"/>
                      </a:rPr>
                      <m:t>𝑏</m:t>
                    </m:r>
                  </m:oMath>
                </a14:m>
                <a:r>
                  <a:rPr lang="en-US" sz="2000" dirty="0">
                    <a:latin typeface="Verdana" panose="020B0604030504040204" pitchFamily="34" charset="0"/>
                    <a:ea typeface="Verdana" panose="020B0604030504040204" pitchFamily="34" charset="0"/>
                    <a:cs typeface="Verdana" panose="020B0604030504040204" pitchFamily="34" charset="0"/>
                  </a:rPr>
                  <a:t>, and its corresponding height, </a:t>
                </a:r>
                <a14:m>
                  <m:oMath xmlns:m="http://schemas.openxmlformats.org/officeDocument/2006/math">
                    <m:r>
                      <a:rPr lang="en-US" sz="2000" i="1">
                        <a:latin typeface="Cambria Math" panose="02040503050406030204" pitchFamily="18" charset="0"/>
                      </a:rPr>
                      <m:t>h</m:t>
                    </m:r>
                  </m:oMath>
                </a14:m>
                <a:r>
                  <a:rPr lang="en-US" sz="2000" dirty="0">
                    <a:latin typeface="Verdana" panose="020B0604030504040204" pitchFamily="34" charset="0"/>
                    <a:ea typeface="Verdana" panose="020B0604030504040204" pitchFamily="34" charset="0"/>
                    <a:cs typeface="Verdana" panose="020B0604030504040204" pitchFamily="34" charset="0"/>
                  </a:rPr>
                  <a:t>. Circle all the correct drawings.</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1333602" y="1372171"/>
                <a:ext cx="9780828" cy="1015663"/>
              </a:xfrm>
              <a:prstGeom prst="rect">
                <a:avLst/>
              </a:prstGeom>
              <a:blipFill rotWithShape="0">
                <a:blip r:embed="rId4"/>
                <a:stretch>
                  <a:fillRect l="-686" t="-4192"/>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C83FE6C-2A92-0840-AA21-B0B38F631C93}"/>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Shape, polygon&#10;&#10;Description automatically generated">
            <a:extLst>
              <a:ext uri="{FF2B5EF4-FFF2-40B4-BE49-F238E27FC236}">
                <a16:creationId xmlns:a16="http://schemas.microsoft.com/office/drawing/2014/main" id="{858C857D-6DB9-D047-A959-AE599581756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04255" y="2452254"/>
            <a:ext cx="5583490" cy="3623655"/>
          </a:xfrm>
          <a:prstGeom prst="rect">
            <a:avLst/>
          </a:prstGeom>
        </p:spPr>
      </p:pic>
      <p:sp>
        <p:nvSpPr>
          <p:cNvPr id="11"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305</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48032" y="751115"/>
            <a:ext cx="4267024" cy="286232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For each triangle below, circle the base measurement and put a square around the height measurement. Then, use the base and height to find the area of each triangle. Show your work. Include units.</a:t>
            </a:r>
          </a:p>
        </p:txBody>
      </p:sp>
      <p:sp>
        <p:nvSpPr>
          <p:cNvPr id="6" name="Google Shape;278;g104476d1465_1_17">
            <a:extLst>
              <a:ext uri="{FF2B5EF4-FFF2-40B4-BE49-F238E27FC236}">
                <a16:creationId xmlns:a16="http://schemas.microsoft.com/office/drawing/2014/main" id="{DCFC9A26-671E-2C45-82EC-8B136C03E0A5}"/>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1" name="Picture 20" descr="Diagram, shape, polygon&#10;&#10;Description automatically generated">
            <a:extLst>
              <a:ext uri="{FF2B5EF4-FFF2-40B4-BE49-F238E27FC236}">
                <a16:creationId xmlns:a16="http://schemas.microsoft.com/office/drawing/2014/main" id="{9198DF90-00D5-4746-B326-0D6BB51387E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287178"/>
            <a:ext cx="4310970" cy="6074060"/>
          </a:xfrm>
          <a:prstGeom prst="rect">
            <a:avLst/>
          </a:prstGeom>
        </p:spPr>
      </p:pic>
      <p:sp>
        <p:nvSpPr>
          <p:cNvPr id="7"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306</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59123" y="139173"/>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7.3.4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711823" y="139173"/>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459123" y="1222736"/>
                <a:ext cx="8928461" cy="1015663"/>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each triangle, a base and its corresponding height are labeled. Complete the table by finding the area of each triangle. The side length of each square on the grid is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inch (in.).</a:t>
                </a: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459123" y="1222736"/>
                <a:ext cx="8928461" cy="1015663"/>
              </a:xfrm>
              <a:prstGeom prst="rect">
                <a:avLst/>
              </a:prstGeom>
              <a:blipFill rotWithShape="0">
                <a:blip r:embed="rId4"/>
                <a:stretch>
                  <a:fillRect l="-751" t="-4217" b="-10241"/>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EDD7E546-9334-CD4B-9098-7FA33B42DB04}"/>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0" name="Picture 9" descr="A picture containing text, shoji&#10;&#10;Description automatically generated">
            <a:extLst>
              <a:ext uri="{FF2B5EF4-FFF2-40B4-BE49-F238E27FC236}">
                <a16:creationId xmlns:a16="http://schemas.microsoft.com/office/drawing/2014/main" id="{B4A0B4DD-16F5-BF4E-850F-D8283543CD9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96808" y="2468635"/>
            <a:ext cx="5198383" cy="1843193"/>
          </a:xfrm>
          <a:prstGeom prst="rect">
            <a:avLst/>
          </a:prstGeom>
        </p:spPr>
      </p:pic>
      <p:graphicFrame>
        <p:nvGraphicFramePr>
          <p:cNvPr id="2" name="Table 1">
            <a:extLst>
              <a:ext uri="{FF2B5EF4-FFF2-40B4-BE49-F238E27FC236}">
                <a16:creationId xmlns:a16="http://schemas.microsoft.com/office/drawing/2014/main" id="{43E25D84-D0E6-9244-AFBB-67C19BD78D48}"/>
              </a:ext>
            </a:extLst>
          </p:cNvPr>
          <p:cNvGraphicFramePr>
            <a:graphicFrameLocks noGrp="1"/>
          </p:cNvGraphicFramePr>
          <p:nvPr>
            <p:extLst>
              <p:ext uri="{D42A27DB-BD31-4B8C-83A1-F6EECF244321}">
                <p14:modId xmlns:p14="http://schemas.microsoft.com/office/powerpoint/2010/main" val="3478085272"/>
              </p:ext>
            </p:extLst>
          </p:nvPr>
        </p:nvGraphicFramePr>
        <p:xfrm>
          <a:off x="4456429" y="4561411"/>
          <a:ext cx="3279140" cy="1840230"/>
        </p:xfrm>
        <a:graphic>
          <a:graphicData uri="http://schemas.openxmlformats.org/drawingml/2006/table">
            <a:tbl>
              <a:tblPr firstRow="1" firstCol="1" bandRow="1">
                <a:tableStyleId>{A91F0D33-8C57-4600-99A7-42BC86742BE1}</a:tableStyleId>
              </a:tblPr>
              <a:tblGrid>
                <a:gridCol w="1223645">
                  <a:extLst>
                    <a:ext uri="{9D8B030D-6E8A-4147-A177-3AD203B41FA5}">
                      <a16:colId xmlns:a16="http://schemas.microsoft.com/office/drawing/2014/main" val="2857778144"/>
                    </a:ext>
                  </a:extLst>
                </a:gridCol>
                <a:gridCol w="2055495">
                  <a:extLst>
                    <a:ext uri="{9D8B030D-6E8A-4147-A177-3AD203B41FA5}">
                      <a16:colId xmlns:a16="http://schemas.microsoft.com/office/drawing/2014/main" val="625075623"/>
                    </a:ext>
                  </a:extLst>
                </a:gridCol>
              </a:tblGrid>
              <a:tr h="462915">
                <a:tc>
                  <a:txBody>
                    <a:bodyPr/>
                    <a:lstStyle/>
                    <a:p>
                      <a:pPr marL="0" marR="0" algn="ctr">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Triangle</a:t>
                      </a:r>
                      <a:endParaRPr lang="en-US" sz="12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Area (in</a:t>
                      </a:r>
                      <a:r>
                        <a:rPr lang="en-US" sz="1800" b="1" baseline="30000" dirty="0">
                          <a:effectLst/>
                          <a:latin typeface="Verdana" panose="020B0604030504040204" pitchFamily="34" charset="0"/>
                          <a:ea typeface="Verdana" panose="020B0604030504040204" pitchFamily="34" charset="0"/>
                          <a:cs typeface="Verdana" panose="020B0604030504040204" pitchFamily="34" charset="0"/>
                        </a:rPr>
                        <a:t>2</a:t>
                      </a:r>
                      <a:r>
                        <a:rPr lang="en-US" sz="1800" b="1" dirty="0">
                          <a:effectLst/>
                          <a:latin typeface="Verdana" panose="020B0604030504040204" pitchFamily="34" charset="0"/>
                          <a:ea typeface="Verdana" panose="020B0604030504040204" pitchFamily="34" charset="0"/>
                          <a:cs typeface="Verdana" panose="020B0604030504040204" pitchFamily="34" charset="0"/>
                        </a:rPr>
                        <a:t>)</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49023693"/>
                  </a:ext>
                </a:extLst>
              </a:tr>
              <a:tr h="45720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6719036"/>
                  </a:ext>
                </a:extLst>
              </a:tr>
              <a:tr h="4629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185853"/>
                  </a:ext>
                </a:extLst>
              </a:tr>
              <a:tr h="45720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890492"/>
                  </a:ext>
                </a:extLst>
              </a:tr>
            </a:tbl>
          </a:graphicData>
        </a:graphic>
      </p:graphicFrame>
      <p:sp>
        <p:nvSpPr>
          <p:cNvPr id="13"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306</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C626DD4B-AF0E-B846-831C-21AC8FD45F48}"/>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307</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pic>
        <p:nvPicPr>
          <p:cNvPr id="4" name="Picture 3">
            <a:extLst>
              <a:ext uri="{FF2B5EF4-FFF2-40B4-BE49-F238E27FC236}">
                <a16:creationId xmlns:a16="http://schemas.microsoft.com/office/drawing/2014/main" id="{689C62B3-0B31-C512-BF34-015FB3C8644C}"/>
              </a:ext>
            </a:extLst>
          </p:cNvPr>
          <p:cNvPicPr>
            <a:picLocks noChangeAspect="1"/>
          </p:cNvPicPr>
          <p:nvPr/>
        </p:nvPicPr>
        <p:blipFill>
          <a:blip r:embed="rId4"/>
          <a:stretch>
            <a:fillRect/>
          </a:stretch>
        </p:blipFill>
        <p:spPr>
          <a:xfrm>
            <a:off x="1947017" y="287493"/>
            <a:ext cx="6045520" cy="5913232"/>
          </a:xfrm>
          <a:prstGeom prst="rect">
            <a:avLst/>
          </a:prstGeom>
        </p:spPr>
      </p:pic>
    </p:spTree>
    <p:extLst>
      <p:ext uri="{BB962C8B-B14F-4D97-AF65-F5344CB8AC3E}">
        <p14:creationId xmlns:p14="http://schemas.microsoft.com/office/powerpoint/2010/main" val="252435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23390" y="420"/>
            <a:ext cx="903806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7.2.5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76090" y="28962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1323390" y="1386026"/>
                <a:ext cx="9801252" cy="4401205"/>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diagram of a triangle is shown on a grid. The side length of each square on the grid represents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foot (ft).</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lvl="2" indent="-4508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a base and its corresponding height for the triangle.</a:t>
                </a:r>
              </a:p>
              <a:p>
                <a:pPr marL="457200" lvl="2"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lvl="2" indent="-4508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area of the triangle. Include units.</a:t>
                </a: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1323390" y="1386026"/>
                <a:ext cx="9801252" cy="4401205"/>
              </a:xfrm>
              <a:prstGeom prst="rect">
                <a:avLst/>
              </a:prstGeom>
              <a:blipFill rotWithShape="0">
                <a:blip r:embed="rId4"/>
                <a:stretch>
                  <a:fillRect l="-684" t="-831" b="-1662"/>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C9825640-5649-F74D-866E-EC8F188D5640}"/>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0" name="Picture 9" descr="Chart, line chart&#10;&#10;Description automatically generated">
            <a:extLst>
              <a:ext uri="{FF2B5EF4-FFF2-40B4-BE49-F238E27FC236}">
                <a16:creationId xmlns:a16="http://schemas.microsoft.com/office/drawing/2014/main" id="{E0E61D42-BC8E-444D-BCE3-90FD4D275D84}"/>
              </a:ext>
            </a:extLst>
          </p:cNvPr>
          <p:cNvPicPr>
            <a:picLocks noChangeAspect="1"/>
          </p:cNvPicPr>
          <p:nvPr/>
        </p:nvPicPr>
        <p:blipFill>
          <a:blip r:embed="rId5"/>
          <a:stretch>
            <a:fillRect/>
          </a:stretch>
        </p:blipFill>
        <p:spPr>
          <a:xfrm>
            <a:off x="4000500" y="2253138"/>
            <a:ext cx="4191000" cy="2085975"/>
          </a:xfrm>
          <a:prstGeom prst="rect">
            <a:avLst/>
          </a:prstGeom>
        </p:spPr>
      </p:pic>
      <p:sp>
        <p:nvSpPr>
          <p:cNvPr id="11" name="Google Shape;282;g104476d1465_1_17"/>
          <p:cNvSpPr txBox="1"/>
          <p:nvPr/>
        </p:nvSpPr>
        <p:spPr>
          <a:xfrm>
            <a:off x="87234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307</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16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1301</TotalTime>
  <Words>852</Words>
  <Application>Microsoft Office PowerPoint</Application>
  <PresentationFormat>Widescreen</PresentationFormat>
  <Paragraphs>189</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 Black</vt:lpstr>
      <vt:lpstr>Calibri</vt:lpstr>
      <vt:lpstr>Cambria</vt:lpstr>
      <vt:lpstr>Cambria Math</vt:lpstr>
      <vt:lpstr>Century Gothic</vt:lpstr>
      <vt:lpstr>Verdana</vt:lpstr>
      <vt:lpstr>1_Office Theme</vt:lpstr>
      <vt:lpstr>6th Grade Accelerated Math  Unit 7, Lesson 2  Area of Triangles- Part 2  Volume 1, pg. 302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24</cp:revision>
  <dcterms:created xsi:type="dcterms:W3CDTF">2015-03-17T18:51:18Z</dcterms:created>
  <dcterms:modified xsi:type="dcterms:W3CDTF">2022-08-01T00:52:19Z</dcterms:modified>
</cp:coreProperties>
</file>