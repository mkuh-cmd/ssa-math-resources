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3"/>
  </p:notesMasterIdLst>
  <p:sldIdLst>
    <p:sldId id="256" r:id="rId5"/>
    <p:sldId id="257" r:id="rId6"/>
    <p:sldId id="285" r:id="rId7"/>
    <p:sldId id="286" r:id="rId8"/>
    <p:sldId id="261" r:id="rId9"/>
    <p:sldId id="287" r:id="rId10"/>
    <p:sldId id="289" r:id="rId11"/>
    <p:sldId id="290" r:id="rId12"/>
    <p:sldId id="336" r:id="rId13"/>
    <p:sldId id="342" r:id="rId14"/>
    <p:sldId id="302" r:id="rId15"/>
    <p:sldId id="303" r:id="rId16"/>
    <p:sldId id="340" r:id="rId17"/>
    <p:sldId id="343" r:id="rId18"/>
    <p:sldId id="345" r:id="rId19"/>
    <p:sldId id="344" r:id="rId20"/>
    <p:sldId id="306" r:id="rId21"/>
    <p:sldId id="307"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41BFAC"/>
    <a:srgbClr val="B399C8"/>
    <a:srgbClr val="276C46"/>
    <a:srgbClr val="C9DF6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08"/>
    <p:restoredTop sz="94712"/>
  </p:normalViewPr>
  <p:slideViewPr>
    <p:cSldViewPr snapToGrid="0">
      <p:cViewPr varScale="1">
        <p:scale>
          <a:sx n="51" d="100"/>
          <a:sy n="51" d="100"/>
        </p:scale>
        <p:origin x="102" y="52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55570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762932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80366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33019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151736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17352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741173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26523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658736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1057472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7,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panose="020B0604030504040204" pitchFamily="34" charset="0"/>
                <a:ea typeface="Verdana" panose="020B0604030504040204" pitchFamily="34" charset="0"/>
                <a:cs typeface="Verdana" panose="020B0604030504040204" pitchFamily="34" charset="0"/>
              </a:rPr>
              <a:t>Finding the Area of Trapezoids, Parallelograms, and Rhombi</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322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22837" y="15059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99337" y="3863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698537" y="1600200"/>
            <a:ext cx="879492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MA.7.GR.1.1</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Apply formulas to find the areas of trapezoids, parallelograms, and rhombi.</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41499" y="295908"/>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66149" y="5327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31852" y="1725133"/>
            <a:ext cx="892829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56686" y="-38323"/>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74524" y="250877"/>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63040" y="1608909"/>
            <a:ext cx="926592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solidFill>
                  <a:schemeClr val="tx1"/>
                </a:solidFill>
                <a:latin typeface="Verdana"/>
                <a:ea typeface="Verdana"/>
                <a:cs typeface="Verdana"/>
                <a:sym typeface="Verdana"/>
              </a:rPr>
              <a:t>I can find the area of trapezoids, parallelograms, and rhombi.</a:t>
            </a:r>
          </a:p>
        </p:txBody>
      </p:sp>
      <p:sp>
        <p:nvSpPr>
          <p:cNvPr id="9"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0036" y="-24083"/>
            <a:ext cx="945835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7.5.1 Warm-Up: A Day in the Life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82737"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682737" y="1411325"/>
            <a:ext cx="9587960"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Betsy McIver, a mechanical engineer, works in the Walt Disney Imagineering area and designs systems for the interactive attractions at the theme park. She mentions that her job can include creative left-brain thinking, as well as technical right-brain thinking. She says that to be successful at her job, it is important to understand math, design, and theatre. She also mentions that many disciplines, such as designers and architects, all work together to make everything possible in the entertainment engineering industry.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1. Describe a ride you saw that looked exciting and entertaining.</a:t>
            </a:r>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1"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pic>
        <p:nvPicPr>
          <p:cNvPr id="4" name="Picture 3">
            <a:extLst>
              <a:ext uri="{FF2B5EF4-FFF2-40B4-BE49-F238E27FC236}">
                <a16:creationId xmlns:a16="http://schemas.microsoft.com/office/drawing/2014/main" id="{DEC47999-D91E-869A-4011-D3F9A9AB3BF6}"/>
              </a:ext>
            </a:extLst>
          </p:cNvPr>
          <p:cNvPicPr>
            <a:picLocks noChangeAspect="1"/>
          </p:cNvPicPr>
          <p:nvPr/>
        </p:nvPicPr>
        <p:blipFill>
          <a:blip r:embed="rId5"/>
          <a:stretch>
            <a:fillRect/>
          </a:stretch>
        </p:blipFill>
        <p:spPr>
          <a:xfrm>
            <a:off x="10095807" y="225902"/>
            <a:ext cx="1871518" cy="1871518"/>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8371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54660" y="8420"/>
            <a:ext cx="90329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7.5.2 Guided Instruction: Area of Parallelograms, Trapezoids, and Rhombi</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07361" y="201869"/>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153551" y="1386025"/>
            <a:ext cx="10140930" cy="707886"/>
          </a:xfrm>
          <a:prstGeom prst="rect">
            <a:avLst/>
          </a:prstGeom>
          <a:noFill/>
        </p:spPr>
        <p:txBody>
          <a:bodyPr wrap="square" rtlCol="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1. Complete the table to match each type of quadrilateral with the formula to find its area.</a:t>
            </a:r>
          </a:p>
        </p:txBody>
      </p:sp>
      <p:sp>
        <p:nvSpPr>
          <p:cNvPr id="8" name="Google Shape;278;g104476d1465_1_17">
            <a:extLst>
              <a:ext uri="{FF2B5EF4-FFF2-40B4-BE49-F238E27FC236}">
                <a16:creationId xmlns:a16="http://schemas.microsoft.com/office/drawing/2014/main" id="{2B75021C-9817-6449-B54A-E1D9EB71417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a:extLst>
              <a:ext uri="{FF2B5EF4-FFF2-40B4-BE49-F238E27FC236}">
                <a16:creationId xmlns:a16="http://schemas.microsoft.com/office/drawing/2014/main" id="{D0C5B341-2261-DD45-91B0-0D552C75E1D9}"/>
              </a:ext>
            </a:extLst>
          </p:cNvPr>
          <p:cNvPicPr>
            <a:picLocks noChangeAspect="1"/>
          </p:cNvPicPr>
          <p:nvPr/>
        </p:nvPicPr>
        <p:blipFill>
          <a:blip r:embed="rId4"/>
          <a:stretch>
            <a:fillRect/>
          </a:stretch>
        </p:blipFill>
        <p:spPr>
          <a:xfrm>
            <a:off x="2818040" y="2389223"/>
            <a:ext cx="6555921" cy="3214263"/>
          </a:xfrm>
          <a:prstGeom prst="rect">
            <a:avLst/>
          </a:prstGeom>
        </p:spPr>
      </p:pic>
      <p:sp>
        <p:nvSpPr>
          <p:cNvPr id="11"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323</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73105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055077" y="520394"/>
            <a:ext cx="10232512" cy="1323439"/>
          </a:xfrm>
          <a:prstGeom prst="rect">
            <a:avLst/>
          </a:prstGeom>
          <a:noFill/>
        </p:spPr>
        <p:txBody>
          <a:bodyPr wrap="square" rtlCol="0">
            <a:spAutoFit/>
          </a:bodyPr>
          <a:lstStyle/>
          <a:p>
            <a:pPr marL="292100" indent="-292100"/>
            <a:r>
              <a:rPr lang="en-US" sz="2000" dirty="0">
                <a:latin typeface="Verdana" panose="020B0604030504040204" pitchFamily="34" charset="0"/>
                <a:ea typeface="Verdana" panose="020B0604030504040204" pitchFamily="34" charset="0"/>
                <a:cs typeface="Verdana" panose="020B0604030504040204" pitchFamily="34" charset="0"/>
              </a:rPr>
              <a:t>2. The dimensions of three quadrilaterals are given in the table. Label each figure shown with the given dimensions in centimeters (cm). Then, calculate the area of each figure using the appropriate formula. Show your work.</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6E553402-0D09-DC4E-82CE-BD1E530E0CFB}"/>
              </a:ext>
            </a:extLst>
          </p:cNvPr>
          <p:cNvPicPr>
            <a:picLocks noChangeAspect="1"/>
          </p:cNvPicPr>
          <p:nvPr/>
        </p:nvPicPr>
        <p:blipFill>
          <a:blip r:embed="rId3"/>
          <a:stretch>
            <a:fillRect/>
          </a:stretch>
        </p:blipFill>
        <p:spPr>
          <a:xfrm>
            <a:off x="2616402" y="1985455"/>
            <a:ext cx="6959197" cy="4151855"/>
          </a:xfrm>
          <a:prstGeom prst="rect">
            <a:avLst/>
          </a:prstGeom>
        </p:spPr>
      </p:pic>
      <p:sp>
        <p:nvSpPr>
          <p:cNvPr id="7"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4950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5B857E21-14F1-9C47-B2E8-32DB537DBF85}"/>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pic>
        <p:nvPicPr>
          <p:cNvPr id="4" name="Picture 3">
            <a:extLst>
              <a:ext uri="{FF2B5EF4-FFF2-40B4-BE49-F238E27FC236}">
                <a16:creationId xmlns:a16="http://schemas.microsoft.com/office/drawing/2014/main" id="{0EA1C9E3-08D4-FB78-BC64-8F1E71820FD5}"/>
              </a:ext>
            </a:extLst>
          </p:cNvPr>
          <p:cNvPicPr>
            <a:picLocks noChangeAspect="1"/>
          </p:cNvPicPr>
          <p:nvPr/>
        </p:nvPicPr>
        <p:blipFill>
          <a:blip r:embed="rId4"/>
          <a:stretch>
            <a:fillRect/>
          </a:stretch>
        </p:blipFill>
        <p:spPr>
          <a:xfrm>
            <a:off x="3647260" y="83547"/>
            <a:ext cx="4868090" cy="6723141"/>
          </a:xfrm>
          <a:prstGeom prst="rect">
            <a:avLst/>
          </a:prstGeom>
        </p:spPr>
      </p:pic>
    </p:spTree>
    <p:extLst>
      <p:ext uri="{BB962C8B-B14F-4D97-AF65-F5344CB8AC3E}">
        <p14:creationId xmlns:p14="http://schemas.microsoft.com/office/powerpoint/2010/main" val="3727707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18275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81894" y="21649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7.5.3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534594" y="216496"/>
            <a:ext cx="747300" cy="747300"/>
          </a:xfrm>
          <a:prstGeom prst="rect">
            <a:avLst/>
          </a:prstGeom>
          <a:noFill/>
          <a:ln>
            <a:noFill/>
          </a:ln>
        </p:spPr>
      </p:pic>
      <p:sp>
        <p:nvSpPr>
          <p:cNvPr id="8" name="Google Shape;278;g104476d1465_1_17">
            <a:extLst>
              <a:ext uri="{FF2B5EF4-FFF2-40B4-BE49-F238E27FC236}">
                <a16:creationId xmlns:a16="http://schemas.microsoft.com/office/drawing/2014/main" id="{EDD7E546-9334-CD4B-9098-7FA33B42DB04}"/>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1"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324</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pic>
        <p:nvPicPr>
          <p:cNvPr id="4" name="Picture 3">
            <a:extLst>
              <a:ext uri="{FF2B5EF4-FFF2-40B4-BE49-F238E27FC236}">
                <a16:creationId xmlns:a16="http://schemas.microsoft.com/office/drawing/2014/main" id="{1FC79858-5683-0EB4-4094-C4AFAA6032F2}"/>
              </a:ext>
            </a:extLst>
          </p:cNvPr>
          <p:cNvPicPr>
            <a:picLocks noChangeAspect="1"/>
          </p:cNvPicPr>
          <p:nvPr/>
        </p:nvPicPr>
        <p:blipFill>
          <a:blip r:embed="rId5"/>
          <a:stretch>
            <a:fillRect/>
          </a:stretch>
        </p:blipFill>
        <p:spPr>
          <a:xfrm>
            <a:off x="1762351" y="1131187"/>
            <a:ext cx="7021885" cy="3174072"/>
          </a:xfrm>
          <a:prstGeom prst="rect">
            <a:avLst/>
          </a:prstGeom>
        </p:spPr>
      </p:pic>
    </p:spTree>
    <p:extLst>
      <p:ext uri="{BB962C8B-B14F-4D97-AF65-F5344CB8AC3E}">
        <p14:creationId xmlns:p14="http://schemas.microsoft.com/office/powerpoint/2010/main" val="4205959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11348" y="520394"/>
            <a:ext cx="10119970" cy="4093428"/>
          </a:xfrm>
          <a:prstGeom prst="rect">
            <a:avLst/>
          </a:prstGeom>
          <a:noFill/>
        </p:spPr>
        <p:txBody>
          <a:bodyPr wrap="square" rtlCol="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2. One wall of </a:t>
            </a:r>
            <a:r>
              <a:rPr lang="en-US" sz="2000" dirty="0" err="1">
                <a:latin typeface="Verdana" panose="020B0604030504040204" pitchFamily="34" charset="0"/>
                <a:ea typeface="Verdana" panose="020B0604030504040204" pitchFamily="34" charset="0"/>
                <a:cs typeface="Verdana" panose="020B0604030504040204" pitchFamily="34" charset="0"/>
              </a:rPr>
              <a:t>Kel’s</a:t>
            </a:r>
            <a:r>
              <a:rPr lang="en-US" sz="2000" dirty="0">
                <a:latin typeface="Verdana" panose="020B0604030504040204" pitchFamily="34" charset="0"/>
                <a:ea typeface="Verdana" panose="020B0604030504040204" pitchFamily="34" charset="0"/>
                <a:cs typeface="Verdana" panose="020B0604030504040204" pitchFamily="34" charset="0"/>
              </a:rPr>
              <a:t> apartment is shaped like a trapezoid with one base </a:t>
            </a:r>
            <a:r>
              <a:rPr lang="en-US" sz="2000" dirty="0">
                <a:latin typeface="Cambria Math" panose="02040503050406030204" pitchFamily="18" charset="0"/>
                <a:ea typeface="Cambria Math" panose="02040503050406030204" pitchFamily="18" charset="0"/>
                <a:cs typeface="Verdana" panose="020B0604030504040204" pitchFamily="34" charset="0"/>
              </a:rPr>
              <a:t>18.7</a:t>
            </a:r>
            <a:r>
              <a:rPr lang="en-US" sz="2000" dirty="0">
                <a:latin typeface="Verdana" panose="020B0604030504040204" pitchFamily="34" charset="0"/>
                <a:ea typeface="Verdana" panose="020B0604030504040204" pitchFamily="34" charset="0"/>
                <a:cs typeface="Verdana" panose="020B0604030504040204" pitchFamily="34" charset="0"/>
              </a:rPr>
              <a:t> feet (ft), the other base </a:t>
            </a:r>
            <a:r>
              <a:rPr lang="en-US" sz="2000" dirty="0">
                <a:latin typeface="Cambria Math" panose="02040503050406030204" pitchFamily="18" charset="0"/>
                <a:ea typeface="Cambria Math" panose="02040503050406030204" pitchFamily="18" charset="0"/>
                <a:cs typeface="Verdana" panose="020B0604030504040204" pitchFamily="34" charset="0"/>
              </a:rPr>
              <a:t>16.3</a:t>
            </a:r>
            <a:r>
              <a:rPr lang="en-US" sz="2000" dirty="0">
                <a:latin typeface="Verdana" panose="020B0604030504040204" pitchFamily="34" charset="0"/>
                <a:ea typeface="Verdana" panose="020B0604030504040204" pitchFamily="34" charset="0"/>
                <a:cs typeface="Verdana" panose="020B0604030504040204" pitchFamily="34" charset="0"/>
              </a:rPr>
              <a:t> ft, and a height of </a:t>
            </a:r>
            <a:r>
              <a:rPr lang="en-US" sz="2000" dirty="0">
                <a:latin typeface="Cambria Math" panose="02040503050406030204" pitchFamily="18" charset="0"/>
                <a:ea typeface="Cambria Math" panose="02040503050406030204" pitchFamily="18" charset="0"/>
                <a:cs typeface="Verdana" panose="020B0604030504040204" pitchFamily="34" charset="0"/>
              </a:rPr>
              <a:t>9</a:t>
            </a:r>
            <a:r>
              <a:rPr lang="en-US" sz="2000" dirty="0">
                <a:latin typeface="Verdana" panose="020B0604030504040204" pitchFamily="34" charset="0"/>
                <a:ea typeface="Verdana" panose="020B0604030504040204" pitchFamily="34" charset="0"/>
                <a:cs typeface="Verdana" panose="020B0604030504040204" pitchFamily="34" charset="0"/>
              </a:rPr>
              <a:t> ft.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err="1">
                <a:latin typeface="Verdana" panose="020B0604030504040204" pitchFamily="34" charset="0"/>
                <a:ea typeface="Verdana" panose="020B0604030504040204" pitchFamily="34" charset="0"/>
                <a:cs typeface="Verdana" panose="020B0604030504040204" pitchFamily="34" charset="0"/>
              </a:rPr>
              <a:t>Kel</a:t>
            </a:r>
            <a:r>
              <a:rPr lang="en-US" sz="2000" dirty="0">
                <a:latin typeface="Verdana" panose="020B0604030504040204" pitchFamily="34" charset="0"/>
                <a:ea typeface="Verdana" panose="020B0604030504040204" pitchFamily="34" charset="0"/>
                <a:cs typeface="Verdana" panose="020B0604030504040204" pitchFamily="34" charset="0"/>
              </a:rPr>
              <a:t> plans to paint this wall blue and needs to know how much paint to buy. What is the area of the wall </a:t>
            </a:r>
            <a:r>
              <a:rPr lang="en-US" sz="2000" dirty="0" err="1">
                <a:latin typeface="Verdana" panose="020B0604030504040204" pitchFamily="34" charset="0"/>
                <a:ea typeface="Verdana" panose="020B0604030504040204" pitchFamily="34" charset="0"/>
                <a:cs typeface="Verdana" panose="020B0604030504040204" pitchFamily="34" charset="0"/>
              </a:rPr>
              <a:t>Kel</a:t>
            </a:r>
            <a:r>
              <a:rPr lang="en-US" sz="2000" dirty="0">
                <a:latin typeface="Verdana" panose="020B0604030504040204" pitchFamily="34" charset="0"/>
                <a:ea typeface="Verdana" panose="020B0604030504040204" pitchFamily="34" charset="0"/>
                <a:cs typeface="Verdana" panose="020B0604030504040204" pitchFamily="34" charset="0"/>
              </a:rPr>
              <a:t> plans to paint?</a:t>
            </a:r>
          </a:p>
        </p:txBody>
      </p:sp>
      <p:sp>
        <p:nvSpPr>
          <p:cNvPr id="6" name="Google Shape;278;g104476d1465_1_17">
            <a:extLst>
              <a:ext uri="{FF2B5EF4-FFF2-40B4-BE49-F238E27FC236}">
                <a16:creationId xmlns:a16="http://schemas.microsoft.com/office/drawing/2014/main" id="{C626DD4B-AF0E-B846-831C-21AC8FD45F48}"/>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39FDD944-0661-0F49-987D-73AAB9131F89}"/>
              </a:ext>
            </a:extLst>
          </p:cNvPr>
          <p:cNvPicPr>
            <a:picLocks noChangeAspect="1"/>
          </p:cNvPicPr>
          <p:nvPr/>
        </p:nvPicPr>
        <p:blipFill>
          <a:blip r:embed="rId3"/>
          <a:stretch>
            <a:fillRect/>
          </a:stretch>
        </p:blipFill>
        <p:spPr>
          <a:xfrm>
            <a:off x="4565018" y="1407016"/>
            <a:ext cx="2819400" cy="2413000"/>
          </a:xfrm>
          <a:prstGeom prst="rect">
            <a:avLst/>
          </a:prstGeom>
        </p:spPr>
      </p:pic>
      <p:sp>
        <p:nvSpPr>
          <p:cNvPr id="8"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25027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56603" y="520393"/>
                <a:ext cx="10429460" cy="1576650"/>
              </a:xfrm>
              <a:prstGeom prst="rect">
                <a:avLst/>
              </a:prstGeom>
              <a:noFill/>
            </p:spPr>
            <p:txBody>
              <a:bodyPr wrap="square" rtlCol="0">
                <a:spAutoFit/>
              </a:bodyPr>
              <a:lstStyle/>
              <a:p>
                <a:pPr marL="347663" indent="-334963"/>
                <a:r>
                  <a:rPr lang="en-US" sz="2000" dirty="0">
                    <a:latin typeface="Verdana" panose="020B0604030504040204" pitchFamily="34" charset="0"/>
                    <a:ea typeface="Verdana" panose="020B0604030504040204" pitchFamily="34" charset="0"/>
                    <a:cs typeface="Verdana" panose="020B0604030504040204" pitchFamily="34" charset="0"/>
                  </a:rPr>
                  <a:t>3. Mika, a designer, is creating a geometric design in a tile floor. The design will be in the shape of a parallelogram with </a:t>
                </a:r>
                <a14:m>
                  <m:oMath xmlns:m="http://schemas.openxmlformats.org/officeDocument/2006/math">
                    <m:r>
                      <a:rPr lang="en-US" sz="2000" dirty="0">
                        <a:latin typeface="Cambria Math" panose="02040503050406030204" pitchFamily="18" charset="0"/>
                        <a:ea typeface="Verdana" panose="020B0604030504040204" pitchFamily="34" charset="0"/>
                        <a:cs typeface="Verdana" panose="020B0604030504040204" pitchFamily="34" charset="0"/>
                      </a:rPr>
                      <m:t>36</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n-US" sz="2000" i="1" dirty="0">
                            <a:latin typeface="Cambria Math" panose="02040503050406030204" pitchFamily="18" charset="0"/>
                            <a:ea typeface="Verdana" panose="020B0604030504040204" pitchFamily="34" charset="0"/>
                            <a:cs typeface="Verdana" panose="020B0604030504040204" pitchFamily="34" charset="0"/>
                          </a:rPr>
                          <m:t>7</m:t>
                        </m:r>
                      </m:num>
                      <m:den>
                        <m:r>
                          <a:rPr lang="en-US" sz="2000" i="1" dirty="0">
                            <a:latin typeface="Cambria Math" panose="02040503050406030204" pitchFamily="18" charset="0"/>
                            <a:ea typeface="Verdana" panose="020B0604030504040204" pitchFamily="34" charset="0"/>
                            <a:cs typeface="Verdana" panose="020B0604030504040204" pitchFamily="34" charset="0"/>
                          </a:rPr>
                          <m:t>12</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 (in.) bases and a height of </a:t>
                </a:r>
                <a14:m>
                  <m:oMath xmlns:m="http://schemas.openxmlformats.org/officeDocument/2006/math">
                    <m:r>
                      <a:rPr lang="en-US" sz="2000" dirty="0">
                        <a:latin typeface="Cambria Math" panose="02040503050406030204" pitchFamily="18" charset="0"/>
                        <a:ea typeface="Verdana" panose="020B0604030504040204" pitchFamily="34" charset="0"/>
                        <a:cs typeface="Verdana" panose="020B0604030504040204" pitchFamily="34" charset="0"/>
                      </a:rPr>
                      <m:t>70</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n-US" sz="2000" i="1" dirty="0">
                            <a:latin typeface="Cambria Math" panose="02040503050406030204" pitchFamily="18" charset="0"/>
                            <a:ea typeface="Verdana" panose="020B0604030504040204" pitchFamily="34" charset="0"/>
                            <a:cs typeface="Verdana" panose="020B0604030504040204" pitchFamily="34" charset="0"/>
                          </a:rPr>
                          <m:t>9</m:t>
                        </m:r>
                      </m:num>
                      <m:den>
                        <m:r>
                          <a:rPr lang="en-US" sz="2000" i="1" dirty="0">
                            <a:latin typeface="Cambria Math" panose="02040503050406030204" pitchFamily="18" charset="0"/>
                            <a:ea typeface="Verdana" panose="020B0604030504040204" pitchFamily="34" charset="0"/>
                            <a:cs typeface="Verdana" panose="020B0604030504040204" pitchFamily="34" charset="0"/>
                          </a:rPr>
                          <m:t>14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 How many square inches of tile will she need for the design?</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56603" y="520393"/>
                <a:ext cx="10429460" cy="1576650"/>
              </a:xfrm>
              <a:prstGeom prst="rect">
                <a:avLst/>
              </a:prstGeom>
              <a:blipFill rotWithShape="0">
                <a:blip r:embed="rId3"/>
                <a:stretch>
                  <a:fillRect l="-526" t="-1931" b="-617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C626DD4B-AF0E-B846-831C-21AC8FD45F48}"/>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380A76A3-C681-C74F-AB0E-3C1EDA0BA06E}"/>
              </a:ext>
            </a:extLst>
          </p:cNvPr>
          <p:cNvPicPr>
            <a:picLocks noChangeAspect="1"/>
          </p:cNvPicPr>
          <p:nvPr/>
        </p:nvPicPr>
        <p:blipFill>
          <a:blip r:embed="rId4"/>
          <a:stretch>
            <a:fillRect/>
          </a:stretch>
        </p:blipFill>
        <p:spPr>
          <a:xfrm>
            <a:off x="2451100" y="2356576"/>
            <a:ext cx="3644900" cy="2806700"/>
          </a:xfrm>
          <a:prstGeom prst="rect">
            <a:avLst/>
          </a:prstGeom>
        </p:spPr>
      </p:pic>
      <p:sp>
        <p:nvSpPr>
          <p:cNvPr id="8"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324</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82621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72197" y="520393"/>
            <a:ext cx="10598272" cy="3785652"/>
          </a:xfrm>
          <a:prstGeom prst="rect">
            <a:avLst/>
          </a:prstGeom>
          <a:noFill/>
        </p:spPr>
        <p:txBody>
          <a:bodyPr wrap="square" rtlCol="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4. The Smart family’s horse pasture is in the shape of a trapezoid. One of the parallel sides is</a:t>
            </a:r>
            <a:r>
              <a:rPr lang="en-US" sz="2000" dirty="0">
                <a:latin typeface="Cambria Math" panose="02040503050406030204" pitchFamily="18" charset="0"/>
                <a:ea typeface="Cambria Math" panose="02040503050406030204" pitchFamily="18" charset="0"/>
                <a:cs typeface="Verdana" panose="020B0604030504040204" pitchFamily="34" charset="0"/>
              </a:rPr>
              <a:t> 168.2 </a:t>
            </a:r>
            <a:r>
              <a:rPr lang="en-US" sz="2000" dirty="0">
                <a:latin typeface="Verdana" panose="020B0604030504040204" pitchFamily="34" charset="0"/>
                <a:ea typeface="Verdana" panose="020B0604030504040204" pitchFamily="34" charset="0"/>
                <a:cs typeface="Verdana" panose="020B0604030504040204" pitchFamily="34" charset="0"/>
              </a:rPr>
              <a:t>yards (yd) long and the other is </a:t>
            </a:r>
            <a:r>
              <a:rPr lang="en-US" sz="2000" dirty="0">
                <a:latin typeface="Cambria Math" panose="02040503050406030204" pitchFamily="18" charset="0"/>
                <a:ea typeface="Cambria Math" panose="02040503050406030204" pitchFamily="18" charset="0"/>
                <a:cs typeface="Verdana" panose="020B0604030504040204" pitchFamily="34" charset="0"/>
              </a:rPr>
              <a:t>135.6</a:t>
            </a:r>
            <a:r>
              <a:rPr lang="en-US" sz="2000" dirty="0">
                <a:latin typeface="Verdana" panose="020B0604030504040204" pitchFamily="34" charset="0"/>
                <a:ea typeface="Verdana" panose="020B0604030504040204" pitchFamily="34" charset="0"/>
                <a:cs typeface="Verdana" panose="020B0604030504040204" pitchFamily="34" charset="0"/>
              </a:rPr>
              <a:t> yd long. The distance between these sides is </a:t>
            </a:r>
            <a:r>
              <a:rPr lang="en-US" sz="2000" dirty="0">
                <a:latin typeface="Cambria Math" panose="02040503050406030204" pitchFamily="18" charset="0"/>
                <a:ea typeface="Cambria Math" panose="02040503050406030204" pitchFamily="18" charset="0"/>
                <a:cs typeface="Verdana" panose="020B0604030504040204" pitchFamily="34" charset="0"/>
              </a:rPr>
              <a:t>93.4</a:t>
            </a:r>
            <a:r>
              <a:rPr lang="en-US" sz="2000" dirty="0">
                <a:latin typeface="Verdana" panose="020B0604030504040204" pitchFamily="34" charset="0"/>
                <a:ea typeface="Verdana" panose="020B0604030504040204" pitchFamily="34" charset="0"/>
                <a:cs typeface="Verdana" panose="020B0604030504040204" pitchFamily="34" charset="0"/>
              </a:rPr>
              <a:t> yd.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What is the area of the horse pasture?</a:t>
            </a:r>
          </a:p>
        </p:txBody>
      </p:sp>
      <p:sp>
        <p:nvSpPr>
          <p:cNvPr id="6" name="Google Shape;278;g104476d1465_1_17">
            <a:extLst>
              <a:ext uri="{FF2B5EF4-FFF2-40B4-BE49-F238E27FC236}">
                <a16:creationId xmlns:a16="http://schemas.microsoft.com/office/drawing/2014/main" id="{C626DD4B-AF0E-B846-831C-21AC8FD45F48}"/>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70210C97-9C42-994B-9666-F52310609D75}"/>
              </a:ext>
            </a:extLst>
          </p:cNvPr>
          <p:cNvPicPr>
            <a:picLocks noChangeAspect="1"/>
          </p:cNvPicPr>
          <p:nvPr/>
        </p:nvPicPr>
        <p:blipFill>
          <a:blip r:embed="rId3"/>
          <a:stretch>
            <a:fillRect/>
          </a:stretch>
        </p:blipFill>
        <p:spPr>
          <a:xfrm>
            <a:off x="3936133" y="1827349"/>
            <a:ext cx="4470400" cy="1879600"/>
          </a:xfrm>
          <a:prstGeom prst="rect">
            <a:avLst/>
          </a:prstGeom>
        </p:spPr>
      </p:pic>
      <p:sp>
        <p:nvSpPr>
          <p:cNvPr id="8"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23672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041009" y="520394"/>
            <a:ext cx="10260648" cy="4401205"/>
          </a:xfrm>
          <a:prstGeom prst="rect">
            <a:avLst/>
          </a:prstGeom>
          <a:noFill/>
        </p:spPr>
        <p:txBody>
          <a:bodyPr wrap="square" rtlCol="0">
            <a:spAutoFit/>
          </a:bodyPr>
          <a:lstStyle/>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5. The Dockland Building in Hamburg, Germany is shaped like a parallelogram.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If the base of the building is </a:t>
            </a:r>
            <a:r>
              <a:rPr lang="en-US" sz="2000" dirty="0">
                <a:latin typeface="Cambria Math" panose="02040503050406030204" pitchFamily="18" charset="0"/>
                <a:ea typeface="Cambria Math" panose="02040503050406030204" pitchFamily="18" charset="0"/>
                <a:cs typeface="Verdana" panose="020B0604030504040204" pitchFamily="34" charset="0"/>
              </a:rPr>
              <a:t>86</a:t>
            </a:r>
            <a:r>
              <a:rPr lang="en-US" sz="2000" dirty="0">
                <a:latin typeface="Verdana" panose="020B0604030504040204" pitchFamily="34" charset="0"/>
                <a:ea typeface="Verdana" panose="020B0604030504040204" pitchFamily="34" charset="0"/>
                <a:cs typeface="Verdana" panose="020B0604030504040204" pitchFamily="34" charset="0"/>
              </a:rPr>
              <a:t> meters (m) and its height is 47 m, what is the area of the face of the building shown in the image?</a:t>
            </a:r>
          </a:p>
        </p:txBody>
      </p:sp>
      <p:sp>
        <p:nvSpPr>
          <p:cNvPr id="6" name="Google Shape;278;g104476d1465_1_17">
            <a:extLst>
              <a:ext uri="{FF2B5EF4-FFF2-40B4-BE49-F238E27FC236}">
                <a16:creationId xmlns:a16="http://schemas.microsoft.com/office/drawing/2014/main" id="{C626DD4B-AF0E-B846-831C-21AC8FD45F48}"/>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91F469D1-457B-2149-ACE9-E2E9EA773C91}"/>
              </a:ext>
            </a:extLst>
          </p:cNvPr>
          <p:cNvPicPr>
            <a:picLocks noChangeAspect="1"/>
          </p:cNvPicPr>
          <p:nvPr/>
        </p:nvPicPr>
        <p:blipFill>
          <a:blip r:embed="rId3"/>
          <a:stretch>
            <a:fillRect/>
          </a:stretch>
        </p:blipFill>
        <p:spPr>
          <a:xfrm>
            <a:off x="3619500" y="1349561"/>
            <a:ext cx="4953000" cy="2705100"/>
          </a:xfrm>
          <a:prstGeom prst="rect">
            <a:avLst/>
          </a:prstGeom>
        </p:spPr>
      </p:pic>
      <p:sp>
        <p:nvSpPr>
          <p:cNvPr id="8"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11479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49975" y="-50032"/>
            <a:ext cx="994927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7.5.4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20526" y="19134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98806" y="1412152"/>
            <a:ext cx="10345054" cy="4401205"/>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Don’s work for finding the area of the trapezoid is shown below. </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76313" indent="-44608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Don a note explaining what he did correctly and where he made an error. </a:t>
            </a:r>
          </a:p>
          <a:p>
            <a:pPr marL="976313" indent="-44608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76313" indent="-446088">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76313" indent="-446088">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trapezoid?</a:t>
            </a:r>
          </a:p>
        </p:txBody>
      </p:sp>
      <p:sp>
        <p:nvSpPr>
          <p:cNvPr id="8" name="Google Shape;278;g104476d1465_1_17">
            <a:extLst>
              <a:ext uri="{FF2B5EF4-FFF2-40B4-BE49-F238E27FC236}">
                <a16:creationId xmlns:a16="http://schemas.microsoft.com/office/drawing/2014/main" id="{C9825640-5649-F74D-866E-EC8F188D5640}"/>
              </a:ext>
            </a:extLst>
          </p:cNvPr>
          <p:cNvSpPr/>
          <p:nvPr/>
        </p:nvSpPr>
        <p:spPr>
          <a:xfrm>
            <a:off x="-2224"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a:extLst>
              <a:ext uri="{FF2B5EF4-FFF2-40B4-BE49-F238E27FC236}">
                <a16:creationId xmlns:a16="http://schemas.microsoft.com/office/drawing/2014/main" id="{FA59C93B-7954-2446-A247-39FD87DF2068}"/>
              </a:ext>
            </a:extLst>
          </p:cNvPr>
          <p:cNvPicPr>
            <a:picLocks noChangeAspect="1"/>
          </p:cNvPicPr>
          <p:nvPr/>
        </p:nvPicPr>
        <p:blipFill>
          <a:blip r:embed="rId4"/>
          <a:stretch>
            <a:fillRect/>
          </a:stretch>
        </p:blipFill>
        <p:spPr>
          <a:xfrm>
            <a:off x="3747117" y="1847656"/>
            <a:ext cx="4952746" cy="2217647"/>
          </a:xfrm>
          <a:prstGeom prst="rect">
            <a:avLst/>
          </a:prstGeom>
        </p:spPr>
      </p:pic>
      <p:sp>
        <p:nvSpPr>
          <p:cNvPr id="11" name="Google Shape;282;g104476d1465_1_17"/>
          <p:cNvSpPr txBox="1"/>
          <p:nvPr/>
        </p:nvSpPr>
        <p:spPr>
          <a:xfrm>
            <a:off x="866524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325</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03475"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B114427F-1A09-43A7-815E-4558BDFB52AC}">
  <ds:schemaRefs>
    <ds:schemaRef ds:uri="http://schemas.microsoft.com/sharepoint/v3/contenttype/forms"/>
  </ds:schemaRefs>
</ds:datastoreItem>
</file>

<file path=customXml/itemProps2.xml><?xml version="1.0" encoding="utf-8"?>
<ds:datastoreItem xmlns:ds="http://schemas.openxmlformats.org/officeDocument/2006/customXml" ds:itemID="{54C2775A-261C-4EA4-B268-3E4B0719BE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D4F39A-511F-48C3-BAD5-B09EA36D615B}">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docProps/app.xml><?xml version="1.0" encoding="utf-8"?>
<Properties xmlns="http://schemas.openxmlformats.org/officeDocument/2006/extended-properties" xmlns:vt="http://schemas.openxmlformats.org/officeDocument/2006/docPropsVTypes">
  <TotalTime>1288</TotalTime>
  <Words>702</Words>
  <Application>Microsoft Office PowerPoint</Application>
  <PresentationFormat>Widescreen</PresentationFormat>
  <Paragraphs>107</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Black</vt:lpstr>
      <vt:lpstr>Calibri</vt:lpstr>
      <vt:lpstr>Cambria Math</vt:lpstr>
      <vt:lpstr>Century Gothic</vt:lpstr>
      <vt:lpstr>Verdana</vt:lpstr>
      <vt:lpstr>1_Office Theme</vt:lpstr>
      <vt:lpstr>6th Grade Accelerated Math  Unit 7, Lesson 5  Finding the Area of Trapezoids, Parallelograms, and Rhombi  Volume 1, pg. 322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vaanmx</cp:lastModifiedBy>
  <cp:revision>23</cp:revision>
  <dcterms:created xsi:type="dcterms:W3CDTF">2015-03-17T18:51:18Z</dcterms:created>
  <dcterms:modified xsi:type="dcterms:W3CDTF">2023-06-30T02:00:46Z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