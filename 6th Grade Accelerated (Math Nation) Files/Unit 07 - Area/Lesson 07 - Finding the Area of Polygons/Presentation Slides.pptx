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28"/>
  </p:notesMasterIdLst>
  <p:sldIdLst>
    <p:sldId id="256" r:id="rId5"/>
    <p:sldId id="257" r:id="rId6"/>
    <p:sldId id="285" r:id="rId7"/>
    <p:sldId id="286" r:id="rId8"/>
    <p:sldId id="261" r:id="rId9"/>
    <p:sldId id="287" r:id="rId10"/>
    <p:sldId id="289" r:id="rId11"/>
    <p:sldId id="290" r:id="rId12"/>
    <p:sldId id="336" r:id="rId13"/>
    <p:sldId id="342" r:id="rId14"/>
    <p:sldId id="343" r:id="rId15"/>
    <p:sldId id="344" r:id="rId16"/>
    <p:sldId id="314" r:id="rId17"/>
    <p:sldId id="315" r:id="rId18"/>
    <p:sldId id="332" r:id="rId19"/>
    <p:sldId id="345" r:id="rId20"/>
    <p:sldId id="302" r:id="rId21"/>
    <p:sldId id="303" r:id="rId22"/>
    <p:sldId id="340" r:id="rId23"/>
    <p:sldId id="346" r:id="rId24"/>
    <p:sldId id="347" r:id="rId25"/>
    <p:sldId id="306" r:id="rId26"/>
    <p:sldId id="307"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FAC"/>
    <a:srgbClr val="B399C8"/>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01"/>
    <p:restoredTop sz="94695"/>
  </p:normalViewPr>
  <p:slideViewPr>
    <p:cSldViewPr snapToGrid="0">
      <p:cViewPr varScale="1">
        <p:scale>
          <a:sx n="60" d="100"/>
          <a:sy n="60" d="100"/>
        </p:scale>
        <p:origin x="102" y="31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379627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0720930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388197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9438067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673880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5500503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40367498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8699995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8853139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2.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7, Lesson 7</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Finding the Area of Polygons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332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435885"/>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17192" y="122011"/>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693692" y="357786"/>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517192" y="1600200"/>
            <a:ext cx="9157616"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a:ea typeface="Verdana"/>
                <a:cs typeface="Verdana"/>
                <a:sym typeface="Verdana"/>
              </a:rPr>
              <a:t>MA.7.GR.1.2</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Solve mathematical or real–world problems involving the area of polygons or composite figures by decomposing them into triangles or quadrilaterals.</a:t>
            </a: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55679" y="37230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80329"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480329" y="1596390"/>
            <a:ext cx="873047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0"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332</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92098"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709936" y="28920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492098" y="1600200"/>
            <a:ext cx="920780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200" dirty="0">
                <a:latin typeface="Verdana" panose="020B0604030504040204" pitchFamily="34" charset="0"/>
                <a:ea typeface="Verdana" panose="020B0604030504040204" pitchFamily="34" charset="0"/>
                <a:cs typeface="Verdana" panose="020B0604030504040204" pitchFamily="34" charset="0"/>
              </a:rPr>
              <a:t>I can decompose a regular polygon into triangles to find the area. </a:t>
            </a:r>
          </a:p>
          <a:p>
            <a:pPr marL="457200" indent="-450850">
              <a:buClr>
                <a:srgbClr val="434343"/>
              </a:buClr>
              <a:buSzPts val="3500"/>
              <a:buFont typeface="Verdana"/>
              <a:buChar char="❏"/>
            </a:pPr>
            <a:r>
              <a:rPr lang="en-US" sz="3200" dirty="0">
                <a:latin typeface="Verdana" panose="020B0604030504040204" pitchFamily="34" charset="0"/>
                <a:ea typeface="Verdana" panose="020B0604030504040204" pitchFamily="34" charset="0"/>
                <a:cs typeface="Verdana" panose="020B0604030504040204" pitchFamily="34" charset="0"/>
              </a:rPr>
              <a:t>I can decompose a regular polygon into triangles and quadrilaterals to find the area.</a:t>
            </a: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332</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58731" y="603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7.7.1 Warm-Up: Which One?</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82403" y="255542"/>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175657" y="1386026"/>
            <a:ext cx="10096718" cy="286232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 dimensions of two rectangles are given.</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b="1" dirty="0">
                <a:latin typeface="Verdana" panose="020B0604030504040204" pitchFamily="34" charset="0"/>
                <a:ea typeface="Verdana" panose="020B0604030504040204" pitchFamily="34" charset="0"/>
                <a:cs typeface="Verdana" panose="020B0604030504040204" pitchFamily="34" charset="0"/>
              </a:rPr>
              <a:t>Rectangle A </a:t>
            </a:r>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b="1" dirty="0">
                <a:latin typeface="Verdana" panose="020B0604030504040204" pitchFamily="34" charset="0"/>
                <a:ea typeface="Verdana" panose="020B0604030504040204" pitchFamily="34" charset="0"/>
                <a:cs typeface="Verdana" panose="020B0604030504040204" pitchFamily="34" charset="0"/>
              </a:rPr>
              <a:t> Rectangle B</a:t>
            </a:r>
          </a:p>
          <a:p>
            <a:endParaRPr lang="en-US" sz="2000" b="1"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13</a:t>
            </a:r>
            <a:r>
              <a:rPr lang="el-GR" sz="2000"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units by </a:t>
            </a:r>
            <a:r>
              <a:rPr lang="en-US" sz="2000" dirty="0">
                <a:latin typeface="Cambria Math" panose="02040503050406030204" pitchFamily="18" charset="0"/>
                <a:ea typeface="Cambria Math" panose="02040503050406030204" pitchFamily="18" charset="0"/>
                <a:cs typeface="Verdana" panose="020B0604030504040204" pitchFamily="34" charset="0"/>
              </a:rPr>
              <a:t>15</a:t>
            </a:r>
            <a:r>
              <a:rPr lang="el-GR" sz="2000"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units   		       </a:t>
            </a:r>
            <a:r>
              <a:rPr lang="en-US" sz="2000" dirty="0">
                <a:latin typeface="Cambria Math" panose="02040503050406030204" pitchFamily="18" charset="0"/>
                <a:ea typeface="Cambria Math" panose="02040503050406030204" pitchFamily="18" charset="0"/>
                <a:cs typeface="Verdana" panose="020B0604030504040204" pitchFamily="34" charset="0"/>
              </a:rPr>
              <a:t>2</a:t>
            </a:r>
            <a:r>
              <a:rPr lang="el-GR" sz="2000"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units by </a:t>
            </a:r>
            <a:r>
              <a:rPr lang="en-US" sz="2000" dirty="0">
                <a:latin typeface="Cambria Math" panose="02040503050406030204" pitchFamily="18" charset="0"/>
                <a:ea typeface="Cambria Math" panose="02040503050406030204" pitchFamily="18" charset="0"/>
                <a:cs typeface="Verdana" panose="020B0604030504040204" pitchFamily="34" charset="0"/>
              </a:rPr>
              <a:t>3</a:t>
            </a:r>
            <a:r>
              <a:rPr lang="el-GR" sz="2000"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units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1. Explain which rectangle is more like a square.</a:t>
            </a:r>
          </a:p>
        </p:txBody>
      </p:sp>
      <p:sp>
        <p:nvSpPr>
          <p:cNvPr id="9" name="Google Shape;278;g104476d1465_1_17">
            <a:extLst>
              <a:ext uri="{FF2B5EF4-FFF2-40B4-BE49-F238E27FC236}">
                <a16:creationId xmlns:a16="http://schemas.microsoft.com/office/drawing/2014/main" id="{F1992A8F-F621-054D-B71E-96605FF7377D}"/>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1"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332</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333</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87617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44217" y="-16814"/>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7.7.2 Guided Instruction: Decomposing Regular Polygons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696917" y="190450"/>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1444217" y="2468239"/>
            <a:ext cx="9454232" cy="347787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1.  A regular octagon is shown.</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lvl="2" indent="-47625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On the figure, mark all congruent angles and all congruent sides. </a:t>
            </a:r>
          </a:p>
          <a:p>
            <a:pPr marL="922338" lvl="2" indent="-47625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lvl="2" indent="-47625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Draw lines to decompose the regular octagon into congruent triangles.</a:t>
            </a:r>
          </a:p>
          <a:p>
            <a:pPr marL="922338" lvl="2" indent="-47625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lvl="2" indent="-47625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many congruent triangles did you decompose the regular octagon into?</a:t>
            </a:r>
          </a:p>
        </p:txBody>
      </p:sp>
      <p:sp>
        <p:nvSpPr>
          <p:cNvPr id="8" name="Google Shape;278;g104476d1465_1_17">
            <a:extLst>
              <a:ext uri="{FF2B5EF4-FFF2-40B4-BE49-F238E27FC236}">
                <a16:creationId xmlns:a16="http://schemas.microsoft.com/office/drawing/2014/main" id="{2B75021C-9817-6449-B54A-E1D9EB71417A}"/>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descr="Graphical user interface, text, application&#10;&#10;Description automatically generated">
            <a:extLst>
              <a:ext uri="{FF2B5EF4-FFF2-40B4-BE49-F238E27FC236}">
                <a16:creationId xmlns:a16="http://schemas.microsoft.com/office/drawing/2014/main" id="{DF5AFD39-F61D-6D47-AD2C-DF096D47849F}"/>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2273"/>
          <a:stretch/>
        </p:blipFill>
        <p:spPr>
          <a:xfrm>
            <a:off x="2146201" y="1241435"/>
            <a:ext cx="5838537" cy="1023020"/>
          </a:xfrm>
          <a:prstGeom prst="rect">
            <a:avLst/>
          </a:prstGeom>
          <a:effectLst>
            <a:outerShdw blurRad="50800" dist="50800" dir="5400000" sx="97913" sy="97913" algn="ctr" rotWithShape="0">
              <a:srgbClr val="000000">
                <a:alpha val="61155"/>
              </a:srgbClr>
            </a:outerShdw>
            <a:softEdge rad="70191"/>
          </a:effectLst>
        </p:spPr>
      </p:pic>
      <p:pic>
        <p:nvPicPr>
          <p:cNvPr id="5" name="Picture 4" descr="A picture containing text, businesscard, envelope&#10;&#10;Description automatically generated">
            <a:extLst>
              <a:ext uri="{FF2B5EF4-FFF2-40B4-BE49-F238E27FC236}">
                <a16:creationId xmlns:a16="http://schemas.microsoft.com/office/drawing/2014/main" id="{8588A760-22A1-0040-B2B7-9767C2636A8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15997" y="1443506"/>
            <a:ext cx="2068239" cy="2057687"/>
          </a:xfrm>
          <a:prstGeom prst="rect">
            <a:avLst/>
          </a:prstGeom>
        </p:spPr>
      </p:pic>
      <p:sp>
        <p:nvSpPr>
          <p:cNvPr id="10"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333</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284716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378857" y="520394"/>
            <a:ext cx="9584952" cy="1200329"/>
          </a:xfrm>
          <a:prstGeom prst="rect">
            <a:avLst/>
          </a:prstGeom>
          <a:noFill/>
        </p:spPr>
        <p:txBody>
          <a:bodyPr wrap="square" rtlCol="0">
            <a:spAutoFit/>
          </a:bodyPr>
          <a:lstStyle/>
          <a:p>
            <a:pPr marL="460375" indent="-460375"/>
            <a:r>
              <a:rPr lang="en-US" sz="2400" dirty="0">
                <a:latin typeface="Verdana" panose="020B0604030504040204" pitchFamily="34" charset="0"/>
                <a:ea typeface="Verdana" panose="020B0604030504040204" pitchFamily="34" charset="0"/>
                <a:cs typeface="Verdana" panose="020B0604030504040204" pitchFamily="34" charset="0"/>
              </a:rPr>
              <a:t>d. Discuss with your partner how decomposing the octagon into congruent triangles is helpful in determining the area.</a:t>
            </a:r>
          </a:p>
        </p:txBody>
      </p:sp>
      <p:sp>
        <p:nvSpPr>
          <p:cNvPr id="6" name="Google Shape;278;g104476d1465_1_17">
            <a:extLst>
              <a:ext uri="{FF2B5EF4-FFF2-40B4-BE49-F238E27FC236}">
                <a16:creationId xmlns:a16="http://schemas.microsoft.com/office/drawing/2014/main" id="{D2AEBEA3-B321-FF43-939E-DBF04267F34A}"/>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8"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333</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82669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1248229" y="520393"/>
                <a:ext cx="9846208" cy="5324535"/>
              </a:xfrm>
              <a:prstGeom prst="rect">
                <a:avLst/>
              </a:prstGeom>
              <a:noFill/>
            </p:spPr>
            <p:txBody>
              <a:bodyPr wrap="square" rtlCol="0">
                <a:spAutoFit/>
              </a:bodyPr>
              <a:lstStyle/>
              <a:p>
                <a:pPr marL="346075" indent="-346075"/>
                <a:r>
                  <a:rPr lang="en-US" sz="2000" dirty="0">
                    <a:latin typeface="Verdana" panose="020B0604030504040204" pitchFamily="34" charset="0"/>
                    <a:ea typeface="Verdana" panose="020B0604030504040204" pitchFamily="34" charset="0"/>
                    <a:cs typeface="Verdana" panose="020B0604030504040204" pitchFamily="34" charset="0"/>
                  </a:rPr>
                  <a:t>2. Some dimensions of an octagon are given in centimeters (cm). Each side of the octagon has a length of </a:t>
                </a:r>
                <a14:m>
                  <m:oMath xmlns:m="http://schemas.openxmlformats.org/officeDocument/2006/math">
                    <m:r>
                      <a:rPr lang="en-US" sz="2000" i="1" dirty="0" smtClean="0">
                        <a:latin typeface="Cambria Math" panose="02040503050406030204" pitchFamily="18" charset="0"/>
                        <a:ea typeface="Verdana" panose="020B0604030504040204" pitchFamily="34" charset="0"/>
                        <a:cs typeface="Verdana" panose="020B0604030504040204" pitchFamily="34" charset="0"/>
                      </a:rPr>
                      <m:t>24</m:t>
                    </m:r>
                  </m:oMath>
                </a14:m>
                <a:r>
                  <a:rPr lang="en-US" sz="2000" dirty="0">
                    <a:latin typeface="Verdana" panose="020B0604030504040204" pitchFamily="34" charset="0"/>
                    <a:ea typeface="Verdana" panose="020B0604030504040204" pitchFamily="34" charset="0"/>
                    <a:cs typeface="Verdana" panose="020B0604030504040204" pitchFamily="34" charset="0"/>
                  </a:rPr>
                  <a:t> cm. The perpendicular distance from the center to the midpoint of side is </a:t>
                </a:r>
                <a14:m>
                  <m:oMath xmlns:m="http://schemas.openxmlformats.org/officeDocument/2006/math">
                    <m:r>
                      <a:rPr lang="en-US" sz="2000" i="1" dirty="0" smtClean="0">
                        <a:latin typeface="Cambria Math" panose="02040503050406030204" pitchFamily="18" charset="0"/>
                        <a:ea typeface="Verdana" panose="020B0604030504040204" pitchFamily="34" charset="0"/>
                        <a:cs typeface="Verdana" panose="020B0604030504040204" pitchFamily="34" charset="0"/>
                      </a:rPr>
                      <m:t>28.97 </m:t>
                    </m:r>
                  </m:oMath>
                </a14:m>
                <a:r>
                  <a:rPr lang="en-US" sz="2000" dirty="0">
                    <a:latin typeface="Verdana" panose="020B0604030504040204" pitchFamily="34" charset="0"/>
                    <a:ea typeface="Verdana" panose="020B0604030504040204" pitchFamily="34" charset="0"/>
                    <a:cs typeface="Verdana" panose="020B0604030504040204" pitchFamily="34" charset="0"/>
                  </a:rPr>
                  <a:t>cm.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7625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Find the area of one decomposed triangle. </a:t>
                </a:r>
              </a:p>
              <a:p>
                <a:pPr marL="922338" indent="-47625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7625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7625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7625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7625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Find the area of the regular octagon to the nearest hundredth of a square centimeter (cm</a:t>
                </a:r>
                <a:r>
                  <a:rPr lang="en-US" sz="2000" i="0" baseline="30000" dirty="0">
                    <a:latin typeface="+mj-lt"/>
                    <a:ea typeface="Verdana" panose="020B0604030504040204" pitchFamily="34" charset="0"/>
                    <a:cs typeface="Verdana" panose="020B0604030504040204" pitchFamily="34" charset="0"/>
                  </a:rPr>
                  <a:t>2</a:t>
                </a:r>
                <a:r>
                  <a:rPr lang="en-US" sz="2000" dirty="0">
                    <a:latin typeface="Verdana" panose="020B0604030504040204" pitchFamily="34" charset="0"/>
                    <a:ea typeface="Verdana" panose="020B0604030504040204" pitchFamily="34" charset="0"/>
                    <a:cs typeface="Verdana" panose="020B0604030504040204" pitchFamily="34" charset="0"/>
                  </a:rPr>
                  <a:t>) by finding the sum of the areas of all the decomposed triangles.</a:t>
                </a: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1248229" y="520393"/>
                <a:ext cx="9846208" cy="5324535"/>
              </a:xfrm>
              <a:prstGeom prst="rect">
                <a:avLst/>
              </a:prstGeom>
              <a:blipFill>
                <a:blip r:embed="rId3"/>
                <a:stretch>
                  <a:fillRect l="-681" t="-572" b="-1030"/>
                </a:stretch>
              </a:blipFill>
            </p:spPr>
            <p:txBody>
              <a:bodyPr/>
              <a:lstStyle/>
              <a:p>
                <a:r>
                  <a:rPr lang="en-PH">
                    <a:noFill/>
                  </a:rPr>
                  <a:t> </a:t>
                </a:r>
              </a:p>
            </p:txBody>
          </p:sp>
        </mc:Fallback>
      </mc:AlternateContent>
      <p:sp>
        <p:nvSpPr>
          <p:cNvPr id="6" name="Google Shape;278;g104476d1465_1_17">
            <a:extLst>
              <a:ext uri="{FF2B5EF4-FFF2-40B4-BE49-F238E27FC236}">
                <a16:creationId xmlns:a16="http://schemas.microsoft.com/office/drawing/2014/main" id="{D2AEBEA3-B321-FF43-939E-DBF04267F34A}"/>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descr="Shape&#10;&#10;Description automatically generated">
            <a:extLst>
              <a:ext uri="{FF2B5EF4-FFF2-40B4-BE49-F238E27FC236}">
                <a16:creationId xmlns:a16="http://schemas.microsoft.com/office/drawing/2014/main" id="{27045532-3304-6F42-A77E-6247D389184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303744" y="1472476"/>
            <a:ext cx="1584512" cy="1764090"/>
          </a:xfrm>
          <a:prstGeom prst="rect">
            <a:avLst/>
          </a:prstGeom>
        </p:spPr>
      </p:pic>
      <p:sp>
        <p:nvSpPr>
          <p:cNvPr id="7"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333</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00847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D3BAEBDF-605E-CC45-AB48-54DDE487E7E2}"/>
              </a:ext>
            </a:extLst>
          </p:cNvPr>
          <p:cNvPicPr>
            <a:picLocks noChangeAspect="1"/>
          </p:cNvPicPr>
          <p:nvPr/>
        </p:nvPicPr>
        <p:blipFill>
          <a:blip r:embed="rId3"/>
          <a:stretch>
            <a:fillRect/>
          </a:stretch>
        </p:blipFill>
        <p:spPr>
          <a:xfrm>
            <a:off x="4682072" y="1806015"/>
            <a:ext cx="2368669" cy="1823077"/>
          </a:xfrm>
          <a:prstGeom prst="rect">
            <a:avLst/>
          </a:prstGeom>
        </p:spPr>
      </p:pic>
      <p:sp>
        <p:nvSpPr>
          <p:cNvPr id="14" name="TextBox 13">
            <a:extLst>
              <a:ext uri="{FF2B5EF4-FFF2-40B4-BE49-F238E27FC236}">
                <a16:creationId xmlns:a16="http://schemas.microsoft.com/office/drawing/2014/main" id="{2FA392D8-3ED3-7940-83A8-1451AA8A08D4}"/>
              </a:ext>
            </a:extLst>
          </p:cNvPr>
          <p:cNvSpPr txBox="1"/>
          <p:nvPr/>
        </p:nvSpPr>
        <p:spPr>
          <a:xfrm>
            <a:off x="1262743" y="520394"/>
            <a:ext cx="9817180" cy="5324535"/>
          </a:xfrm>
          <a:prstGeom prst="rect">
            <a:avLst/>
          </a:prstGeom>
          <a:noFill/>
        </p:spPr>
        <p:txBody>
          <a:bodyPr wrap="square" rtlCol="0">
            <a:spAutoFit/>
          </a:bodyPr>
          <a:lstStyle/>
          <a:p>
            <a:pPr marL="346075" indent="-346075"/>
            <a:r>
              <a:rPr lang="en-US" sz="2000" dirty="0">
                <a:latin typeface="Verdana" panose="020B0604030504040204" pitchFamily="34" charset="0"/>
                <a:ea typeface="Verdana" panose="020B0604030504040204" pitchFamily="34" charset="0"/>
                <a:cs typeface="Verdana" panose="020B0604030504040204" pitchFamily="34" charset="0"/>
              </a:rPr>
              <a:t>3. An octagon is divided into two trapezoids and a rectangle. Each side of the octagon has a length of 24 cm. The perpendicular distance from the center to the midpoint of a side is 28.97 cm. The height of each trapezoid is 16.97 cm.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7625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Find the area of each decomposed quadrilateral. Round to the nearest hundredth.</a:t>
            </a:r>
          </a:p>
          <a:p>
            <a:pPr marL="922338" indent="-47625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7625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7625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7625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Using the decomposed shapes, determine the area of the octagon to the nearest hundredth of a square centimeter (cm</a:t>
            </a:r>
            <a:r>
              <a:rPr lang="en-US" sz="2000" baseline="30000" dirty="0">
                <a:latin typeface="Verdana" panose="020B0604030504040204" pitchFamily="34" charset="0"/>
                <a:ea typeface="Verdana" panose="020B0604030504040204" pitchFamily="34" charset="0"/>
                <a:cs typeface="Verdana" panose="020B0604030504040204" pitchFamily="34" charset="0"/>
              </a:rPr>
              <a:t>2</a:t>
            </a:r>
            <a:r>
              <a:rPr lang="en-US" sz="2000" dirty="0">
                <a:latin typeface="Verdana" panose="020B0604030504040204" pitchFamily="34" charset="0"/>
                <a:ea typeface="Verdana" panose="020B0604030504040204" pitchFamily="34" charset="0"/>
                <a:cs typeface="Verdana" panose="020B0604030504040204" pitchFamily="34" charset="0"/>
              </a:rPr>
              <a:t>).</a:t>
            </a:r>
          </a:p>
        </p:txBody>
      </p:sp>
      <p:sp>
        <p:nvSpPr>
          <p:cNvPr id="6" name="Google Shape;278;g104476d1465_1_17">
            <a:extLst>
              <a:ext uri="{FF2B5EF4-FFF2-40B4-BE49-F238E27FC236}">
                <a16:creationId xmlns:a16="http://schemas.microsoft.com/office/drawing/2014/main" id="{D2AEBEA3-B321-FF43-939E-DBF04267F34A}"/>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7"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1836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407886" y="520394"/>
            <a:ext cx="9526894" cy="3170099"/>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4. Complete the chart using the areas from 2b and 3b.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5. What do you notice about the areas?</a:t>
            </a:r>
          </a:p>
        </p:txBody>
      </p:sp>
      <p:sp>
        <p:nvSpPr>
          <p:cNvPr id="6" name="Google Shape;278;g104476d1465_1_17">
            <a:extLst>
              <a:ext uri="{FF2B5EF4-FFF2-40B4-BE49-F238E27FC236}">
                <a16:creationId xmlns:a16="http://schemas.microsoft.com/office/drawing/2014/main" id="{D2AEBEA3-B321-FF43-939E-DBF04267F34A}"/>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descr="Table&#10;&#10;Description automatically generated">
            <a:extLst>
              <a:ext uri="{FF2B5EF4-FFF2-40B4-BE49-F238E27FC236}">
                <a16:creationId xmlns:a16="http://schemas.microsoft.com/office/drawing/2014/main" id="{D954CA4D-BA6F-6543-B599-A0126BAC2F2A}"/>
              </a:ext>
            </a:extLst>
          </p:cNvPr>
          <p:cNvPicPr>
            <a:picLocks noChangeAspect="1"/>
          </p:cNvPicPr>
          <p:nvPr/>
        </p:nvPicPr>
        <p:blipFill>
          <a:blip r:embed="rId3"/>
          <a:stretch>
            <a:fillRect/>
          </a:stretch>
        </p:blipFill>
        <p:spPr>
          <a:xfrm>
            <a:off x="3423080" y="1343003"/>
            <a:ext cx="5345840" cy="1524879"/>
          </a:xfrm>
          <a:prstGeom prst="rect">
            <a:avLst/>
          </a:prstGeom>
        </p:spPr>
      </p:pic>
      <p:sp>
        <p:nvSpPr>
          <p:cNvPr id="7"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334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41202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42963" y="1973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7.7.3 Collaboration: Decomposing Regular Polygons to Find Area</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93155" y="30767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1442963" y="1386026"/>
            <a:ext cx="9562106" cy="461665"/>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1. Decompose each of the following regular polygons.</a:t>
            </a:r>
          </a:p>
        </p:txBody>
      </p:sp>
      <p:sp>
        <p:nvSpPr>
          <p:cNvPr id="11" name="Google Shape;278;g104476d1465_1_17">
            <a:extLst>
              <a:ext uri="{FF2B5EF4-FFF2-40B4-BE49-F238E27FC236}">
                <a16:creationId xmlns:a16="http://schemas.microsoft.com/office/drawing/2014/main" id="{50C37AA2-8B34-A044-9CF0-D6F9EE428461}"/>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descr="A picture containing text, envelope, stationary, businesscard&#10;&#10;Description automatically generated">
            <a:extLst>
              <a:ext uri="{FF2B5EF4-FFF2-40B4-BE49-F238E27FC236}">
                <a16:creationId xmlns:a16="http://schemas.microsoft.com/office/drawing/2014/main" id="{B9616A5E-50B6-3340-97CB-A313EAB82EEE}"/>
              </a:ext>
            </a:extLst>
          </p:cNvPr>
          <p:cNvPicPr>
            <a:picLocks noChangeAspect="1"/>
          </p:cNvPicPr>
          <p:nvPr/>
        </p:nvPicPr>
        <p:blipFill>
          <a:blip r:embed="rId4"/>
          <a:stretch>
            <a:fillRect/>
          </a:stretch>
        </p:blipFill>
        <p:spPr>
          <a:xfrm>
            <a:off x="3988547" y="2217023"/>
            <a:ext cx="4214906" cy="2060965"/>
          </a:xfrm>
          <a:prstGeom prst="rect">
            <a:avLst/>
          </a:prstGeom>
        </p:spPr>
      </p:pic>
      <p:sp>
        <p:nvSpPr>
          <p:cNvPr id="13"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335</a:t>
            </a:r>
            <a:endParaRPr i="1" dirty="0">
              <a:latin typeface="Calibri"/>
              <a:ea typeface="Calibri"/>
              <a:cs typeface="Calibri"/>
              <a:sym typeface="Calibri"/>
            </a:endParaRPr>
          </a:p>
        </p:txBody>
      </p:sp>
      <p:pic>
        <p:nvPicPr>
          <p:cNvPr id="14"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146629" y="520393"/>
            <a:ext cx="10049408" cy="1631216"/>
          </a:xfrm>
          <a:prstGeom prst="rect">
            <a:avLst/>
          </a:prstGeom>
          <a:noFill/>
        </p:spPr>
        <p:txBody>
          <a:bodyPr wrap="square" rtlCol="0">
            <a:spAutoFit/>
          </a:bodyPr>
          <a:lstStyle/>
          <a:p>
            <a:pPr marL="346075" indent="-346075"/>
            <a:r>
              <a:rPr lang="en-US" sz="2000" dirty="0">
                <a:latin typeface="Verdana" panose="020B0604030504040204" pitchFamily="34" charset="0"/>
                <a:ea typeface="Verdana" panose="020B0604030504040204" pitchFamily="34" charset="0"/>
                <a:cs typeface="Verdana" panose="020B0604030504040204" pitchFamily="34" charset="0"/>
              </a:rPr>
              <a:t>2. Share with your partner how you decomposed your shapes. If your partner decomposed the shapes differently, draw on the blue shapes how they decomposed their shapes. If you decomposed the shapes in the same way, work together to create a different way to decompose the shapes. </a:t>
            </a:r>
          </a:p>
        </p:txBody>
      </p:sp>
      <p:sp>
        <p:nvSpPr>
          <p:cNvPr id="6" name="Google Shape;278;g104476d1465_1_17">
            <a:extLst>
              <a:ext uri="{FF2B5EF4-FFF2-40B4-BE49-F238E27FC236}">
                <a16:creationId xmlns:a16="http://schemas.microsoft.com/office/drawing/2014/main" id="{5B857E21-14F1-9C47-B2E8-32DB537DBF85}"/>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descr="A picture containing text, envelope, stationary, businesscard&#10;&#10;Description automatically generated">
            <a:extLst>
              <a:ext uri="{FF2B5EF4-FFF2-40B4-BE49-F238E27FC236}">
                <a16:creationId xmlns:a16="http://schemas.microsoft.com/office/drawing/2014/main" id="{EE5A31E1-B143-F649-9371-15977C27941A}"/>
              </a:ext>
            </a:extLst>
          </p:cNvPr>
          <p:cNvPicPr>
            <a:picLocks noChangeAspect="1"/>
          </p:cNvPicPr>
          <p:nvPr/>
        </p:nvPicPr>
        <p:blipFill>
          <a:blip r:embed="rId3"/>
          <a:stretch>
            <a:fillRect/>
          </a:stretch>
        </p:blipFill>
        <p:spPr>
          <a:xfrm>
            <a:off x="3629151" y="2563624"/>
            <a:ext cx="4933698" cy="1886992"/>
          </a:xfrm>
          <a:prstGeom prst="rect">
            <a:avLst/>
          </a:prstGeom>
        </p:spPr>
      </p:pic>
      <p:sp>
        <p:nvSpPr>
          <p:cNvPr id="7"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335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34841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219200" y="520394"/>
            <a:ext cx="6147050" cy="1631216"/>
          </a:xfrm>
          <a:prstGeom prst="rect">
            <a:avLst/>
          </a:prstGeom>
          <a:noFill/>
        </p:spPr>
        <p:txBody>
          <a:bodyPr wrap="square" rtlCol="0">
            <a:spAutoFit/>
          </a:bodyPr>
          <a:lstStyle/>
          <a:p>
            <a:pPr marL="346075" indent="-346075"/>
            <a:r>
              <a:rPr lang="en-US" sz="2000" dirty="0">
                <a:latin typeface="Verdana" panose="020B0604030504040204" pitchFamily="34" charset="0"/>
                <a:ea typeface="Verdana" panose="020B0604030504040204" pitchFamily="34" charset="0"/>
                <a:cs typeface="Verdana" panose="020B0604030504040204" pitchFamily="34" charset="0"/>
              </a:rPr>
              <a:t>3. The table shows a pentagon and a hexagon. Given measurements in centimeters (cm). Work with your partner to determine the area rounded to the nearest hundredth.</a:t>
            </a:r>
          </a:p>
        </p:txBody>
      </p:sp>
      <p:sp>
        <p:nvSpPr>
          <p:cNvPr id="6" name="Google Shape;278;g104476d1465_1_17">
            <a:extLst>
              <a:ext uri="{FF2B5EF4-FFF2-40B4-BE49-F238E27FC236}">
                <a16:creationId xmlns:a16="http://schemas.microsoft.com/office/drawing/2014/main" id="{5B857E21-14F1-9C47-B2E8-32DB537DBF85}"/>
              </a:ext>
            </a:extLst>
          </p:cNvPr>
          <p:cNvSpPr/>
          <p:nvPr/>
        </p:nvSpPr>
        <p:spPr>
          <a:xfrm>
            <a:off x="5088"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descr="Chart, shape, radar chart, polygon&#10;&#10;Description automatically generated">
            <a:extLst>
              <a:ext uri="{FF2B5EF4-FFF2-40B4-BE49-F238E27FC236}">
                <a16:creationId xmlns:a16="http://schemas.microsoft.com/office/drawing/2014/main" id="{F2FDBB9E-D20C-774D-8D1F-87FA1BD68F9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648174" y="520394"/>
            <a:ext cx="4065586" cy="5680205"/>
          </a:xfrm>
          <a:prstGeom prst="rect">
            <a:avLst/>
          </a:prstGeom>
        </p:spPr>
      </p:pic>
      <p:sp>
        <p:nvSpPr>
          <p:cNvPr id="7"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335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23921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336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44217" y="252346"/>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7.7.4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696917" y="211264"/>
            <a:ext cx="747300" cy="747300"/>
          </a:xfrm>
          <a:prstGeom prst="rect">
            <a:avLst/>
          </a:prstGeom>
          <a:noFill/>
          <a:ln>
            <a:noFill/>
          </a:ln>
        </p:spPr>
      </p:pic>
      <p:sp>
        <p:nvSpPr>
          <p:cNvPr id="12" name="TextBox 11">
            <a:extLst>
              <a:ext uri="{FF2B5EF4-FFF2-40B4-BE49-F238E27FC236}">
                <a16:creationId xmlns:a16="http://schemas.microsoft.com/office/drawing/2014/main" id="{759C3E41-93EC-B84D-963F-86A3B15AC1C6}"/>
              </a:ext>
            </a:extLst>
          </p:cNvPr>
          <p:cNvSpPr txBox="1"/>
          <p:nvPr/>
        </p:nvSpPr>
        <p:spPr>
          <a:xfrm>
            <a:off x="1444217" y="1386026"/>
            <a:ext cx="9559598" cy="3170099"/>
          </a:xfrm>
          <a:prstGeom prst="rect">
            <a:avLst/>
          </a:prstGeom>
          <a:noFill/>
        </p:spPr>
        <p:txBody>
          <a:bodyPr wrap="square" rtlCol="0">
            <a:spAutoFit/>
          </a:bodyPr>
          <a:lstStyle/>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regular pentagon is shown with lengths in inches (in.). </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What is the area of the pentagon?</a:t>
            </a:r>
          </a:p>
        </p:txBody>
      </p:sp>
      <p:sp>
        <p:nvSpPr>
          <p:cNvPr id="8" name="Google Shape;278;g104476d1465_1_17">
            <a:extLst>
              <a:ext uri="{FF2B5EF4-FFF2-40B4-BE49-F238E27FC236}">
                <a16:creationId xmlns:a16="http://schemas.microsoft.com/office/drawing/2014/main" id="{EDD7E546-9334-CD4B-9098-7FA33B42DB04}"/>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descr="A picture containing text, businesscard, envelope&#10;&#10;Description automatically generated">
            <a:extLst>
              <a:ext uri="{FF2B5EF4-FFF2-40B4-BE49-F238E27FC236}">
                <a16:creationId xmlns:a16="http://schemas.microsoft.com/office/drawing/2014/main" id="{F1A34A89-2DE5-254E-AE06-3F4453CCF9F5}"/>
              </a:ext>
            </a:extLst>
          </p:cNvPr>
          <p:cNvPicPr>
            <a:picLocks noChangeAspect="1"/>
          </p:cNvPicPr>
          <p:nvPr/>
        </p:nvPicPr>
        <p:blipFill>
          <a:blip r:embed="rId4"/>
          <a:stretch>
            <a:fillRect/>
          </a:stretch>
        </p:blipFill>
        <p:spPr>
          <a:xfrm>
            <a:off x="5270500" y="1929879"/>
            <a:ext cx="1990520" cy="2082390"/>
          </a:xfrm>
          <a:prstGeom prst="rect">
            <a:avLst/>
          </a:prstGeom>
        </p:spPr>
      </p:pic>
      <p:sp>
        <p:nvSpPr>
          <p:cNvPr id="11"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336</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219200" y="520394"/>
            <a:ext cx="9904266" cy="4093428"/>
          </a:xfrm>
          <a:prstGeom prst="rect">
            <a:avLst/>
          </a:prstGeom>
          <a:noFill/>
        </p:spPr>
        <p:txBody>
          <a:bodyPr wrap="square" rtlCol="0">
            <a:spAutoFit/>
          </a:bodyPr>
          <a:lstStyle/>
          <a:p>
            <a:pPr marL="346075" indent="-346075"/>
            <a:r>
              <a:rPr lang="en-US" sz="2000" dirty="0">
                <a:latin typeface="Verdana" panose="020B0604030504040204" pitchFamily="34" charset="0"/>
                <a:ea typeface="Verdana" panose="020B0604030504040204" pitchFamily="34" charset="0"/>
                <a:cs typeface="Verdana" panose="020B0604030504040204" pitchFamily="34" charset="0"/>
              </a:rPr>
              <a:t>2. Lin and Andre used different methods to find the area of a regular hexagon with </a:t>
            </a:r>
            <a:r>
              <a:rPr lang="en-US" sz="2000" dirty="0">
                <a:latin typeface="Cambria Math" panose="02040503050406030204" pitchFamily="18" charset="0"/>
                <a:ea typeface="Cambria Math" panose="02040503050406030204" pitchFamily="18" charset="0"/>
                <a:cs typeface="Verdana" panose="020B0604030504040204" pitchFamily="34" charset="0"/>
              </a:rPr>
              <a:t>6</a:t>
            </a:r>
            <a:r>
              <a:rPr lang="en-US" sz="2000" dirty="0">
                <a:latin typeface="Verdana" panose="020B0604030504040204" pitchFamily="34" charset="0"/>
                <a:ea typeface="Verdana" panose="020B0604030504040204" pitchFamily="34" charset="0"/>
                <a:cs typeface="Verdana" panose="020B0604030504040204" pitchFamily="34" charset="0"/>
              </a:rPr>
              <a:t> in. sides. Lin decomposed the hexagon into six identical, equilateral triangles. Andre decomposed the hexagon into a rectangle and two triangles.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a:r>
              <a:rPr lang="en-US" sz="2000" dirty="0">
                <a:latin typeface="Verdana" panose="020B0604030504040204" pitchFamily="34" charset="0"/>
                <a:ea typeface="Verdana" panose="020B0604030504040204" pitchFamily="34" charset="0"/>
                <a:cs typeface="Verdana" panose="020B0604030504040204" pitchFamily="34" charset="0"/>
              </a:rPr>
              <a:t>a. Explain why Lin and Andre will find the same area of the hexagon.</a:t>
            </a:r>
          </a:p>
        </p:txBody>
      </p:sp>
      <p:sp>
        <p:nvSpPr>
          <p:cNvPr id="6" name="Google Shape;278;g104476d1465_1_17">
            <a:extLst>
              <a:ext uri="{FF2B5EF4-FFF2-40B4-BE49-F238E27FC236}">
                <a16:creationId xmlns:a16="http://schemas.microsoft.com/office/drawing/2014/main" id="{C626DD4B-AF0E-B846-831C-21AC8FD45F48}"/>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descr="Diagram&#10;&#10;Description automatically generated">
            <a:extLst>
              <a:ext uri="{FF2B5EF4-FFF2-40B4-BE49-F238E27FC236}">
                <a16:creationId xmlns:a16="http://schemas.microsoft.com/office/drawing/2014/main" id="{05A68A09-671F-E941-9EA5-ECAD4FD7B7E9}"/>
              </a:ext>
            </a:extLst>
          </p:cNvPr>
          <p:cNvPicPr>
            <a:picLocks noChangeAspect="1"/>
          </p:cNvPicPr>
          <p:nvPr/>
        </p:nvPicPr>
        <p:blipFill>
          <a:blip r:embed="rId3"/>
          <a:stretch>
            <a:fillRect/>
          </a:stretch>
        </p:blipFill>
        <p:spPr>
          <a:xfrm>
            <a:off x="2983803" y="2057400"/>
            <a:ext cx="6224394" cy="2040218"/>
          </a:xfrm>
          <a:prstGeom prst="rect">
            <a:avLst/>
          </a:prstGeom>
        </p:spPr>
      </p:pic>
      <p:sp>
        <p:nvSpPr>
          <p:cNvPr id="7"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336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2435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088571" y="520393"/>
            <a:ext cx="10165524" cy="400110"/>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b. Find the area of the hexagon using both Lin’s and Andre’s methods.</a:t>
            </a:r>
          </a:p>
        </p:txBody>
      </p:sp>
      <p:sp>
        <p:nvSpPr>
          <p:cNvPr id="6" name="Google Shape;278;g104476d1465_1_17">
            <a:extLst>
              <a:ext uri="{FF2B5EF4-FFF2-40B4-BE49-F238E27FC236}">
                <a16:creationId xmlns:a16="http://schemas.microsoft.com/office/drawing/2014/main" id="{C626DD4B-AF0E-B846-831C-21AC8FD45F48}"/>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descr="Table&#10;&#10;Description automatically generated">
            <a:extLst>
              <a:ext uri="{FF2B5EF4-FFF2-40B4-BE49-F238E27FC236}">
                <a16:creationId xmlns:a16="http://schemas.microsoft.com/office/drawing/2014/main" id="{3F582E8A-3EB0-B04B-A849-992B3D2F5C7D}"/>
              </a:ext>
            </a:extLst>
          </p:cNvPr>
          <p:cNvPicPr>
            <a:picLocks noChangeAspect="1"/>
          </p:cNvPicPr>
          <p:nvPr/>
        </p:nvPicPr>
        <p:blipFill>
          <a:blip r:embed="rId3"/>
          <a:stretch>
            <a:fillRect/>
          </a:stretch>
        </p:blipFill>
        <p:spPr>
          <a:xfrm>
            <a:off x="2883973" y="1425389"/>
            <a:ext cx="6574720" cy="3493994"/>
          </a:xfrm>
          <a:prstGeom prst="rect">
            <a:avLst/>
          </a:prstGeom>
        </p:spPr>
      </p:pic>
      <p:sp>
        <p:nvSpPr>
          <p:cNvPr id="7"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336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0418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248229" y="520393"/>
            <a:ext cx="9846208" cy="378565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c. Decompose the shape differently than Lin and Andre did.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46075" indent="-346075"/>
            <a:r>
              <a:rPr lang="en-US" sz="2000" dirty="0">
                <a:latin typeface="Verdana" panose="020B0604030504040204" pitchFamily="34" charset="0"/>
                <a:ea typeface="Verdana" panose="020B0604030504040204" pitchFamily="34" charset="0"/>
                <a:cs typeface="Verdana" panose="020B0604030504040204" pitchFamily="34" charset="0"/>
              </a:rPr>
              <a:t>d. Using the measurements given in all three figures, find the area by finding the sum of your decomposed parts.</a:t>
            </a:r>
          </a:p>
        </p:txBody>
      </p:sp>
      <p:sp>
        <p:nvSpPr>
          <p:cNvPr id="6" name="Google Shape;278;g104476d1465_1_17">
            <a:extLst>
              <a:ext uri="{FF2B5EF4-FFF2-40B4-BE49-F238E27FC236}">
                <a16:creationId xmlns:a16="http://schemas.microsoft.com/office/drawing/2014/main" id="{C626DD4B-AF0E-B846-831C-21AC8FD45F48}"/>
              </a:ext>
            </a:extLst>
          </p:cNvPr>
          <p:cNvSpPr/>
          <p:nvPr/>
        </p:nvSpPr>
        <p:spPr>
          <a:xfrm>
            <a:off x="0" y="-8226"/>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descr="Shape, polygon&#10;&#10;Description automatically generated">
            <a:extLst>
              <a:ext uri="{FF2B5EF4-FFF2-40B4-BE49-F238E27FC236}">
                <a16:creationId xmlns:a16="http://schemas.microsoft.com/office/drawing/2014/main" id="{D6FF6911-F8D3-DE4E-AF77-1F5FF8CDFC8C}"/>
              </a:ext>
            </a:extLst>
          </p:cNvPr>
          <p:cNvPicPr>
            <a:picLocks noChangeAspect="1"/>
          </p:cNvPicPr>
          <p:nvPr/>
        </p:nvPicPr>
        <p:blipFill>
          <a:blip r:embed="rId3"/>
          <a:stretch>
            <a:fillRect/>
          </a:stretch>
        </p:blipFill>
        <p:spPr>
          <a:xfrm>
            <a:off x="4720754" y="1203447"/>
            <a:ext cx="2593996" cy="2221378"/>
          </a:xfrm>
          <a:prstGeom prst="rect">
            <a:avLst/>
          </a:prstGeom>
        </p:spPr>
      </p:pic>
      <p:sp>
        <p:nvSpPr>
          <p:cNvPr id="7"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337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35355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337</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85292" y="3455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7.7.5 Wrap-Up: Error Analysis</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55842" y="235508"/>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403142" y="1243130"/>
            <a:ext cx="9813252" cy="4401205"/>
          </a:xfrm>
          <a:prstGeom prst="rect">
            <a:avLst/>
          </a:prstGeom>
          <a:noFill/>
        </p:spPr>
        <p:txBody>
          <a:bodyPr wrap="square" rtlCol="0">
            <a:spAutoFit/>
          </a:bodyPr>
          <a:lstStyle/>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Vernon found the area of the nonagon. His work is shown.</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7625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Explain to Vernon what error(s) he made in his work.</a:t>
            </a:r>
          </a:p>
          <a:p>
            <a:pPr marL="922338" indent="-47625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76250">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76250">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area of the nonagon?</a:t>
            </a:r>
          </a:p>
        </p:txBody>
      </p:sp>
      <p:sp>
        <p:nvSpPr>
          <p:cNvPr id="8" name="Google Shape;278;g104476d1465_1_17">
            <a:extLst>
              <a:ext uri="{FF2B5EF4-FFF2-40B4-BE49-F238E27FC236}">
                <a16:creationId xmlns:a16="http://schemas.microsoft.com/office/drawing/2014/main" id="{C9825640-5649-F74D-866E-EC8F188D5640}"/>
              </a:ext>
            </a:extLst>
          </p:cNvPr>
          <p:cNvSpPr/>
          <p:nvPr/>
        </p:nvSpPr>
        <p:spPr>
          <a:xfrm>
            <a:off x="0" y="10682"/>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descr="Shape&#10;&#10;Description automatically generated with low confidence">
            <a:extLst>
              <a:ext uri="{FF2B5EF4-FFF2-40B4-BE49-F238E27FC236}">
                <a16:creationId xmlns:a16="http://schemas.microsoft.com/office/drawing/2014/main" id="{DC8BD025-D670-7C4B-A9F0-0233A68359AB}"/>
              </a:ext>
            </a:extLst>
          </p:cNvPr>
          <p:cNvPicPr>
            <a:picLocks noChangeAspect="1"/>
          </p:cNvPicPr>
          <p:nvPr/>
        </p:nvPicPr>
        <p:blipFill>
          <a:blip r:embed="rId4"/>
          <a:stretch>
            <a:fillRect/>
          </a:stretch>
        </p:blipFill>
        <p:spPr>
          <a:xfrm>
            <a:off x="2628505" y="1796147"/>
            <a:ext cx="1804021" cy="2372856"/>
          </a:xfrm>
          <a:prstGeom prst="rect">
            <a:avLst/>
          </a:prstGeom>
        </p:spPr>
      </p:pic>
      <p:pic>
        <p:nvPicPr>
          <p:cNvPr id="5" name="Picture 4" descr="Text&#10;&#10;Description automatically generated">
            <a:extLst>
              <a:ext uri="{FF2B5EF4-FFF2-40B4-BE49-F238E27FC236}">
                <a16:creationId xmlns:a16="http://schemas.microsoft.com/office/drawing/2014/main" id="{E0EB666F-9E30-3147-BD35-8928ADF57141}"/>
              </a:ext>
            </a:extLst>
          </p:cNvPr>
          <p:cNvPicPr>
            <a:picLocks noChangeAspect="1"/>
          </p:cNvPicPr>
          <p:nvPr/>
        </p:nvPicPr>
        <p:blipFill rotWithShape="1">
          <a:blip r:embed="rId5"/>
          <a:srcRect b="963"/>
          <a:stretch/>
        </p:blipFill>
        <p:spPr>
          <a:xfrm>
            <a:off x="5327897" y="1796147"/>
            <a:ext cx="4508500" cy="2251418"/>
          </a:xfrm>
          <a:prstGeom prst="rect">
            <a:avLst/>
          </a:prstGeom>
        </p:spPr>
      </p:pic>
      <p:sp>
        <p:nvSpPr>
          <p:cNvPr id="10" name="Google Shape;282;g104476d1465_1_17"/>
          <p:cNvSpPr txBox="1"/>
          <p:nvPr/>
        </p:nvSpPr>
        <p:spPr>
          <a:xfrm>
            <a:off x="8693608"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337</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318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93D0E4E-B55C-44C6-AD11-9922CB6478A5}">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8B6F62C5-6861-4AB4-9C93-D367D629D6B7}">
  <ds:schemaRefs>
    <ds:schemaRef ds:uri="http://schemas.microsoft.com/sharepoint/v3/contenttype/forms"/>
  </ds:schemaRefs>
</ds:datastoreItem>
</file>

<file path=customXml/itemProps3.xml><?xml version="1.0" encoding="utf-8"?>
<ds:datastoreItem xmlns:ds="http://schemas.openxmlformats.org/officeDocument/2006/customXml" ds:itemID="{507CC36F-D041-4B45-AABA-C724BA56AC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1304</TotalTime>
  <Words>914</Words>
  <Application>Microsoft Office PowerPoint</Application>
  <PresentationFormat>Widescreen</PresentationFormat>
  <Paragraphs>173</Paragraphs>
  <Slides>23</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Arial Black</vt:lpstr>
      <vt:lpstr>Calibri</vt:lpstr>
      <vt:lpstr>Cambria Math</vt:lpstr>
      <vt:lpstr>Century Gothic</vt:lpstr>
      <vt:lpstr>Verdana</vt:lpstr>
      <vt:lpstr>1_Office Theme</vt:lpstr>
      <vt:lpstr>6th Grade Accelerated Math  Unit 7, Lesson 7  Finding the Area of Polygons  Volume 1, pg. 332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vaanmx</cp:lastModifiedBy>
  <cp:revision>25</cp:revision>
  <dcterms:created xsi:type="dcterms:W3CDTF">2015-03-17T18:51:18Z</dcterms:created>
  <dcterms:modified xsi:type="dcterms:W3CDTF">2023-06-30T03:07:18Z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