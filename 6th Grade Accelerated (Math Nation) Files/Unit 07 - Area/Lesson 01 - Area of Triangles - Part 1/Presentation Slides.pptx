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1" r:id="rId8"/>
    <p:sldId id="315" r:id="rId9"/>
    <p:sldId id="333" r:id="rId10"/>
    <p:sldId id="342" r:id="rId11"/>
    <p:sldId id="314" r:id="rId12"/>
    <p:sldId id="312" r:id="rId13"/>
    <p:sldId id="332" r:id="rId14"/>
    <p:sldId id="343" r:id="rId15"/>
    <p:sldId id="334" r:id="rId16"/>
    <p:sldId id="335" r:id="rId17"/>
    <p:sldId id="336" r:id="rId18"/>
    <p:sldId id="337" r:id="rId19"/>
    <p:sldId id="329" r:id="rId20"/>
    <p:sldId id="330" r:id="rId21"/>
    <p:sldId id="339"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74"/>
    <p:restoredTop sz="94682"/>
  </p:normalViewPr>
  <p:slideViewPr>
    <p:cSldViewPr snapToGrid="0">
      <p:cViewPr varScale="1">
        <p:scale>
          <a:sx n="59" d="100"/>
          <a:sy n="59" d="100"/>
        </p:scale>
        <p:origin x="32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7957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843000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174079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879294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1.png"/><Relationship Id="rId7" Type="http://schemas.openxmlformats.org/officeDocument/2006/relationships/image" Target="../media/image22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Area of Triangles-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297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639779"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16279"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39779" y="1600200"/>
            <a:ext cx="891244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MA.6.GR.2.1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Derive a formula for the area of a right triangle using a rectangle. Apply a formula to find the area of a triangle.</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90420" y="35994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15070" y="11731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15070" y="1596390"/>
            <a:ext cx="93496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07004" y="-3108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24842" y="258112"/>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72142" y="1600200"/>
            <a:ext cx="924771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a:ea typeface="Verdana"/>
                <a:cs typeface="Verdana"/>
                <a:sym typeface="Verdana"/>
              </a:rPr>
              <a:t>I can discover the formula for the area of a triangle.</a:t>
            </a:r>
          </a:p>
        </p:txBody>
      </p:sp>
      <p:sp>
        <p:nvSpPr>
          <p:cNvPr id="8"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9123"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7.1.1 Warm-Up: The Importance of Struggle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1823"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673560" y="1386025"/>
            <a:ext cx="9111506" cy="498598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learning something new, whether it is a sport, a musical instrument, or even math, you may experience failure before you experience success. The key is to keep going even when you make mistakes. Learning takes place during the time you practice and during the time you struggle.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1. Which choice would you feel less comfortable doing?</a:t>
            </a:r>
          </a:p>
          <a:p>
            <a:pPr marL="917575" lvl="1" indent="-452438">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Answering a question and getting it wrong.</a:t>
            </a:r>
          </a:p>
          <a:p>
            <a:pPr marL="917575" lvl="1" indent="-452438">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Saying, “I do not know,” as your answer to a question.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indent="-333375"/>
            <a:r>
              <a:rPr lang="en-US" sz="2000" dirty="0">
                <a:latin typeface="Verdana" panose="020B0604030504040204" pitchFamily="34" charset="0"/>
                <a:ea typeface="Verdana" panose="020B0604030504040204" pitchFamily="34" charset="0"/>
                <a:cs typeface="Verdana" panose="020B0604030504040204" pitchFamily="34" charset="0"/>
              </a:rPr>
              <a:t>2. Describe a time that you persevered when learning something new.</a:t>
            </a:r>
          </a:p>
          <a:p>
            <a:pPr marL="344488" lvl="0" indent="-333375"/>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indent="-333375"/>
            <a:r>
              <a:rPr lang="en-US" sz="2000" dirty="0">
                <a:latin typeface="Verdana" panose="020B0604030504040204" pitchFamily="34" charset="0"/>
                <a:ea typeface="Verdana" panose="020B0604030504040204" pitchFamily="34" charset="0"/>
                <a:cs typeface="Verdana" panose="020B0604030504040204" pitchFamily="34" charset="0"/>
              </a:rPr>
              <a:t>3. When you persevered in learning, how did you overcome any initial fear(s)?</a:t>
            </a: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7869"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7.1.2 Exploration: Discovering the Area of a Right Triangle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8061"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57869" y="1386026"/>
                <a:ext cx="5580747"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a:t>
                </a:r>
                <a:r>
                  <a:rPr lang="en-US" sz="2000" b="1" i="1" dirty="0">
                    <a:latin typeface="Verdana" panose="020B0604030504040204" pitchFamily="34" charset="0"/>
                    <a:ea typeface="Verdana" panose="020B0604030504040204" pitchFamily="34" charset="0"/>
                    <a:cs typeface="Verdana" panose="020B0604030504040204" pitchFamily="34" charset="0"/>
                  </a:rPr>
                  <a:t>right triangle</a:t>
                </a:r>
                <a:r>
                  <a:rPr lang="en-US" sz="2000" dirty="0">
                    <a:latin typeface="Verdana" panose="020B0604030504040204" pitchFamily="34" charset="0"/>
                    <a:ea typeface="Verdana" panose="020B0604030504040204" pitchFamily="34" charset="0"/>
                    <a:cs typeface="Verdana" panose="020B0604030504040204" pitchFamily="34" charset="0"/>
                  </a:rPr>
                  <a:t> is shown. Each square of the grid paper is </a:t>
                </a:r>
                <a14:m>
                  <m:oMath xmlns:m="http://schemas.openxmlformats.org/officeDocument/2006/math">
                    <m:r>
                      <a:rPr lang="en-US" sz="2000" i="1">
                        <a:latin typeface="Cambria Math" panose="02040503050406030204" pitchFamily="18" charset="0"/>
                      </a:rPr>
                      <m:t>1 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 (cm)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Trace two copies of the right triangle on paper, then cut them out.</a:t>
                </a: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Form a rectangle using the two right triangles. Paste the triangles here.</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57869" y="1386026"/>
                <a:ext cx="5580747" cy="3785652"/>
              </a:xfrm>
              <a:prstGeom prst="rect">
                <a:avLst/>
              </a:prstGeom>
              <a:blipFill rotWithShape="0">
                <a:blip r:embed="rId4"/>
                <a:stretch>
                  <a:fillRect l="-1201" t="-2093" b="-1932"/>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0C37AA2-8B34-A044-9CF0-D6F9EE428461}"/>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2" name="Picture 11">
            <a:extLst>
              <a:ext uri="{FF2B5EF4-FFF2-40B4-BE49-F238E27FC236}">
                <a16:creationId xmlns:a16="http://schemas.microsoft.com/office/drawing/2014/main" id="{558EDCB1-F68C-4046-9F91-CAD02F2AC73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7314750" y="1386026"/>
            <a:ext cx="2633534" cy="3900279"/>
          </a:xfrm>
          <a:prstGeom prst="rect">
            <a:avLst/>
          </a:prstGeom>
        </p:spPr>
      </p:pic>
      <p:sp>
        <p:nvSpPr>
          <p:cNvPr id="13"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298</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495168" y="520393"/>
            <a:ext cx="8839733" cy="2862322"/>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3. Using the image just created, complete the table</a:t>
            </a:r>
            <a:r>
              <a:rPr lang="en-US" dirty="0"/>
              <a:t>.</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dirty="0"/>
          </a:p>
        </p:txBody>
      </p:sp>
      <p:sp>
        <p:nvSpPr>
          <p:cNvPr id="6" name="Google Shape;278;g104476d1465_1_17">
            <a:extLst>
              <a:ext uri="{FF2B5EF4-FFF2-40B4-BE49-F238E27FC236}">
                <a16:creationId xmlns:a16="http://schemas.microsoft.com/office/drawing/2014/main" id="{6760BDC3-AF44-C94E-BD05-E61FF805DD32}"/>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2" name="Table 1">
            <a:extLst>
              <a:ext uri="{FF2B5EF4-FFF2-40B4-BE49-F238E27FC236}">
                <a16:creationId xmlns:a16="http://schemas.microsoft.com/office/drawing/2014/main" id="{7E6D011E-E9DA-CE48-AB2D-47FF4B78C18B}"/>
              </a:ext>
            </a:extLst>
          </p:cNvPr>
          <p:cNvGraphicFramePr>
            <a:graphicFrameLocks noGrp="1"/>
          </p:cNvGraphicFramePr>
          <p:nvPr>
            <p:extLst>
              <p:ext uri="{D42A27DB-BD31-4B8C-83A1-F6EECF244321}">
                <p14:modId xmlns:p14="http://schemas.microsoft.com/office/powerpoint/2010/main" val="4078765805"/>
              </p:ext>
            </p:extLst>
          </p:nvPr>
        </p:nvGraphicFramePr>
        <p:xfrm>
          <a:off x="2506530" y="1414570"/>
          <a:ext cx="4808220" cy="1640205"/>
        </p:xfrm>
        <a:graphic>
          <a:graphicData uri="http://schemas.openxmlformats.org/drawingml/2006/table">
            <a:tbl>
              <a:tblPr firstRow="1" firstCol="1" bandRow="1">
                <a:tableStyleId>{A91F0D33-8C57-4600-99A7-42BC86742BE1}</a:tableStyleId>
              </a:tblPr>
              <a:tblGrid>
                <a:gridCol w="1146810">
                  <a:extLst>
                    <a:ext uri="{9D8B030D-6E8A-4147-A177-3AD203B41FA5}">
                      <a16:colId xmlns:a16="http://schemas.microsoft.com/office/drawing/2014/main" val="1518534446"/>
                    </a:ext>
                  </a:extLst>
                </a:gridCol>
                <a:gridCol w="1704975">
                  <a:extLst>
                    <a:ext uri="{9D8B030D-6E8A-4147-A177-3AD203B41FA5}">
                      <a16:colId xmlns:a16="http://schemas.microsoft.com/office/drawing/2014/main" val="3774761746"/>
                    </a:ext>
                  </a:extLst>
                </a:gridCol>
                <a:gridCol w="1956435">
                  <a:extLst>
                    <a:ext uri="{9D8B030D-6E8A-4147-A177-3AD203B41FA5}">
                      <a16:colId xmlns:a16="http://schemas.microsoft.com/office/drawing/2014/main" val="2031526130"/>
                    </a:ext>
                  </a:extLst>
                </a:gridCol>
              </a:tblGrid>
              <a:tr h="5486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Rectangle</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3267378934"/>
                  </a:ext>
                </a:extLst>
              </a:tr>
              <a:tr h="542925">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T w="9525" cap="flat" cmpd="sng">
                      <a:noFill/>
                      <a:prstDash val="solid"/>
                      <a:round/>
                      <a:headEnd type="none" w="sm" len="sm"/>
                      <a:tailEnd type="none" w="sm" len="sm"/>
                    </a:lnT>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253588681"/>
                  </a:ext>
                </a:extLst>
              </a:tr>
              <a:tr h="548640">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Base</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_____ cm</a:t>
                      </a:r>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_____ 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314223657"/>
                  </a:ext>
                </a:extLst>
              </a:tr>
            </a:tbl>
          </a:graphicData>
        </a:graphic>
      </p:graphicFrame>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298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050324" y="520394"/>
            <a:ext cx="10242018" cy="4893647"/>
          </a:xfrm>
          <a:prstGeom prst="rect">
            <a:avLst/>
          </a:prstGeom>
          <a:noFill/>
        </p:spPr>
        <p:txBody>
          <a:bodyPr wrap="square" rtlCol="0">
            <a:spAutoFit/>
          </a:bodyPr>
          <a:lstStyle/>
          <a:p>
            <a:pPr marL="406400" indent="-406400"/>
            <a:r>
              <a:rPr lang="en-US" sz="2400" dirty="0">
                <a:latin typeface="Verdana" panose="020B0604030504040204" pitchFamily="34" charset="0"/>
                <a:ea typeface="Verdana" panose="020B0604030504040204" pitchFamily="34" charset="0"/>
                <a:cs typeface="Verdana" panose="020B0604030504040204" pitchFamily="34" charset="0"/>
              </a:rPr>
              <a:t>4. What is the area of the rectangle? Include units. </a:t>
            </a: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indent="-406400"/>
            <a:r>
              <a:rPr lang="en-US" sz="2400" dirty="0">
                <a:latin typeface="Verdana" panose="020B0604030504040204" pitchFamily="34" charset="0"/>
                <a:ea typeface="Verdana" panose="020B0604030504040204" pitchFamily="34" charset="0"/>
                <a:cs typeface="Verdana" panose="020B0604030504040204" pitchFamily="34" charset="0"/>
              </a:rPr>
              <a:t>5. Describe the relationship between the area of one right triangle and the area of the rectangle. </a:t>
            </a: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indent="-406400"/>
            <a:r>
              <a:rPr lang="en-US" sz="2400" dirty="0">
                <a:latin typeface="Verdana" panose="020B0604030504040204" pitchFamily="34" charset="0"/>
                <a:ea typeface="Verdana" panose="020B0604030504040204" pitchFamily="34" charset="0"/>
                <a:cs typeface="Verdana" panose="020B0604030504040204" pitchFamily="34" charset="0"/>
              </a:rPr>
              <a:t>6. What is the formula for the area of a rectangle? </a:t>
            </a: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lvl="0" indent="-406400"/>
            <a:endParaRPr lang="en-US" sz="2400" dirty="0">
              <a:latin typeface="Verdana" panose="020B0604030504040204" pitchFamily="34" charset="0"/>
              <a:ea typeface="Verdana" panose="020B0604030504040204" pitchFamily="34" charset="0"/>
              <a:cs typeface="Verdana" panose="020B0604030504040204" pitchFamily="34" charset="0"/>
            </a:endParaRPr>
          </a:p>
          <a:p>
            <a:pPr marL="406400" indent="-406400"/>
            <a:r>
              <a:rPr lang="en-US" sz="2400" dirty="0">
                <a:latin typeface="Verdana" panose="020B0604030504040204" pitchFamily="34" charset="0"/>
                <a:ea typeface="Verdana" panose="020B0604030504040204" pitchFamily="34" charset="0"/>
                <a:cs typeface="Verdana" panose="020B0604030504040204" pitchFamily="34" charset="0"/>
              </a:rPr>
              <a:t>7. Use the relationship observed and the formula for the area of a rectangle to write a formula that can be used to find the area of a right triangle.</a:t>
            </a:r>
          </a:p>
        </p:txBody>
      </p:sp>
      <p:sp>
        <p:nvSpPr>
          <p:cNvPr id="6" name="Google Shape;278;g104476d1465_1_17">
            <a:extLst>
              <a:ext uri="{FF2B5EF4-FFF2-40B4-BE49-F238E27FC236}">
                <a16:creationId xmlns:a16="http://schemas.microsoft.com/office/drawing/2014/main" id="{6760BDC3-AF44-C94E-BD05-E61FF805DD32}"/>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298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5738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8668"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7.1.3 Collaboration: Area of an Acute and an Obtuse Triangle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2370"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52D1D4D-DCB8-A246-B186-D40316579D77}"/>
                  </a:ext>
                </a:extLst>
              </p:cNvPr>
              <p:cNvSpPr txBox="1"/>
              <p:nvPr/>
            </p:nvSpPr>
            <p:spPr>
              <a:xfrm>
                <a:off x="1454624" y="1299526"/>
                <a:ext cx="8932960" cy="1292662"/>
              </a:xfrm>
              <a:prstGeom prst="rect">
                <a:avLst/>
              </a:prstGeom>
              <a:noFill/>
            </p:spPr>
            <p:txBody>
              <a:bodyPr wrap="square" rtlCol="0">
                <a:spAutoFit/>
              </a:bodyPr>
              <a:lstStyle/>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An </a:t>
                </a:r>
                <a:r>
                  <a:rPr lang="en-US" sz="2000" b="1" i="1" dirty="0">
                    <a:latin typeface="Verdana" panose="020B0604030504040204" pitchFamily="34" charset="0"/>
                    <a:ea typeface="Verdana" panose="020B0604030504040204" pitchFamily="34" charset="0"/>
                    <a:cs typeface="Verdana" panose="020B0604030504040204" pitchFamily="34" charset="0"/>
                  </a:rPr>
                  <a:t>acute triangle</a:t>
                </a:r>
                <a:r>
                  <a:rPr lang="en-US" sz="2000" dirty="0">
                    <a:latin typeface="Verdana" panose="020B0604030504040204" pitchFamily="34" charset="0"/>
                    <a:ea typeface="Verdana" panose="020B0604030504040204" pitchFamily="34" charset="0"/>
                    <a:cs typeface="Verdana" panose="020B0604030504040204" pitchFamily="34" charset="0"/>
                  </a:rPr>
                  <a:t> is shown. Each square of the grid paper in Diagram 1 and Diagram 2 is </a:t>
                </a:r>
                <a14:m>
                  <m:oMath xmlns:m="http://schemas.openxmlformats.org/officeDocument/2006/math">
                    <m:r>
                      <a:rPr lang="en-US" sz="2000" i="1">
                        <a:latin typeface="Cambria Math" panose="02040503050406030204" pitchFamily="18" charset="0"/>
                      </a:rPr>
                      <m:t>1 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 (cm)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pPr lvl="0"/>
                <a:endParaRPr lang="en-US" sz="1800" dirty="0"/>
              </a:p>
            </p:txBody>
          </p:sp>
        </mc:Choice>
        <mc:Fallback>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1454624" y="1299526"/>
                <a:ext cx="8932960" cy="1292662"/>
              </a:xfrm>
              <a:prstGeom prst="rect">
                <a:avLst/>
              </a:prstGeom>
              <a:blipFill>
                <a:blip r:embed="rId4"/>
                <a:stretch>
                  <a:fillRect l="-751"/>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672544D-2ABA-1343-B9BB-B0296BB0511F}"/>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Chart, line chart&#10;&#10;Description automatically generated">
            <a:extLst>
              <a:ext uri="{FF2B5EF4-FFF2-40B4-BE49-F238E27FC236}">
                <a16:creationId xmlns:a16="http://schemas.microsoft.com/office/drawing/2014/main" id="{84EA21E8-23E9-3B44-8C87-E7AF4993415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39678" y="2655117"/>
            <a:ext cx="2647658" cy="4003974"/>
          </a:xfrm>
          <a:prstGeom prst="rect">
            <a:avLst/>
          </a:prstGeom>
        </p:spPr>
      </p:pic>
      <p:sp>
        <p:nvSpPr>
          <p:cNvPr id="4" name="TextBox 3">
            <a:extLst>
              <a:ext uri="{FF2B5EF4-FFF2-40B4-BE49-F238E27FC236}">
                <a16:creationId xmlns:a16="http://schemas.microsoft.com/office/drawing/2014/main" id="{31CF630A-2ECD-FC45-ACBD-2F20B566372F}"/>
              </a:ext>
            </a:extLst>
          </p:cNvPr>
          <p:cNvSpPr txBox="1"/>
          <p:nvPr/>
        </p:nvSpPr>
        <p:spPr>
          <a:xfrm>
            <a:off x="5468318" y="2918166"/>
            <a:ext cx="5335391"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Rectangle B is drawn around acute Triangle A, as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height of acute Triangle A is shown as a dashed red line. It divides Rectangle B into two smaller rectangles, Rectangle K and Rectangle M, and divides Triangle A into two smaller right triangles.</a:t>
            </a:r>
          </a:p>
        </p:txBody>
      </p:sp>
      <p:sp>
        <p:nvSpPr>
          <p:cNvPr id="11"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299</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458097" y="520393"/>
            <a:ext cx="8876804" cy="400110"/>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1. Use the two diagrams to complete the table</a:t>
            </a:r>
            <a:r>
              <a:rPr lang="en-US" dirty="0"/>
              <a:t>.</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2" name="Table 1">
            <a:extLst>
              <a:ext uri="{FF2B5EF4-FFF2-40B4-BE49-F238E27FC236}">
                <a16:creationId xmlns:a16="http://schemas.microsoft.com/office/drawing/2014/main" id="{AA073270-8396-2D48-BF51-BD76E34B5796}"/>
              </a:ext>
            </a:extLst>
          </p:cNvPr>
          <p:cNvGraphicFramePr>
            <a:graphicFrameLocks noGrp="1"/>
          </p:cNvGraphicFramePr>
          <p:nvPr>
            <p:extLst>
              <p:ext uri="{D42A27DB-BD31-4B8C-83A1-F6EECF244321}">
                <p14:modId xmlns:p14="http://schemas.microsoft.com/office/powerpoint/2010/main" val="2700637606"/>
              </p:ext>
            </p:extLst>
          </p:nvPr>
        </p:nvGraphicFramePr>
        <p:xfrm>
          <a:off x="2491994" y="1252379"/>
          <a:ext cx="6802120" cy="3840480"/>
        </p:xfrm>
        <a:graphic>
          <a:graphicData uri="http://schemas.openxmlformats.org/drawingml/2006/table">
            <a:tbl>
              <a:tblPr firstRow="1" firstCol="1" bandRow="1">
                <a:tableStyleId>{A91F0D33-8C57-4600-99A7-42BC86742BE1}</a:tableStyleId>
              </a:tblPr>
              <a:tblGrid>
                <a:gridCol w="1714500">
                  <a:extLst>
                    <a:ext uri="{9D8B030D-6E8A-4147-A177-3AD203B41FA5}">
                      <a16:colId xmlns:a16="http://schemas.microsoft.com/office/drawing/2014/main" val="287572488"/>
                    </a:ext>
                  </a:extLst>
                </a:gridCol>
                <a:gridCol w="2343150">
                  <a:extLst>
                    <a:ext uri="{9D8B030D-6E8A-4147-A177-3AD203B41FA5}">
                      <a16:colId xmlns:a16="http://schemas.microsoft.com/office/drawing/2014/main" val="1303725760"/>
                    </a:ext>
                  </a:extLst>
                </a:gridCol>
                <a:gridCol w="2744470">
                  <a:extLst>
                    <a:ext uri="{9D8B030D-6E8A-4147-A177-3AD203B41FA5}">
                      <a16:colId xmlns:a16="http://schemas.microsoft.com/office/drawing/2014/main" val="3390402740"/>
                    </a:ext>
                  </a:extLst>
                </a:gridCol>
              </a:tblGrid>
              <a:tr h="605155">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Area of the Rectangle</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Area of the Right Triangle Drawn Inside the Rectangle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909615101"/>
                  </a:ext>
                </a:extLst>
              </a:tr>
              <a:tr h="1371600">
                <a:tc>
                  <a:txBody>
                    <a:bodyPr/>
                    <a:lstStyle/>
                    <a:p>
                      <a:pPr marL="0" marR="0">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Rectangle K</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T w="9525" cap="flat" cmpd="sng">
                      <a:noFill/>
                      <a:prstDash val="solid"/>
                      <a:round/>
                      <a:headEnd type="none" w="sm" len="sm"/>
                      <a:tailEnd type="none" w="sm" len="sm"/>
                    </a:lnT>
                    <a:solidFill>
                      <a:schemeClr val="bg1">
                        <a:lumMod val="75000"/>
                      </a:schemeClr>
                    </a:solidFill>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47611173"/>
                  </a:ext>
                </a:extLst>
              </a:tr>
              <a:tr h="1371600">
                <a:tc>
                  <a:txBody>
                    <a:bodyPr/>
                    <a:lstStyle/>
                    <a:p>
                      <a:pPr marL="0" marR="0">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Rectangle M</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3097838"/>
                  </a:ext>
                </a:extLst>
              </a:tr>
            </a:tbl>
          </a:graphicData>
        </a:graphic>
      </p:graphicFrame>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3484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396314" y="520393"/>
            <a:ext cx="8938587" cy="48320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   2.    The area of acute Triangle A is equal to the sum of the right                                  	triangle inscribed in Rectangle K and the right triangle 	inscribed in Rectangle M.</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acute Triangle A?</a:t>
            </a: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Rectangle B?</a:t>
            </a: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relationship between the area of Rectangle B</a:t>
            </a:r>
            <a:r>
              <a:rPr lang="en-US" sz="2000" i="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the area of acute Triangle A?</a:t>
            </a:r>
          </a:p>
          <a:p>
            <a:pPr marL="412750"/>
            <a:r>
              <a:rPr lang="en-US" dirty="0"/>
              <a:t>	</a:t>
            </a:r>
          </a:p>
          <a:p>
            <a:pPr lvl="0"/>
            <a:endParaRPr lang="en-US" dirty="0"/>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19583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1087395" y="520393"/>
                <a:ext cx="9247506" cy="707886"/>
              </a:xfrm>
              <a:prstGeom prst="rect">
                <a:avLst/>
              </a:prstGeom>
              <a:noFill/>
            </p:spPr>
            <p:txBody>
              <a:bodyPr wrap="square" rtlCol="0">
                <a:spAutoFit/>
              </a:bodyPr>
              <a:lstStyle/>
              <a:p>
                <a:pPr marL="344488" lvl="0" indent="-344488"/>
                <a:r>
                  <a:rPr lang="en-US" sz="2000" dirty="0">
                    <a:latin typeface="Verdana" panose="020B0604030504040204" pitchFamily="34" charset="0"/>
                    <a:ea typeface="Verdana" panose="020B0604030504040204" pitchFamily="34" charset="0"/>
                    <a:cs typeface="Verdana" panose="020B0604030504040204" pitchFamily="34" charset="0"/>
                  </a:rPr>
                  <a:t>3. An </a:t>
                </a:r>
                <a:r>
                  <a:rPr lang="en-US" sz="2000" b="1" i="1" dirty="0">
                    <a:latin typeface="Verdana" panose="020B0604030504040204" pitchFamily="34" charset="0"/>
                    <a:ea typeface="Verdana" panose="020B0604030504040204" pitchFamily="34" charset="0"/>
                    <a:cs typeface="Verdana" panose="020B0604030504040204" pitchFamily="34" charset="0"/>
                  </a:rPr>
                  <a:t>obtuse triangle</a:t>
                </a:r>
                <a:r>
                  <a:rPr lang="en-US" sz="2000" dirty="0">
                    <a:latin typeface="Verdana" panose="020B0604030504040204" pitchFamily="34" charset="0"/>
                    <a:ea typeface="Verdana" panose="020B0604030504040204" pitchFamily="34" charset="0"/>
                    <a:cs typeface="Verdana" panose="020B0604030504040204" pitchFamily="34" charset="0"/>
                  </a:rPr>
                  <a:t> is shown. Each square of the grid paper is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 (cm)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cm</a:t>
                </a:r>
                <a:r>
                  <a:rPr lang="en-US" dirty="0"/>
                  <a:t>.</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87395" y="520393"/>
                <a:ext cx="9247506" cy="707886"/>
              </a:xfrm>
              <a:prstGeom prst="rect">
                <a:avLst/>
              </a:prstGeom>
              <a:blipFill>
                <a:blip r:embed="rId3"/>
                <a:stretch>
                  <a:fillRect l="-659" t="-4310" b="-1465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307FF70B-9DD6-5740-B43B-698B43CC299B}"/>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Chart, line chart&#10;&#10;Description automatically generated">
            <a:extLst>
              <a:ext uri="{FF2B5EF4-FFF2-40B4-BE49-F238E27FC236}">
                <a16:creationId xmlns:a16="http://schemas.microsoft.com/office/drawing/2014/main" id="{B4938616-F874-FC44-83B6-B0E0ED8B4EF5}"/>
              </a:ext>
            </a:extLst>
          </p:cNvPr>
          <p:cNvPicPr>
            <a:picLocks noChangeAspect="1"/>
          </p:cNvPicPr>
          <p:nvPr/>
        </p:nvPicPr>
        <p:blipFill>
          <a:blip r:embed="rId4"/>
          <a:stretch>
            <a:fillRect/>
          </a:stretch>
        </p:blipFill>
        <p:spPr>
          <a:xfrm>
            <a:off x="3771586" y="1228279"/>
            <a:ext cx="4109180" cy="2408830"/>
          </a:xfrm>
          <a:prstGeom prst="rect">
            <a:avLst/>
          </a:prstGeom>
        </p:spPr>
      </p:pic>
      <p:pic>
        <p:nvPicPr>
          <p:cNvPr id="5" name="Picture 4" descr="Chart, line chart&#10;&#10;Description automatically generated">
            <a:extLst>
              <a:ext uri="{FF2B5EF4-FFF2-40B4-BE49-F238E27FC236}">
                <a16:creationId xmlns:a16="http://schemas.microsoft.com/office/drawing/2014/main" id="{887E2059-8B7B-BA45-A684-E49964C8EF17}"/>
              </a:ext>
            </a:extLst>
          </p:cNvPr>
          <p:cNvPicPr>
            <a:picLocks noChangeAspect="1"/>
          </p:cNvPicPr>
          <p:nvPr/>
        </p:nvPicPr>
        <p:blipFill>
          <a:blip r:embed="rId5"/>
          <a:stretch>
            <a:fillRect/>
          </a:stretch>
        </p:blipFill>
        <p:spPr>
          <a:xfrm>
            <a:off x="2513246" y="3924968"/>
            <a:ext cx="3312930" cy="2049524"/>
          </a:xfrm>
          <a:prstGeom prst="rect">
            <a:avLst/>
          </a:prstGeom>
        </p:spPr>
      </p:pic>
      <mc:AlternateContent xmlns:mc="http://schemas.openxmlformats.org/markup-compatibility/2006" xmlns:a14="http://schemas.microsoft.com/office/drawing/2010/main">
        <mc:Choice Requires="a14">
          <p:sp>
            <p:nvSpPr>
              <p:cNvPr id="16" name="Text Box 65">
                <a:extLst>
                  <a:ext uri="{FF2B5EF4-FFF2-40B4-BE49-F238E27FC236}">
                    <a16:creationId xmlns:a16="http://schemas.microsoft.com/office/drawing/2014/main" id="{0AE8FE71-C987-484C-B1D4-1A09559720E4}"/>
                  </a:ext>
                </a:extLst>
              </p:cNvPr>
              <p:cNvSpPr txBox="1"/>
              <p:nvPr/>
            </p:nvSpPr>
            <p:spPr>
              <a:xfrm>
                <a:off x="6365825" y="3924968"/>
                <a:ext cx="3924300" cy="2311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342900" indent="-342900">
                  <a:spcAft>
                    <a:spcPts val="1000"/>
                  </a:spcAft>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of the triangle’s base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42900" indent="-342900">
                  <a:spcAft>
                    <a:spcPts val="1000"/>
                  </a:spcAft>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height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h</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of the triangle?</a:t>
                </a:r>
              </a:p>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65">
                <a:extLst>
                  <a:ext uri="{FF2B5EF4-FFF2-40B4-BE49-F238E27FC236}">
                    <a16:creationId xmlns:a16="http://schemas.microsoft.com/office/drawing/2014/main" id="{0AE8FE71-C987-484C-B1D4-1A09559720E4}"/>
                  </a:ext>
                </a:extLst>
              </p:cNvPr>
              <p:cNvSpPr txBox="1">
                <a:spLocks noRot="1" noChangeAspect="1" noMove="1" noResize="1" noEditPoints="1" noAdjustHandles="1" noChangeArrowheads="1" noChangeShapeType="1" noTextEdit="1"/>
              </p:cNvSpPr>
              <p:nvPr/>
            </p:nvSpPr>
            <p:spPr>
              <a:xfrm>
                <a:off x="4841825" y="3924968"/>
                <a:ext cx="3924300" cy="2311400"/>
              </a:xfrm>
              <a:prstGeom prst="rect">
                <a:avLst/>
              </a:prstGeom>
              <a:blipFill>
                <a:blip r:embed="rId7"/>
                <a:stretch>
                  <a:fillRect l="-1613" t="-1639"/>
                </a:stretch>
              </a:blipFill>
              <a:ln w="6350">
                <a:noFill/>
              </a:ln>
            </p:spPr>
            <p:txBody>
              <a:bodyPr/>
              <a:lstStyle/>
              <a:p>
                <a:r>
                  <a:rPr lang="en-US">
                    <a:noFill/>
                  </a:rPr>
                  <a:t> </a:t>
                </a:r>
              </a:p>
            </p:txBody>
          </p:sp>
        </mc:Fallback>
      </mc:AlternateContent>
      <p:sp>
        <p:nvSpPr>
          <p:cNvPr id="9"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p:pic>
        <p:nvPicPr>
          <p:cNvPr id="10"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3764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90623" y="464449"/>
                <a:ext cx="9049798" cy="532453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4.  	A copy of the triangle is made, and the two triangles are   	arranged to form a parallelogram with a base of </a:t>
                </a:r>
                <a14:m>
                  <m:oMath xmlns:m="http://schemas.openxmlformats.org/officeDocument/2006/math">
                    <m:r>
                      <a:rPr lang="en-US" sz="2000" i="1">
                        <a:latin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cm and a 	height of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cm, as shown. </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515938"/>
                <a:r>
                  <a:rPr lang="en-US" sz="2000" dirty="0">
                    <a:latin typeface="Verdana" panose="020B0604030504040204" pitchFamily="34" charset="0"/>
                    <a:ea typeface="Verdana" panose="020B0604030504040204" pitchFamily="34" charset="0"/>
                    <a:cs typeface="Verdana" panose="020B0604030504040204" pitchFamily="34" charset="0"/>
                  </a:rPr>
                  <a:t>The parallelogram is then decomposed, and the parts are     rearranged to form a rectangle.</a:t>
                </a:r>
              </a:p>
              <a:p>
                <a:pPr marL="515938"/>
                <a:endParaRPr lang="en-US" sz="2000" dirty="0">
                  <a:latin typeface="Verdana" panose="020B0604030504040204" pitchFamily="34" charset="0"/>
                  <a:ea typeface="Verdana" panose="020B0604030504040204" pitchFamily="34" charset="0"/>
                  <a:cs typeface="Verdana" panose="020B0604030504040204" pitchFamily="34" charset="0"/>
                </a:endParaRPr>
              </a:p>
              <a:p>
                <a:pPr marL="515938"/>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90623" y="464449"/>
                <a:ext cx="9049798" cy="5324535"/>
              </a:xfrm>
              <a:prstGeom prst="rect">
                <a:avLst/>
              </a:prstGeom>
              <a:blipFill>
                <a:blip r:embed="rId3"/>
                <a:stretch>
                  <a:fillRect l="-741" t="-57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7202F70B-4E43-2A4C-9678-6A71785BE75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7" name="Picture 6" descr="Chart, line chart&#10;&#10;Description automatically generated">
            <a:extLst>
              <a:ext uri="{FF2B5EF4-FFF2-40B4-BE49-F238E27FC236}">
                <a16:creationId xmlns:a16="http://schemas.microsoft.com/office/drawing/2014/main" id="{DC45B1D0-EE6D-704A-8B95-711348E307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58894" y="1579493"/>
            <a:ext cx="3399790" cy="1943100"/>
          </a:xfrm>
          <a:prstGeom prst="rect">
            <a:avLst/>
          </a:prstGeom>
        </p:spPr>
      </p:pic>
      <p:pic>
        <p:nvPicPr>
          <p:cNvPr id="8" name="Picture 7" descr="Chart, funnel chart&#10;&#10;Description automatically generated">
            <a:extLst>
              <a:ext uri="{FF2B5EF4-FFF2-40B4-BE49-F238E27FC236}">
                <a16:creationId xmlns:a16="http://schemas.microsoft.com/office/drawing/2014/main" id="{11883655-2FCE-DD47-8332-0019D2CB864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96001" y="1579493"/>
            <a:ext cx="3441745" cy="1931670"/>
          </a:xfrm>
          <a:prstGeom prst="rect">
            <a:avLst/>
          </a:prstGeom>
        </p:spPr>
      </p:pic>
      <p:pic>
        <p:nvPicPr>
          <p:cNvPr id="9" name="Picture 8" descr="Chart&#10;&#10;Description automatically generated">
            <a:extLst>
              <a:ext uri="{FF2B5EF4-FFF2-40B4-BE49-F238E27FC236}">
                <a16:creationId xmlns:a16="http://schemas.microsoft.com/office/drawing/2014/main" id="{7D015F4D-5380-534C-93A2-37339DB79CD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58894" y="4581694"/>
            <a:ext cx="3436620" cy="1947545"/>
          </a:xfrm>
          <a:prstGeom prst="rect">
            <a:avLst/>
          </a:prstGeom>
        </p:spPr>
      </p:pic>
      <p:pic>
        <p:nvPicPr>
          <p:cNvPr id="10" name="Picture 9" descr="A picture containing indoor, toilet, green, bathroom&#10;&#10;Description automatically generated">
            <a:extLst>
              <a:ext uri="{FF2B5EF4-FFF2-40B4-BE49-F238E27FC236}">
                <a16:creationId xmlns:a16="http://schemas.microsoft.com/office/drawing/2014/main" id="{5760E3CA-7B70-FE43-A208-741A2F752D4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096000" y="4566704"/>
            <a:ext cx="3437890" cy="1947545"/>
          </a:xfrm>
          <a:prstGeom prst="rect">
            <a:avLst/>
          </a:prstGeom>
        </p:spPr>
      </p:pic>
      <p:sp>
        <p:nvSpPr>
          <p:cNvPr id="11"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13"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92252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73892" y="520394"/>
            <a:ext cx="9161009" cy="4431983"/>
          </a:xfrm>
          <a:prstGeom prst="rect">
            <a:avLst/>
          </a:prstGeom>
          <a:noFill/>
        </p:spPr>
        <p:txBody>
          <a:bodyPr wrap="square" rtlCol="0">
            <a:spAutoFit/>
          </a:bodyPr>
          <a:lstStyle/>
          <a:p>
            <a:pPr marL="342900" indent="-342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obtuse triangles were needed to create the rectangle?</a:t>
            </a:r>
          </a:p>
          <a:p>
            <a:pPr lvl="0"/>
            <a:endParaRPr lang="en-US" dirty="0"/>
          </a:p>
          <a:p>
            <a:pPr lvl="0"/>
            <a:endParaRPr lang="en-US" dirty="0"/>
          </a:p>
          <a:p>
            <a:pPr lvl="0"/>
            <a:endParaRPr lang="en-US" dirty="0"/>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2" name="Table 1">
            <a:extLst>
              <a:ext uri="{FF2B5EF4-FFF2-40B4-BE49-F238E27FC236}">
                <a16:creationId xmlns:a16="http://schemas.microsoft.com/office/drawing/2014/main" id="{24BFFA5C-9D52-DE47-BF75-7F2E618EA933}"/>
              </a:ext>
            </a:extLst>
          </p:cNvPr>
          <p:cNvGraphicFramePr>
            <a:graphicFrameLocks noGrp="1"/>
          </p:cNvGraphicFramePr>
          <p:nvPr>
            <p:extLst>
              <p:ext uri="{D42A27DB-BD31-4B8C-83A1-F6EECF244321}">
                <p14:modId xmlns:p14="http://schemas.microsoft.com/office/powerpoint/2010/main" val="3961246687"/>
              </p:ext>
            </p:extLst>
          </p:nvPr>
        </p:nvGraphicFramePr>
        <p:xfrm>
          <a:off x="2506530" y="1387987"/>
          <a:ext cx="4808220" cy="1640205"/>
        </p:xfrm>
        <a:graphic>
          <a:graphicData uri="http://schemas.openxmlformats.org/drawingml/2006/table">
            <a:tbl>
              <a:tblPr firstRow="1" firstCol="1" bandRow="1">
                <a:tableStyleId>{A91F0D33-8C57-4600-99A7-42BC86742BE1}</a:tableStyleId>
              </a:tblPr>
              <a:tblGrid>
                <a:gridCol w="1146073">
                  <a:extLst>
                    <a:ext uri="{9D8B030D-6E8A-4147-A177-3AD203B41FA5}">
                      <a16:colId xmlns:a16="http://schemas.microsoft.com/office/drawing/2014/main" val="2824219461"/>
                    </a:ext>
                  </a:extLst>
                </a:gridCol>
                <a:gridCol w="1705712">
                  <a:extLst>
                    <a:ext uri="{9D8B030D-6E8A-4147-A177-3AD203B41FA5}">
                      <a16:colId xmlns:a16="http://schemas.microsoft.com/office/drawing/2014/main" val="702375790"/>
                    </a:ext>
                  </a:extLst>
                </a:gridCol>
                <a:gridCol w="1956435">
                  <a:extLst>
                    <a:ext uri="{9D8B030D-6E8A-4147-A177-3AD203B41FA5}">
                      <a16:colId xmlns:a16="http://schemas.microsoft.com/office/drawing/2014/main" val="471046547"/>
                    </a:ext>
                  </a:extLst>
                </a:gridCol>
              </a:tblGrid>
              <a:tr h="54864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Rectangle</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Obtuse Triangle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860471111"/>
                  </a:ext>
                </a:extLst>
              </a:tr>
              <a:tr h="542925">
                <a:tc>
                  <a:txBody>
                    <a:bodyPr/>
                    <a:lstStyle/>
                    <a:p>
                      <a:pPr marL="0" marR="0" algn="ctr">
                        <a:spcBef>
                          <a:spcPts val="0"/>
                        </a:spcBef>
                        <a:spcAft>
                          <a:spcPts val="0"/>
                        </a:spcAft>
                      </a:pPr>
                      <a:r>
                        <a:rPr lang="en-US" sz="1800" b="1">
                          <a:effectLst/>
                          <a:latin typeface="Verdana" panose="020B0604030504040204" pitchFamily="34" charset="0"/>
                          <a:ea typeface="Verdana" panose="020B0604030504040204" pitchFamily="34" charset="0"/>
                          <a:cs typeface="Verdana" panose="020B0604030504040204" pitchFamily="34" charset="0"/>
                        </a:rPr>
                        <a:t>Height</a:t>
                      </a:r>
                      <a:endParaRPr lang="en-US" sz="12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T w="9525" cap="flat" cmpd="sng">
                      <a:noFill/>
                      <a:prstDash val="solid"/>
                      <a:round/>
                      <a:headEnd type="none" w="sm" len="sm"/>
                      <a:tailEnd type="none" w="sm" len="sm"/>
                    </a:lnT>
                    <a:solidFill>
                      <a:schemeClr val="bg1">
                        <a:lumMod val="75000"/>
                      </a:schemeClr>
                    </a:solidFill>
                  </a:tcPr>
                </a:tc>
                <a:tc>
                  <a:txBody>
                    <a:bodyPr/>
                    <a:lstStyle/>
                    <a:p>
                      <a:pPr marL="0" marR="0" algn="ctr">
                        <a:spcBef>
                          <a:spcPts val="0"/>
                        </a:spcBef>
                        <a:spcAft>
                          <a:spcPts val="0"/>
                        </a:spcAft>
                      </a:pPr>
                      <a:r>
                        <a:rPr lang="en-US" sz="1800">
                          <a:effectLst/>
                        </a:rPr>
                        <a:t>_____ cm</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a:effectLst/>
                        </a:rPr>
                        <a:t>_____ cm</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7803803"/>
                  </a:ext>
                </a:extLst>
              </a:tr>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Base</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1800">
                          <a:effectLst/>
                        </a:rPr>
                        <a:t>_____ cm</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dirty="0">
                          <a:effectLst/>
                        </a:rPr>
                        <a:t>_____ cm</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35862134"/>
                  </a:ext>
                </a:extLst>
              </a:tr>
            </a:tbl>
          </a:graphicData>
        </a:graphic>
      </p:graphicFrame>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963827" y="520394"/>
            <a:ext cx="9371074" cy="5447645"/>
          </a:xfrm>
          <a:prstGeom prst="rect">
            <a:avLst/>
          </a:prstGeom>
          <a:noFill/>
        </p:spPr>
        <p:txBody>
          <a:bodyPr wrap="square" rtlCol="0">
            <a:spAutoFit/>
          </a:bodyPr>
          <a:lstStyle/>
          <a:p>
            <a:pPr marL="342900" indent="-3429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rectangle?</a:t>
            </a: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relationship between the area of the rectangle and the obtuse triangle?</a:t>
            </a: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Based on this relationship, what is the area of the obtuse triangle?</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dirty="0"/>
          </a:p>
          <a:p>
            <a:pPr lvl="0"/>
            <a:endParaRPr lang="en-US" dirty="0"/>
          </a:p>
        </p:txBody>
      </p:sp>
      <p:sp>
        <p:nvSpPr>
          <p:cNvPr id="6" name="Google Shape;278;g104476d1465_1_17">
            <a:extLst>
              <a:ext uri="{FF2B5EF4-FFF2-40B4-BE49-F238E27FC236}">
                <a16:creationId xmlns:a16="http://schemas.microsoft.com/office/drawing/2014/main" id="{DCFC9A26-671E-2C45-82EC-8B136C03E0A5}"/>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67088" y="-2044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7.1.4 Bring It Together: Formula for the Area of a Triangle</a:t>
            </a:r>
          </a:p>
        </p:txBody>
      </p:sp>
      <p:sp>
        <p:nvSpPr>
          <p:cNvPr id="8" name="TextBox 7">
            <a:extLst>
              <a:ext uri="{FF2B5EF4-FFF2-40B4-BE49-F238E27FC236}">
                <a16:creationId xmlns:a16="http://schemas.microsoft.com/office/drawing/2014/main" id="{669E00F9-F39F-5043-888E-B0A2D8C9AE0F}"/>
              </a:ext>
            </a:extLst>
          </p:cNvPr>
          <p:cNvSpPr txBox="1"/>
          <p:nvPr/>
        </p:nvSpPr>
        <p:spPr>
          <a:xfrm>
            <a:off x="1705232" y="1386026"/>
            <a:ext cx="8682352" cy="4708981"/>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1. Complete the statements.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The area of the </a:t>
            </a:r>
            <a:r>
              <a:rPr lang="en-US" sz="2000" b="1" dirty="0">
                <a:latin typeface="Verdana" panose="020B0604030504040204" pitchFamily="34" charset="0"/>
                <a:ea typeface="Verdana" panose="020B0604030504040204" pitchFamily="34" charset="0"/>
                <a:cs typeface="Verdana" panose="020B0604030504040204" pitchFamily="34" charset="0"/>
              </a:rPr>
              <a:t>right</a:t>
            </a:r>
            <a:r>
              <a:rPr lang="en-US" sz="2000" dirty="0">
                <a:latin typeface="Verdana" panose="020B0604030504040204" pitchFamily="34" charset="0"/>
                <a:ea typeface="Verdana" panose="020B0604030504040204" pitchFamily="34" charset="0"/>
                <a:cs typeface="Verdana" panose="020B0604030504040204" pitchFamily="34" charset="0"/>
              </a:rPr>
              <a:t> triangle was                         the area of </a:t>
            </a: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the rectangle with the same base and height.</a:t>
            </a: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The area of the </a:t>
            </a:r>
            <a:r>
              <a:rPr lang="en-US" sz="2000" b="1" dirty="0">
                <a:latin typeface="Verdana" panose="020B0604030504040204" pitchFamily="34" charset="0"/>
                <a:ea typeface="Verdana" panose="020B0604030504040204" pitchFamily="34" charset="0"/>
                <a:cs typeface="Verdana" panose="020B0604030504040204" pitchFamily="34" charset="0"/>
              </a:rPr>
              <a:t>acute </a:t>
            </a:r>
            <a:r>
              <a:rPr lang="en-US" sz="2000" dirty="0">
                <a:latin typeface="Verdana" panose="020B0604030504040204" pitchFamily="34" charset="0"/>
                <a:ea typeface="Verdana" panose="020B0604030504040204" pitchFamily="34" charset="0"/>
                <a:cs typeface="Verdana" panose="020B0604030504040204" pitchFamily="34" charset="0"/>
              </a:rPr>
              <a:t>triangle was                        the area of </a:t>
            </a: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the rectangle with the same base and height. </a:t>
            </a: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The area of the </a:t>
            </a:r>
            <a:r>
              <a:rPr lang="en-US" sz="2000" b="1" dirty="0">
                <a:latin typeface="Verdana" panose="020B0604030504040204" pitchFamily="34" charset="0"/>
                <a:ea typeface="Verdana" panose="020B0604030504040204" pitchFamily="34" charset="0"/>
                <a:cs typeface="Verdana" panose="020B0604030504040204" pitchFamily="34" charset="0"/>
              </a:rPr>
              <a:t>obtuse </a:t>
            </a:r>
            <a:r>
              <a:rPr lang="en-US" sz="2000" dirty="0">
                <a:latin typeface="Verdana" panose="020B0604030504040204" pitchFamily="34" charset="0"/>
                <a:ea typeface="Verdana" panose="020B0604030504040204" pitchFamily="34" charset="0"/>
                <a:cs typeface="Verdana" panose="020B0604030504040204" pitchFamily="34" charset="0"/>
              </a:rPr>
              <a:t>triangle was                        the area </a:t>
            </a:r>
          </a:p>
          <a:p>
            <a:pPr marL="344488"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4488" lvl="0"/>
            <a:r>
              <a:rPr lang="en-US" sz="2000" dirty="0">
                <a:latin typeface="Verdana" panose="020B0604030504040204" pitchFamily="34" charset="0"/>
                <a:ea typeface="Verdana" panose="020B0604030504040204" pitchFamily="34" charset="0"/>
                <a:cs typeface="Verdana" panose="020B0604030504040204" pitchFamily="34" charset="0"/>
              </a:rPr>
              <a:t>of the rectangle with the same base and height.</a:t>
            </a:r>
          </a:p>
        </p:txBody>
      </p:sp>
      <p:sp>
        <p:nvSpPr>
          <p:cNvPr id="10" name="Google Shape;278;g104476d1465_1_17">
            <a:extLst>
              <a:ext uri="{FF2B5EF4-FFF2-40B4-BE49-F238E27FC236}">
                <a16:creationId xmlns:a16="http://schemas.microsoft.com/office/drawing/2014/main" id="{ABEAAF31-51E2-ED47-BB74-BFBC5BD717B3}"/>
              </a:ext>
            </a:extLst>
          </p:cNvPr>
          <p:cNvSpPr/>
          <p:nvPr/>
        </p:nvSpPr>
        <p:spPr>
          <a:xfrm>
            <a:off x="-9407" y="-12827"/>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1" name="Picture 2" descr="Icon&#10;&#10;Description automatically generated">
            <a:extLst>
              <a:ext uri="{FF2B5EF4-FFF2-40B4-BE49-F238E27FC236}">
                <a16:creationId xmlns:a16="http://schemas.microsoft.com/office/drawing/2014/main" id="{6C9D3C33-BCD5-8F4D-9720-D6314D5D705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9436" y="21711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ectangle: Rounded Corners 102">
            <a:extLst>
              <a:ext uri="{FF2B5EF4-FFF2-40B4-BE49-F238E27FC236}">
                <a16:creationId xmlns:a16="http://schemas.microsoft.com/office/drawing/2014/main" id="{8F9235F1-6B80-E745-8F3D-D3BEA4122B91}"/>
              </a:ext>
            </a:extLst>
          </p:cNvPr>
          <p:cNvSpPr/>
          <p:nvPr/>
        </p:nvSpPr>
        <p:spPr>
          <a:xfrm>
            <a:off x="6723576" y="1811108"/>
            <a:ext cx="1908175" cy="781050"/>
          </a:xfrm>
          <a:prstGeom prst="roundRect">
            <a:avLst/>
          </a:prstGeom>
          <a:solidFill>
            <a:sysClr val="window" lastClr="FFFFFF"/>
          </a:solidFill>
          <a:ln w="127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Rounded Corners 102">
            <a:extLst>
              <a:ext uri="{FF2B5EF4-FFF2-40B4-BE49-F238E27FC236}">
                <a16:creationId xmlns:a16="http://schemas.microsoft.com/office/drawing/2014/main" id="{1A378B7F-C11C-6041-8A14-05342187E312}"/>
              </a:ext>
            </a:extLst>
          </p:cNvPr>
          <p:cNvSpPr/>
          <p:nvPr/>
        </p:nvSpPr>
        <p:spPr>
          <a:xfrm>
            <a:off x="6723576" y="3366211"/>
            <a:ext cx="1908175" cy="781050"/>
          </a:xfrm>
          <a:prstGeom prst="roundRect">
            <a:avLst/>
          </a:prstGeom>
          <a:solidFill>
            <a:sysClr val="window" lastClr="FFFFFF"/>
          </a:solidFill>
          <a:ln w="127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ectangle: Rounded Corners 102">
            <a:extLst>
              <a:ext uri="{FF2B5EF4-FFF2-40B4-BE49-F238E27FC236}">
                <a16:creationId xmlns:a16="http://schemas.microsoft.com/office/drawing/2014/main" id="{76CC2E25-2FE9-AD4B-B192-E87B343BF801}"/>
              </a:ext>
            </a:extLst>
          </p:cNvPr>
          <p:cNvSpPr/>
          <p:nvPr/>
        </p:nvSpPr>
        <p:spPr>
          <a:xfrm>
            <a:off x="6895763" y="4810099"/>
            <a:ext cx="1908175" cy="781050"/>
          </a:xfrm>
          <a:prstGeom prst="roundRect">
            <a:avLst/>
          </a:prstGeom>
          <a:solidFill>
            <a:sysClr val="window" lastClr="FFFFFF"/>
          </a:solidFill>
          <a:ln w="127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301</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23319" y="520394"/>
                <a:ext cx="9111582" cy="2462213"/>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The formula for the area of any rectangle is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𝑏h</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𝑏𝑎𝑠𝑒</m:t>
                    </m:r>
                    <m:r>
                      <a:rPr lang="en-US" sz="2000" i="1">
                        <a:latin typeface="Cambria Math" panose="02040503050406030204" pitchFamily="18" charset="0"/>
                      </a:rPr>
                      <m:t> ∙ </m:t>
                    </m:r>
                    <m:r>
                      <a:rPr lang="en-US" sz="2000" i="1">
                        <a:latin typeface="Cambria Math" panose="02040503050406030204" pitchFamily="18" charset="0"/>
                      </a:rPr>
                      <m:t>h𝑒𝑖𝑔h𝑡</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indent="234950"/>
                <a:r>
                  <a:rPr lang="en-US" sz="2000" dirty="0">
                    <a:latin typeface="Verdana" panose="020B0604030504040204" pitchFamily="34" charset="0"/>
                    <a:ea typeface="Verdana" panose="020B0604030504040204" pitchFamily="34" charset="0"/>
                    <a:cs typeface="Verdana" panose="020B0604030504040204" pitchFamily="34" charset="0"/>
                  </a:rPr>
                  <a:t>The formula for the area of any triangle is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=________</m:t>
                    </m:r>
                    <m:r>
                      <a:rPr lang="en-US" sz="2000" i="1">
                        <a:latin typeface="Cambria Math" panose="02040503050406030204" pitchFamily="18" charset="0"/>
                      </a:rPr>
                      <m:t>𝑏h</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indent="23495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indent="234950"/>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=______(</m:t>
                    </m:r>
                    <m:r>
                      <a:rPr lang="en-US" sz="2000" i="1">
                        <a:latin typeface="Cambria Math" panose="02040503050406030204" pitchFamily="18" charset="0"/>
                      </a:rPr>
                      <m:t>𝑏𝑎𝑠𝑒</m:t>
                    </m:r>
                    <m:r>
                      <a:rPr lang="en-US" sz="2000" i="1">
                        <a:latin typeface="Cambria Math" panose="02040503050406030204" pitchFamily="18" charset="0"/>
                      </a:rPr>
                      <m:t> ∙ </m:t>
                    </m:r>
                    <m:r>
                      <a:rPr lang="en-US" sz="2000" i="1">
                        <a:latin typeface="Cambria Math" panose="02040503050406030204" pitchFamily="18" charset="0"/>
                      </a:rPr>
                      <m:t>h𝑒𝑖𝑔h𝑡</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indent="234950"/>
                <a:endParaRPr lang="en-US" dirty="0"/>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23319" y="520394"/>
                <a:ext cx="9111582" cy="2462213"/>
              </a:xfrm>
              <a:prstGeom prst="rect">
                <a:avLst/>
              </a:prstGeom>
              <a:blipFill rotWithShape="0">
                <a:blip r:embed="rId3"/>
                <a:stretch>
                  <a:fillRect l="-736" t="-1238" b="-1138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120F8B4-9DAA-6044-9655-B910D5ED001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301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97385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00198" y="-9054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7.1.5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70748" y="12648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46280" y="1386026"/>
            <a:ext cx="8327136" cy="4185761"/>
          </a:xfrm>
          <a:prstGeom prst="rect">
            <a:avLst/>
          </a:prstGeom>
          <a:noFill/>
        </p:spPr>
        <p:txBody>
          <a:bodyPr wrap="square" rtlCol="0">
            <a:spAutoFit/>
          </a:bodyPr>
          <a:lstStyle/>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Place an </a:t>
            </a:r>
            <a:r>
              <a:rPr lang="en-US" sz="2000" b="1" dirty="0">
                <a:latin typeface="Verdana" panose="020B0604030504040204" pitchFamily="34" charset="0"/>
                <a:ea typeface="Verdana" panose="020B0604030504040204" pitchFamily="34" charset="0"/>
                <a:cs typeface="Verdana" panose="020B0604030504040204" pitchFamily="34" charset="0"/>
              </a:rPr>
              <a:t>X</a:t>
            </a:r>
            <a:r>
              <a:rPr lang="en-US" sz="2000" dirty="0">
                <a:latin typeface="Verdana" panose="020B0604030504040204" pitchFamily="34" charset="0"/>
                <a:ea typeface="Verdana" panose="020B0604030504040204" pitchFamily="34" charset="0"/>
                <a:cs typeface="Verdana" panose="020B0604030504040204" pitchFamily="34" charset="0"/>
              </a:rPr>
              <a:t> on the line to indicate your mastery of today’s lesson.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r>
              <a:rPr lang="en-US" sz="2000" dirty="0">
                <a:latin typeface="Verdana" panose="020B0604030504040204" pitchFamily="34" charset="0"/>
                <a:ea typeface="Verdana" panose="020B0604030504040204" pitchFamily="34" charset="0"/>
                <a:cs typeface="Verdana" panose="020B0604030504040204" pitchFamily="34" charset="0"/>
              </a:rPr>
              <a:t>I can explain why the area of a triangle is half the area of a rectangle with the same base and height for right triangles, acute triangles, and obtuse triangles.</a:t>
            </a:r>
          </a:p>
          <a:p>
            <a:pPr lvl="0"/>
            <a:r>
              <a:rPr lang="en-US" dirty="0"/>
              <a:t> </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r>
              <a:rPr lang="en-US" sz="2000" dirty="0">
                <a:latin typeface="Verdana" panose="020B0604030504040204" pitchFamily="34" charset="0"/>
                <a:ea typeface="Verdana" panose="020B0604030504040204" pitchFamily="34" charset="0"/>
                <a:cs typeface="Verdana" panose="020B0604030504040204" pitchFamily="34" charset="0"/>
              </a:rPr>
              <a:t>2. Write a brief explanation of your placement of the X. </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5" name="Picture 4" descr="Text&#10;&#10;Description automatically generated">
            <a:extLst>
              <a:ext uri="{FF2B5EF4-FFF2-40B4-BE49-F238E27FC236}">
                <a16:creationId xmlns:a16="http://schemas.microsoft.com/office/drawing/2014/main" id="{8C5BAA49-4B98-A246-97E8-1FDCEB5DA768}"/>
              </a:ext>
            </a:extLst>
          </p:cNvPr>
          <p:cNvPicPr>
            <a:picLocks noChangeAspect="1"/>
          </p:cNvPicPr>
          <p:nvPr/>
        </p:nvPicPr>
        <p:blipFill>
          <a:blip r:embed="rId4"/>
          <a:stretch>
            <a:fillRect/>
          </a:stretch>
        </p:blipFill>
        <p:spPr>
          <a:xfrm>
            <a:off x="2519850" y="3540461"/>
            <a:ext cx="6565900" cy="1130300"/>
          </a:xfrm>
          <a:prstGeom prst="rect">
            <a:avLst/>
          </a:prstGeom>
        </p:spPr>
      </p:pic>
      <p:sp>
        <p:nvSpPr>
          <p:cNvPr id="10" name="Google Shape;282;g104476d1465_1_17"/>
          <p:cNvSpPr txBox="1"/>
          <p:nvPr/>
        </p:nvSpPr>
        <p:spPr>
          <a:xfrm>
            <a:off x="872342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302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1647"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1388</TotalTime>
  <Words>1165</Words>
  <Application>Microsoft Office PowerPoint</Application>
  <PresentationFormat>Widescreen</PresentationFormat>
  <Paragraphs>240</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Calibri</vt:lpstr>
      <vt:lpstr>Cambria</vt:lpstr>
      <vt:lpstr>Cambria Math</vt:lpstr>
      <vt:lpstr>Century Gothic</vt:lpstr>
      <vt:lpstr>Courier New</vt:lpstr>
      <vt:lpstr>Verdana</vt:lpstr>
      <vt:lpstr>1_Office Theme</vt:lpstr>
      <vt:lpstr>6th Grade Accelerated Math  Unit 7, Lesson 1  Area of Triangles- Part 1  Volume 1, pg. 297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dcterms:created xsi:type="dcterms:W3CDTF">2015-03-17T18:51:18Z</dcterms:created>
  <dcterms:modified xsi:type="dcterms:W3CDTF">2022-08-01T00:37:29Z</dcterms:modified>
</cp:coreProperties>
</file>