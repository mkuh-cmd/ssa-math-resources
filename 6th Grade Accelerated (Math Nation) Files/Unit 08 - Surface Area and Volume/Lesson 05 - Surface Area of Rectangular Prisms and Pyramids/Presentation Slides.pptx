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75" r:id="rId8"/>
    <p:sldId id="276" r:id="rId9"/>
    <p:sldId id="277" r:id="rId10"/>
    <p:sldId id="299" r:id="rId11"/>
    <p:sldId id="300" r:id="rId12"/>
    <p:sldId id="301" r:id="rId13"/>
    <p:sldId id="263" r:id="rId14"/>
    <p:sldId id="264" r:id="rId15"/>
    <p:sldId id="265" r:id="rId16"/>
    <p:sldId id="293" r:id="rId17"/>
    <p:sldId id="294" r:id="rId18"/>
    <p:sldId id="295" r:id="rId19"/>
    <p:sldId id="302" r:id="rId20"/>
    <p:sldId id="303" r:id="rId21"/>
    <p:sldId id="304" r:id="rId22"/>
    <p:sldId id="296" r:id="rId23"/>
    <p:sldId id="297" r:id="rId24"/>
    <p:sldId id="287" r:id="rId25"/>
    <p:sldId id="288" r:id="rId26"/>
    <p:sldId id="289" r:id="rId27"/>
    <p:sldId id="290" r:id="rId28"/>
    <p:sldId id="291" r:id="rId29"/>
    <p:sldId id="292"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iJAlmViUFYPExNdDTLT7VrFLNg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95"/>
    <p:restoredTop sz="94700"/>
  </p:normalViewPr>
  <p:slideViewPr>
    <p:cSldViewPr snapToGrid="0">
      <p:cViewPr varScale="1">
        <p:scale>
          <a:sx n="79" d="100"/>
          <a:sy n="79" d="100"/>
        </p:scale>
        <p:origin x="629"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2710919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3806984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829214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extLst>
      <p:ext uri="{BB962C8B-B14F-4D97-AF65-F5344CB8AC3E}">
        <p14:creationId xmlns:p14="http://schemas.microsoft.com/office/powerpoint/2010/main" val="3061588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730046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1938200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907080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3792809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414558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extLst>
      <p:ext uri="{BB962C8B-B14F-4D97-AF65-F5344CB8AC3E}">
        <p14:creationId xmlns:p14="http://schemas.microsoft.com/office/powerpoint/2010/main" val="2460888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13229211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http://www.clker.com/cliparts/c/9/b/0/1393003661889587595tissuebox-md.png" TargetMode="Externa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0.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5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Surface Area of Rectangular Prisms and Pyramids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24</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66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25912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1767750"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981200" y="1609531"/>
            <a:ext cx="82296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solidFill>
                  <a:schemeClr val="dk1"/>
                </a:solidFill>
                <a:latin typeface="Verdana"/>
                <a:ea typeface="Verdana"/>
                <a:cs typeface="Verdana"/>
                <a:sym typeface="Verdana"/>
              </a:rPr>
              <a:t>MA.6.GR.2.4</a:t>
            </a:r>
            <a:endParaRPr sz="24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400" dirty="0">
                <a:latin typeface="Verdana" panose="020B0604030504040204" pitchFamily="34" charset="0"/>
                <a:ea typeface="Verdana" panose="020B0604030504040204" pitchFamily="34" charset="0"/>
                <a:cs typeface="Verdana" panose="020B0604030504040204" pitchFamily="34" charset="0"/>
              </a:rPr>
              <a:t>Given a mathematical or real-world context, find the surface area of right rectangular prisms and right rectangular pyramids using the figure’s net.</a:t>
            </a:r>
          </a:p>
          <a:p>
            <a:pPr marL="457200">
              <a:lnSpc>
                <a:spcPct val="90000"/>
              </a:lnSpc>
              <a:spcBef>
                <a:spcPts val="750"/>
              </a:spcBef>
              <a:buClr>
                <a:schemeClr val="dk1"/>
              </a:buClr>
              <a:buSzPts val="2100"/>
            </a:pPr>
            <a:endParaRPr sz="21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687467" y="307551"/>
            <a:ext cx="747300" cy="747300"/>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512117" y="64918"/>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622738" y="1596390"/>
            <a:ext cx="9534284"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endParaRPr sz="2000" dirty="0">
              <a:latin typeface="Verdana" panose="020B0604030504040204" pitchFamily="34" charset="0"/>
              <a:ea typeface="Verdana" panose="020B0604030504040204" pitchFamily="34" charset="0"/>
              <a:cs typeface="Verdana" panose="020B0604030504040204" pitchFamily="34" charset="0"/>
            </a:endParaRPr>
          </a:p>
          <a:p>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523886"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7" name="Google Shape;147;p2"/>
          <p:cNvPicPr preferRelativeResize="0"/>
          <p:nvPr/>
        </p:nvPicPr>
        <p:blipFill rotWithShape="1">
          <a:blip r:embed="rId3">
            <a:alphaModFix/>
          </a:blip>
          <a:srcRect/>
          <a:stretch/>
        </p:blipFill>
        <p:spPr>
          <a:xfrm>
            <a:off x="741724" y="289200"/>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744505" y="1600200"/>
            <a:ext cx="870299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ct val="1250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find the surface area of a rectangular prism using a net or the figure.</a:t>
            </a:r>
            <a:endParaRPr sz="2400" dirty="0">
              <a:latin typeface="Verdana" panose="020B0604030504040204" pitchFamily="34" charset="0"/>
              <a:ea typeface="Verdana" panose="020B0604030504040204" pitchFamily="34" charset="0"/>
              <a:cs typeface="Verdana" panose="020B0604030504040204" pitchFamily="34" charset="0"/>
            </a:endParaRPr>
          </a:p>
          <a:p>
            <a:pPr marL="457200" indent="-450850">
              <a:buClr>
                <a:srgbClr val="434343"/>
              </a:buClr>
              <a:buSzPct val="1250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find the surface area of a rectangular pyramid using a net or the figure. </a:t>
            </a:r>
          </a:p>
          <a:p>
            <a:pPr marL="457200" indent="-450850">
              <a:buClr>
                <a:srgbClr val="434343"/>
              </a:buClr>
              <a:buSzPts val="3500"/>
              <a:buFont typeface="Verdana"/>
              <a:buChar char="❏"/>
            </a:pPr>
            <a:endParaRPr dirty="0"/>
          </a:p>
        </p:txBody>
      </p:sp>
      <p:sp>
        <p:nvSpPr>
          <p:cNvPr id="8"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476005" y="3955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8.5.1 Warm-Up: Which One Doesn’t Belong?</a:t>
            </a:r>
            <a:endParaRPr dirty="0"/>
          </a:p>
        </p:txBody>
      </p:sp>
      <p:pic>
        <p:nvPicPr>
          <p:cNvPr id="168" name="Google Shape;168;p4"/>
          <p:cNvPicPr preferRelativeResize="0"/>
          <p:nvPr/>
        </p:nvPicPr>
        <p:blipFill rotWithShape="1">
          <a:blip r:embed="rId3">
            <a:alphaModFix/>
          </a:blip>
          <a:srcRect/>
          <a:stretch/>
        </p:blipFill>
        <p:spPr>
          <a:xfrm>
            <a:off x="728705" y="266869"/>
            <a:ext cx="747300" cy="747300"/>
          </a:xfrm>
          <a:prstGeom prst="rect">
            <a:avLst/>
          </a:prstGeom>
          <a:noFill/>
          <a:ln>
            <a:noFill/>
          </a:ln>
          <a:effectLst>
            <a:outerShdw blurRad="50800" dist="38100" dir="2700000" algn="tl" rotWithShape="0">
              <a:srgbClr val="000000">
                <a:alpha val="40000"/>
              </a:srgbClr>
            </a:outerShdw>
          </a:effectLst>
        </p:spPr>
      </p:pic>
      <p:sp>
        <p:nvSpPr>
          <p:cNvPr id="170" name="Google Shape;170;p4"/>
          <p:cNvSpPr txBox="1"/>
          <p:nvPr/>
        </p:nvSpPr>
        <p:spPr>
          <a:xfrm>
            <a:off x="1476005" y="1386025"/>
            <a:ext cx="9496022" cy="501671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Four figures are shown.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one doesn’t belong?</a:t>
            </a: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Justify your choice using mathematics.</a:t>
            </a:r>
          </a:p>
        </p:txBody>
      </p:sp>
      <p:pic>
        <p:nvPicPr>
          <p:cNvPr id="4" name="Picture 3" descr="Shape, polygon&#10;&#10;Description automatically generated">
            <a:extLst>
              <a:ext uri="{FF2B5EF4-FFF2-40B4-BE49-F238E27FC236}">
                <a16:creationId xmlns:a16="http://schemas.microsoft.com/office/drawing/2014/main" id="{8FD247DA-BABF-E043-8088-184653B47E7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40000" y="1787707"/>
            <a:ext cx="3716020" cy="3064017"/>
          </a:xfrm>
          <a:prstGeom prst="rect">
            <a:avLst/>
          </a:prstGeom>
        </p:spPr>
      </p:pic>
      <p:sp>
        <p:nvSpPr>
          <p:cNvPr id="9"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17" name="Google Shape;317;p19"/>
          <p:cNvSpPr txBox="1"/>
          <p:nvPr/>
        </p:nvSpPr>
        <p:spPr>
          <a:xfrm>
            <a:off x="1476005" y="-270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50" b="1" dirty="0">
                <a:solidFill>
                  <a:srgbClr val="54B5D1"/>
                </a:solidFill>
                <a:latin typeface="Verdana"/>
                <a:ea typeface="Verdana"/>
                <a:cs typeface="Verdana"/>
                <a:sym typeface="Verdana"/>
              </a:rPr>
              <a:t>8.5.2 Guided Instruction: Surface Area of a Rectangular Prism</a:t>
            </a:r>
            <a:endParaRPr sz="3250" dirty="0"/>
          </a:p>
        </p:txBody>
      </p:sp>
      <p:pic>
        <p:nvPicPr>
          <p:cNvPr id="318" name="Google Shape;318;p19"/>
          <p:cNvPicPr preferRelativeResize="0"/>
          <p:nvPr/>
        </p:nvPicPr>
        <p:blipFill rotWithShape="1">
          <a:blip r:embed="rId3">
            <a:alphaModFix/>
          </a:blip>
          <a:srcRect/>
          <a:stretch/>
        </p:blipFill>
        <p:spPr>
          <a:xfrm>
            <a:off x="728705" y="218875"/>
            <a:ext cx="747300" cy="747300"/>
          </a:xfrm>
          <a:prstGeom prst="rect">
            <a:avLst/>
          </a:prstGeom>
          <a:noFill/>
          <a:ln>
            <a:noFill/>
          </a:ln>
          <a:effectLst>
            <a:outerShdw blurRad="50800" dist="38100" dir="2700000" algn="tl" rotWithShape="0">
              <a:srgbClr val="000000">
                <a:alpha val="40000"/>
              </a:srgbClr>
            </a:outerShdw>
          </a:effectLst>
        </p:spPr>
      </p:pic>
      <p:sp>
        <p:nvSpPr>
          <p:cNvPr id="320" name="Google Shape;320;p19"/>
          <p:cNvSpPr txBox="1"/>
          <p:nvPr/>
        </p:nvSpPr>
        <p:spPr>
          <a:xfrm>
            <a:off x="1476005" y="1386026"/>
            <a:ext cx="9496022" cy="2554505"/>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To find the surface area of a three-dimensional object, use the nets of a shape to find the area of each face.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nvGrpSpPr>
          <p:cNvPr id="8" name="Group 7">
            <a:extLst>
              <a:ext uri="{FF2B5EF4-FFF2-40B4-BE49-F238E27FC236}">
                <a16:creationId xmlns:a16="http://schemas.microsoft.com/office/drawing/2014/main" id="{45184D31-D877-8042-A88C-B8DB8FC1845B}"/>
              </a:ext>
            </a:extLst>
          </p:cNvPr>
          <p:cNvGrpSpPr/>
          <p:nvPr/>
        </p:nvGrpSpPr>
        <p:grpSpPr>
          <a:xfrm>
            <a:off x="2611592" y="2886430"/>
            <a:ext cx="7224849" cy="1054100"/>
            <a:chOff x="1435851" y="3373600"/>
            <a:chExt cx="7224849" cy="1035424"/>
          </a:xfrm>
        </p:grpSpPr>
        <p:sp>
          <p:nvSpPr>
            <p:cNvPr id="9" name="Rectangle 8">
              <a:extLst>
                <a:ext uri="{FF2B5EF4-FFF2-40B4-BE49-F238E27FC236}">
                  <a16:creationId xmlns:a16="http://schemas.microsoft.com/office/drawing/2014/main" id="{8A2789F6-4E35-6B46-AFEA-4DAC4802F29E}"/>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10" name="Group 9">
              <a:extLst>
                <a:ext uri="{FF2B5EF4-FFF2-40B4-BE49-F238E27FC236}">
                  <a16:creationId xmlns:a16="http://schemas.microsoft.com/office/drawing/2014/main" id="{A002A0DB-1147-5B4F-8E9F-2615956C06EE}"/>
                </a:ext>
              </a:extLst>
            </p:cNvPr>
            <p:cNvGrpSpPr/>
            <p:nvPr/>
          </p:nvGrpSpPr>
          <p:grpSpPr>
            <a:xfrm>
              <a:off x="1435851" y="3373600"/>
              <a:ext cx="7224849" cy="1035424"/>
              <a:chOff x="1435851" y="3373600"/>
              <a:chExt cx="7224849" cy="1035424"/>
            </a:xfrm>
          </p:grpSpPr>
          <p:sp>
            <p:nvSpPr>
              <p:cNvPr id="11" name="Rectangle 10">
                <a:extLst>
                  <a:ext uri="{FF2B5EF4-FFF2-40B4-BE49-F238E27FC236}">
                    <a16:creationId xmlns:a16="http://schemas.microsoft.com/office/drawing/2014/main" id="{A349FC22-D454-D145-969E-4C2ACEC9D5D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12" name="Group 11">
                <a:extLst>
                  <a:ext uri="{FF2B5EF4-FFF2-40B4-BE49-F238E27FC236}">
                    <a16:creationId xmlns:a16="http://schemas.microsoft.com/office/drawing/2014/main" id="{20B11F6B-0815-4F41-9F03-C931CDCA2A07}"/>
                  </a:ext>
                </a:extLst>
              </p:cNvPr>
              <p:cNvGrpSpPr/>
              <p:nvPr/>
            </p:nvGrpSpPr>
            <p:grpSpPr>
              <a:xfrm>
                <a:off x="1435851" y="3373600"/>
                <a:ext cx="7224849" cy="1035424"/>
                <a:chOff x="-595449" y="0"/>
                <a:chExt cx="7224849" cy="1035424"/>
              </a:xfrm>
            </p:grpSpPr>
            <p:sp>
              <p:nvSpPr>
                <p:cNvPr id="13" name="Rectangle 12">
                  <a:extLst>
                    <a:ext uri="{FF2B5EF4-FFF2-40B4-BE49-F238E27FC236}">
                      <a16:creationId xmlns:a16="http://schemas.microsoft.com/office/drawing/2014/main" id="{8074EA9E-2D6F-DB45-9BBD-D9692E93FE45}"/>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4" name="Rounded Rectangle 13">
                  <a:extLst>
                    <a:ext uri="{FF2B5EF4-FFF2-40B4-BE49-F238E27FC236}">
                      <a16:creationId xmlns:a16="http://schemas.microsoft.com/office/drawing/2014/main" id="{14F5F073-AF72-A242-95E7-2EF82C49F6C9}"/>
                    </a:ext>
                  </a:extLst>
                </p:cNvPr>
                <p:cNvSpPr/>
                <p:nvPr/>
              </p:nvSpPr>
              <p:spPr>
                <a:xfrm>
                  <a:off x="-595449" y="0"/>
                  <a:ext cx="7224849" cy="103542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spcAft>
                      <a:spcPts val="1000"/>
                    </a:spcAft>
                  </a:pPr>
                  <a:r>
                    <a:rPr lang="en-US" sz="2000" b="1" i="1" dirty="0">
                      <a:solidFill>
                        <a:srgbClr val="6C993D"/>
                      </a:solidFill>
                      <a:latin typeface="Verdana" panose="020B0604030504040204" pitchFamily="34" charset="0"/>
                      <a:ea typeface="MS Mincho" panose="02020609040205080304" pitchFamily="49" charset="-128"/>
                      <a:cs typeface="Times New Roman" panose="02020603050405020304" pitchFamily="18" charset="0"/>
                    </a:rPr>
                    <a:t>Surface area</a:t>
                  </a:r>
                  <a:r>
                    <a:rPr lang="en-US" sz="2000" b="1" dirty="0">
                      <a:solidFill>
                        <a:srgbClr val="6C993D"/>
                      </a:solidFill>
                      <a:latin typeface="Verdana" panose="020B0604030504040204" pitchFamily="34" charset="0"/>
                      <a:ea typeface="MS Mincho" panose="02020609040205080304" pitchFamily="49" charset="-128"/>
                      <a:cs typeface="Times New Roman" panose="02020603050405020304" pitchFamily="18" charset="0"/>
                    </a:rPr>
                    <a:t> </a:t>
                  </a:r>
                  <a:r>
                    <a:rPr lang="en-US" sz="2000" dirty="0">
                      <a:solidFill>
                        <a:srgbClr val="6C993D"/>
                      </a:solidFill>
                      <a:latin typeface="Verdana" panose="020B0604030504040204" pitchFamily="34" charset="0"/>
                      <a:ea typeface="MS Mincho" panose="02020609040205080304" pitchFamily="49" charset="-128"/>
                      <a:cs typeface="Times New Roman" panose="02020603050405020304" pitchFamily="18" charset="0"/>
                    </a:rPr>
                    <a:t>is the total area of the two-dimensional surfaces that make up a three-dimensional object</a:t>
                  </a:r>
                  <a:endParaRPr lang="en-US" sz="2000" dirty="0">
                    <a:latin typeface="Cambria" panose="02040503050406030204" pitchFamily="18" charset="0"/>
                    <a:ea typeface="MS Mincho" panose="02020609040205080304" pitchFamily="49" charset="-128"/>
                    <a:cs typeface="Times New Roman" panose="02020603050405020304" pitchFamily="18" charset="0"/>
                  </a:endParaRPr>
                </a:p>
              </p:txBody>
            </p:sp>
          </p:grpSp>
        </p:grpSp>
      </p:grpSp>
      <p:sp>
        <p:nvSpPr>
          <p:cNvPr id="15"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25</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3682"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329" name="Google Shape;329;p20"/>
              <p:cNvSpPr txBox="1"/>
              <p:nvPr/>
            </p:nvSpPr>
            <p:spPr>
              <a:xfrm>
                <a:off x="1081825" y="520394"/>
                <a:ext cx="10179016" cy="132339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net of a rectangular prism is shown below with each face labeled.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to find the area of each face. Each unit of the grid is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centimeter (cm).</a:t>
                </a:r>
              </a:p>
            </p:txBody>
          </p:sp>
        </mc:Choice>
        <mc:Fallback xmlns="">
          <p:sp>
            <p:nvSpPr>
              <p:cNvPr id="329" name="Google Shape;329;p20"/>
              <p:cNvSpPr txBox="1">
                <a:spLocks noRot="1" noChangeAspect="1" noMove="1" noResize="1" noEditPoints="1" noAdjustHandles="1" noChangeArrowheads="1" noChangeShapeType="1" noTextEdit="1"/>
              </p:cNvSpPr>
              <p:nvPr/>
            </p:nvSpPr>
            <p:spPr>
              <a:xfrm>
                <a:off x="1081825" y="520394"/>
                <a:ext cx="10179016" cy="1323399"/>
              </a:xfrm>
              <a:prstGeom prst="rect">
                <a:avLst/>
              </a:prstGeom>
              <a:blipFill rotWithShape="0">
                <a:blip r:embed="rId3"/>
                <a:stretch>
                  <a:fillRect l="-659" t="-2765" b="-7373"/>
                </a:stretch>
              </a:blipFill>
              <a:ln>
                <a:noFill/>
              </a:ln>
            </p:spPr>
            <p:txBody>
              <a:bodyPr/>
              <a:lstStyle/>
              <a:p>
                <a:r>
                  <a:rPr lang="en-US">
                    <a:noFill/>
                  </a:rPr>
                  <a:t> </a:t>
                </a:r>
              </a:p>
            </p:txBody>
          </p:sp>
        </mc:Fallback>
      </mc:AlternateContent>
      <p:pic>
        <p:nvPicPr>
          <p:cNvPr id="4" name="Picture 3" descr="A picture containing shoji, building&#10;&#10;Description automatically generated">
            <a:extLst>
              <a:ext uri="{FF2B5EF4-FFF2-40B4-BE49-F238E27FC236}">
                <a16:creationId xmlns:a16="http://schemas.microsoft.com/office/drawing/2014/main" id="{75A6704C-7D98-6B4B-98FD-A6F8053D41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74464" y="2151568"/>
            <a:ext cx="2889944" cy="3802792"/>
          </a:xfrm>
          <a:prstGeom prst="rect">
            <a:avLst/>
          </a:prstGeom>
        </p:spPr>
      </p:pic>
      <p:pic>
        <p:nvPicPr>
          <p:cNvPr id="11" name="Picture 10" descr="Table&#10;&#10;Description automatically generated">
            <a:extLst>
              <a:ext uri="{FF2B5EF4-FFF2-40B4-BE49-F238E27FC236}">
                <a16:creationId xmlns:a16="http://schemas.microsoft.com/office/drawing/2014/main" id="{6B00AFBD-FF79-8A4B-BA7F-8F9C1D29FDE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46332" y="2111235"/>
            <a:ext cx="4709160" cy="4389120"/>
          </a:xfrm>
          <a:prstGeom prst="rect">
            <a:avLst/>
          </a:prstGeom>
        </p:spPr>
      </p:pic>
      <p:sp>
        <p:nvSpPr>
          <p:cNvPr id="8"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29" name="Google Shape;329;p20"/>
          <p:cNvSpPr txBox="1"/>
          <p:nvPr/>
        </p:nvSpPr>
        <p:spPr>
          <a:xfrm>
            <a:off x="1159099" y="520393"/>
            <a:ext cx="10024468" cy="3170058"/>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How can the net and the area of the six faces be used to find the surface area of the prism?</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surface area of this rectangular prism?</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p:txBody>
      </p:sp>
      <p:grpSp>
        <p:nvGrpSpPr>
          <p:cNvPr id="8" name="Group 7">
            <a:extLst>
              <a:ext uri="{FF2B5EF4-FFF2-40B4-BE49-F238E27FC236}">
                <a16:creationId xmlns:a16="http://schemas.microsoft.com/office/drawing/2014/main" id="{9DE26761-BD9F-A647-BACD-2A30BBDE45A4}"/>
              </a:ext>
            </a:extLst>
          </p:cNvPr>
          <p:cNvGrpSpPr/>
          <p:nvPr/>
        </p:nvGrpSpPr>
        <p:grpSpPr>
          <a:xfrm>
            <a:off x="2539793" y="2775904"/>
            <a:ext cx="7112414" cy="3400343"/>
            <a:chOff x="1789793" y="3275735"/>
            <a:chExt cx="7112414" cy="3400583"/>
          </a:xfrm>
        </p:grpSpPr>
        <p:grpSp>
          <p:nvGrpSpPr>
            <p:cNvPr id="9" name="Group 8">
              <a:extLst>
                <a:ext uri="{FF2B5EF4-FFF2-40B4-BE49-F238E27FC236}">
                  <a16:creationId xmlns:a16="http://schemas.microsoft.com/office/drawing/2014/main" id="{06880684-33D8-254D-9EA1-8B0AD5A21F15}"/>
                </a:ext>
              </a:extLst>
            </p:cNvPr>
            <p:cNvGrpSpPr/>
            <p:nvPr/>
          </p:nvGrpSpPr>
          <p:grpSpPr>
            <a:xfrm>
              <a:off x="1789793" y="3275735"/>
              <a:ext cx="7112414" cy="3400583"/>
              <a:chOff x="-241507" y="0"/>
              <a:chExt cx="7112414" cy="3400583"/>
            </a:xfrm>
          </p:grpSpPr>
          <p:sp>
            <p:nvSpPr>
              <p:cNvPr id="10" name="Rectangle 9">
                <a:extLst>
                  <a:ext uri="{FF2B5EF4-FFF2-40B4-BE49-F238E27FC236}">
                    <a16:creationId xmlns:a16="http://schemas.microsoft.com/office/drawing/2014/main" id="{319941A9-BFE9-784B-BB7E-64417F1BB846}"/>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12" name="Group 11">
                <a:extLst>
                  <a:ext uri="{FF2B5EF4-FFF2-40B4-BE49-F238E27FC236}">
                    <a16:creationId xmlns:a16="http://schemas.microsoft.com/office/drawing/2014/main" id="{5E33F04B-FEA2-7F46-A597-3E32C9770BD2}"/>
                  </a:ext>
                </a:extLst>
              </p:cNvPr>
              <p:cNvGrpSpPr/>
              <p:nvPr/>
            </p:nvGrpSpPr>
            <p:grpSpPr>
              <a:xfrm>
                <a:off x="-241507" y="0"/>
                <a:ext cx="7112414" cy="3400583"/>
                <a:chOff x="-241507" y="0"/>
                <a:chExt cx="7112414" cy="3400583"/>
              </a:xfrm>
            </p:grpSpPr>
            <p:sp>
              <p:nvSpPr>
                <p:cNvPr id="14" name="Rectangle 13">
                  <a:extLst>
                    <a:ext uri="{FF2B5EF4-FFF2-40B4-BE49-F238E27FC236}">
                      <a16:creationId xmlns:a16="http://schemas.microsoft.com/office/drawing/2014/main" id="{107C95B5-07ED-434B-8BE4-D757F07633A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5" name="Rectangle 14">
                  <a:extLst>
                    <a:ext uri="{FF2B5EF4-FFF2-40B4-BE49-F238E27FC236}">
                      <a16:creationId xmlns:a16="http://schemas.microsoft.com/office/drawing/2014/main" id="{DCB332F1-02BD-6B40-B406-1CC14E28AA4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6" name="Rounded Rectangle 15">
                  <a:extLst>
                    <a:ext uri="{FF2B5EF4-FFF2-40B4-BE49-F238E27FC236}">
                      <a16:creationId xmlns:a16="http://schemas.microsoft.com/office/drawing/2014/main" id="{A015440E-C465-BF4C-9C4B-99330C1A9420}"/>
                    </a:ext>
                  </a:extLst>
                </p:cNvPr>
                <p:cNvSpPr/>
                <p:nvPr/>
              </p:nvSpPr>
              <p:spPr>
                <a:xfrm>
                  <a:off x="-241507" y="2052892"/>
                  <a:ext cx="7112414" cy="134769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2000" dirty="0">
                      <a:solidFill>
                        <a:srgbClr val="00619E"/>
                      </a:solidFill>
                      <a:latin typeface="Verdana" panose="020B0604030504040204" pitchFamily="34" charset="0"/>
                      <a:ea typeface="MS Mincho" panose="02020609040205080304" pitchFamily="49" charset="-128"/>
                      <a:cs typeface="Times New Roman" panose="02020603050405020304" pitchFamily="18" charset="0"/>
                    </a:rPr>
                    <a:t>When calculating surface area, find the sum of the areas of each face of the figure. Use the figure’s net to label the dimensions needed to calculate the area of each face.</a:t>
                  </a:r>
                  <a:endParaRPr lang="en-US" sz="2000" dirty="0">
                    <a:latin typeface="Cambria" panose="02040503050406030204" pitchFamily="18" charset="0"/>
                    <a:ea typeface="MS Mincho" panose="02020609040205080304" pitchFamily="49" charset="-128"/>
                    <a:cs typeface="Times New Roman" panose="02020603050405020304" pitchFamily="18" charset="0"/>
                  </a:endParaRPr>
                </a:p>
              </p:txBody>
            </p:sp>
          </p:grpSp>
          <p:pic>
            <p:nvPicPr>
              <p:cNvPr id="13" name="Shape 15" descr="Icon&#10;&#10;Description automatically generated">
                <a:extLst>
                  <a:ext uri="{FF2B5EF4-FFF2-40B4-BE49-F238E27FC236}">
                    <a16:creationId xmlns:a16="http://schemas.microsoft.com/office/drawing/2014/main" id="{0956C742-2FF6-C242-AC56-BC502747E1C9}"/>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2755" y="2186987"/>
                <a:ext cx="539750" cy="539750"/>
              </a:xfrm>
              <a:prstGeom prst="rect">
                <a:avLst/>
              </a:prstGeom>
              <a:noFill/>
              <a:ln>
                <a:noFill/>
              </a:ln>
              <a:effectLst>
                <a:outerShdw blurRad="50800" dist="38100" dir="2700000" algn="tl" rotWithShape="0">
                  <a:prstClr val="black">
                    <a:alpha val="40000"/>
                  </a:prstClr>
                </a:outerShdw>
              </a:effectLst>
            </p:spPr>
          </p:pic>
        </p:grpSp>
      </p:grpSp>
      <p:sp>
        <p:nvSpPr>
          <p:cNvPr id="1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26</a:t>
            </a:r>
            <a:endParaRPr i="1" dirty="0">
              <a:latin typeface="Calibri"/>
              <a:ea typeface="Calibri"/>
              <a:cs typeface="Calibri"/>
              <a:sym typeface="Calibri"/>
            </a:endParaRPr>
          </a:p>
        </p:txBody>
      </p:sp>
      <p:pic>
        <p:nvPicPr>
          <p:cNvPr id="1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81100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329" name="Google Shape;329;p20"/>
              <p:cNvSpPr txBox="1"/>
              <p:nvPr/>
            </p:nvSpPr>
            <p:spPr>
              <a:xfrm>
                <a:off x="1249251" y="520393"/>
                <a:ext cx="9844164" cy="5324494"/>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tissue box is </a:t>
                </a:r>
                <a14:m>
                  <m:oMath xmlns:m="http://schemas.openxmlformats.org/officeDocument/2006/math">
                    <m:r>
                      <a:rPr lang="en-US" sz="2000" i="1">
                        <a:latin typeface="Cambria Math" panose="02040503050406030204" pitchFamily="18" charset="0"/>
                        <a:ea typeface="Cambria Math" panose="020405030504060302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inches (in.) long, </a:t>
                </a:r>
                <a14:m>
                  <m:oMath xmlns:m="http://schemas.openxmlformats.org/officeDocument/2006/math">
                    <m:r>
                      <a:rPr lang="en-US" sz="2000" i="1">
                        <a:latin typeface="Cambria Math" panose="02040503050406030204" pitchFamily="18" charset="0"/>
                        <a:ea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in. wide, and </a:t>
                </a:r>
                <a14:m>
                  <m:oMath xmlns:m="http://schemas.openxmlformats.org/officeDocument/2006/math">
                    <m:r>
                      <a:rPr lang="en-US" sz="2000" i="1">
                        <a:latin typeface="Cambria Math" panose="02040503050406030204" pitchFamily="18" charset="0"/>
                        <a:ea typeface="Cambria Math" panose="02040503050406030204" pitchFamily="18"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in. tall.</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355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Sketch the net of the tissue box.</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the dimensions of each face on the net.</a:t>
                </a:r>
              </a:p>
            </p:txBody>
          </p:sp>
        </mc:Choice>
        <mc:Fallback xmlns="">
          <p:sp>
            <p:nvSpPr>
              <p:cNvPr id="329" name="Google Shape;329;p20"/>
              <p:cNvSpPr txBox="1">
                <a:spLocks noRot="1" noChangeAspect="1" noMove="1" noResize="1" noEditPoints="1" noAdjustHandles="1" noChangeArrowheads="1" noChangeShapeType="1" noTextEdit="1"/>
              </p:cNvSpPr>
              <p:nvPr/>
            </p:nvSpPr>
            <p:spPr>
              <a:xfrm>
                <a:off x="1249251" y="520393"/>
                <a:ext cx="9844164" cy="5324494"/>
              </a:xfrm>
              <a:prstGeom prst="rect">
                <a:avLst/>
              </a:prstGeom>
              <a:blipFill rotWithShape="0">
                <a:blip r:embed="rId3"/>
                <a:stretch>
                  <a:fillRect l="-681" t="-686" b="-1144"/>
                </a:stretch>
              </a:blipFill>
              <a:ln>
                <a:noFill/>
              </a:ln>
            </p:spPr>
            <p:txBody>
              <a:bodyPr/>
              <a:lstStyle/>
              <a:p>
                <a:r>
                  <a:rPr lang="en-US">
                    <a:noFill/>
                  </a:rPr>
                  <a:t> </a:t>
                </a:r>
              </a:p>
            </p:txBody>
          </p:sp>
        </mc:Fallback>
      </mc:AlternateContent>
      <p:grpSp>
        <p:nvGrpSpPr>
          <p:cNvPr id="8" name="Group 7">
            <a:extLst>
              <a:ext uri="{FF2B5EF4-FFF2-40B4-BE49-F238E27FC236}">
                <a16:creationId xmlns:a16="http://schemas.microsoft.com/office/drawing/2014/main" id="{9DE26761-BD9F-A647-BACD-2A30BBDE45A4}"/>
              </a:ext>
            </a:extLst>
          </p:cNvPr>
          <p:cNvGrpSpPr/>
          <p:nvPr/>
        </p:nvGrpSpPr>
        <p:grpSpPr>
          <a:xfrm>
            <a:off x="2781300" y="2775903"/>
            <a:ext cx="6629400" cy="1008454"/>
            <a:chOff x="2031300" y="3275735"/>
            <a:chExt cx="6629400" cy="1008525"/>
          </a:xfrm>
        </p:grpSpPr>
        <p:grpSp>
          <p:nvGrpSpPr>
            <p:cNvPr id="9" name="Group 8">
              <a:extLst>
                <a:ext uri="{FF2B5EF4-FFF2-40B4-BE49-F238E27FC236}">
                  <a16:creationId xmlns:a16="http://schemas.microsoft.com/office/drawing/2014/main" id="{06880684-33D8-254D-9EA1-8B0AD5A21F15}"/>
                </a:ext>
              </a:extLst>
            </p:cNvPr>
            <p:cNvGrpSpPr/>
            <p:nvPr/>
          </p:nvGrpSpPr>
          <p:grpSpPr>
            <a:xfrm>
              <a:off x="2031300" y="3275735"/>
              <a:ext cx="6629400" cy="1008525"/>
              <a:chOff x="0" y="0"/>
              <a:chExt cx="6629400" cy="1008525"/>
            </a:xfrm>
          </p:grpSpPr>
          <p:sp>
            <p:nvSpPr>
              <p:cNvPr id="10" name="Rectangle 9">
                <a:extLst>
                  <a:ext uri="{FF2B5EF4-FFF2-40B4-BE49-F238E27FC236}">
                    <a16:creationId xmlns:a16="http://schemas.microsoft.com/office/drawing/2014/main" id="{319941A9-BFE9-784B-BB7E-64417F1BB846}"/>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12" name="Group 11">
                <a:extLst>
                  <a:ext uri="{FF2B5EF4-FFF2-40B4-BE49-F238E27FC236}">
                    <a16:creationId xmlns:a16="http://schemas.microsoft.com/office/drawing/2014/main" id="{5E33F04B-FEA2-7F46-A597-3E32C9770BD2}"/>
                  </a:ext>
                </a:extLst>
              </p:cNvPr>
              <p:cNvGrpSpPr/>
              <p:nvPr/>
            </p:nvGrpSpPr>
            <p:grpSpPr>
              <a:xfrm>
                <a:off x="0" y="0"/>
                <a:ext cx="6629400" cy="786375"/>
                <a:chOff x="0" y="0"/>
                <a:chExt cx="6629400" cy="786375"/>
              </a:xfrm>
            </p:grpSpPr>
            <p:sp>
              <p:nvSpPr>
                <p:cNvPr id="14" name="Rectangle 13">
                  <a:extLst>
                    <a:ext uri="{FF2B5EF4-FFF2-40B4-BE49-F238E27FC236}">
                      <a16:creationId xmlns:a16="http://schemas.microsoft.com/office/drawing/2014/main" id="{107C95B5-07ED-434B-8BE4-D757F07633A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5" name="Rectangle 14">
                  <a:extLst>
                    <a:ext uri="{FF2B5EF4-FFF2-40B4-BE49-F238E27FC236}">
                      <a16:creationId xmlns:a16="http://schemas.microsoft.com/office/drawing/2014/main" id="{DCB332F1-02BD-6B40-B406-1CC14E28AA4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grpSp>
      </p:grpSp>
      <p:sp>
        <p:nvSpPr>
          <p:cNvPr id="2" name="Rectangle 2">
            <a:extLst>
              <a:ext uri="{FF2B5EF4-FFF2-40B4-BE49-F238E27FC236}">
                <a16:creationId xmlns:a16="http://schemas.microsoft.com/office/drawing/2014/main" id="{2B235175-8ADF-2B44-A9F0-5771F0FD5B59}"/>
              </a:ext>
            </a:extLst>
          </p:cNvPr>
          <p:cNvSpPr>
            <a:spLocks noChangeArrowheads="1"/>
          </p:cNvSpPr>
          <p:nvPr/>
        </p:nvSpPr>
        <p:spPr bwMode="auto">
          <a:xfrm>
            <a:off x="4572001" y="1382570"/>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097" name="Picture 1" descr="Tissuebox Image">
            <a:extLst>
              <a:ext uri="{FF2B5EF4-FFF2-40B4-BE49-F238E27FC236}">
                <a16:creationId xmlns:a16="http://schemas.microsoft.com/office/drawing/2014/main" id="{D815E544-7B78-5247-BB0D-FA3F6ACD1AA7}"/>
              </a:ext>
            </a:extLst>
          </p:cNvPr>
          <p:cNvPicPr>
            <a:picLocks noChangeAspect="1" noChangeArrowheads="1"/>
          </p:cNvPicPr>
          <p:nvPr/>
        </p:nvPicPr>
        <p:blipFill>
          <a:blip r:embed="rId4" r:link="rId5">
            <a:extLst>
              <a:ext uri="{28A0092B-C50C-407E-A947-70E740481C1C}">
                <a14:useLocalDpi xmlns:a14="http://schemas.microsoft.com/office/drawing/2010/main"/>
              </a:ext>
            </a:extLst>
          </a:blip>
          <a:srcRect/>
          <a:stretch>
            <a:fillRect/>
          </a:stretch>
        </p:blipFill>
        <p:spPr bwMode="auto">
          <a:xfrm>
            <a:off x="5205505" y="1101120"/>
            <a:ext cx="1780990" cy="1865297"/>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26</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054066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1403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29" name="Google Shape;329;p20"/>
          <p:cNvSpPr txBox="1"/>
          <p:nvPr/>
        </p:nvSpPr>
        <p:spPr>
          <a:xfrm>
            <a:off x="1120462" y="520393"/>
            <a:ext cx="10101742" cy="5355272"/>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Find the area of each face. Include units.</a:t>
            </a: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Add the area of the faces to find the surface area of the tissue box. Include units.</a:t>
            </a:r>
          </a:p>
          <a:p>
            <a:pPr marL="1373188" indent="-458788"/>
            <a:r>
              <a:rPr lang="en-US" dirty="0"/>
              <a:t> </a:t>
            </a:r>
          </a:p>
          <a:p>
            <a:pPr marL="1373188" indent="-458788"/>
            <a:r>
              <a:rPr lang="en-US" dirty="0"/>
              <a:t> </a:t>
            </a:r>
          </a:p>
          <a:p>
            <a:pPr marL="1373188" indent="-458788"/>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dirty="0"/>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p:txBody>
      </p:sp>
      <p:grpSp>
        <p:nvGrpSpPr>
          <p:cNvPr id="8" name="Group 7">
            <a:extLst>
              <a:ext uri="{FF2B5EF4-FFF2-40B4-BE49-F238E27FC236}">
                <a16:creationId xmlns:a16="http://schemas.microsoft.com/office/drawing/2014/main" id="{9DE26761-BD9F-A647-BACD-2A30BBDE45A4}"/>
              </a:ext>
            </a:extLst>
          </p:cNvPr>
          <p:cNvGrpSpPr/>
          <p:nvPr/>
        </p:nvGrpSpPr>
        <p:grpSpPr>
          <a:xfrm>
            <a:off x="2781300" y="2775903"/>
            <a:ext cx="6629400" cy="1008454"/>
            <a:chOff x="2031300" y="3275735"/>
            <a:chExt cx="6629400" cy="1008525"/>
          </a:xfrm>
        </p:grpSpPr>
        <p:grpSp>
          <p:nvGrpSpPr>
            <p:cNvPr id="9" name="Group 8">
              <a:extLst>
                <a:ext uri="{FF2B5EF4-FFF2-40B4-BE49-F238E27FC236}">
                  <a16:creationId xmlns:a16="http://schemas.microsoft.com/office/drawing/2014/main" id="{06880684-33D8-254D-9EA1-8B0AD5A21F15}"/>
                </a:ext>
              </a:extLst>
            </p:cNvPr>
            <p:cNvGrpSpPr/>
            <p:nvPr/>
          </p:nvGrpSpPr>
          <p:grpSpPr>
            <a:xfrm>
              <a:off x="2031300" y="3275735"/>
              <a:ext cx="6629400" cy="1008525"/>
              <a:chOff x="0" y="0"/>
              <a:chExt cx="6629400" cy="1008525"/>
            </a:xfrm>
          </p:grpSpPr>
          <p:sp>
            <p:nvSpPr>
              <p:cNvPr id="10" name="Rectangle 9">
                <a:extLst>
                  <a:ext uri="{FF2B5EF4-FFF2-40B4-BE49-F238E27FC236}">
                    <a16:creationId xmlns:a16="http://schemas.microsoft.com/office/drawing/2014/main" id="{319941A9-BFE9-784B-BB7E-64417F1BB846}"/>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12" name="Group 11">
                <a:extLst>
                  <a:ext uri="{FF2B5EF4-FFF2-40B4-BE49-F238E27FC236}">
                    <a16:creationId xmlns:a16="http://schemas.microsoft.com/office/drawing/2014/main" id="{5E33F04B-FEA2-7F46-A597-3E32C9770BD2}"/>
                  </a:ext>
                </a:extLst>
              </p:cNvPr>
              <p:cNvGrpSpPr/>
              <p:nvPr/>
            </p:nvGrpSpPr>
            <p:grpSpPr>
              <a:xfrm>
                <a:off x="0" y="0"/>
                <a:ext cx="6629400" cy="786375"/>
                <a:chOff x="0" y="0"/>
                <a:chExt cx="6629400" cy="786375"/>
              </a:xfrm>
            </p:grpSpPr>
            <p:sp>
              <p:nvSpPr>
                <p:cNvPr id="14" name="Rectangle 13">
                  <a:extLst>
                    <a:ext uri="{FF2B5EF4-FFF2-40B4-BE49-F238E27FC236}">
                      <a16:creationId xmlns:a16="http://schemas.microsoft.com/office/drawing/2014/main" id="{107C95B5-07ED-434B-8BE4-D757F07633A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5" name="Rectangle 14">
                  <a:extLst>
                    <a:ext uri="{FF2B5EF4-FFF2-40B4-BE49-F238E27FC236}">
                      <a16:creationId xmlns:a16="http://schemas.microsoft.com/office/drawing/2014/main" id="{DCB332F1-02BD-6B40-B406-1CC14E28AA4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grpSp>
      </p:grpSp>
      <p:sp>
        <p:nvSpPr>
          <p:cNvPr id="2" name="Rectangle 2">
            <a:extLst>
              <a:ext uri="{FF2B5EF4-FFF2-40B4-BE49-F238E27FC236}">
                <a16:creationId xmlns:a16="http://schemas.microsoft.com/office/drawing/2014/main" id="{2B235175-8ADF-2B44-A9F0-5771F0FD5B59}"/>
              </a:ext>
            </a:extLst>
          </p:cNvPr>
          <p:cNvSpPr>
            <a:spLocks noChangeArrowheads="1"/>
          </p:cNvSpPr>
          <p:nvPr/>
        </p:nvSpPr>
        <p:spPr bwMode="auto">
          <a:xfrm>
            <a:off x="4572001" y="1382570"/>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791845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7" name="Google Shape;197;p7"/>
          <p:cNvSpPr txBox="1"/>
          <p:nvPr/>
        </p:nvSpPr>
        <p:spPr>
          <a:xfrm>
            <a:off x="1532586" y="8196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8.5.3 Collaboration: Analyzing Student Work</a:t>
            </a:r>
            <a:endParaRPr dirty="0"/>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82778" y="369912"/>
            <a:ext cx="749808" cy="749808"/>
          </a:xfrm>
          <a:prstGeom prst="rect">
            <a:avLst/>
          </a:prstGeom>
          <a:noFill/>
          <a:ln>
            <a:noFill/>
          </a:ln>
          <a:effectLst>
            <a:outerShdw blurRad="50800" dist="38100" dir="2700000" algn="tl" rotWithShape="0">
              <a:srgbClr val="000000">
                <a:alpha val="40000"/>
              </a:srgbClr>
            </a:outerShdw>
          </a:effectLst>
        </p:spPr>
      </p:pic>
      <p:sp>
        <p:nvSpPr>
          <p:cNvPr id="200" name="Google Shape;200;p7"/>
          <p:cNvSpPr txBox="1"/>
          <p:nvPr/>
        </p:nvSpPr>
        <p:spPr>
          <a:xfrm>
            <a:off x="1532586" y="1386026"/>
            <a:ext cx="9382860" cy="10156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Jillian and Victor are finding the surface area, in square feet (ft</a:t>
            </a:r>
            <a:r>
              <a:rPr lang="en-US" sz="2000" baseline="30000" dirty="0">
                <a:latin typeface="Verdana" panose="020B0604030504040204" pitchFamily="34" charset="0"/>
                <a:ea typeface="Verdana" panose="020B0604030504040204" pitchFamily="34"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 of the rectangular prism shown and each got the same answer; however, they solved the problem differently. </a:t>
            </a:r>
          </a:p>
        </p:txBody>
      </p:sp>
      <p:pic>
        <p:nvPicPr>
          <p:cNvPr id="3" name="Picture 2" descr="Shape, rectangle&#10;&#10;Description automatically generated">
            <a:extLst>
              <a:ext uri="{FF2B5EF4-FFF2-40B4-BE49-F238E27FC236}">
                <a16:creationId xmlns:a16="http://schemas.microsoft.com/office/drawing/2014/main" id="{CCB00384-0B57-984C-8848-FB20997CDC9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96939" y="2997370"/>
            <a:ext cx="5168473" cy="2622240"/>
          </a:xfrm>
          <a:prstGeom prst="rect">
            <a:avLst/>
          </a:prstGeom>
        </p:spPr>
      </p:pic>
      <p:sp>
        <p:nvSpPr>
          <p:cNvPr id="9"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9" name="Google Shape;209;p8"/>
          <p:cNvSpPr txBox="1"/>
          <p:nvPr/>
        </p:nvSpPr>
        <p:spPr>
          <a:xfrm>
            <a:off x="1171977" y="520393"/>
            <a:ext cx="9998712" cy="6063158"/>
          </a:xfrm>
          <a:prstGeom prst="rect">
            <a:avLst/>
          </a:prstGeom>
          <a:noFill/>
          <a:ln>
            <a:noFill/>
          </a:ln>
        </p:spPr>
        <p:txBody>
          <a:bodyPr spcFirstLastPara="1" wrap="square" lIns="91425" tIns="45700" rIns="91425" bIns="45700" anchor="t" anchorCtr="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Discuss with your partner each student’s strategy and how they are similar or different. Draw arrows to show connections between each student’s work.</a:t>
            </a:r>
          </a:p>
          <a:p>
            <a:r>
              <a:rPr lang="en-US" dirty="0"/>
              <a:t>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A88E244-BE90-4F45-AE31-56C69718121C}"/>
                  </a:ext>
                </a:extLst>
              </p:cNvPr>
              <p:cNvGraphicFramePr>
                <a:graphicFrameLocks noGrp="1"/>
              </p:cNvGraphicFramePr>
              <p:nvPr>
                <p:extLst>
                  <p:ext uri="{D42A27DB-BD31-4B8C-83A1-F6EECF244321}">
                    <p14:modId xmlns:p14="http://schemas.microsoft.com/office/powerpoint/2010/main" val="4096039471"/>
                  </p:ext>
                </p:extLst>
              </p:nvPr>
            </p:nvGraphicFramePr>
            <p:xfrm>
              <a:off x="2328023" y="520393"/>
              <a:ext cx="7535955" cy="4572000"/>
            </p:xfrm>
            <a:graphic>
              <a:graphicData uri="http://schemas.openxmlformats.org/drawingml/2006/table">
                <a:tbl>
                  <a:tblPr firstRow="1" firstCol="1" bandRow="1">
                    <a:tableStyleId>{5C22544A-7EE6-4342-B048-85BDC9FD1C3A}</a:tableStyleId>
                  </a:tblPr>
                  <a:tblGrid>
                    <a:gridCol w="3887804">
                      <a:extLst>
                        <a:ext uri="{9D8B030D-6E8A-4147-A177-3AD203B41FA5}">
                          <a16:colId xmlns:a16="http://schemas.microsoft.com/office/drawing/2014/main" val="1692254442"/>
                        </a:ext>
                      </a:extLst>
                    </a:gridCol>
                    <a:gridCol w="3648151">
                      <a:extLst>
                        <a:ext uri="{9D8B030D-6E8A-4147-A177-3AD203B41FA5}">
                          <a16:colId xmlns:a16="http://schemas.microsoft.com/office/drawing/2014/main" val="4090619279"/>
                        </a:ext>
                      </a:extLst>
                    </a:gridCol>
                  </a:tblGrid>
                  <a:tr h="261712">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Jillian’s Work</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solidFill>
                                <a:schemeClr val="tx1"/>
                              </a:solidFill>
                              <a:effectLst/>
                              <a:latin typeface="Verdana" panose="020B0604030504040204" pitchFamily="34" charset="0"/>
                              <a:ea typeface="Verdana" panose="020B0604030504040204" pitchFamily="34" charset="0"/>
                              <a:cs typeface="Verdana" panose="020B0604030504040204" pitchFamily="34" charset="0"/>
                            </a:rPr>
                            <a:t>Victor’s Work</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1366737"/>
                      </a:ext>
                    </a:extLst>
                  </a:tr>
                  <a:tr h="3663971">
                    <a:tc>
                      <a:txBody>
                        <a:bodyPr/>
                        <a:lstStyle/>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Side 1: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5</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8</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25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Side 2: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5</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8</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25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Side 3: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5</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11</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Side 4: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5</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11</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Side 5: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3</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Side 6: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3</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Total Surface Area: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44</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r>
                                <a:rPr lang="en-US" sz="2000" b="0" smtClean="0">
                                  <a:solidFill>
                                    <a:schemeClr val="tx1"/>
                                  </a:solidFill>
                                  <a:effectLst/>
                                  <a:latin typeface="Cambria Math" panose="02040503050406030204" pitchFamily="18" charset="0"/>
                                  <a:ea typeface="Cambria Math" panose="02040503050406030204" pitchFamily="18" charset="0"/>
                                </a:rPr>
                                <m:t> </m:t>
                              </m:r>
                              <m:sSup>
                                <m:sSupPr>
                                  <m:ctrlPr>
                                    <a:rPr lang="en-US" sz="2000" b="0" i="1">
                                      <a:solidFill>
                                        <a:schemeClr val="tx1"/>
                                      </a:solidFill>
                                      <a:effectLst/>
                                      <a:latin typeface="Cambria Math" panose="02040503050406030204" pitchFamily="18" charset="0"/>
                                      <a:ea typeface="Cambria Math" panose="02040503050406030204" pitchFamily="18" charset="0"/>
                                    </a:rPr>
                                  </m:ctrlPr>
                                </m:sSupPr>
                                <m:e>
                                  <m:r>
                                    <m:rPr>
                                      <m:nor/>
                                    </m:rPr>
                                    <a:rPr lang="en-US" sz="2000" b="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m:t>ft</m:t>
                                  </m:r>
                                </m:e>
                                <m:sup>
                                  <m:r>
                                    <a:rPr lang="en-US" sz="2000" b="0" i="1" smtClean="0">
                                      <a:solidFill>
                                        <a:schemeClr val="tx1"/>
                                      </a:solidFill>
                                      <a:effectLst/>
                                      <a:latin typeface="Cambria Math" panose="02040503050406030204" pitchFamily="18" charset="0"/>
                                      <a:ea typeface="Cambria Math" panose="02040503050406030204" pitchFamily="18" charset="0"/>
                                    </a:rPr>
                                    <m:t>2</m:t>
                                  </m:r>
                                </m:sup>
                              </m:sSup>
                            </m:oMath>
                          </a14:m>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2 sides: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5</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16</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2 sides: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5</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2 sides: </a:t>
                          </a:r>
                        </a:p>
                        <a:p>
                          <a:pPr marL="0" marR="0" algn="ctr">
                            <a:spcBef>
                              <a:spcPts val="0"/>
                            </a:spcBef>
                            <a:spcAft>
                              <a:spcPts val="0"/>
                            </a:spcAft>
                          </a:pP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2</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1</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 </a:t>
                          </a:r>
                          <a14:m>
                            <m:oMath xmlns:m="http://schemas.openxmlformats.org/officeDocument/2006/math">
                              <m:r>
                                <a:rPr lang="en-US" sz="2000" b="0" smtClean="0">
                                  <a:solidFill>
                                    <a:schemeClr val="tx1"/>
                                  </a:solidFill>
                                  <a:effectLst/>
                                  <a:latin typeface="Cambria Math" panose="02040503050406030204" pitchFamily="18" charset="0"/>
                                  <a:ea typeface="Cambria Math" panose="02040503050406030204" pitchFamily="18" charset="0"/>
                                </a:rPr>
                                <m:t>=</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6</m:t>
                              </m:r>
                            </m:oMath>
                          </a14:m>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ft</a:t>
                          </a:r>
                          <a:r>
                            <a:rPr lang="en-US" sz="2000" b="0" baseline="30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2</a:t>
                          </a:r>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Total Surface Area: </a:t>
                          </a:r>
                          <a14:m>
                            <m:oMath xmlns:m="http://schemas.openxmlformats.org/officeDocument/2006/math">
                              <m:r>
                                <a:rPr lang="en-US" sz="2000" b="0" i="1" smtClean="0">
                                  <a:solidFill>
                                    <a:schemeClr val="tx1"/>
                                  </a:solidFill>
                                  <a:effectLst/>
                                  <a:latin typeface="Cambria Math" panose="02040503050406030204" pitchFamily="18" charset="0"/>
                                  <a:ea typeface="Cambria Math" panose="02040503050406030204" pitchFamily="18" charset="0"/>
                                </a:rPr>
                                <m:t>44</m:t>
                              </m:r>
                              <m:r>
                                <a:rPr lang="en-US" sz="2000" b="0" smtClean="0">
                                  <a:solidFill>
                                    <a:schemeClr val="tx1"/>
                                  </a:solidFill>
                                  <a:effectLst/>
                                  <a:latin typeface="Cambria Math" panose="02040503050406030204" pitchFamily="18" charset="0"/>
                                  <a:ea typeface="Cambria Math" panose="02040503050406030204" pitchFamily="18" charset="0"/>
                                </a:rPr>
                                <m:t>.</m:t>
                              </m:r>
                              <m:r>
                                <a:rPr lang="en-US" sz="2000" b="0" i="1" smtClean="0">
                                  <a:solidFill>
                                    <a:schemeClr val="tx1"/>
                                  </a:solidFill>
                                  <a:effectLst/>
                                  <a:latin typeface="Cambria Math" panose="02040503050406030204" pitchFamily="18" charset="0"/>
                                  <a:ea typeface="Cambria Math" panose="02040503050406030204" pitchFamily="18" charset="0"/>
                                </a:rPr>
                                <m:t>5</m:t>
                              </m:r>
                              <m:r>
                                <a:rPr lang="en-US" sz="2000" b="0" smtClean="0">
                                  <a:solidFill>
                                    <a:schemeClr val="tx1"/>
                                  </a:solidFill>
                                  <a:effectLst/>
                                  <a:latin typeface="Cambria Math" panose="02040503050406030204" pitchFamily="18" charset="0"/>
                                  <a:ea typeface="Cambria Math" panose="02040503050406030204" pitchFamily="18" charset="0"/>
                                </a:rPr>
                                <m:t> </m:t>
                              </m:r>
                              <m:sSup>
                                <m:sSupPr>
                                  <m:ctrlPr>
                                    <a:rPr lang="en-US" sz="2000" b="0" i="1">
                                      <a:solidFill>
                                        <a:schemeClr val="tx1"/>
                                      </a:solidFill>
                                      <a:effectLst/>
                                      <a:latin typeface="Cambria Math" panose="02040503050406030204" pitchFamily="18" charset="0"/>
                                      <a:ea typeface="Cambria Math" panose="02040503050406030204" pitchFamily="18" charset="0"/>
                                    </a:rPr>
                                  </m:ctrlPr>
                                </m:sSupPr>
                                <m:e>
                                  <m:r>
                                    <a:rPr lang="en-US" sz="2000" b="0" i="1" smtClean="0">
                                      <a:solidFill>
                                        <a:schemeClr val="tx1"/>
                                      </a:solidFill>
                                      <a:effectLst/>
                                      <a:latin typeface="Cambria Math" panose="02040503050406030204" pitchFamily="18" charset="0"/>
                                      <a:ea typeface="Cambria Math" panose="02040503050406030204" pitchFamily="18" charset="0"/>
                                    </a:rPr>
                                    <m:t>𝑓𝑡</m:t>
                                  </m:r>
                                </m:e>
                                <m:sup>
                                  <m:r>
                                    <a:rPr lang="en-US" sz="2000" b="0" i="1" smtClean="0">
                                      <a:solidFill>
                                        <a:schemeClr val="tx1"/>
                                      </a:solidFill>
                                      <a:effectLst/>
                                      <a:latin typeface="Cambria Math" panose="02040503050406030204" pitchFamily="18" charset="0"/>
                                      <a:ea typeface="Cambria Math" panose="02040503050406030204" pitchFamily="18" charset="0"/>
                                    </a:rPr>
                                    <m:t>2</m:t>
                                  </m:r>
                                </m:sup>
                              </m:sSup>
                            </m:oMath>
                          </a14:m>
                          <a:endParaRPr lang="en-US" sz="20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0332858"/>
                      </a:ext>
                    </a:extLst>
                  </a:tr>
                </a:tbl>
              </a:graphicData>
            </a:graphic>
          </p:graphicFrame>
        </mc:Choice>
        <mc:Fallback xmlns="">
          <p:graphicFrame>
            <p:nvGraphicFramePr>
              <p:cNvPr id="2" name="Table 1">
                <a:extLst>
                  <a:ext uri="{FF2B5EF4-FFF2-40B4-BE49-F238E27FC236}">
                    <a16:creationId xmlns:a16="http://schemas.microsoft.com/office/drawing/2014/main" id="{FA88E244-BE90-4F45-AE31-56C69718121C}"/>
                  </a:ext>
                </a:extLst>
              </p:cNvPr>
              <p:cNvGraphicFramePr>
                <a:graphicFrameLocks noGrp="1"/>
              </p:cNvGraphicFramePr>
              <p:nvPr>
                <p:extLst>
                  <p:ext uri="{D42A27DB-BD31-4B8C-83A1-F6EECF244321}">
                    <p14:modId xmlns:p14="http://schemas.microsoft.com/office/powerpoint/2010/main" val="4096039471"/>
                  </p:ext>
                </p:extLst>
              </p:nvPr>
            </p:nvGraphicFramePr>
            <p:xfrm>
              <a:off x="804022" y="520393"/>
              <a:ext cx="7535955" cy="4572000"/>
            </p:xfrm>
            <a:graphic>
              <a:graphicData uri="http://schemas.openxmlformats.org/drawingml/2006/table">
                <a:tbl>
                  <a:tblPr firstRow="1" firstCol="1" bandRow="1">
                    <a:tableStyleId>{5C22544A-7EE6-4342-B048-85BDC9FD1C3A}</a:tableStyleId>
                  </a:tblPr>
                  <a:tblGrid>
                    <a:gridCol w="3887804">
                      <a:extLst>
                        <a:ext uri="{9D8B030D-6E8A-4147-A177-3AD203B41FA5}">
                          <a16:colId xmlns:a16="http://schemas.microsoft.com/office/drawing/2014/main" val="1692254442"/>
                        </a:ext>
                      </a:extLst>
                    </a:gridCol>
                    <a:gridCol w="3648151">
                      <a:extLst>
                        <a:ext uri="{9D8B030D-6E8A-4147-A177-3AD203B41FA5}">
                          <a16:colId xmlns:a16="http://schemas.microsoft.com/office/drawing/2014/main" val="4090619279"/>
                        </a:ext>
                      </a:extLst>
                    </a:gridCol>
                  </a:tblGrid>
                  <a:tr h="304800">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Jillian’s Work</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solidFill>
                                <a:schemeClr val="tx1"/>
                              </a:solidFill>
                              <a:effectLst/>
                              <a:latin typeface="Verdana" panose="020B0604030504040204" pitchFamily="34" charset="0"/>
                              <a:ea typeface="Verdana" panose="020B0604030504040204" pitchFamily="34" charset="0"/>
                              <a:cs typeface="Verdana" panose="020B0604030504040204" pitchFamily="34" charset="0"/>
                            </a:rPr>
                            <a:t>Victor’s Work</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1366737"/>
                      </a:ext>
                    </a:extLst>
                  </a:tr>
                  <a:tr h="426720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27" t="-8902" r="-94771" b="-3561"/>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6597" t="-8902" r="-694" b="-3561"/>
                          </a:stretch>
                        </a:blipFill>
                      </a:tcPr>
                    </a:tc>
                    <a:extLst>
                      <a:ext uri="{0D108BD9-81ED-4DB2-BD59-A6C34878D82A}">
                        <a16:rowId xmlns:a16="http://schemas.microsoft.com/office/drawing/2014/main" val="2070332858"/>
                      </a:ext>
                    </a:extLst>
                  </a:tr>
                </a:tbl>
              </a:graphicData>
            </a:graphic>
          </p:graphicFrame>
        </mc:Fallback>
      </mc:AlternateContent>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140355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17" name="Google Shape;317;p19"/>
          <p:cNvSpPr txBox="1"/>
          <p:nvPr/>
        </p:nvSpPr>
        <p:spPr>
          <a:xfrm>
            <a:off x="1439361" y="500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50" b="1" dirty="0">
                <a:solidFill>
                  <a:srgbClr val="54B5D1"/>
                </a:solidFill>
                <a:latin typeface="Verdana"/>
                <a:ea typeface="Verdana"/>
                <a:cs typeface="Verdana"/>
                <a:sym typeface="Verdana"/>
              </a:rPr>
              <a:t>8.5.4 Guided Instruction: Surface Area of a Rectangular Pyramid</a:t>
            </a:r>
            <a:endParaRPr sz="3250" dirty="0"/>
          </a:p>
        </p:txBody>
      </p:sp>
      <p:pic>
        <p:nvPicPr>
          <p:cNvPr id="318" name="Google Shape;318;p19"/>
          <p:cNvPicPr preferRelativeResize="0"/>
          <p:nvPr/>
        </p:nvPicPr>
        <p:blipFill rotWithShape="1">
          <a:blip r:embed="rId3">
            <a:alphaModFix/>
          </a:blip>
          <a:srcRect/>
          <a:stretch/>
        </p:blipFill>
        <p:spPr>
          <a:xfrm>
            <a:off x="692061" y="212271"/>
            <a:ext cx="747300" cy="747300"/>
          </a:xfrm>
          <a:prstGeom prst="rect">
            <a:avLst/>
          </a:prstGeom>
          <a:noFill/>
          <a:ln>
            <a:noFill/>
          </a:ln>
          <a:effectLst>
            <a:outerShdw blurRad="50800" dist="38100" dir="2700000" algn="tl" rotWithShape="0">
              <a:srgbClr val="000000">
                <a:alpha val="40000"/>
              </a:srgbClr>
            </a:outerShdw>
          </a:effectLst>
        </p:spPr>
      </p:pic>
      <p:sp>
        <p:nvSpPr>
          <p:cNvPr id="320" name="Google Shape;320;p19"/>
          <p:cNvSpPr txBox="1"/>
          <p:nvPr/>
        </p:nvSpPr>
        <p:spPr>
          <a:xfrm>
            <a:off x="1439361" y="1386026"/>
            <a:ext cx="9569310" cy="224672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Around 2500 B.C. the Egyptians began building pyramids with intricate hallways and layouts to house the tombs of pharaohs and their families. One of the most famous is the Great Pyramid of Giza, also known as the Pyramid of Khufu, seen below. The Egyptians designed the pyramid to have a square base with approximate side lengths of </a:t>
            </a:r>
            <a:r>
              <a:rPr lang="en-US" sz="2000" dirty="0">
                <a:latin typeface="Cambria Math" panose="02040503050406030204" pitchFamily="18" charset="0"/>
                <a:ea typeface="Cambria Math" panose="02040503050406030204" pitchFamily="18" charset="0"/>
                <a:cs typeface="Verdana" panose="020B0604030504040204" pitchFamily="34" charset="0"/>
              </a:rPr>
              <a:t>230</a:t>
            </a:r>
            <a:r>
              <a:rPr lang="en-US" sz="2000" dirty="0">
                <a:latin typeface="Verdana" panose="020B0604030504040204" pitchFamily="34" charset="0"/>
                <a:ea typeface="Verdana" panose="020B0604030504040204" pitchFamily="34" charset="0"/>
                <a:cs typeface="Verdana" panose="020B0604030504040204" pitchFamily="34" charset="0"/>
              </a:rPr>
              <a:t> meters, a height of </a:t>
            </a:r>
            <a:r>
              <a:rPr lang="en-US" sz="2000" dirty="0">
                <a:latin typeface="Cambria Math" panose="02040503050406030204" pitchFamily="18" charset="0"/>
                <a:ea typeface="Cambria Math" panose="02040503050406030204" pitchFamily="18" charset="0"/>
                <a:cs typeface="Verdana" panose="020B0604030504040204" pitchFamily="34" charset="0"/>
              </a:rPr>
              <a:t>146.5</a:t>
            </a:r>
            <a:r>
              <a:rPr lang="en-US" sz="2000" dirty="0">
                <a:latin typeface="Verdana" panose="020B0604030504040204" pitchFamily="34" charset="0"/>
                <a:ea typeface="Verdana" panose="020B0604030504040204" pitchFamily="34" charset="0"/>
                <a:cs typeface="Verdana" panose="020B0604030504040204" pitchFamily="34" charset="0"/>
              </a:rPr>
              <a:t> meters, and a slant height of </a:t>
            </a:r>
            <a:r>
              <a:rPr lang="en-US" sz="2000" dirty="0">
                <a:latin typeface="Cambria Math" panose="02040503050406030204" pitchFamily="18" charset="0"/>
                <a:ea typeface="Cambria Math" panose="02040503050406030204" pitchFamily="18" charset="0"/>
                <a:cs typeface="Verdana" panose="020B0604030504040204" pitchFamily="34" charset="0"/>
              </a:rPr>
              <a:t>186.4</a:t>
            </a:r>
            <a:r>
              <a:rPr lang="en-US" sz="2000" dirty="0">
                <a:latin typeface="Verdana" panose="020B0604030504040204" pitchFamily="34" charset="0"/>
                <a:ea typeface="Verdana" panose="020B0604030504040204" pitchFamily="34" charset="0"/>
                <a:cs typeface="Verdana" panose="020B0604030504040204" pitchFamily="34" charset="0"/>
              </a:rPr>
              <a:t> meters.</a:t>
            </a:r>
          </a:p>
        </p:txBody>
      </p:sp>
      <p:pic>
        <p:nvPicPr>
          <p:cNvPr id="8" name="Picture 7" descr="A group of pyramids in a desert&#10;&#10;Description automatically generated with medium confidence">
            <a:extLst>
              <a:ext uri="{FF2B5EF4-FFF2-40B4-BE49-F238E27FC236}">
                <a16:creationId xmlns:a16="http://schemas.microsoft.com/office/drawing/2014/main" id="{30D7276C-4E0F-6F48-ACA5-140F270256E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6565" r="5337" b="16273"/>
          <a:stretch/>
        </p:blipFill>
        <p:spPr bwMode="auto">
          <a:xfrm>
            <a:off x="6435426" y="4090174"/>
            <a:ext cx="3023235" cy="1910080"/>
          </a:xfrm>
          <a:prstGeom prst="rect">
            <a:avLst/>
          </a:prstGeom>
          <a:noFill/>
          <a:ln>
            <a:noFill/>
          </a:ln>
          <a:extLst>
            <a:ext uri="{53640926-AAD7-44D8-BBD7-CCE9431645EC}">
              <a14:shadowObscured xmlns:a14="http://schemas.microsoft.com/office/drawing/2010/main"/>
            </a:ext>
          </a:extLst>
        </p:spPr>
      </p:pic>
      <p:pic>
        <p:nvPicPr>
          <p:cNvPr id="3" name="Picture 2" descr="Diagram&#10;&#10;Description automatically generated">
            <a:extLst>
              <a:ext uri="{FF2B5EF4-FFF2-40B4-BE49-F238E27FC236}">
                <a16:creationId xmlns:a16="http://schemas.microsoft.com/office/drawing/2014/main" id="{F20008BA-3A5C-6140-BF16-2C2F89F1D49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35329" y="3793312"/>
            <a:ext cx="3121248" cy="2246730"/>
          </a:xfrm>
          <a:prstGeom prst="rect">
            <a:avLst/>
          </a:prstGeom>
        </p:spPr>
      </p:pic>
      <p:sp>
        <p:nvSpPr>
          <p:cNvPr id="10"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28</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428752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29" name="Google Shape;329;p20"/>
          <p:cNvSpPr txBox="1"/>
          <p:nvPr/>
        </p:nvSpPr>
        <p:spPr>
          <a:xfrm>
            <a:off x="1004552" y="520393"/>
            <a:ext cx="10333562" cy="4708941"/>
          </a:xfrm>
          <a:prstGeom prst="rect">
            <a:avLst/>
          </a:prstGeom>
          <a:noFill/>
          <a:ln>
            <a:noFill/>
          </a:ln>
        </p:spPr>
        <p:txBody>
          <a:bodyPr spcFirstLastPara="1" wrap="square" lIns="91425" tIns="45700" rIns="91425" bIns="45700" anchor="t" anchorCtr="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Looking at the model of the pyramid, why is there a measurement called height and a measurement called slant height?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The slant height of the pyramid represents the height of each triangular face.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pic>
        <p:nvPicPr>
          <p:cNvPr id="3" name="Picture 2" descr="Diagram&#10;&#10;Description automatically generated">
            <a:extLst>
              <a:ext uri="{FF2B5EF4-FFF2-40B4-BE49-F238E27FC236}">
                <a16:creationId xmlns:a16="http://schemas.microsoft.com/office/drawing/2014/main" id="{80DA0B47-89BF-DB41-8141-613C658B0E4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00295" y="174003"/>
            <a:ext cx="3222171" cy="2319376"/>
          </a:xfrm>
          <a:prstGeom prst="rect">
            <a:avLst/>
          </a:prstGeom>
        </p:spPr>
      </p:pic>
      <p:grpSp>
        <p:nvGrpSpPr>
          <p:cNvPr id="9" name="Group 8">
            <a:extLst>
              <a:ext uri="{FF2B5EF4-FFF2-40B4-BE49-F238E27FC236}">
                <a16:creationId xmlns:a16="http://schemas.microsoft.com/office/drawing/2014/main" id="{4B545A9A-D7CB-5E45-AB3F-1047A095086C}"/>
              </a:ext>
            </a:extLst>
          </p:cNvPr>
          <p:cNvGrpSpPr/>
          <p:nvPr/>
        </p:nvGrpSpPr>
        <p:grpSpPr>
          <a:xfrm>
            <a:off x="2007765" y="5649402"/>
            <a:ext cx="7271676" cy="1008375"/>
            <a:chOff x="2031300" y="3275735"/>
            <a:chExt cx="7271676" cy="1008525"/>
          </a:xfrm>
        </p:grpSpPr>
        <p:grpSp>
          <p:nvGrpSpPr>
            <p:cNvPr id="10" name="Group 9">
              <a:extLst>
                <a:ext uri="{FF2B5EF4-FFF2-40B4-BE49-F238E27FC236}">
                  <a16:creationId xmlns:a16="http://schemas.microsoft.com/office/drawing/2014/main" id="{49BC80BA-A717-B747-9CE4-DEC8B222357A}"/>
                </a:ext>
              </a:extLst>
            </p:cNvPr>
            <p:cNvGrpSpPr/>
            <p:nvPr/>
          </p:nvGrpSpPr>
          <p:grpSpPr>
            <a:xfrm>
              <a:off x="2031300" y="3275735"/>
              <a:ext cx="7271676" cy="1008525"/>
              <a:chOff x="0" y="0"/>
              <a:chExt cx="7271676" cy="1008525"/>
            </a:xfrm>
          </p:grpSpPr>
          <p:sp>
            <p:nvSpPr>
              <p:cNvPr id="11" name="Rectangle 10">
                <a:extLst>
                  <a:ext uri="{FF2B5EF4-FFF2-40B4-BE49-F238E27FC236}">
                    <a16:creationId xmlns:a16="http://schemas.microsoft.com/office/drawing/2014/main" id="{7002FB21-1C2B-A14B-B7EE-54905068B531}"/>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12" name="Group 11">
                <a:extLst>
                  <a:ext uri="{FF2B5EF4-FFF2-40B4-BE49-F238E27FC236}">
                    <a16:creationId xmlns:a16="http://schemas.microsoft.com/office/drawing/2014/main" id="{DC8DBB1C-FFAA-5243-A659-CFFB85F83FFF}"/>
                  </a:ext>
                </a:extLst>
              </p:cNvPr>
              <p:cNvGrpSpPr/>
              <p:nvPr/>
            </p:nvGrpSpPr>
            <p:grpSpPr>
              <a:xfrm>
                <a:off x="0" y="0"/>
                <a:ext cx="7271676" cy="786375"/>
                <a:chOff x="0" y="0"/>
                <a:chExt cx="7271676" cy="786375"/>
              </a:xfrm>
            </p:grpSpPr>
            <p:sp>
              <p:nvSpPr>
                <p:cNvPr id="14" name="Rectangle 13">
                  <a:extLst>
                    <a:ext uri="{FF2B5EF4-FFF2-40B4-BE49-F238E27FC236}">
                      <a16:creationId xmlns:a16="http://schemas.microsoft.com/office/drawing/2014/main" id="{D9565852-8BFB-3C44-9EE8-7C728B080D3F}"/>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5" name="Rectangle 14">
                  <a:extLst>
                    <a:ext uri="{FF2B5EF4-FFF2-40B4-BE49-F238E27FC236}">
                      <a16:creationId xmlns:a16="http://schemas.microsoft.com/office/drawing/2014/main" id="{576A307C-C219-3B4A-98A2-7FD4D8FA12C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6" name="Rounded Rectangle 15">
                  <a:extLst>
                    <a:ext uri="{FF2B5EF4-FFF2-40B4-BE49-F238E27FC236}">
                      <a16:creationId xmlns:a16="http://schemas.microsoft.com/office/drawing/2014/main" id="{EC4F72F8-C11E-0D40-BBDF-DDC5E19C7CAD}"/>
                    </a:ext>
                  </a:extLst>
                </p:cNvPr>
                <p:cNvSpPr/>
                <p:nvPr/>
              </p:nvSpPr>
              <p:spPr>
                <a:xfrm>
                  <a:off x="0" y="0"/>
                  <a:ext cx="7271676" cy="786375"/>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2000" dirty="0">
                      <a:solidFill>
                        <a:srgbClr val="00619E"/>
                      </a:solidFill>
                      <a:latin typeface="Verdana" panose="020B0604030504040204" pitchFamily="34" charset="0"/>
                      <a:ea typeface="MS Mincho" panose="02020609040205080304" pitchFamily="49" charset="-128"/>
                      <a:cs typeface="Times New Roman" panose="02020603050405020304" pitchFamily="18" charset="0"/>
                    </a:rPr>
                    <a:t>When finding the surface area of a pyramid, use the </a:t>
                  </a:r>
                  <a:r>
                    <a:rPr lang="en-US" sz="2000" b="1" dirty="0">
                      <a:solidFill>
                        <a:srgbClr val="00619E"/>
                      </a:solidFill>
                      <a:latin typeface="Verdana" panose="020B0604030504040204" pitchFamily="34" charset="0"/>
                      <a:ea typeface="MS Mincho" panose="02020609040205080304" pitchFamily="49" charset="-128"/>
                      <a:cs typeface="Times New Roman" panose="02020603050405020304" pitchFamily="18" charset="0"/>
                    </a:rPr>
                    <a:t>slant height </a:t>
                  </a:r>
                  <a:r>
                    <a:rPr lang="en-US" sz="2000" dirty="0">
                      <a:solidFill>
                        <a:srgbClr val="00619E"/>
                      </a:solidFill>
                      <a:latin typeface="Verdana" panose="020B0604030504040204" pitchFamily="34" charset="0"/>
                      <a:ea typeface="MS Mincho" panose="02020609040205080304" pitchFamily="49" charset="-128"/>
                      <a:cs typeface="Times New Roman" panose="02020603050405020304" pitchFamily="18" charset="0"/>
                    </a:rPr>
                    <a:t>to find the area of the faces.</a:t>
                  </a:r>
                  <a:endParaRPr lang="en-US" sz="2000" dirty="0">
                    <a:latin typeface="Cambria" panose="02040503050406030204" pitchFamily="18" charset="0"/>
                    <a:ea typeface="MS Mincho" panose="02020609040205080304" pitchFamily="49" charset="-128"/>
                    <a:cs typeface="Times New Roman" panose="02020603050405020304" pitchFamily="18" charset="0"/>
                  </a:endParaRPr>
                </a:p>
              </p:txBody>
            </p:sp>
          </p:grpSp>
          <p:pic>
            <p:nvPicPr>
              <p:cNvPr id="13" name="Shape 15" descr="Icon&#10;&#10;Description automatically generated">
                <a:extLst>
                  <a:ext uri="{FF2B5EF4-FFF2-40B4-BE49-F238E27FC236}">
                    <a16:creationId xmlns:a16="http://schemas.microsoft.com/office/drawing/2014/main" id="{300C7426-47AE-C247-A914-1F011AFCD695}"/>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4166" y="87825"/>
                <a:ext cx="539750" cy="539750"/>
              </a:xfrm>
              <a:prstGeom prst="rect">
                <a:avLst/>
              </a:prstGeom>
              <a:noFill/>
              <a:ln>
                <a:noFill/>
              </a:ln>
              <a:effectLst>
                <a:outerShdw blurRad="50800" dist="38100" dir="2700000" algn="tl" rotWithShape="0">
                  <a:prstClr val="black">
                    <a:alpha val="40000"/>
                  </a:prstClr>
                </a:outerShdw>
              </a:effectLst>
            </p:spPr>
          </p:pic>
        </p:grpSp>
      </p:grpSp>
      <p:sp>
        <p:nvSpPr>
          <p:cNvPr id="1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28</a:t>
            </a:r>
            <a:endParaRPr i="1" dirty="0">
              <a:latin typeface="Calibri"/>
              <a:ea typeface="Calibri"/>
              <a:cs typeface="Calibri"/>
              <a:sym typeface="Calibri"/>
            </a:endParaRPr>
          </a:p>
        </p:txBody>
      </p:sp>
      <p:pic>
        <p:nvPicPr>
          <p:cNvPr id="1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714813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29" name="Google Shape;329;p20"/>
          <p:cNvSpPr txBox="1"/>
          <p:nvPr/>
        </p:nvSpPr>
        <p:spPr>
          <a:xfrm>
            <a:off x="991673" y="520394"/>
            <a:ext cx="10359320" cy="10156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Using the information about the pyramid, complete the table to determine the surface area of the pyramid. Begin by labeling the sides of the net.</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grpSp>
        <p:nvGrpSpPr>
          <p:cNvPr id="17" name="Group 16">
            <a:extLst>
              <a:ext uri="{FF2B5EF4-FFF2-40B4-BE49-F238E27FC236}">
                <a16:creationId xmlns:a16="http://schemas.microsoft.com/office/drawing/2014/main" id="{0F1A9765-5221-ED46-8F04-33DADED8F63F}"/>
              </a:ext>
            </a:extLst>
          </p:cNvPr>
          <p:cNvGrpSpPr/>
          <p:nvPr/>
        </p:nvGrpSpPr>
        <p:grpSpPr>
          <a:xfrm>
            <a:off x="4333099" y="2000546"/>
            <a:ext cx="3676469" cy="3738402"/>
            <a:chOff x="0" y="0"/>
            <a:chExt cx="2057400" cy="2057400"/>
          </a:xfrm>
        </p:grpSpPr>
        <p:grpSp>
          <p:nvGrpSpPr>
            <p:cNvPr id="18" name="Group 17">
              <a:extLst>
                <a:ext uri="{FF2B5EF4-FFF2-40B4-BE49-F238E27FC236}">
                  <a16:creationId xmlns:a16="http://schemas.microsoft.com/office/drawing/2014/main" id="{551D5088-2E38-4944-88BA-2715553D1125}"/>
                </a:ext>
              </a:extLst>
            </p:cNvPr>
            <p:cNvGrpSpPr/>
            <p:nvPr/>
          </p:nvGrpSpPr>
          <p:grpSpPr>
            <a:xfrm>
              <a:off x="0" y="0"/>
              <a:ext cx="2057400" cy="2057400"/>
              <a:chOff x="0" y="0"/>
              <a:chExt cx="2057400" cy="2057400"/>
            </a:xfrm>
          </p:grpSpPr>
          <p:sp>
            <p:nvSpPr>
              <p:cNvPr id="23" name="Rectangle 22">
                <a:extLst>
                  <a:ext uri="{FF2B5EF4-FFF2-40B4-BE49-F238E27FC236}">
                    <a16:creationId xmlns:a16="http://schemas.microsoft.com/office/drawing/2014/main" id="{47A55411-49AB-7344-8944-C4423EC1EDD8}"/>
                  </a:ext>
                </a:extLst>
              </p:cNvPr>
              <p:cNvSpPr/>
              <p:nvPr/>
            </p:nvSpPr>
            <p:spPr>
              <a:xfrm>
                <a:off x="685800" y="685800"/>
                <a:ext cx="685800" cy="68580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Isosceles Triangle 14">
                <a:extLst>
                  <a:ext uri="{FF2B5EF4-FFF2-40B4-BE49-F238E27FC236}">
                    <a16:creationId xmlns:a16="http://schemas.microsoft.com/office/drawing/2014/main" id="{3A9590C9-7C83-AD48-B714-E4DFCC278DC8}"/>
                  </a:ext>
                </a:extLst>
              </p:cNvPr>
              <p:cNvSpPr/>
              <p:nvPr/>
            </p:nvSpPr>
            <p:spPr>
              <a:xfrm rot="5400000">
                <a:off x="1371600" y="6858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Isosceles Triangle 15">
                <a:extLst>
                  <a:ext uri="{FF2B5EF4-FFF2-40B4-BE49-F238E27FC236}">
                    <a16:creationId xmlns:a16="http://schemas.microsoft.com/office/drawing/2014/main" id="{1CDD1F86-F2DB-3747-818B-B5659A707FBC}"/>
                  </a:ext>
                </a:extLst>
              </p:cNvPr>
              <p:cNvSpPr/>
              <p:nvPr/>
            </p:nvSpPr>
            <p:spPr>
              <a:xfrm rot="16200000">
                <a:off x="0" y="6858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Isosceles Triangle 16">
                <a:extLst>
                  <a:ext uri="{FF2B5EF4-FFF2-40B4-BE49-F238E27FC236}">
                    <a16:creationId xmlns:a16="http://schemas.microsoft.com/office/drawing/2014/main" id="{A5289FF7-0C0E-3946-97A9-076DDBF05E6E}"/>
                  </a:ext>
                </a:extLst>
              </p:cNvPr>
              <p:cNvSpPr/>
              <p:nvPr/>
            </p:nvSpPr>
            <p:spPr>
              <a:xfrm>
                <a:off x="685800" y="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Isosceles Triangle 17">
                <a:extLst>
                  <a:ext uri="{FF2B5EF4-FFF2-40B4-BE49-F238E27FC236}">
                    <a16:creationId xmlns:a16="http://schemas.microsoft.com/office/drawing/2014/main" id="{E0F6B746-330A-C641-AAD9-DF5914A6B1DE}"/>
                  </a:ext>
                </a:extLst>
              </p:cNvPr>
              <p:cNvSpPr/>
              <p:nvPr/>
            </p:nvSpPr>
            <p:spPr>
              <a:xfrm rot="10800000">
                <a:off x="685800" y="13716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19" name="Straight Connector 18">
              <a:extLst>
                <a:ext uri="{FF2B5EF4-FFF2-40B4-BE49-F238E27FC236}">
                  <a16:creationId xmlns:a16="http://schemas.microsoft.com/office/drawing/2014/main" id="{356F5CC3-1719-D147-895C-22916FCC7FD1}"/>
                </a:ext>
              </a:extLst>
            </p:cNvPr>
            <p:cNvCxnSpPr/>
            <p:nvPr/>
          </p:nvCxnSpPr>
          <p:spPr>
            <a:xfrm>
              <a:off x="1032510" y="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04860975-DE2F-8A4D-A687-BBED07F7221E}"/>
                </a:ext>
              </a:extLst>
            </p:cNvPr>
            <p:cNvCxnSpPr/>
            <p:nvPr/>
          </p:nvCxnSpPr>
          <p:spPr>
            <a:xfrm>
              <a:off x="1025525" y="13716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5505AB2F-835A-554A-80C7-DFF0D86A42C7}"/>
                </a:ext>
              </a:extLst>
            </p:cNvPr>
            <p:cNvCxnSpPr/>
            <p:nvPr/>
          </p:nvCxnSpPr>
          <p:spPr>
            <a:xfrm rot="5400000">
              <a:off x="1701800" y="6858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4147465F-A2E8-C040-921C-8BEAC421DBE9}"/>
                </a:ext>
              </a:extLst>
            </p:cNvPr>
            <p:cNvCxnSpPr/>
            <p:nvPr/>
          </p:nvCxnSpPr>
          <p:spPr>
            <a:xfrm rot="5400000">
              <a:off x="354330" y="6858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grpSp>
      <p:sp>
        <p:nvSpPr>
          <p:cNvPr id="28"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28</a:t>
            </a:r>
            <a:endParaRPr i="1" dirty="0">
              <a:latin typeface="Calibri"/>
              <a:ea typeface="Calibri"/>
              <a:cs typeface="Calibri"/>
              <a:sym typeface="Calibri"/>
            </a:endParaRPr>
          </a:p>
        </p:txBody>
      </p:sp>
      <p:pic>
        <p:nvPicPr>
          <p:cNvPr id="2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195727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17" name="Group 16">
            <a:extLst>
              <a:ext uri="{FF2B5EF4-FFF2-40B4-BE49-F238E27FC236}">
                <a16:creationId xmlns:a16="http://schemas.microsoft.com/office/drawing/2014/main" id="{0F1A9765-5221-ED46-8F04-33DADED8F63F}"/>
              </a:ext>
            </a:extLst>
          </p:cNvPr>
          <p:cNvGrpSpPr/>
          <p:nvPr/>
        </p:nvGrpSpPr>
        <p:grpSpPr>
          <a:xfrm>
            <a:off x="4333099" y="2000546"/>
            <a:ext cx="3676469" cy="3738402"/>
            <a:chOff x="0" y="0"/>
            <a:chExt cx="2057400" cy="2057400"/>
          </a:xfrm>
        </p:grpSpPr>
        <p:grpSp>
          <p:nvGrpSpPr>
            <p:cNvPr id="18" name="Group 17">
              <a:extLst>
                <a:ext uri="{FF2B5EF4-FFF2-40B4-BE49-F238E27FC236}">
                  <a16:creationId xmlns:a16="http://schemas.microsoft.com/office/drawing/2014/main" id="{551D5088-2E38-4944-88BA-2715553D1125}"/>
                </a:ext>
              </a:extLst>
            </p:cNvPr>
            <p:cNvGrpSpPr/>
            <p:nvPr/>
          </p:nvGrpSpPr>
          <p:grpSpPr>
            <a:xfrm>
              <a:off x="0" y="0"/>
              <a:ext cx="2057400" cy="2057400"/>
              <a:chOff x="0" y="0"/>
              <a:chExt cx="2057400" cy="2057400"/>
            </a:xfrm>
          </p:grpSpPr>
          <p:sp>
            <p:nvSpPr>
              <p:cNvPr id="23" name="Rectangle 22">
                <a:extLst>
                  <a:ext uri="{FF2B5EF4-FFF2-40B4-BE49-F238E27FC236}">
                    <a16:creationId xmlns:a16="http://schemas.microsoft.com/office/drawing/2014/main" id="{47A55411-49AB-7344-8944-C4423EC1EDD8}"/>
                  </a:ext>
                </a:extLst>
              </p:cNvPr>
              <p:cNvSpPr/>
              <p:nvPr/>
            </p:nvSpPr>
            <p:spPr>
              <a:xfrm>
                <a:off x="685800" y="685800"/>
                <a:ext cx="685800" cy="68580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Isosceles Triangle 14">
                <a:extLst>
                  <a:ext uri="{FF2B5EF4-FFF2-40B4-BE49-F238E27FC236}">
                    <a16:creationId xmlns:a16="http://schemas.microsoft.com/office/drawing/2014/main" id="{3A9590C9-7C83-AD48-B714-E4DFCC278DC8}"/>
                  </a:ext>
                </a:extLst>
              </p:cNvPr>
              <p:cNvSpPr/>
              <p:nvPr/>
            </p:nvSpPr>
            <p:spPr>
              <a:xfrm rot="5400000">
                <a:off x="1371600" y="6858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Isosceles Triangle 15">
                <a:extLst>
                  <a:ext uri="{FF2B5EF4-FFF2-40B4-BE49-F238E27FC236}">
                    <a16:creationId xmlns:a16="http://schemas.microsoft.com/office/drawing/2014/main" id="{1CDD1F86-F2DB-3747-818B-B5659A707FBC}"/>
                  </a:ext>
                </a:extLst>
              </p:cNvPr>
              <p:cNvSpPr/>
              <p:nvPr/>
            </p:nvSpPr>
            <p:spPr>
              <a:xfrm rot="16200000">
                <a:off x="0" y="6858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Isosceles Triangle 16">
                <a:extLst>
                  <a:ext uri="{FF2B5EF4-FFF2-40B4-BE49-F238E27FC236}">
                    <a16:creationId xmlns:a16="http://schemas.microsoft.com/office/drawing/2014/main" id="{A5289FF7-0C0E-3946-97A9-076DDBF05E6E}"/>
                  </a:ext>
                </a:extLst>
              </p:cNvPr>
              <p:cNvSpPr/>
              <p:nvPr/>
            </p:nvSpPr>
            <p:spPr>
              <a:xfrm>
                <a:off x="685800" y="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Isosceles Triangle 17">
                <a:extLst>
                  <a:ext uri="{FF2B5EF4-FFF2-40B4-BE49-F238E27FC236}">
                    <a16:creationId xmlns:a16="http://schemas.microsoft.com/office/drawing/2014/main" id="{E0F6B746-330A-C641-AAD9-DF5914A6B1DE}"/>
                  </a:ext>
                </a:extLst>
              </p:cNvPr>
              <p:cNvSpPr/>
              <p:nvPr/>
            </p:nvSpPr>
            <p:spPr>
              <a:xfrm rot="10800000">
                <a:off x="685800" y="13716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19" name="Straight Connector 18">
              <a:extLst>
                <a:ext uri="{FF2B5EF4-FFF2-40B4-BE49-F238E27FC236}">
                  <a16:creationId xmlns:a16="http://schemas.microsoft.com/office/drawing/2014/main" id="{356F5CC3-1719-D147-895C-22916FCC7FD1}"/>
                </a:ext>
              </a:extLst>
            </p:cNvPr>
            <p:cNvCxnSpPr/>
            <p:nvPr/>
          </p:nvCxnSpPr>
          <p:spPr>
            <a:xfrm>
              <a:off x="1032510" y="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04860975-DE2F-8A4D-A687-BBED07F7221E}"/>
                </a:ext>
              </a:extLst>
            </p:cNvPr>
            <p:cNvCxnSpPr/>
            <p:nvPr/>
          </p:nvCxnSpPr>
          <p:spPr>
            <a:xfrm>
              <a:off x="1025525" y="13716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5505AB2F-835A-554A-80C7-DFF0D86A42C7}"/>
                </a:ext>
              </a:extLst>
            </p:cNvPr>
            <p:cNvCxnSpPr/>
            <p:nvPr/>
          </p:nvCxnSpPr>
          <p:spPr>
            <a:xfrm rot="5400000">
              <a:off x="1701800" y="6858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4147465F-A2E8-C040-921C-8BEAC421DBE9}"/>
                </a:ext>
              </a:extLst>
            </p:cNvPr>
            <p:cNvCxnSpPr/>
            <p:nvPr/>
          </p:nvCxnSpPr>
          <p:spPr>
            <a:xfrm rot="5400000">
              <a:off x="354330" y="6858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DF3CEBE-CD37-474C-8F73-7C90DC1A898E}"/>
                  </a:ext>
                </a:extLst>
              </p:cNvPr>
              <p:cNvGraphicFramePr>
                <a:graphicFrameLocks noGrp="1"/>
              </p:cNvGraphicFramePr>
              <p:nvPr>
                <p:extLst>
                  <p:ext uri="{D42A27DB-BD31-4B8C-83A1-F6EECF244321}">
                    <p14:modId xmlns:p14="http://schemas.microsoft.com/office/powerpoint/2010/main" val="522373514"/>
                  </p:ext>
                </p:extLst>
              </p:nvPr>
            </p:nvGraphicFramePr>
            <p:xfrm>
              <a:off x="1857100" y="128812"/>
              <a:ext cx="6276817" cy="6592027"/>
            </p:xfrm>
            <a:graphic>
              <a:graphicData uri="http://schemas.openxmlformats.org/drawingml/2006/table">
                <a:tbl>
                  <a:tblPr firstRow="1" firstCol="1" bandRow="1">
                    <a:tableStyleId>{5C22544A-7EE6-4342-B048-85BDC9FD1C3A}</a:tableStyleId>
                  </a:tblPr>
                  <a:tblGrid>
                    <a:gridCol w="1576822">
                      <a:extLst>
                        <a:ext uri="{9D8B030D-6E8A-4147-A177-3AD203B41FA5}">
                          <a16:colId xmlns:a16="http://schemas.microsoft.com/office/drawing/2014/main" val="3019933284"/>
                        </a:ext>
                      </a:extLst>
                    </a:gridCol>
                    <a:gridCol w="1469591">
                      <a:extLst>
                        <a:ext uri="{9D8B030D-6E8A-4147-A177-3AD203B41FA5}">
                          <a16:colId xmlns:a16="http://schemas.microsoft.com/office/drawing/2014/main" val="885880536"/>
                        </a:ext>
                      </a:extLst>
                    </a:gridCol>
                    <a:gridCol w="1668232">
                      <a:extLst>
                        <a:ext uri="{9D8B030D-6E8A-4147-A177-3AD203B41FA5}">
                          <a16:colId xmlns:a16="http://schemas.microsoft.com/office/drawing/2014/main" val="2713241228"/>
                        </a:ext>
                      </a:extLst>
                    </a:gridCol>
                    <a:gridCol w="1562172">
                      <a:extLst>
                        <a:ext uri="{9D8B030D-6E8A-4147-A177-3AD203B41FA5}">
                          <a16:colId xmlns:a16="http://schemas.microsoft.com/office/drawing/2014/main" val="54974671"/>
                        </a:ext>
                      </a:extLst>
                    </a:gridCol>
                  </a:tblGrid>
                  <a:tr h="247768">
                    <a:tc>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Side</a:t>
                          </a:r>
                        </a:p>
                      </a:txBody>
                      <a:tcPr marL="44131" marR="441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Formula</a:t>
                          </a:r>
                        </a:p>
                      </a:txBody>
                      <a:tcPr marL="44131" marR="441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Area</a:t>
                          </a:r>
                        </a:p>
                      </a:txBody>
                      <a:tcPr marL="44131" marR="441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1318479458"/>
                      </a:ext>
                    </a:extLst>
                  </a:tr>
                  <a:tr h="767299">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Rectangular base</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ea typeface="Cambria Math" panose="02040503050406030204" pitchFamily="18" charset="0"/>
                                  </a:rPr>
                                  <m:t>𝐴</m:t>
                                </m:r>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𝑙</m:t>
                                </m:r>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𝑤</m:t>
                                </m:r>
                              </m:oMath>
                            </m:oMathPara>
                          </a14:m>
                          <a:endParaRPr lang="en-US" sz="18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=___________∙___________</m:t>
                                </m:r>
                              </m:oMath>
                            </m:oMathPara>
                          </a14:m>
                          <a:endPar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 _______________</m:t>
                                </m:r>
                              </m:oMath>
                            </m:oMathPara>
                          </a14:m>
                          <a:endPar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418117467"/>
                      </a:ext>
                    </a:extLst>
                  </a:tr>
                  <a:tr h="1067382">
                    <a:tc>
                      <a:txBody>
                        <a:bodyPr/>
                        <a:lstStyle/>
                        <a:p>
                          <a:pPr marL="0" marR="0" algn="ctr">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Triangular Face 1</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ea typeface="Cambria Math" panose="02040503050406030204" pitchFamily="18" charset="0"/>
                                  </a:rPr>
                                  <m:t>𝐴</m:t>
                                </m:r>
                                <m:r>
                                  <a:rPr lang="en-US" sz="1800" b="0" smtClean="0">
                                    <a:solidFill>
                                      <a:schemeClr val="tx1"/>
                                    </a:solidFill>
                                    <a:effectLst/>
                                    <a:latin typeface="Cambria Math" panose="02040503050406030204" pitchFamily="18" charset="0"/>
                                    <a:ea typeface="Cambria Math" panose="02040503050406030204" pitchFamily="18" charset="0"/>
                                  </a:rPr>
                                  <m:t>=</m:t>
                                </m:r>
                                <m:f>
                                  <m:fPr>
                                    <m:ctrlPr>
                                      <a:rPr lang="en-US" sz="1800" b="0" i="1">
                                        <a:solidFill>
                                          <a:schemeClr val="tx1"/>
                                        </a:solidFill>
                                        <a:effectLst/>
                                        <a:latin typeface="Cambria Math" panose="02040503050406030204" pitchFamily="18" charset="0"/>
                                        <a:ea typeface="Cambria Math" panose="02040503050406030204" pitchFamily="18" charset="0"/>
                                      </a:rPr>
                                    </m:ctrlPr>
                                  </m:fPr>
                                  <m:num>
                                    <m:r>
                                      <a:rPr lang="en-US" sz="1800" b="0" i="1" smtClean="0">
                                        <a:solidFill>
                                          <a:schemeClr val="tx1"/>
                                        </a:solidFill>
                                        <a:effectLst/>
                                        <a:latin typeface="Cambria Math" panose="02040503050406030204" pitchFamily="18" charset="0"/>
                                        <a:ea typeface="Cambria Math" panose="02040503050406030204" pitchFamily="18" charset="0"/>
                                      </a:rPr>
                                      <m:t>1</m:t>
                                    </m:r>
                                  </m:num>
                                  <m:den>
                                    <m:r>
                                      <a:rPr lang="en-US" sz="1800" b="0" i="1" smtClean="0">
                                        <a:solidFill>
                                          <a:schemeClr val="tx1"/>
                                        </a:solidFill>
                                        <a:effectLst/>
                                        <a:latin typeface="Cambria Math" panose="02040503050406030204" pitchFamily="18" charset="0"/>
                                        <a:ea typeface="Cambria Math" panose="02040503050406030204" pitchFamily="18" charset="0"/>
                                      </a:rPr>
                                      <m:t>2</m:t>
                                    </m:r>
                                  </m:den>
                                </m:f>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𝑏</m:t>
                                </m:r>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h</m:t>
                                </m:r>
                              </m:oMath>
                            </m:oMathPara>
                          </a14:m>
                          <a:endParaRPr lang="en-US" sz="18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m:t>
                                </m:r>
                                <m:f>
                                  <m:fPr>
                                    <m:ctrlPr>
                                      <a:rPr lang="en-US" sz="1800" b="0" i="1">
                                        <a:solidFill>
                                          <a:schemeClr val="tx1"/>
                                        </a:solidFill>
                                        <a:effectLst/>
                                        <a:latin typeface="Cambria Math" panose="02040503050406030204" pitchFamily="18" charset="0"/>
                                      </a:rPr>
                                    </m:ctrlPr>
                                  </m:fPr>
                                  <m:num>
                                    <m:r>
                                      <a:rPr lang="en-US" sz="1800" b="0" i="1" smtClean="0">
                                        <a:solidFill>
                                          <a:schemeClr val="tx1"/>
                                        </a:solidFill>
                                        <a:effectLst/>
                                        <a:latin typeface="Cambria Math" panose="02040503050406030204" pitchFamily="18" charset="0"/>
                                      </a:rPr>
                                      <m:t>1</m:t>
                                    </m:r>
                                  </m:num>
                                  <m:den>
                                    <m:r>
                                      <a:rPr lang="en-US" sz="1800" b="0" i="1" smtClean="0">
                                        <a:solidFill>
                                          <a:schemeClr val="tx1"/>
                                        </a:solidFill>
                                        <a:effectLst/>
                                        <a:latin typeface="Cambria Math" panose="02040503050406030204" pitchFamily="18" charset="0"/>
                                      </a:rPr>
                                      <m:t>2</m:t>
                                    </m:r>
                                  </m:den>
                                </m:f>
                                <m:r>
                                  <a:rPr lang="en-US" sz="1800" b="0" smtClean="0">
                                    <a:solidFill>
                                      <a:schemeClr val="tx1"/>
                                    </a:solidFill>
                                    <a:effectLst/>
                                    <a:latin typeface="Cambria Math" panose="02040503050406030204" pitchFamily="18" charset="0"/>
                                  </a:rPr>
                                  <m:t>∙___________∙___________</m:t>
                                </m:r>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 ______________</m:t>
                                </m:r>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3640955522"/>
                      </a:ext>
                    </a:extLst>
                  </a:tr>
                  <a:tr h="1067382">
                    <a:tc>
                      <a:txBody>
                        <a:bodyPr/>
                        <a:lstStyle/>
                        <a:p>
                          <a:pPr marL="0" marR="0" algn="ctr">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Triangular Face 2</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ea typeface="Cambria Math" panose="02040503050406030204" pitchFamily="18" charset="0"/>
                                  </a:rPr>
                                  <m:t>𝐴</m:t>
                                </m:r>
                                <m:r>
                                  <a:rPr lang="en-US" sz="1800" b="0" smtClean="0">
                                    <a:solidFill>
                                      <a:schemeClr val="tx1"/>
                                    </a:solidFill>
                                    <a:effectLst/>
                                    <a:latin typeface="Cambria Math" panose="02040503050406030204" pitchFamily="18" charset="0"/>
                                    <a:ea typeface="Cambria Math" panose="02040503050406030204" pitchFamily="18" charset="0"/>
                                  </a:rPr>
                                  <m:t>=</m:t>
                                </m:r>
                                <m:f>
                                  <m:fPr>
                                    <m:ctrlPr>
                                      <a:rPr lang="en-US" sz="1800" b="0" i="1">
                                        <a:solidFill>
                                          <a:schemeClr val="tx1"/>
                                        </a:solidFill>
                                        <a:effectLst/>
                                        <a:latin typeface="Cambria Math" panose="02040503050406030204" pitchFamily="18" charset="0"/>
                                        <a:ea typeface="Cambria Math" panose="02040503050406030204" pitchFamily="18" charset="0"/>
                                      </a:rPr>
                                    </m:ctrlPr>
                                  </m:fPr>
                                  <m:num>
                                    <m:r>
                                      <a:rPr lang="en-US" sz="1800" b="0" i="1" smtClean="0">
                                        <a:solidFill>
                                          <a:schemeClr val="tx1"/>
                                        </a:solidFill>
                                        <a:effectLst/>
                                        <a:latin typeface="Cambria Math" panose="02040503050406030204" pitchFamily="18" charset="0"/>
                                        <a:ea typeface="Cambria Math" panose="02040503050406030204" pitchFamily="18" charset="0"/>
                                      </a:rPr>
                                      <m:t>1</m:t>
                                    </m:r>
                                  </m:num>
                                  <m:den>
                                    <m:r>
                                      <a:rPr lang="en-US" sz="1800" b="0" i="1" smtClean="0">
                                        <a:solidFill>
                                          <a:schemeClr val="tx1"/>
                                        </a:solidFill>
                                        <a:effectLst/>
                                        <a:latin typeface="Cambria Math" panose="02040503050406030204" pitchFamily="18" charset="0"/>
                                        <a:ea typeface="Cambria Math" panose="02040503050406030204" pitchFamily="18" charset="0"/>
                                      </a:rPr>
                                      <m:t>2</m:t>
                                    </m:r>
                                  </m:den>
                                </m:f>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𝑏</m:t>
                                </m:r>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h</m:t>
                                </m:r>
                              </m:oMath>
                            </m:oMathPara>
                          </a14:m>
                          <a:endParaRPr lang="en-US" sz="18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m:t>
                                </m:r>
                                <m:f>
                                  <m:fPr>
                                    <m:ctrlPr>
                                      <a:rPr lang="en-US" sz="1800" b="0" i="1">
                                        <a:solidFill>
                                          <a:schemeClr val="tx1"/>
                                        </a:solidFill>
                                        <a:effectLst/>
                                        <a:latin typeface="Cambria Math" panose="02040503050406030204" pitchFamily="18" charset="0"/>
                                      </a:rPr>
                                    </m:ctrlPr>
                                  </m:fPr>
                                  <m:num>
                                    <m:r>
                                      <a:rPr lang="en-US" sz="1800" b="0" i="1" smtClean="0">
                                        <a:solidFill>
                                          <a:schemeClr val="tx1"/>
                                        </a:solidFill>
                                        <a:effectLst/>
                                        <a:latin typeface="Cambria Math" panose="02040503050406030204" pitchFamily="18" charset="0"/>
                                      </a:rPr>
                                      <m:t>1</m:t>
                                    </m:r>
                                  </m:num>
                                  <m:den>
                                    <m:r>
                                      <a:rPr lang="en-US" sz="1800" b="0" i="1" smtClean="0">
                                        <a:solidFill>
                                          <a:schemeClr val="tx1"/>
                                        </a:solidFill>
                                        <a:effectLst/>
                                        <a:latin typeface="Cambria Math" panose="02040503050406030204" pitchFamily="18" charset="0"/>
                                      </a:rPr>
                                      <m:t>2</m:t>
                                    </m:r>
                                  </m:den>
                                </m:f>
                                <m:r>
                                  <a:rPr lang="en-US" sz="1800" b="0" smtClean="0">
                                    <a:solidFill>
                                      <a:schemeClr val="tx1"/>
                                    </a:solidFill>
                                    <a:effectLst/>
                                    <a:latin typeface="Cambria Math" panose="02040503050406030204" pitchFamily="18" charset="0"/>
                                  </a:rPr>
                                  <m:t>∙___________∙___________</m:t>
                                </m:r>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 ______________</m:t>
                                </m:r>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2314164518"/>
                      </a:ext>
                    </a:extLst>
                  </a:tr>
                  <a:tr h="1067382">
                    <a:tc>
                      <a:txBody>
                        <a:bodyPr/>
                        <a:lstStyle/>
                        <a:p>
                          <a:pPr marL="0" marR="0" algn="ctr">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Triangular Face 3</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ea typeface="Cambria Math" panose="02040503050406030204" pitchFamily="18" charset="0"/>
                                  </a:rPr>
                                  <m:t>𝐴</m:t>
                                </m:r>
                                <m:r>
                                  <a:rPr lang="en-US" sz="1800" b="0" smtClean="0">
                                    <a:solidFill>
                                      <a:schemeClr val="tx1"/>
                                    </a:solidFill>
                                    <a:effectLst/>
                                    <a:latin typeface="Cambria Math" panose="02040503050406030204" pitchFamily="18" charset="0"/>
                                    <a:ea typeface="Cambria Math" panose="02040503050406030204" pitchFamily="18" charset="0"/>
                                  </a:rPr>
                                  <m:t>=</m:t>
                                </m:r>
                                <m:f>
                                  <m:fPr>
                                    <m:ctrlPr>
                                      <a:rPr lang="en-US" sz="1800" b="0" i="1">
                                        <a:solidFill>
                                          <a:schemeClr val="tx1"/>
                                        </a:solidFill>
                                        <a:effectLst/>
                                        <a:latin typeface="Cambria Math" panose="02040503050406030204" pitchFamily="18" charset="0"/>
                                        <a:ea typeface="Cambria Math" panose="02040503050406030204" pitchFamily="18" charset="0"/>
                                      </a:rPr>
                                    </m:ctrlPr>
                                  </m:fPr>
                                  <m:num>
                                    <m:r>
                                      <a:rPr lang="en-US" sz="1800" b="0" i="1" smtClean="0">
                                        <a:solidFill>
                                          <a:schemeClr val="tx1"/>
                                        </a:solidFill>
                                        <a:effectLst/>
                                        <a:latin typeface="Cambria Math" panose="02040503050406030204" pitchFamily="18" charset="0"/>
                                        <a:ea typeface="Cambria Math" panose="02040503050406030204" pitchFamily="18" charset="0"/>
                                      </a:rPr>
                                      <m:t>1</m:t>
                                    </m:r>
                                  </m:num>
                                  <m:den>
                                    <m:r>
                                      <a:rPr lang="en-US" sz="1800" b="0" i="1" smtClean="0">
                                        <a:solidFill>
                                          <a:schemeClr val="tx1"/>
                                        </a:solidFill>
                                        <a:effectLst/>
                                        <a:latin typeface="Cambria Math" panose="02040503050406030204" pitchFamily="18" charset="0"/>
                                        <a:ea typeface="Cambria Math" panose="02040503050406030204" pitchFamily="18" charset="0"/>
                                      </a:rPr>
                                      <m:t>2</m:t>
                                    </m:r>
                                  </m:den>
                                </m:f>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𝑏</m:t>
                                </m:r>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h</m:t>
                                </m:r>
                              </m:oMath>
                            </m:oMathPara>
                          </a14:m>
                          <a:endParaRPr lang="en-US" sz="18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m:t>
                                </m:r>
                                <m:f>
                                  <m:fPr>
                                    <m:ctrlPr>
                                      <a:rPr lang="en-US" sz="1800" b="0" i="1">
                                        <a:solidFill>
                                          <a:schemeClr val="tx1"/>
                                        </a:solidFill>
                                        <a:effectLst/>
                                        <a:latin typeface="Cambria Math" panose="02040503050406030204" pitchFamily="18" charset="0"/>
                                      </a:rPr>
                                    </m:ctrlPr>
                                  </m:fPr>
                                  <m:num>
                                    <m:r>
                                      <a:rPr lang="en-US" sz="1800" b="0" i="1" smtClean="0">
                                        <a:solidFill>
                                          <a:schemeClr val="tx1"/>
                                        </a:solidFill>
                                        <a:effectLst/>
                                        <a:latin typeface="Cambria Math" panose="02040503050406030204" pitchFamily="18" charset="0"/>
                                      </a:rPr>
                                      <m:t>1</m:t>
                                    </m:r>
                                  </m:num>
                                  <m:den>
                                    <m:r>
                                      <a:rPr lang="en-US" sz="1800" b="0" i="1" smtClean="0">
                                        <a:solidFill>
                                          <a:schemeClr val="tx1"/>
                                        </a:solidFill>
                                        <a:effectLst/>
                                        <a:latin typeface="Cambria Math" panose="02040503050406030204" pitchFamily="18" charset="0"/>
                                      </a:rPr>
                                      <m:t>2</m:t>
                                    </m:r>
                                  </m:den>
                                </m:f>
                                <m:r>
                                  <a:rPr lang="en-US" sz="1800" b="0" smtClean="0">
                                    <a:solidFill>
                                      <a:schemeClr val="tx1"/>
                                    </a:solidFill>
                                    <a:effectLst/>
                                    <a:latin typeface="Cambria Math" panose="02040503050406030204" pitchFamily="18" charset="0"/>
                                  </a:rPr>
                                  <m:t>∙___________∙___________</m:t>
                                </m:r>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 ______________</m:t>
                                </m:r>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2262150496"/>
                      </a:ext>
                    </a:extLst>
                  </a:tr>
                  <a:tr h="1067382">
                    <a:tc>
                      <a:txBody>
                        <a:bodyPr/>
                        <a:lstStyle/>
                        <a:p>
                          <a:pPr marL="0" marR="0" algn="ctr">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Triangular Face 4</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ea typeface="Cambria Math" panose="02040503050406030204" pitchFamily="18" charset="0"/>
                                  </a:rPr>
                                  <m:t>𝐴</m:t>
                                </m:r>
                                <m:r>
                                  <a:rPr lang="en-US" sz="1800" b="0" smtClean="0">
                                    <a:solidFill>
                                      <a:schemeClr val="tx1"/>
                                    </a:solidFill>
                                    <a:effectLst/>
                                    <a:latin typeface="Cambria Math" panose="02040503050406030204" pitchFamily="18" charset="0"/>
                                    <a:ea typeface="Cambria Math" panose="02040503050406030204" pitchFamily="18" charset="0"/>
                                  </a:rPr>
                                  <m:t>=</m:t>
                                </m:r>
                                <m:f>
                                  <m:fPr>
                                    <m:ctrlPr>
                                      <a:rPr lang="en-US" sz="1800" b="0" i="1">
                                        <a:solidFill>
                                          <a:schemeClr val="tx1"/>
                                        </a:solidFill>
                                        <a:effectLst/>
                                        <a:latin typeface="Cambria Math" panose="02040503050406030204" pitchFamily="18" charset="0"/>
                                        <a:ea typeface="Cambria Math" panose="02040503050406030204" pitchFamily="18" charset="0"/>
                                      </a:rPr>
                                    </m:ctrlPr>
                                  </m:fPr>
                                  <m:num>
                                    <m:r>
                                      <a:rPr lang="en-US" sz="1800" b="0" i="1" smtClean="0">
                                        <a:solidFill>
                                          <a:schemeClr val="tx1"/>
                                        </a:solidFill>
                                        <a:effectLst/>
                                        <a:latin typeface="Cambria Math" panose="02040503050406030204" pitchFamily="18" charset="0"/>
                                        <a:ea typeface="Cambria Math" panose="02040503050406030204" pitchFamily="18" charset="0"/>
                                      </a:rPr>
                                      <m:t>1</m:t>
                                    </m:r>
                                  </m:num>
                                  <m:den>
                                    <m:r>
                                      <a:rPr lang="en-US" sz="1800" b="0" i="1" smtClean="0">
                                        <a:solidFill>
                                          <a:schemeClr val="tx1"/>
                                        </a:solidFill>
                                        <a:effectLst/>
                                        <a:latin typeface="Cambria Math" panose="02040503050406030204" pitchFamily="18" charset="0"/>
                                        <a:ea typeface="Cambria Math" panose="02040503050406030204" pitchFamily="18" charset="0"/>
                                      </a:rPr>
                                      <m:t>2</m:t>
                                    </m:r>
                                  </m:den>
                                </m:f>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𝑏</m:t>
                                </m:r>
                                <m:r>
                                  <a:rPr lang="en-US" sz="1800" b="0" smtClean="0">
                                    <a:solidFill>
                                      <a:schemeClr val="tx1"/>
                                    </a:solidFill>
                                    <a:effectLst/>
                                    <a:latin typeface="Cambria Math" panose="02040503050406030204" pitchFamily="18" charset="0"/>
                                    <a:ea typeface="Cambria Math" panose="02040503050406030204" pitchFamily="18" charset="0"/>
                                  </a:rPr>
                                  <m:t>∙</m:t>
                                </m:r>
                                <m:r>
                                  <a:rPr lang="en-US" sz="1800" b="0" i="1" smtClean="0">
                                    <a:solidFill>
                                      <a:schemeClr val="tx1"/>
                                    </a:solidFill>
                                    <a:effectLst/>
                                    <a:latin typeface="Cambria Math" panose="02040503050406030204" pitchFamily="18" charset="0"/>
                                    <a:ea typeface="Cambria Math" panose="02040503050406030204" pitchFamily="18" charset="0"/>
                                  </a:rPr>
                                  <m:t>h</m:t>
                                </m:r>
                              </m:oMath>
                            </m:oMathPara>
                          </a14:m>
                          <a:endParaRPr lang="en-US" sz="1800" b="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m:t>
                                </m:r>
                                <m:f>
                                  <m:fPr>
                                    <m:ctrlPr>
                                      <a:rPr lang="en-US" sz="1800" b="0" i="1">
                                        <a:solidFill>
                                          <a:schemeClr val="tx1"/>
                                        </a:solidFill>
                                        <a:effectLst/>
                                        <a:latin typeface="Cambria Math" panose="02040503050406030204" pitchFamily="18" charset="0"/>
                                      </a:rPr>
                                    </m:ctrlPr>
                                  </m:fPr>
                                  <m:num>
                                    <m:r>
                                      <a:rPr lang="en-US" sz="1800" b="0" i="1" smtClean="0">
                                        <a:solidFill>
                                          <a:schemeClr val="tx1"/>
                                        </a:solidFill>
                                        <a:effectLst/>
                                        <a:latin typeface="Cambria Math" panose="02040503050406030204" pitchFamily="18" charset="0"/>
                                      </a:rPr>
                                      <m:t>1</m:t>
                                    </m:r>
                                  </m:num>
                                  <m:den>
                                    <m:r>
                                      <a:rPr lang="en-US" sz="1800" b="0" i="1" smtClean="0">
                                        <a:solidFill>
                                          <a:schemeClr val="tx1"/>
                                        </a:solidFill>
                                        <a:effectLst/>
                                        <a:latin typeface="Cambria Math" panose="02040503050406030204" pitchFamily="18" charset="0"/>
                                      </a:rPr>
                                      <m:t>2</m:t>
                                    </m:r>
                                  </m:den>
                                </m:f>
                                <m:r>
                                  <a:rPr lang="en-US" sz="1800" b="0" smtClean="0">
                                    <a:solidFill>
                                      <a:schemeClr val="tx1"/>
                                    </a:solidFill>
                                    <a:effectLst/>
                                    <a:latin typeface="Cambria Math" panose="02040503050406030204" pitchFamily="18" charset="0"/>
                                  </a:rPr>
                                  <m:t>∙___________∙___________</m:t>
                                </m:r>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0" i="1" smtClean="0">
                                    <a:solidFill>
                                      <a:schemeClr val="tx1"/>
                                    </a:solidFill>
                                    <a:effectLst/>
                                    <a:latin typeface="Cambria Math" panose="02040503050406030204" pitchFamily="18" charset="0"/>
                                  </a:rPr>
                                  <m:t>𝐴</m:t>
                                </m:r>
                                <m:r>
                                  <a:rPr lang="en-US" sz="1800" b="0" smtClean="0">
                                    <a:solidFill>
                                      <a:schemeClr val="tx1"/>
                                    </a:solidFill>
                                    <a:effectLst/>
                                    <a:latin typeface="Cambria Math" panose="02040503050406030204" pitchFamily="18" charset="0"/>
                                  </a:rPr>
                                  <m:t>= ______________</m:t>
                                </m:r>
                              </m:oMath>
                            </m:oMathPara>
                          </a14:m>
                          <a:endPar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3068016160"/>
                      </a:ext>
                    </a:extLst>
                  </a:tr>
                  <a:tr h="767299">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Surface Area:</a:t>
                          </a:r>
                        </a:p>
                      </a:txBody>
                      <a:tcPr marL="44131" marR="44131"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934066"/>
                      </a:ext>
                    </a:extLst>
                  </a:tr>
                </a:tbl>
              </a:graphicData>
            </a:graphic>
          </p:graphicFrame>
        </mc:Choice>
        <mc:Fallback xmlns="">
          <p:graphicFrame>
            <p:nvGraphicFramePr>
              <p:cNvPr id="2" name="Table 1">
                <a:extLst>
                  <a:ext uri="{FF2B5EF4-FFF2-40B4-BE49-F238E27FC236}">
                    <a16:creationId xmlns:a16="http://schemas.microsoft.com/office/drawing/2014/main" id="{9DF3CEBE-CD37-474C-8F73-7C90DC1A898E}"/>
                  </a:ext>
                </a:extLst>
              </p:cNvPr>
              <p:cNvGraphicFramePr>
                <a:graphicFrameLocks noGrp="1"/>
              </p:cNvGraphicFramePr>
              <p:nvPr>
                <p:extLst>
                  <p:ext uri="{D42A27DB-BD31-4B8C-83A1-F6EECF244321}">
                    <p14:modId xmlns:p14="http://schemas.microsoft.com/office/powerpoint/2010/main" val="522373514"/>
                  </p:ext>
                </p:extLst>
              </p:nvPr>
            </p:nvGraphicFramePr>
            <p:xfrm>
              <a:off x="333099" y="128811"/>
              <a:ext cx="6276817" cy="6592027"/>
            </p:xfrm>
            <a:graphic>
              <a:graphicData uri="http://schemas.openxmlformats.org/drawingml/2006/table">
                <a:tbl>
                  <a:tblPr firstRow="1" firstCol="1" bandRow="1">
                    <a:tableStyleId>{5C22544A-7EE6-4342-B048-85BDC9FD1C3A}</a:tableStyleId>
                  </a:tblPr>
                  <a:tblGrid>
                    <a:gridCol w="1576822">
                      <a:extLst>
                        <a:ext uri="{9D8B030D-6E8A-4147-A177-3AD203B41FA5}">
                          <a16:colId xmlns:a16="http://schemas.microsoft.com/office/drawing/2014/main" val="3019933284"/>
                        </a:ext>
                      </a:extLst>
                    </a:gridCol>
                    <a:gridCol w="1469591">
                      <a:extLst>
                        <a:ext uri="{9D8B030D-6E8A-4147-A177-3AD203B41FA5}">
                          <a16:colId xmlns:a16="http://schemas.microsoft.com/office/drawing/2014/main" val="885880536"/>
                        </a:ext>
                      </a:extLst>
                    </a:gridCol>
                    <a:gridCol w="1668232">
                      <a:extLst>
                        <a:ext uri="{9D8B030D-6E8A-4147-A177-3AD203B41FA5}">
                          <a16:colId xmlns:a16="http://schemas.microsoft.com/office/drawing/2014/main" val="2713241228"/>
                        </a:ext>
                      </a:extLst>
                    </a:gridCol>
                    <a:gridCol w="1562172">
                      <a:extLst>
                        <a:ext uri="{9D8B030D-6E8A-4147-A177-3AD203B41FA5}">
                          <a16:colId xmlns:a16="http://schemas.microsoft.com/office/drawing/2014/main" val="54974671"/>
                        </a:ext>
                      </a:extLst>
                    </a:gridCol>
                  </a:tblGrid>
                  <a:tr h="274320">
                    <a:tc>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Side</a:t>
                          </a:r>
                        </a:p>
                      </a:txBody>
                      <a:tcPr marL="44131" marR="441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Formula</a:t>
                          </a:r>
                        </a:p>
                      </a:txBody>
                      <a:tcPr marL="44131" marR="441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Area</a:t>
                          </a:r>
                        </a:p>
                      </a:txBody>
                      <a:tcPr marL="44131" marR="441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1318479458"/>
                      </a:ext>
                    </a:extLst>
                  </a:tr>
                  <a:tr h="822960">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Rectangular base</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7759" t="-43077" r="-220690" b="-667692"/>
                          </a:stretch>
                        </a:blipFill>
                      </a:tcPr>
                    </a:tc>
                    <a:tc gridSpan="2">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510" t="-43077" r="-392" b="-667692"/>
                          </a:stretch>
                        </a:blipFill>
                      </a:tcPr>
                    </a:tc>
                    <a:tc hMerge="1">
                      <a:txBody>
                        <a:bodyPr/>
                        <a:lstStyle/>
                        <a:p>
                          <a:endParaRPr lang="en-US"/>
                        </a:p>
                      </a:txBody>
                      <a:tcPr/>
                    </a:tc>
                    <a:extLst>
                      <a:ext uri="{0D108BD9-81ED-4DB2-BD59-A6C34878D82A}">
                        <a16:rowId xmlns:a16="http://schemas.microsoft.com/office/drawing/2014/main" val="418117467"/>
                      </a:ext>
                    </a:extLst>
                  </a:tr>
                  <a:tr h="1181862">
                    <a:tc>
                      <a:txBody>
                        <a:bodyPr/>
                        <a:lstStyle/>
                        <a:p>
                          <a:pPr marL="0" marR="0" algn="ctr">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Triangular Face 1</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7759" t="-100000" r="-220690" b="-366667"/>
                          </a:stretch>
                        </a:blipFill>
                      </a:tcPr>
                    </a:tc>
                    <a:tc gridSpan="2">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510" t="-100000" r="-392" b="-366667"/>
                          </a:stretch>
                        </a:blipFill>
                      </a:tcPr>
                    </a:tc>
                    <a:tc hMerge="1">
                      <a:txBody>
                        <a:bodyPr/>
                        <a:lstStyle/>
                        <a:p>
                          <a:endParaRPr lang="en-US"/>
                        </a:p>
                      </a:txBody>
                      <a:tcPr/>
                    </a:tc>
                    <a:extLst>
                      <a:ext uri="{0D108BD9-81ED-4DB2-BD59-A6C34878D82A}">
                        <a16:rowId xmlns:a16="http://schemas.microsoft.com/office/drawing/2014/main" val="3640955522"/>
                      </a:ext>
                    </a:extLst>
                  </a:tr>
                  <a:tr h="1181862">
                    <a:tc>
                      <a:txBody>
                        <a:bodyPr/>
                        <a:lstStyle/>
                        <a:p>
                          <a:pPr marL="0" marR="0" algn="ctr">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Triangular Face 2</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7759" t="-200000" r="-220690" b="-266667"/>
                          </a:stretch>
                        </a:blipFill>
                      </a:tcPr>
                    </a:tc>
                    <a:tc gridSpan="2">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510" t="-200000" r="-392" b="-266667"/>
                          </a:stretch>
                        </a:blipFill>
                      </a:tcPr>
                    </a:tc>
                    <a:tc hMerge="1">
                      <a:txBody>
                        <a:bodyPr/>
                        <a:lstStyle/>
                        <a:p>
                          <a:endParaRPr lang="en-US"/>
                        </a:p>
                      </a:txBody>
                      <a:tcPr/>
                    </a:tc>
                    <a:extLst>
                      <a:ext uri="{0D108BD9-81ED-4DB2-BD59-A6C34878D82A}">
                        <a16:rowId xmlns:a16="http://schemas.microsoft.com/office/drawing/2014/main" val="2314164518"/>
                      </a:ext>
                    </a:extLst>
                  </a:tr>
                  <a:tr h="1181862">
                    <a:tc>
                      <a:txBody>
                        <a:bodyPr/>
                        <a:lstStyle/>
                        <a:p>
                          <a:pPr marL="0" marR="0" algn="ctr">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Triangular Face 3</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7759" t="-300000" r="-220690" b="-166667"/>
                          </a:stretch>
                        </a:blipFill>
                      </a:tcPr>
                    </a:tc>
                    <a:tc gridSpan="2">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510" t="-300000" r="-392" b="-166667"/>
                          </a:stretch>
                        </a:blipFill>
                      </a:tcPr>
                    </a:tc>
                    <a:tc hMerge="1">
                      <a:txBody>
                        <a:bodyPr/>
                        <a:lstStyle/>
                        <a:p>
                          <a:endParaRPr lang="en-US"/>
                        </a:p>
                      </a:txBody>
                      <a:tcPr/>
                    </a:tc>
                    <a:extLst>
                      <a:ext uri="{0D108BD9-81ED-4DB2-BD59-A6C34878D82A}">
                        <a16:rowId xmlns:a16="http://schemas.microsoft.com/office/drawing/2014/main" val="2262150496"/>
                      </a:ext>
                    </a:extLst>
                  </a:tr>
                  <a:tr h="1181862">
                    <a:tc>
                      <a:txBody>
                        <a:bodyPr/>
                        <a:lstStyle/>
                        <a:p>
                          <a:pPr marL="0" marR="0" algn="ctr">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Triangular Face 4</a:t>
                          </a:r>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7759" t="-400000" r="-220690" b="-66667"/>
                          </a:stretch>
                        </a:blipFill>
                      </a:tcPr>
                    </a:tc>
                    <a:tc gridSpan="2">
                      <a:txBody>
                        <a:bodyPr/>
                        <a:lstStyle/>
                        <a:p>
                          <a:endParaRPr lang="en-US"/>
                        </a:p>
                      </a:txBody>
                      <a:tcPr marL="44131" marR="441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510" t="-400000" r="-392" b="-66667"/>
                          </a:stretch>
                        </a:blipFill>
                      </a:tcPr>
                    </a:tc>
                    <a:tc hMerge="1">
                      <a:txBody>
                        <a:bodyPr/>
                        <a:lstStyle/>
                        <a:p>
                          <a:endParaRPr lang="en-US"/>
                        </a:p>
                      </a:txBody>
                      <a:tcPr/>
                    </a:tc>
                    <a:extLst>
                      <a:ext uri="{0D108BD9-81ED-4DB2-BD59-A6C34878D82A}">
                        <a16:rowId xmlns:a16="http://schemas.microsoft.com/office/drawing/2014/main" val="3068016160"/>
                      </a:ext>
                    </a:extLst>
                  </a:tr>
                  <a:tr h="767299">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Surface Area:</a:t>
                          </a:r>
                        </a:p>
                      </a:txBody>
                      <a:tcPr marL="44131" marR="44131"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934066"/>
                      </a:ext>
                    </a:extLst>
                  </a:tr>
                </a:tbl>
              </a:graphicData>
            </a:graphic>
          </p:graphicFrame>
        </mc:Fallback>
      </mc:AlternateContent>
      <p:grpSp>
        <p:nvGrpSpPr>
          <p:cNvPr id="28" name="Group 27">
            <a:extLst>
              <a:ext uri="{FF2B5EF4-FFF2-40B4-BE49-F238E27FC236}">
                <a16:creationId xmlns:a16="http://schemas.microsoft.com/office/drawing/2014/main" id="{1E0DAAC4-B73A-054F-85D2-0574B4ED2AF3}"/>
              </a:ext>
            </a:extLst>
          </p:cNvPr>
          <p:cNvGrpSpPr/>
          <p:nvPr/>
        </p:nvGrpSpPr>
        <p:grpSpPr>
          <a:xfrm>
            <a:off x="8300616" y="391886"/>
            <a:ext cx="2266021" cy="2479947"/>
            <a:chOff x="0" y="0"/>
            <a:chExt cx="2057400" cy="2057400"/>
          </a:xfrm>
        </p:grpSpPr>
        <p:grpSp>
          <p:nvGrpSpPr>
            <p:cNvPr id="29" name="Group 28">
              <a:extLst>
                <a:ext uri="{FF2B5EF4-FFF2-40B4-BE49-F238E27FC236}">
                  <a16:creationId xmlns:a16="http://schemas.microsoft.com/office/drawing/2014/main" id="{5E6410B9-31D8-CA47-8147-C8C53FA970C9}"/>
                </a:ext>
              </a:extLst>
            </p:cNvPr>
            <p:cNvGrpSpPr/>
            <p:nvPr/>
          </p:nvGrpSpPr>
          <p:grpSpPr>
            <a:xfrm>
              <a:off x="0" y="0"/>
              <a:ext cx="2057400" cy="2057400"/>
              <a:chOff x="0" y="0"/>
              <a:chExt cx="2057400" cy="2057400"/>
            </a:xfrm>
          </p:grpSpPr>
          <p:sp>
            <p:nvSpPr>
              <p:cNvPr id="34" name="Rectangle 33">
                <a:extLst>
                  <a:ext uri="{FF2B5EF4-FFF2-40B4-BE49-F238E27FC236}">
                    <a16:creationId xmlns:a16="http://schemas.microsoft.com/office/drawing/2014/main" id="{061D5A2C-2B0C-BF4F-9229-5D7514029FF2}"/>
                  </a:ext>
                </a:extLst>
              </p:cNvPr>
              <p:cNvSpPr/>
              <p:nvPr/>
            </p:nvSpPr>
            <p:spPr>
              <a:xfrm>
                <a:off x="685800" y="685800"/>
                <a:ext cx="685800" cy="68580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 name="Isosceles Triangle 14">
                <a:extLst>
                  <a:ext uri="{FF2B5EF4-FFF2-40B4-BE49-F238E27FC236}">
                    <a16:creationId xmlns:a16="http://schemas.microsoft.com/office/drawing/2014/main" id="{9494BC20-A6ED-C346-A88F-83BA80EB57DF}"/>
                  </a:ext>
                </a:extLst>
              </p:cNvPr>
              <p:cNvSpPr/>
              <p:nvPr/>
            </p:nvSpPr>
            <p:spPr>
              <a:xfrm rot="5400000">
                <a:off x="1371600" y="6858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Isosceles Triangle 15">
                <a:extLst>
                  <a:ext uri="{FF2B5EF4-FFF2-40B4-BE49-F238E27FC236}">
                    <a16:creationId xmlns:a16="http://schemas.microsoft.com/office/drawing/2014/main" id="{A5C4C009-E021-2342-83A3-1AE06C078668}"/>
                  </a:ext>
                </a:extLst>
              </p:cNvPr>
              <p:cNvSpPr/>
              <p:nvPr/>
            </p:nvSpPr>
            <p:spPr>
              <a:xfrm rot="16200000">
                <a:off x="0" y="6858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 name="Isosceles Triangle 16">
                <a:extLst>
                  <a:ext uri="{FF2B5EF4-FFF2-40B4-BE49-F238E27FC236}">
                    <a16:creationId xmlns:a16="http://schemas.microsoft.com/office/drawing/2014/main" id="{7AB81967-BA53-6741-8264-D3CF3F591163}"/>
                  </a:ext>
                </a:extLst>
              </p:cNvPr>
              <p:cNvSpPr/>
              <p:nvPr/>
            </p:nvSpPr>
            <p:spPr>
              <a:xfrm>
                <a:off x="685800" y="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 name="Isosceles Triangle 17">
                <a:extLst>
                  <a:ext uri="{FF2B5EF4-FFF2-40B4-BE49-F238E27FC236}">
                    <a16:creationId xmlns:a16="http://schemas.microsoft.com/office/drawing/2014/main" id="{3158FA8D-9AF2-564A-A303-C8AE6155BA01}"/>
                  </a:ext>
                </a:extLst>
              </p:cNvPr>
              <p:cNvSpPr/>
              <p:nvPr/>
            </p:nvSpPr>
            <p:spPr>
              <a:xfrm rot="10800000">
                <a:off x="685800" y="13716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30" name="Straight Connector 29">
              <a:extLst>
                <a:ext uri="{FF2B5EF4-FFF2-40B4-BE49-F238E27FC236}">
                  <a16:creationId xmlns:a16="http://schemas.microsoft.com/office/drawing/2014/main" id="{7B1306C3-B42D-304A-8097-DDCDE40EA1EB}"/>
                </a:ext>
              </a:extLst>
            </p:cNvPr>
            <p:cNvCxnSpPr/>
            <p:nvPr/>
          </p:nvCxnSpPr>
          <p:spPr>
            <a:xfrm>
              <a:off x="1032510" y="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CFBDC743-1DA7-DF49-9D7D-D9C6CAD3023F}"/>
                </a:ext>
              </a:extLst>
            </p:cNvPr>
            <p:cNvCxnSpPr/>
            <p:nvPr/>
          </p:nvCxnSpPr>
          <p:spPr>
            <a:xfrm>
              <a:off x="1025525" y="13716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4A0C96A1-F1CF-E94C-AF36-2A1543CE90D1}"/>
                </a:ext>
              </a:extLst>
            </p:cNvPr>
            <p:cNvCxnSpPr/>
            <p:nvPr/>
          </p:nvCxnSpPr>
          <p:spPr>
            <a:xfrm rot="5400000">
              <a:off x="1701800" y="6858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AE114691-A7DB-0743-9B05-2591D760F31E}"/>
                </a:ext>
              </a:extLst>
            </p:cNvPr>
            <p:cNvCxnSpPr/>
            <p:nvPr/>
          </p:nvCxnSpPr>
          <p:spPr>
            <a:xfrm rot="5400000">
              <a:off x="354330" y="6858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grpSp>
      <p:sp>
        <p:nvSpPr>
          <p:cNvPr id="39"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28</a:t>
            </a:r>
            <a:endParaRPr i="1" dirty="0">
              <a:latin typeface="Calibri"/>
              <a:ea typeface="Calibri"/>
              <a:cs typeface="Calibri"/>
              <a:sym typeface="Calibri"/>
            </a:endParaRPr>
          </a:p>
        </p:txBody>
      </p:sp>
      <p:pic>
        <p:nvPicPr>
          <p:cNvPr id="4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562114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29" name="Google Shape;329;p20"/>
          <p:cNvSpPr txBox="1"/>
          <p:nvPr/>
        </p:nvSpPr>
        <p:spPr>
          <a:xfrm>
            <a:off x="2007765" y="520393"/>
            <a:ext cx="8327136" cy="317005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following statement.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To find the surface area of a rectangular pyramid you need</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sum of the                   of the base plus the area of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the other faces.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28" name="Rectangle: Rounded Corners 25">
            <a:extLst>
              <a:ext uri="{FF2B5EF4-FFF2-40B4-BE49-F238E27FC236}">
                <a16:creationId xmlns:a16="http://schemas.microsoft.com/office/drawing/2014/main" id="{AE28E5A2-AC75-FC4C-87DD-55526F4BBA19}"/>
              </a:ext>
            </a:extLst>
          </p:cNvPr>
          <p:cNvSpPr/>
          <p:nvPr/>
        </p:nvSpPr>
        <p:spPr>
          <a:xfrm>
            <a:off x="4103235" y="1922498"/>
            <a:ext cx="1413647" cy="691123"/>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height</a:t>
            </a:r>
          </a:p>
          <a:p>
            <a:pPr marL="342900" indent="-342900">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area</a:t>
            </a:r>
          </a:p>
        </p:txBody>
      </p:sp>
      <p:sp>
        <p:nvSpPr>
          <p:cNvPr id="29" name="Rectangle: Rounded Corners 28">
            <a:extLst>
              <a:ext uri="{FF2B5EF4-FFF2-40B4-BE49-F238E27FC236}">
                <a16:creationId xmlns:a16="http://schemas.microsoft.com/office/drawing/2014/main" id="{9C32A751-D524-5041-9ECD-657A9062D9FE}"/>
              </a:ext>
            </a:extLst>
          </p:cNvPr>
          <p:cNvSpPr/>
          <p:nvPr/>
        </p:nvSpPr>
        <p:spPr>
          <a:xfrm>
            <a:off x="2069783" y="2787626"/>
            <a:ext cx="1413647" cy="691123"/>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one of</a:t>
            </a:r>
          </a:p>
          <a:p>
            <a:pPr marL="342900" indent="-342900">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all</a:t>
            </a:r>
          </a:p>
        </p:txBody>
      </p:sp>
      <p:sp>
        <p:nvSpPr>
          <p:cNvPr id="8"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19258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11879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p:nvPr/>
        </p:nvSpPr>
        <p:spPr>
          <a:xfrm>
            <a:off x="-26678"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7" name="Google Shape;197;p7"/>
          <p:cNvSpPr txBox="1"/>
          <p:nvPr/>
        </p:nvSpPr>
        <p:spPr>
          <a:xfrm>
            <a:off x="1461412" y="44222"/>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500" b="1" dirty="0">
                <a:solidFill>
                  <a:srgbClr val="33BEA6"/>
                </a:solidFill>
                <a:latin typeface="Verdana"/>
                <a:ea typeface="Verdana"/>
                <a:cs typeface="Verdana"/>
                <a:sym typeface="Verdana"/>
              </a:rPr>
              <a:t>8.5.5 Collaboration: Surface Area of a Rectangular Pyramid</a:t>
            </a:r>
            <a:endParaRPr sz="3500" dirty="0"/>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11604" y="332168"/>
            <a:ext cx="749808" cy="749808"/>
          </a:xfrm>
          <a:prstGeom prst="rect">
            <a:avLst/>
          </a:prstGeom>
          <a:noFill/>
          <a:ln>
            <a:noFill/>
          </a:ln>
          <a:effectLst>
            <a:outerShdw blurRad="50800" dist="38100" dir="2700000" algn="tl" rotWithShape="0">
              <a:srgbClr val="000000">
                <a:alpha val="40000"/>
              </a:srgbClr>
            </a:outerShdw>
          </a:effectLst>
        </p:spPr>
      </p:pic>
      <p:sp>
        <p:nvSpPr>
          <p:cNvPr id="200" name="Google Shape;200;p7"/>
          <p:cNvSpPr txBox="1"/>
          <p:nvPr/>
        </p:nvSpPr>
        <p:spPr>
          <a:xfrm>
            <a:off x="1303294" y="1386025"/>
            <a:ext cx="9084290" cy="1631175"/>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Papier-</a:t>
            </a:r>
            <a:r>
              <a:rPr lang="en-US" sz="2000" dirty="0" err="1">
                <a:latin typeface="Verdana" panose="020B0604030504040204" pitchFamily="34" charset="0"/>
                <a:ea typeface="Verdana" panose="020B0604030504040204" pitchFamily="34" charset="0"/>
                <a:cs typeface="Verdana" panose="020B0604030504040204" pitchFamily="34" charset="0"/>
              </a:rPr>
              <a:t>mache</a:t>
            </a:r>
            <a:r>
              <a:rPr lang="en-US" sz="2000" dirty="0">
                <a:latin typeface="Verdana" panose="020B0604030504040204" pitchFamily="34" charset="0"/>
                <a:ea typeface="Verdana" panose="020B0604030504040204" pitchFamily="34" charset="0"/>
                <a:cs typeface="Verdana" panose="020B0604030504040204" pitchFamily="34" charset="0"/>
              </a:rPr>
              <a:t> is a type of art that uses paper and glue. Jose is using the art of papier-</a:t>
            </a:r>
            <a:r>
              <a:rPr lang="en-US" sz="2000" dirty="0" err="1">
                <a:latin typeface="Verdana" panose="020B0604030504040204" pitchFamily="34" charset="0"/>
                <a:ea typeface="Verdana" panose="020B0604030504040204" pitchFamily="34" charset="0"/>
                <a:cs typeface="Verdana" panose="020B0604030504040204" pitchFamily="34" charset="0"/>
              </a:rPr>
              <a:t>mache</a:t>
            </a:r>
            <a:r>
              <a:rPr lang="en-US" sz="2000" dirty="0">
                <a:latin typeface="Verdana" panose="020B0604030504040204" pitchFamily="34" charset="0"/>
                <a:ea typeface="Verdana" panose="020B0604030504040204" pitchFamily="34" charset="0"/>
                <a:cs typeface="Verdana" panose="020B0604030504040204" pitchFamily="34" charset="0"/>
              </a:rPr>
              <a:t> to create a rectangular pyramid for his art project. To create his project, Jose needs to determine the amount of area that will be covered in newspaper. Below is the drawing Jose created to find the surface area.  </a:t>
            </a:r>
          </a:p>
        </p:txBody>
      </p:sp>
      <p:pic>
        <p:nvPicPr>
          <p:cNvPr id="4" name="Picture 3" descr="Chart, radar chart&#10;&#10;Description automatically generated">
            <a:extLst>
              <a:ext uri="{FF2B5EF4-FFF2-40B4-BE49-F238E27FC236}">
                <a16:creationId xmlns:a16="http://schemas.microsoft.com/office/drawing/2014/main" id="{57A59FEF-8D69-3C4A-83CF-93AE3AFD961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96000" y="3147604"/>
            <a:ext cx="3827152" cy="3006146"/>
          </a:xfrm>
          <a:prstGeom prst="rect">
            <a:avLst/>
          </a:prstGeom>
        </p:spPr>
      </p:pic>
      <p:sp>
        <p:nvSpPr>
          <p:cNvPr id="10" name="TextBox 9">
            <a:extLst>
              <a:ext uri="{FF2B5EF4-FFF2-40B4-BE49-F238E27FC236}">
                <a16:creationId xmlns:a16="http://schemas.microsoft.com/office/drawing/2014/main" id="{316D9CAF-EF55-8A4D-B328-4B4BB3BEF426}"/>
              </a:ext>
            </a:extLst>
          </p:cNvPr>
          <p:cNvSpPr txBox="1"/>
          <p:nvPr/>
        </p:nvSpPr>
        <p:spPr>
          <a:xfrm>
            <a:off x="1461413" y="3952726"/>
            <a:ext cx="4727058" cy="1015663"/>
          </a:xfrm>
          <a:prstGeom prst="rect">
            <a:avLst/>
          </a:prstGeom>
          <a:noFill/>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find the surface area of the pyramid.</a:t>
            </a:r>
          </a:p>
        </p:txBody>
      </p:sp>
      <p:sp>
        <p:nvSpPr>
          <p:cNvPr id="11"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29</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335602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1"/>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37" name="Google Shape;437;p31"/>
          <p:cNvSpPr txBox="1"/>
          <p:nvPr/>
        </p:nvSpPr>
        <p:spPr>
          <a:xfrm>
            <a:off x="1476005" y="185739"/>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8.5.6 Your Turn!</a:t>
            </a:r>
            <a:endParaRPr dirty="0"/>
          </a:p>
        </p:txBody>
      </p:sp>
      <p:pic>
        <p:nvPicPr>
          <p:cNvPr id="438" name="Google Shape;438;p31"/>
          <p:cNvPicPr preferRelativeResize="0"/>
          <p:nvPr/>
        </p:nvPicPr>
        <p:blipFill rotWithShape="1">
          <a:blip r:embed="rId3">
            <a:alphaModFix/>
          </a:blip>
          <a:srcRect/>
          <a:stretch/>
        </p:blipFill>
        <p:spPr>
          <a:xfrm>
            <a:off x="728705" y="185739"/>
            <a:ext cx="747300" cy="747300"/>
          </a:xfrm>
          <a:prstGeom prst="rect">
            <a:avLst/>
          </a:prstGeom>
          <a:noFill/>
          <a:ln>
            <a:noFill/>
          </a:ln>
          <a:effectLst>
            <a:outerShdw blurRad="50800" dist="38100" dir="2700000" algn="tl" rotWithShape="0">
              <a:srgbClr val="000000">
                <a:alpha val="40000"/>
              </a:srgbClr>
            </a:outerShdw>
          </a:effectLst>
        </p:spPr>
      </p:pic>
      <p:sp>
        <p:nvSpPr>
          <p:cNvPr id="440" name="Google Shape;440;p31"/>
          <p:cNvSpPr txBox="1"/>
          <p:nvPr/>
        </p:nvSpPr>
        <p:spPr>
          <a:xfrm>
            <a:off x="1275008" y="1386025"/>
            <a:ext cx="9898016" cy="10156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err="1">
                <a:latin typeface="Verdana" panose="020B0604030504040204" pitchFamily="34" charset="0"/>
                <a:ea typeface="Verdana" panose="020B0604030504040204" pitchFamily="34" charset="0"/>
                <a:cs typeface="Verdana" panose="020B0604030504040204" pitchFamily="34" charset="0"/>
              </a:rPr>
              <a:t>Darsey</a:t>
            </a:r>
            <a:r>
              <a:rPr lang="en-US" sz="2000" dirty="0">
                <a:latin typeface="Verdana" panose="020B0604030504040204" pitchFamily="34" charset="0"/>
                <a:ea typeface="Verdana" panose="020B0604030504040204" pitchFamily="34" charset="0"/>
                <a:cs typeface="Verdana" panose="020B0604030504040204" pitchFamily="34" charset="0"/>
              </a:rPr>
              <a:t> wants to build trinket boxes made of wood to sell at the local craft festival. A drawing of her box is shown. How much wood does </a:t>
            </a:r>
            <a:r>
              <a:rPr lang="en-US" sz="2000" dirty="0" err="1">
                <a:latin typeface="Verdana" panose="020B0604030504040204" pitchFamily="34" charset="0"/>
                <a:ea typeface="Verdana" panose="020B0604030504040204" pitchFamily="34" charset="0"/>
                <a:cs typeface="Verdana" panose="020B0604030504040204" pitchFamily="34" charset="0"/>
              </a:rPr>
              <a:t>Darsey</a:t>
            </a:r>
            <a:r>
              <a:rPr lang="en-US" sz="2000" dirty="0">
                <a:latin typeface="Verdana" panose="020B0604030504040204" pitchFamily="34" charset="0"/>
                <a:ea typeface="Verdana" panose="020B0604030504040204" pitchFamily="34" charset="0"/>
                <a:cs typeface="Verdana" panose="020B0604030504040204" pitchFamily="34" charset="0"/>
              </a:rPr>
              <a:t> need to buy for each trinket box?</a:t>
            </a:r>
          </a:p>
        </p:txBody>
      </p:sp>
      <p:pic>
        <p:nvPicPr>
          <p:cNvPr id="3" name="Picture 2" descr="Shape, rectangle&#10;&#10;Description automatically generated">
            <a:extLst>
              <a:ext uri="{FF2B5EF4-FFF2-40B4-BE49-F238E27FC236}">
                <a16:creationId xmlns:a16="http://schemas.microsoft.com/office/drawing/2014/main" id="{2B47777F-4C06-594D-8FDC-E35A0833B4D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34100" y="2560320"/>
            <a:ext cx="4323800" cy="3223812"/>
          </a:xfrm>
          <a:prstGeom prst="rect">
            <a:avLst/>
          </a:prstGeom>
        </p:spPr>
      </p:pic>
      <p:sp>
        <p:nvSpPr>
          <p:cNvPr id="9"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49" name="Google Shape;449;p32"/>
          <p:cNvSpPr txBox="1"/>
          <p:nvPr/>
        </p:nvSpPr>
        <p:spPr>
          <a:xfrm>
            <a:off x="1133341" y="520394"/>
            <a:ext cx="10075984" cy="132339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Find the surface area of a rectangular pyramid that has a rectangular base with a side length of </a:t>
            </a:r>
            <a:r>
              <a:rPr lang="en-US" sz="2000" dirty="0">
                <a:latin typeface="Cambria Math" panose="02040503050406030204" pitchFamily="18" charset="0"/>
                <a:ea typeface="Cambria Math" panose="02040503050406030204" pitchFamily="18" charset="0"/>
                <a:cs typeface="Verdana" panose="020B0604030504040204" pitchFamily="34" charset="0"/>
              </a:rPr>
              <a:t>600</a:t>
            </a:r>
            <a:r>
              <a:rPr lang="en-US" sz="2000" dirty="0">
                <a:latin typeface="Verdana" panose="020B0604030504040204" pitchFamily="34" charset="0"/>
                <a:ea typeface="Verdana" panose="020B0604030504040204" pitchFamily="34" charset="0"/>
                <a:cs typeface="Verdana" panose="020B0604030504040204" pitchFamily="34" charset="0"/>
              </a:rPr>
              <a:t> feet (ft), which is the base of the triangle with a slant height of </a:t>
            </a:r>
            <a:r>
              <a:rPr lang="en-US" sz="2000" dirty="0">
                <a:latin typeface="Cambria Math" panose="02040503050406030204" pitchFamily="18" charset="0"/>
                <a:ea typeface="Cambria Math" panose="02040503050406030204" pitchFamily="18" charset="0"/>
                <a:cs typeface="Verdana" panose="020B0604030504040204" pitchFamily="34" charset="0"/>
              </a:rPr>
              <a:t>545</a:t>
            </a:r>
            <a:r>
              <a:rPr lang="en-US" sz="2000" dirty="0">
                <a:latin typeface="Verdana" panose="020B0604030504040204" pitchFamily="34" charset="0"/>
                <a:ea typeface="Verdana" panose="020B0604030504040204" pitchFamily="34" charset="0"/>
                <a:cs typeface="Verdana" panose="020B0604030504040204" pitchFamily="34" charset="0"/>
              </a:rPr>
              <a:t> ft, and a side length of </a:t>
            </a:r>
            <a:r>
              <a:rPr lang="en-US" sz="2000" dirty="0">
                <a:latin typeface="Cambria Math" panose="02040503050406030204" pitchFamily="18" charset="0"/>
                <a:ea typeface="Cambria Math" panose="02040503050406030204" pitchFamily="18" charset="0"/>
                <a:cs typeface="Verdana" panose="020B0604030504040204" pitchFamily="34" charset="0"/>
              </a:rPr>
              <a:t>756</a:t>
            </a:r>
            <a:r>
              <a:rPr lang="en-US" sz="2000" dirty="0">
                <a:latin typeface="Verdana" panose="020B0604030504040204" pitchFamily="34" charset="0"/>
                <a:ea typeface="Verdana" panose="020B0604030504040204" pitchFamily="34" charset="0"/>
                <a:cs typeface="Verdana" panose="020B0604030504040204" pitchFamily="34" charset="0"/>
              </a:rPr>
              <a:t> ft, which is the base of the triangle with a slant height of </a:t>
            </a:r>
            <a:r>
              <a:rPr lang="en-US" sz="2000" dirty="0">
                <a:latin typeface="Cambria Math" panose="02040503050406030204" pitchFamily="18" charset="0"/>
                <a:ea typeface="Cambria Math" panose="02040503050406030204" pitchFamily="18" charset="0"/>
                <a:cs typeface="Verdana" panose="020B0604030504040204" pitchFamily="34" charset="0"/>
              </a:rPr>
              <a:t>591.5</a:t>
            </a:r>
            <a:r>
              <a:rPr lang="en-US" sz="2000" dirty="0">
                <a:latin typeface="Verdana" panose="020B0604030504040204" pitchFamily="34" charset="0"/>
                <a:ea typeface="Verdana" panose="020B0604030504040204" pitchFamily="34" charset="0"/>
                <a:cs typeface="Verdana" panose="020B0604030504040204" pitchFamily="34" charset="0"/>
              </a:rPr>
              <a:t> ft.</a:t>
            </a:r>
          </a:p>
        </p:txBody>
      </p:sp>
      <p:pic>
        <p:nvPicPr>
          <p:cNvPr id="3" name="Picture 2" descr="Diagram&#10;&#10;Description automatically generated">
            <a:extLst>
              <a:ext uri="{FF2B5EF4-FFF2-40B4-BE49-F238E27FC236}">
                <a16:creationId xmlns:a16="http://schemas.microsoft.com/office/drawing/2014/main" id="{824A247F-1D5C-684C-98FC-F3A21F5C97CE}"/>
              </a:ext>
            </a:extLst>
          </p:cNvPr>
          <p:cNvPicPr>
            <a:picLocks noChangeAspect="1"/>
          </p:cNvPicPr>
          <p:nvPr/>
        </p:nvPicPr>
        <p:blipFill>
          <a:blip r:embed="rId3"/>
          <a:stretch>
            <a:fillRect/>
          </a:stretch>
        </p:blipFill>
        <p:spPr>
          <a:xfrm>
            <a:off x="2456910" y="2299064"/>
            <a:ext cx="7035433" cy="2829099"/>
          </a:xfrm>
          <a:prstGeom prst="rect">
            <a:avLst/>
          </a:prstGeom>
        </p:spPr>
      </p:pic>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4"/>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68" name="Google Shape;468;p34"/>
          <p:cNvSpPr txBox="1"/>
          <p:nvPr/>
        </p:nvSpPr>
        <p:spPr>
          <a:xfrm>
            <a:off x="1517080" y="-111133"/>
            <a:ext cx="9429962"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8.5.7 Wrap-Up: Ticket Out the Door</a:t>
            </a:r>
            <a:endParaRPr dirty="0"/>
          </a:p>
        </p:txBody>
      </p:sp>
      <p:pic>
        <p:nvPicPr>
          <p:cNvPr id="469" name="Google Shape;469;p34"/>
          <p:cNvPicPr preferRelativeResize="0"/>
          <p:nvPr/>
        </p:nvPicPr>
        <p:blipFill rotWithShape="1">
          <a:blip r:embed="rId3">
            <a:alphaModFix/>
          </a:blip>
          <a:srcRect/>
          <a:stretch/>
        </p:blipFill>
        <p:spPr>
          <a:xfrm>
            <a:off x="687630" y="134795"/>
            <a:ext cx="747300" cy="747300"/>
          </a:xfrm>
          <a:prstGeom prst="rect">
            <a:avLst/>
          </a:prstGeom>
          <a:noFill/>
          <a:ln>
            <a:noFill/>
          </a:ln>
          <a:effectLst>
            <a:outerShdw blurRad="50800" dist="38100" dir="2700000" algn="tl" rotWithShape="0">
              <a:srgbClr val="000000">
                <a:alpha val="40000"/>
              </a:srgbClr>
            </a:outerShdw>
          </a:effectLst>
        </p:spPr>
      </p:pic>
      <p:sp>
        <p:nvSpPr>
          <p:cNvPr id="470" name="Google Shape;470;p34"/>
          <p:cNvSpPr txBox="1"/>
          <p:nvPr/>
        </p:nvSpPr>
        <p:spPr>
          <a:xfrm>
            <a:off x="1517080" y="1386026"/>
            <a:ext cx="9413872" cy="1631175"/>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Ted is preparing a holiday display for the post office. He takes an unfolded box and uses it to determine the amount of wrapping paper needed to wrap the box.</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The shipping box Ted uses for the display is shown.</a:t>
            </a:r>
          </a:p>
        </p:txBody>
      </p:sp>
      <p:pic>
        <p:nvPicPr>
          <p:cNvPr id="3" name="Picture 2" descr="A picture containing shape&#10;&#10;Description automatically generated">
            <a:extLst>
              <a:ext uri="{FF2B5EF4-FFF2-40B4-BE49-F238E27FC236}">
                <a16:creationId xmlns:a16="http://schemas.microsoft.com/office/drawing/2014/main" id="{B1CC5C77-EE81-AF4C-97E6-B7FA1C1D763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46812" y="3071694"/>
            <a:ext cx="5172891" cy="2352813"/>
          </a:xfrm>
          <a:prstGeom prst="rect">
            <a:avLst/>
          </a:prstGeom>
        </p:spPr>
      </p:pic>
      <p:sp>
        <p:nvSpPr>
          <p:cNvPr id="9"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35"/>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79" name="Google Shape;479;p35"/>
          <p:cNvSpPr txBox="1"/>
          <p:nvPr/>
        </p:nvSpPr>
        <p:spPr>
          <a:xfrm>
            <a:off x="888642" y="520394"/>
            <a:ext cx="10565382" cy="544760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Write the measurements on the net of the box.</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net to find the surface area of the shipping box. Include units.</a:t>
            </a:r>
          </a:p>
          <a:p>
            <a:r>
              <a:rPr lang="en-US" dirty="0"/>
              <a:t> </a:t>
            </a:r>
          </a:p>
          <a:p>
            <a:pPr lvl="0"/>
            <a:endParaRPr lang="en-US" dirty="0"/>
          </a:p>
        </p:txBody>
      </p:sp>
      <p:pic>
        <p:nvPicPr>
          <p:cNvPr id="4" name="Picture 3" descr="Shape, rectangle&#10;&#10;Description automatically generated">
            <a:extLst>
              <a:ext uri="{FF2B5EF4-FFF2-40B4-BE49-F238E27FC236}">
                <a16:creationId xmlns:a16="http://schemas.microsoft.com/office/drawing/2014/main" id="{7D704EBF-1E59-4C4F-A761-D82437D5F12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68732" y="2385092"/>
            <a:ext cx="2936167" cy="2687651"/>
          </a:xfrm>
          <a:prstGeom prst="rect">
            <a:avLst/>
          </a:prstGeom>
        </p:spPr>
      </p:pic>
      <p:pic>
        <p:nvPicPr>
          <p:cNvPr id="11" name="Picture 10" descr="A picture containing shape&#10;&#10;Description automatically generated">
            <a:extLst>
              <a:ext uri="{FF2B5EF4-FFF2-40B4-BE49-F238E27FC236}">
                <a16:creationId xmlns:a16="http://schemas.microsoft.com/office/drawing/2014/main" id="{D39E1566-D44C-044D-885C-0DC03B7BA60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72488" y="87570"/>
            <a:ext cx="4232815" cy="1925233"/>
          </a:xfrm>
          <a:prstGeom prst="rect">
            <a:avLst/>
          </a:prstGeom>
        </p:spPr>
      </p:pic>
      <p:sp>
        <p:nvSpPr>
          <p:cNvPr id="8" name="Google Shape;125;g104476d1465_1_17"/>
          <p:cNvSpPr txBox="1"/>
          <p:nvPr/>
        </p:nvSpPr>
        <p:spPr>
          <a:xfrm>
            <a:off x="875718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9541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1442</Words>
  <Application>Microsoft Office PowerPoint</Application>
  <PresentationFormat>Widescreen</PresentationFormat>
  <Paragraphs>304</Paragraphs>
  <Slides>29</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 Black</vt:lpstr>
      <vt:lpstr>Calibri</vt:lpstr>
      <vt:lpstr>Cambria</vt:lpstr>
      <vt:lpstr>Cambria Math</vt:lpstr>
      <vt:lpstr>Century Gothic</vt:lpstr>
      <vt:lpstr>Courier New</vt:lpstr>
      <vt:lpstr>Verdana</vt:lpstr>
      <vt:lpstr>1_Office Theme</vt:lpstr>
      <vt:lpstr>6th Grade Accelerated Math  Unit 8, Lesson 5  Surface Area of Rectangular Prisms and Pyramids  Volume 2, pg. 24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Unit 8, Lesson #  Lesson Name  Volume x, pg. #  </dc:title>
  <dc:creator>Karen McKenzie</dc:creator>
  <cp:lastModifiedBy>Cassie O'Connor</cp:lastModifiedBy>
  <cp:revision>5</cp:revision>
  <dcterms:created xsi:type="dcterms:W3CDTF">2015-03-17T18:51:18Z</dcterms:created>
  <dcterms:modified xsi:type="dcterms:W3CDTF">2022-06-29T19:46:02Z</dcterms:modified>
</cp:coreProperties>
</file>