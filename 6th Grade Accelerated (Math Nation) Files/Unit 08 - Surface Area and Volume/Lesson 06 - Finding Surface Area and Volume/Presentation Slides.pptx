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31"/>
  </p:notesMasterIdLst>
  <p:sldIdLst>
    <p:sldId id="256" r:id="rId5"/>
    <p:sldId id="257" r:id="rId6"/>
    <p:sldId id="258" r:id="rId7"/>
    <p:sldId id="259" r:id="rId8"/>
    <p:sldId id="260" r:id="rId9"/>
    <p:sldId id="261" r:id="rId10"/>
    <p:sldId id="263" r:id="rId11"/>
    <p:sldId id="264" r:id="rId12"/>
    <p:sldId id="265" r:id="rId13"/>
    <p:sldId id="293" r:id="rId14"/>
    <p:sldId id="294" r:id="rId15"/>
    <p:sldId id="278" r:id="rId16"/>
    <p:sldId id="279" r:id="rId17"/>
    <p:sldId id="280" r:id="rId18"/>
    <p:sldId id="295" r:id="rId19"/>
    <p:sldId id="287" r:id="rId20"/>
    <p:sldId id="288" r:id="rId21"/>
    <p:sldId id="289" r:id="rId22"/>
    <p:sldId id="296" r:id="rId23"/>
    <p:sldId id="297" r:id="rId24"/>
    <p:sldId id="298" r:id="rId25"/>
    <p:sldId id="299" r:id="rId26"/>
    <p:sldId id="300" r:id="rId27"/>
    <p:sldId id="290" r:id="rId28"/>
    <p:sldId id="291" r:id="rId29"/>
    <p:sldId id="292"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iJAlmViUFYPExNdDTLT7VrFLNgL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68"/>
    <p:restoredTop sz="94695"/>
  </p:normalViewPr>
  <p:slideViewPr>
    <p:cSldViewPr snapToGrid="0">
      <p:cViewPr>
        <p:scale>
          <a:sx n="115" d="100"/>
          <a:sy n="115" d="100"/>
        </p:scale>
        <p:origin x="-102"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55"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3"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52" Type="http://customschemas.google.com/relationships/presentationmetadata" Target="meta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1191902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extLst>
      <p:ext uri="{BB962C8B-B14F-4D97-AF65-F5344CB8AC3E}">
        <p14:creationId xmlns:p14="http://schemas.microsoft.com/office/powerpoint/2010/main" val="31712964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2325621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3" name="Google Shape;343;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extLst>
      <p:ext uri="{BB962C8B-B14F-4D97-AF65-F5344CB8AC3E}">
        <p14:creationId xmlns:p14="http://schemas.microsoft.com/office/powerpoint/2010/main" val="28691760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 name="Google Shape;432;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extLst>
      <p:ext uri="{BB962C8B-B14F-4D97-AF65-F5344CB8AC3E}">
        <p14:creationId xmlns:p14="http://schemas.microsoft.com/office/powerpoint/2010/main" val="2300324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extLst>
      <p:ext uri="{BB962C8B-B14F-4D97-AF65-F5344CB8AC3E}">
        <p14:creationId xmlns:p14="http://schemas.microsoft.com/office/powerpoint/2010/main" val="36672591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extLst>
      <p:ext uri="{BB962C8B-B14F-4D97-AF65-F5344CB8AC3E}">
        <p14:creationId xmlns:p14="http://schemas.microsoft.com/office/powerpoint/2010/main" val="27272781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extLst>
      <p:ext uri="{BB962C8B-B14F-4D97-AF65-F5344CB8AC3E}">
        <p14:creationId xmlns:p14="http://schemas.microsoft.com/office/powerpoint/2010/main" val="14184206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extLst>
      <p:ext uri="{BB962C8B-B14F-4D97-AF65-F5344CB8AC3E}">
        <p14:creationId xmlns:p14="http://schemas.microsoft.com/office/powerpoint/2010/main" val="30990667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4" name="Google Shape;474;p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12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0.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9.png"/><Relationship Id="rId4" Type="http://schemas.openxmlformats.org/officeDocument/2006/relationships/image" Target="../media/image220.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90352" y="2054277"/>
            <a:ext cx="5077649"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endParaRPr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8, Lesson 6</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Finding Surface Area and Volume</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31</a:t>
            </a:r>
            <a:endParaRPr dirty="0"/>
          </a:p>
          <a:p>
            <a:pPr algn="ctr">
              <a:lnSpc>
                <a:spcPct val="100000"/>
              </a:lnSpc>
              <a:buClr>
                <a:srgbClr val="000000"/>
              </a:buClr>
            </a:pP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640" y="1526626"/>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722837" y="206158"/>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899337" y="441933"/>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31</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981200" y="1609532"/>
            <a:ext cx="8355874" cy="3838769"/>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24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MA.6.GR.2.4</a:t>
            </a:r>
            <a:endParaRPr sz="24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pPr marL="457200">
              <a:lnSpc>
                <a:spcPct val="90000"/>
              </a:lnSpc>
              <a:spcBef>
                <a:spcPts val="750"/>
              </a:spcBef>
              <a:buClr>
                <a:schemeClr val="dk1"/>
              </a:buClr>
              <a:buSzPts val="2100"/>
            </a:pPr>
            <a:r>
              <a:rPr lang="en-US" sz="2400" dirty="0">
                <a:latin typeface="Verdana" panose="020B0604030504040204" pitchFamily="34" charset="0"/>
                <a:ea typeface="Verdana" panose="020B0604030504040204" pitchFamily="34" charset="0"/>
                <a:cs typeface="Verdana" panose="020B0604030504040204" pitchFamily="34" charset="0"/>
              </a:rPr>
              <a:t>Given a mathematical or real-world context, find the surface area of right rectangular prisms and right rectangular pyramids using the figure’s net.</a:t>
            </a:r>
          </a:p>
          <a:p>
            <a:pPr>
              <a:lnSpc>
                <a:spcPct val="90000"/>
              </a:lnSpc>
              <a:spcBef>
                <a:spcPts val="750"/>
              </a:spcBef>
              <a:buClr>
                <a:schemeClr val="dk1"/>
              </a:buClr>
              <a:buSzPts val="1100"/>
            </a:pPr>
            <a:r>
              <a:rPr lang="en-US" sz="24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MA.6.GR.2.3</a:t>
            </a:r>
          </a:p>
          <a:p>
            <a:pPr marL="457200">
              <a:lnSpc>
                <a:spcPct val="90000"/>
              </a:lnSpc>
              <a:spcBef>
                <a:spcPts val="750"/>
              </a:spcBef>
              <a:buClr>
                <a:schemeClr val="dk1"/>
              </a:buClr>
              <a:buSzPts val="2100"/>
            </a:pPr>
            <a:r>
              <a:rPr lang="en-US" sz="2400" dirty="0">
                <a:latin typeface="Verdana" panose="020B0604030504040204" pitchFamily="34" charset="0"/>
                <a:ea typeface="Verdana" panose="020B0604030504040204" pitchFamily="34" charset="0"/>
                <a:cs typeface="Verdana" panose="020B0604030504040204" pitchFamily="34" charset="0"/>
              </a:rPr>
              <a:t>Solve mathematical and real-world problems involving the volume of right rectangular prisms with positive rational number edge lengths using a visual model and a formula.</a:t>
            </a:r>
            <a:endParaRPr sz="24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34" name="Google Shape;134;p1"/>
          <p:cNvPicPr preferRelativeResize="0"/>
          <p:nvPr/>
        </p:nvPicPr>
        <p:blipFill rotWithShape="1">
          <a:blip r:embed="rId3">
            <a:alphaModFix/>
          </a:blip>
          <a:srcRect/>
          <a:stretch/>
        </p:blipFill>
        <p:spPr>
          <a:xfrm>
            <a:off x="641499" y="344164"/>
            <a:ext cx="747300" cy="747300"/>
          </a:xfrm>
          <a:prstGeom prst="rect">
            <a:avLst/>
          </a:prstGeom>
          <a:noFill/>
          <a:ln>
            <a:noFill/>
          </a:ln>
          <a:effectLst>
            <a:outerShdw blurRad="57150" dist="19050" dir="5400000" algn="bl" rotWithShape="0">
              <a:srgbClr val="000000">
                <a:alpha val="49803"/>
              </a:srgbClr>
            </a:outerShdw>
          </a:effectLst>
        </p:spPr>
      </p:pic>
      <p:sp>
        <p:nvSpPr>
          <p:cNvPr id="136" name="Google Shape;136;p1"/>
          <p:cNvSpPr txBox="1"/>
          <p:nvPr/>
        </p:nvSpPr>
        <p:spPr>
          <a:xfrm>
            <a:off x="1466149" y="101531"/>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8" name="Google Shape;138;p1"/>
          <p:cNvSpPr txBox="1"/>
          <p:nvPr/>
        </p:nvSpPr>
        <p:spPr>
          <a:xfrm>
            <a:off x="1388799" y="1596390"/>
            <a:ext cx="8822001" cy="4205700"/>
          </a:xfrm>
          <a:prstGeom prst="rect">
            <a:avLst/>
          </a:prstGeom>
          <a:noFill/>
          <a:ln>
            <a:noFill/>
          </a:ln>
        </p:spPr>
        <p:txBody>
          <a:bodyPr spcFirstLastPara="1" wrap="square" lIns="91425" tIns="45700" rIns="91425" bIns="45700" anchor="t" anchorCtr="0">
            <a:noAutofit/>
          </a:bodyPr>
          <a:lstStyle/>
          <a:p>
            <a:r>
              <a:rPr lang="en-US" sz="22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endParaRPr sz="2200" dirty="0">
              <a:latin typeface="Verdana" panose="020B0604030504040204" pitchFamily="34" charset="0"/>
              <a:ea typeface="Verdana" panose="020B0604030504040204" pitchFamily="34" charset="0"/>
              <a:cs typeface="Verdana" panose="020B0604030504040204" pitchFamily="34" charset="0"/>
            </a:endParaRPr>
          </a:p>
          <a:p>
            <a:pPr marL="457200"/>
            <a:endParaRPr sz="22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2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endParaRPr sz="2200" dirty="0">
              <a:latin typeface="Verdana" panose="020B0604030504040204" pitchFamily="34" charset="0"/>
              <a:ea typeface="Verdana" panose="020B0604030504040204" pitchFamily="34" charset="0"/>
              <a:cs typeface="Verdana" panose="020B0604030504040204" pitchFamily="34" charset="0"/>
            </a:endParaRPr>
          </a:p>
          <a:p>
            <a:pPr marL="457200"/>
            <a:endParaRPr sz="22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2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endParaRPr sz="2200" dirty="0">
              <a:latin typeface="Verdana" panose="020B0604030504040204" pitchFamily="34" charset="0"/>
              <a:ea typeface="Verdana" panose="020B0604030504040204" pitchFamily="34" charset="0"/>
              <a:cs typeface="Verdana" panose="020B0604030504040204" pitchFamily="34" charset="0"/>
            </a:endParaRPr>
          </a:p>
          <a:p>
            <a:pPr marL="457200"/>
            <a:endParaRPr sz="22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2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endParaRPr sz="2200" dirty="0">
              <a:latin typeface="Verdana" panose="020B0604030504040204" pitchFamily="34" charset="0"/>
              <a:ea typeface="Verdana" panose="020B0604030504040204" pitchFamily="34" charset="0"/>
              <a:cs typeface="Verdana" panose="020B0604030504040204" pitchFamily="34" charset="0"/>
            </a:endParaRPr>
          </a:p>
          <a:p>
            <a:endParaRPr sz="22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2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endParaRPr sz="22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8"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sp>
        <p:nvSpPr>
          <p:cNvPr id="146" name="Google Shape;146;p2"/>
          <p:cNvSpPr txBox="1"/>
          <p:nvPr/>
        </p:nvSpPr>
        <p:spPr>
          <a:xfrm>
            <a:off x="1477918" y="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Targets</a:t>
            </a:r>
            <a:endParaRPr dirty="0"/>
          </a:p>
        </p:txBody>
      </p:sp>
      <p:pic>
        <p:nvPicPr>
          <p:cNvPr id="147" name="Google Shape;147;p2"/>
          <p:cNvPicPr preferRelativeResize="0"/>
          <p:nvPr/>
        </p:nvPicPr>
        <p:blipFill rotWithShape="1">
          <a:blip r:embed="rId3">
            <a:alphaModFix/>
          </a:blip>
          <a:srcRect/>
          <a:stretch/>
        </p:blipFill>
        <p:spPr>
          <a:xfrm>
            <a:off x="695756" y="289200"/>
            <a:ext cx="747300" cy="747300"/>
          </a:xfrm>
          <a:prstGeom prst="rect">
            <a:avLst/>
          </a:prstGeom>
          <a:noFill/>
          <a:ln>
            <a:noFill/>
          </a:ln>
          <a:effectLst>
            <a:outerShdw blurRad="50800" dist="38100" dir="2700000" algn="tl" rotWithShape="0">
              <a:srgbClr val="000000">
                <a:alpha val="40000"/>
              </a:srgbClr>
            </a:outerShdw>
          </a:effectLst>
        </p:spPr>
      </p:pic>
      <p:sp>
        <p:nvSpPr>
          <p:cNvPr id="149" name="Google Shape;149;p2"/>
          <p:cNvSpPr txBox="1"/>
          <p:nvPr/>
        </p:nvSpPr>
        <p:spPr>
          <a:xfrm>
            <a:off x="1659988" y="1600200"/>
            <a:ext cx="8550812"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ct val="125000"/>
              <a:buFont typeface="Verdana"/>
              <a:buChar char="❏"/>
            </a:pPr>
            <a:r>
              <a:rPr lang="en-US" sz="2400" dirty="0">
                <a:latin typeface="Verdana" panose="020B0604030504040204" pitchFamily="34" charset="0"/>
                <a:ea typeface="Verdana" panose="020B0604030504040204" pitchFamily="34" charset="0"/>
                <a:cs typeface="Verdana" panose="020B0604030504040204" pitchFamily="34" charset="0"/>
              </a:rPr>
              <a:t>I can find the surface area of right rectangular prisms and right rectangular pyramids.</a:t>
            </a:r>
            <a:endParaRPr sz="2400" dirty="0">
              <a:latin typeface="Verdana" panose="020B0604030504040204" pitchFamily="34" charset="0"/>
              <a:ea typeface="Verdana" panose="020B0604030504040204" pitchFamily="34" charset="0"/>
              <a:cs typeface="Verdana" panose="020B0604030504040204" pitchFamily="34" charset="0"/>
            </a:endParaRPr>
          </a:p>
          <a:p>
            <a:pPr marL="457200" indent="-450850">
              <a:buClr>
                <a:srgbClr val="434343"/>
              </a:buClr>
              <a:buSzPct val="125000"/>
              <a:buFont typeface="Verdana"/>
              <a:buChar char="❏"/>
            </a:pPr>
            <a:r>
              <a:rPr lang="en-US" sz="2400" dirty="0">
                <a:latin typeface="Verdana" panose="020B0604030504040204" pitchFamily="34" charset="0"/>
                <a:ea typeface="Verdana" panose="020B0604030504040204" pitchFamily="34" charset="0"/>
                <a:cs typeface="Verdana" panose="020B0604030504040204" pitchFamily="34" charset="0"/>
              </a:rPr>
              <a:t>I can find the volume of right rectangular prisms. </a:t>
            </a:r>
          </a:p>
          <a:p>
            <a:pPr marL="457200" indent="-450850">
              <a:buClr>
                <a:srgbClr val="434343"/>
              </a:buClr>
              <a:buSzPts val="3500"/>
              <a:buFont typeface="Verdana"/>
              <a:buChar char="❏"/>
            </a:pPr>
            <a:endParaRPr dirty="0"/>
          </a:p>
        </p:txBody>
      </p:sp>
      <p:sp>
        <p:nvSpPr>
          <p:cNvPr id="8"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7"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67" name="Google Shape;167;p4"/>
          <p:cNvSpPr txBox="1"/>
          <p:nvPr/>
        </p:nvSpPr>
        <p:spPr>
          <a:xfrm>
            <a:off x="1623032" y="-52219"/>
            <a:ext cx="967621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8.6.1 Warm-Up: Would You Rather?</a:t>
            </a:r>
            <a:endParaRPr dirty="0"/>
          </a:p>
        </p:txBody>
      </p:sp>
      <p:pic>
        <p:nvPicPr>
          <p:cNvPr id="168" name="Google Shape;168;p4"/>
          <p:cNvPicPr preferRelativeResize="0"/>
          <p:nvPr/>
        </p:nvPicPr>
        <p:blipFill rotWithShape="1">
          <a:blip r:embed="rId3">
            <a:alphaModFix/>
          </a:blip>
          <a:srcRect/>
          <a:stretch/>
        </p:blipFill>
        <p:spPr>
          <a:xfrm>
            <a:off x="875732" y="197485"/>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170" name="Google Shape;170;p4"/>
              <p:cNvSpPr txBox="1"/>
              <p:nvPr/>
            </p:nvSpPr>
            <p:spPr>
              <a:xfrm>
                <a:off x="1336431" y="1386025"/>
                <a:ext cx="9051153" cy="101562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Cake A and Cake B are shown below. Cake A is cut into </a:t>
                </a:r>
                <a14:m>
                  <m:oMath xmlns:m="http://schemas.openxmlformats.org/officeDocument/2006/math">
                    <m:r>
                      <a:rPr lang="en-US" sz="2000" i="1">
                        <a:latin typeface="Cambria Math" panose="02040503050406030204" pitchFamily="18"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 equal slices. Cake B is cut into </a:t>
                </a:r>
                <a14:m>
                  <m:oMath xmlns:m="http://schemas.openxmlformats.org/officeDocument/2006/math">
                    <m:r>
                      <a:rPr lang="en-US" sz="2000" i="1">
                        <a:latin typeface="Cambria Math" panose="02040503050406030204" pitchFamily="18" charset="0"/>
                        <a:ea typeface="Cambria Math" panose="02040503050406030204" pitchFamily="18" charset="0"/>
                      </a:rPr>
                      <m:t>6</m:t>
                    </m:r>
                  </m:oMath>
                </a14:m>
                <a:r>
                  <a:rPr lang="en-US" sz="2000" dirty="0">
                    <a:latin typeface="Verdana" panose="020B0604030504040204" pitchFamily="34" charset="0"/>
                    <a:ea typeface="Verdana" panose="020B0604030504040204" pitchFamily="34" charset="0"/>
                    <a:cs typeface="Verdana" panose="020B0604030504040204" pitchFamily="34" charset="0"/>
                  </a:rPr>
                  <a:t> equal slices. Would you rather have a slice from Cake A or Cake B?</a:t>
                </a:r>
              </a:p>
            </p:txBody>
          </p:sp>
        </mc:Choice>
        <mc:Fallback xmlns="">
          <p:sp>
            <p:nvSpPr>
              <p:cNvPr id="170" name="Google Shape;170;p4"/>
              <p:cNvSpPr txBox="1">
                <a:spLocks noRot="1" noChangeAspect="1" noMove="1" noResize="1" noEditPoints="1" noAdjustHandles="1" noChangeArrowheads="1" noChangeShapeType="1" noTextEdit="1"/>
              </p:cNvSpPr>
              <p:nvPr/>
            </p:nvSpPr>
            <p:spPr>
              <a:xfrm>
                <a:off x="1336431" y="1386025"/>
                <a:ext cx="9051153" cy="1015622"/>
              </a:xfrm>
              <a:prstGeom prst="rect">
                <a:avLst/>
              </a:prstGeom>
              <a:blipFill rotWithShape="0">
                <a:blip r:embed="rId4"/>
                <a:stretch>
                  <a:fillRect l="-741" t="-3593" b="-9581"/>
                </a:stretch>
              </a:blipFill>
              <a:ln>
                <a:noFill/>
              </a:ln>
            </p:spPr>
            <p:txBody>
              <a:bodyPr/>
              <a:lstStyle/>
              <a:p>
                <a:r>
                  <a:rPr lang="en-US">
                    <a:noFill/>
                  </a:rPr>
                  <a:t> </a:t>
                </a:r>
              </a:p>
            </p:txBody>
          </p:sp>
        </mc:Fallback>
      </mc:AlternateContent>
      <p:pic>
        <p:nvPicPr>
          <p:cNvPr id="4" name="Picture 3" descr="Diagram&#10;&#10;Description automatically generated">
            <a:extLst>
              <a:ext uri="{FF2B5EF4-FFF2-40B4-BE49-F238E27FC236}">
                <a16:creationId xmlns:a16="http://schemas.microsoft.com/office/drawing/2014/main" xmlns="" id="{0702E069-03A2-6447-82CD-A988B866E1B3}"/>
              </a:ext>
            </a:extLst>
          </p:cNvPr>
          <p:cNvPicPr>
            <a:picLocks noChangeAspect="1"/>
          </p:cNvPicPr>
          <p:nvPr/>
        </p:nvPicPr>
        <p:blipFill>
          <a:blip r:embed="rId5"/>
          <a:stretch>
            <a:fillRect/>
          </a:stretch>
        </p:blipFill>
        <p:spPr>
          <a:xfrm>
            <a:off x="2784131" y="2586985"/>
            <a:ext cx="6879771" cy="3003427"/>
          </a:xfrm>
          <a:prstGeom prst="rect">
            <a:avLst/>
          </a:prstGeom>
        </p:spPr>
      </p:pic>
      <p:sp>
        <p:nvSpPr>
          <p:cNvPr id="9"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7"/>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97" name="Google Shape;197;p7"/>
          <p:cNvSpPr txBox="1"/>
          <p:nvPr/>
        </p:nvSpPr>
        <p:spPr>
          <a:xfrm>
            <a:off x="1428783" y="33227"/>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8.6.2 Collaboration: Which Juice Box is Better?</a:t>
            </a:r>
            <a:endParaRPr dirty="0"/>
          </a:p>
        </p:txBody>
      </p:sp>
      <p:pic>
        <p:nvPicPr>
          <p:cNvPr id="199" name="Google Shape;199;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78975" y="321173"/>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mc:Choice xmlns:a14="http://schemas.microsoft.com/office/drawing/2010/main" Requires="a14">
          <p:sp>
            <p:nvSpPr>
              <p:cNvPr id="200" name="Google Shape;200;p7"/>
              <p:cNvSpPr txBox="1"/>
              <p:nvPr/>
            </p:nvSpPr>
            <p:spPr>
              <a:xfrm>
                <a:off x="1428783" y="1386026"/>
                <a:ext cx="9590466" cy="4493497"/>
              </a:xfrm>
              <a:prstGeom prst="rect">
                <a:avLst/>
              </a:prstGeom>
              <a:noFill/>
              <a:ln>
                <a:noFill/>
              </a:ln>
            </p:spPr>
            <p:txBody>
              <a:bodyPr spcFirstLastPara="1" wrap="square" lIns="91425" tIns="45700" rIns="91425" bIns="45700" anchor="t" anchorCtr="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Julius is designing a juice box. He drew a model of his box.</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If the juice box has a volume of</a:t>
                </a:r>
                <a:r>
                  <a:rPr lang="en-US" sz="2400" dirty="0" smtClean="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m:t>196.875</m:t>
                    </m:r>
                  </m:oMath>
                </a14:m>
                <a:r>
                  <a:rPr lang="en-US" sz="2400" dirty="0" smtClean="0">
                    <a:latin typeface="Verdana" panose="020B0604030504040204" pitchFamily="34" charset="0"/>
                    <a:ea typeface="Verdana" panose="020B0604030504040204" pitchFamily="34"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cubic centimeters (cm</a:t>
                </a:r>
                <a:r>
                  <a:rPr lang="en-US" sz="2400" baseline="30000" dirty="0">
                    <a:latin typeface="Verdana" panose="020B0604030504040204" pitchFamily="34" charset="0"/>
                    <a:ea typeface="Verdana" panose="020B0604030504040204" pitchFamily="34" charset="0"/>
                    <a:cs typeface="Verdana" panose="020B0604030504040204" pitchFamily="34" charset="0"/>
                  </a:rPr>
                  <a:t>3</a:t>
                </a:r>
                <a:r>
                  <a:rPr lang="en-US" sz="2400" dirty="0">
                    <a:latin typeface="Verdana" panose="020B0604030504040204" pitchFamily="34" charset="0"/>
                    <a:ea typeface="Verdana" panose="020B0604030504040204" pitchFamily="34" charset="0"/>
                    <a:cs typeface="Verdana" panose="020B0604030504040204" pitchFamily="34" charset="0"/>
                  </a:rPr>
                  <a:t>), what is the width of the box?</a:t>
                </a:r>
              </a:p>
              <a:p>
                <a:endParaRPr lang="en-US" dirty="0"/>
              </a:p>
            </p:txBody>
          </p:sp>
        </mc:Choice>
        <mc:Fallback>
          <p:sp>
            <p:nvSpPr>
              <p:cNvPr id="200" name="Google Shape;200;p7"/>
              <p:cNvSpPr txBox="1">
                <a:spLocks noRot="1" noChangeAspect="1" noMove="1" noResize="1" noEditPoints="1" noAdjustHandles="1" noChangeArrowheads="1" noChangeShapeType="1" noTextEdit="1"/>
              </p:cNvSpPr>
              <p:nvPr/>
            </p:nvSpPr>
            <p:spPr>
              <a:xfrm>
                <a:off x="1428783" y="1386026"/>
                <a:ext cx="9590466" cy="4493497"/>
              </a:xfrm>
              <a:prstGeom prst="rect">
                <a:avLst/>
              </a:prstGeom>
              <a:blipFill rotWithShape="1">
                <a:blip r:embed="rId4"/>
                <a:stretch>
                  <a:fillRect l="-953" t="-1085" r="-1461"/>
                </a:stretch>
              </a:blipFill>
              <a:ln>
                <a:noFill/>
              </a:ln>
            </p:spPr>
            <p:txBody>
              <a:bodyPr/>
              <a:lstStyle/>
              <a:p>
                <a:r>
                  <a:rPr lang="en-PH">
                    <a:noFill/>
                  </a:rPr>
                  <a:t> </a:t>
                </a:r>
              </a:p>
            </p:txBody>
          </p:sp>
        </mc:Fallback>
      </mc:AlternateContent>
      <p:sp>
        <p:nvSpPr>
          <p:cNvPr id="9"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32</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pic>
        <p:nvPicPr>
          <p:cNvPr id="14" name="Picture 13" descr="A picture containing diagram&#10;&#10;Description automatically generated">
            <a:extLst>
              <a:ext uri="{FF2B5EF4-FFF2-40B4-BE49-F238E27FC236}">
                <a16:creationId xmlns:a16="http://schemas.microsoft.com/office/drawing/2014/main" xmlns="" id="{4C172282-053D-EF45-BEB2-872D0EB3CE06}"/>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414010" y="2005879"/>
            <a:ext cx="1363980" cy="2419985"/>
          </a:xfrm>
          <a:prstGeom prst="rect">
            <a:avLst/>
          </a:prstGeom>
        </p:spPr>
      </p:pic>
      <mc:AlternateContent xmlns:mc="http://schemas.openxmlformats.org/markup-compatibility/2006">
        <mc:Choice xmlns:a14="http://schemas.microsoft.com/office/drawing/2010/main" Requires="a14">
          <p:sp>
            <p:nvSpPr>
              <p:cNvPr id="15" name="Text Box 10">
                <a:extLst>
                  <a:ext uri="{FF2B5EF4-FFF2-40B4-BE49-F238E27FC236}">
                    <a16:creationId xmlns:a16="http://schemas.microsoft.com/office/drawing/2014/main" xmlns="" id="{42467910-8E2E-4F4A-B189-7AA0C3EC70F0}"/>
                  </a:ext>
                </a:extLst>
              </p:cNvPr>
              <p:cNvSpPr txBox="1"/>
              <p:nvPr/>
            </p:nvSpPr>
            <p:spPr>
              <a:xfrm>
                <a:off x="4428417" y="2783954"/>
                <a:ext cx="1201523" cy="3524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b="0" i="1" smtClean="0">
                        <a:latin typeface="Cambria Math"/>
                        <a:ea typeface="Times New Roman" panose="02020603050405020304" pitchFamily="18" charset="0"/>
                        <a:cs typeface="Times New Roman" panose="02020603050405020304" pitchFamily="18" charset="0"/>
                      </a:rPr>
                      <m:t>10.5</m:t>
                    </m:r>
                  </m:oMath>
                </a14:m>
                <a:r>
                  <a:rPr lang="en-US" sz="1800" dirty="0">
                    <a:latin typeface="Cambria" panose="02040503050406030204" pitchFamily="18" charset="0"/>
                    <a:ea typeface="Times New Roman" panose="02020603050405020304" pitchFamily="18" charset="0"/>
                    <a:cs typeface="Times New Roman" panose="02020603050405020304" pitchFamily="18" charset="0"/>
                  </a:rPr>
                  <a:t> </a:t>
                </a:r>
                <a:r>
                  <a:rPr lang="en-US" sz="1800" dirty="0">
                    <a:latin typeface="Verdana" panose="020B0604030504040204" pitchFamily="34" charset="0"/>
                    <a:ea typeface="Times New Roman" panose="02020603050405020304" pitchFamily="18" charset="0"/>
                    <a:cs typeface="Times New Roman" panose="02020603050405020304" pitchFamily="18" charset="0"/>
                  </a:rPr>
                  <a:t>cm</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15" name="Text Box 10">
                <a:extLst>
                  <a:ext uri="{FF2B5EF4-FFF2-40B4-BE49-F238E27FC236}">
                    <a16:creationId xmlns:a16="http://schemas.microsoft.com/office/drawing/2014/main" xmlns:a14="http://schemas.microsoft.com/office/drawing/2010/main" xmlns="" id="{42467910-8E2E-4F4A-B189-7AA0C3EC70F0}"/>
                  </a:ext>
                </a:extLst>
              </p:cNvPr>
              <p:cNvSpPr txBox="1">
                <a:spLocks noRot="1" noChangeAspect="1" noMove="1" noResize="1" noEditPoints="1" noAdjustHandles="1" noChangeArrowheads="1" noChangeShapeType="1" noTextEdit="1"/>
              </p:cNvSpPr>
              <p:nvPr/>
            </p:nvSpPr>
            <p:spPr>
              <a:xfrm>
                <a:off x="4428417" y="2783954"/>
                <a:ext cx="1201523" cy="352425"/>
              </a:xfrm>
              <a:prstGeom prst="rect">
                <a:avLst/>
              </a:prstGeom>
              <a:blipFill rotWithShape="1">
                <a:blip r:embed="rId7"/>
                <a:stretch>
                  <a:fillRect t="-3509" b="-38596"/>
                </a:stretch>
              </a:blipFill>
              <a:ln w="6350">
                <a:noFill/>
              </a:ln>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6" name="Text Box 15">
                <a:extLst>
                  <a:ext uri="{FF2B5EF4-FFF2-40B4-BE49-F238E27FC236}">
                    <a16:creationId xmlns:a16="http://schemas.microsoft.com/office/drawing/2014/main" xmlns="" id="{FBD61CF0-D976-4840-B8E6-5CE09F0DFE27}"/>
                  </a:ext>
                </a:extLst>
              </p:cNvPr>
              <p:cNvSpPr txBox="1"/>
              <p:nvPr/>
            </p:nvSpPr>
            <p:spPr>
              <a:xfrm>
                <a:off x="5029178" y="3914453"/>
                <a:ext cx="1282752" cy="3524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Cambria" panose="02040503050406030204" pitchFamily="18" charset="0"/>
                    <a:ea typeface="Times New Roman" panose="02020603050405020304" pitchFamily="18" charset="0"/>
                    <a:cs typeface="Times New Roman" panose="02020603050405020304" pitchFamily="18" charset="0"/>
                  </a:rPr>
                  <a:t> </a:t>
                </a:r>
                <a:r>
                  <a:rPr lang="en-US" sz="2000" dirty="0">
                    <a:latin typeface="Verdana" panose="020B0604030504040204" pitchFamily="34" charset="0"/>
                    <a:ea typeface="Times New Roman" panose="02020603050405020304" pitchFamily="18" charset="0"/>
                    <a:cs typeface="Times New Roman" panose="02020603050405020304" pitchFamily="18" charset="0"/>
                  </a:rPr>
                  <a:t>cm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16" name="Text Box 15">
                <a:extLst>
                  <a:ext uri="{FF2B5EF4-FFF2-40B4-BE49-F238E27FC236}">
                    <a16:creationId xmlns:a16="http://schemas.microsoft.com/office/drawing/2014/main" xmlns:a14="http://schemas.microsoft.com/office/drawing/2010/main" xmlns="" id="{FBD61CF0-D976-4840-B8E6-5CE09F0DFE27}"/>
                  </a:ext>
                </a:extLst>
              </p:cNvPr>
              <p:cNvSpPr txBox="1">
                <a:spLocks noRot="1" noChangeAspect="1" noMove="1" noResize="1" noEditPoints="1" noAdjustHandles="1" noChangeArrowheads="1" noChangeShapeType="1" noTextEdit="1"/>
              </p:cNvSpPr>
              <p:nvPr/>
            </p:nvSpPr>
            <p:spPr>
              <a:xfrm>
                <a:off x="5029178" y="3914453"/>
                <a:ext cx="1282752" cy="352425"/>
              </a:xfrm>
              <a:prstGeom prst="rect">
                <a:avLst/>
              </a:prstGeom>
              <a:blipFill rotWithShape="1">
                <a:blip r:embed="rId8"/>
                <a:stretch>
                  <a:fillRect t="-8621" b="-43103"/>
                </a:stretch>
              </a:blipFill>
              <a:ln w="6350">
                <a:noFill/>
              </a:ln>
            </p:spPr>
            <p:txBody>
              <a:bodyPr/>
              <a:lstStyle/>
              <a:p>
                <a:r>
                  <a:rPr lang="en-PH">
                    <a:noFill/>
                  </a:rPr>
                  <a:t> </a:t>
                </a:r>
              </a:p>
            </p:txBody>
          </p:sp>
        </mc:Fallback>
      </mc:AlternateContent>
      <p:sp>
        <p:nvSpPr>
          <p:cNvPr id="17" name="Text Box 23">
            <a:extLst>
              <a:ext uri="{FF2B5EF4-FFF2-40B4-BE49-F238E27FC236}">
                <a16:creationId xmlns:a16="http://schemas.microsoft.com/office/drawing/2014/main" xmlns="" id="{537451C0-2912-1045-AF9F-E8FA88866973}"/>
              </a:ext>
            </a:extLst>
          </p:cNvPr>
          <p:cNvSpPr txBox="1"/>
          <p:nvPr/>
        </p:nvSpPr>
        <p:spPr>
          <a:xfrm>
            <a:off x="6290888" y="4130443"/>
            <a:ext cx="533400" cy="4413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dirty="0">
                <a:latin typeface="Cambria" panose="02040503050406030204" pitchFamily="18" charset="0"/>
                <a:ea typeface="Times New Roman" panose="02020603050405020304" pitchFamily="18" charset="0"/>
                <a:cs typeface="Times New Roman" panose="02020603050405020304" pitchFamily="18"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09" name="Google Shape;209;p8"/>
          <p:cNvSpPr txBox="1"/>
          <p:nvPr/>
        </p:nvSpPr>
        <p:spPr>
          <a:xfrm>
            <a:off x="1209822" y="520393"/>
            <a:ext cx="9923022" cy="1200288"/>
          </a:xfrm>
          <a:prstGeom prst="rect">
            <a:avLst/>
          </a:prstGeom>
          <a:noFill/>
          <a:ln>
            <a:noFill/>
          </a:ln>
        </p:spPr>
        <p:txBody>
          <a:bodyPr spcFirstLastPara="1" wrap="square" lIns="91425" tIns="45700" rIns="91425" bIns="45700" anchor="t" anchorCtr="0">
            <a:spAutoFit/>
          </a:bodyPr>
          <a:lstStyle/>
          <a:p>
            <a:pPr marL="473075" indent="-473075">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How much packaging board would Julius need to make a juice box with these dimensions, not taking into consideration any overlap of the faces?</a:t>
            </a:r>
            <a:r>
              <a:rPr lang="en-US" sz="2400" i="1"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33</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09" name="Google Shape;209;p8"/>
          <p:cNvSpPr txBox="1"/>
          <p:nvPr/>
        </p:nvSpPr>
        <p:spPr>
          <a:xfrm>
            <a:off x="1195754" y="520394"/>
            <a:ext cx="9951158" cy="5447605"/>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Julius wondered how the juice box would be affected if he changed the dimensions, but kept the volume the same.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73075" indent="-473075">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What is the new length?</a:t>
            </a:r>
          </a:p>
          <a:p>
            <a:pPr marL="342900" indent="-3429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73075" indent="-473075">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How much packaging board would Julius need to make the new juice box?</a:t>
            </a:r>
          </a:p>
          <a:p>
            <a:r>
              <a:rPr lang="en-US" dirty="0"/>
              <a:t> </a:t>
            </a:r>
          </a:p>
          <a:p>
            <a:endParaRPr lang="en-US" dirty="0"/>
          </a:p>
        </p:txBody>
      </p:sp>
      <p:sp>
        <p:nvSpPr>
          <p:cNvPr id="7"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pic>
        <p:nvPicPr>
          <p:cNvPr id="9" name="Picture 8">
            <a:extLst>
              <a:ext uri="{FF2B5EF4-FFF2-40B4-BE49-F238E27FC236}">
                <a16:creationId xmlns:a16="http://schemas.microsoft.com/office/drawing/2014/main" xmlns="" id="{D9BDF972-35BF-3341-8617-E866D01946A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18006" y="1194512"/>
            <a:ext cx="1896745" cy="2054225"/>
          </a:xfrm>
          <a:prstGeom prst="rect">
            <a:avLst/>
          </a:prstGeom>
        </p:spPr>
      </p:pic>
      <mc:AlternateContent xmlns:mc="http://schemas.openxmlformats.org/markup-compatibility/2006">
        <mc:Choice xmlns:a14="http://schemas.microsoft.com/office/drawing/2010/main" Requires="a14">
          <p:sp>
            <p:nvSpPr>
              <p:cNvPr id="10" name="Text Box 27">
                <a:extLst>
                  <a:ext uri="{FF2B5EF4-FFF2-40B4-BE49-F238E27FC236}">
                    <a16:creationId xmlns:a16="http://schemas.microsoft.com/office/drawing/2014/main" xmlns="" id="{98457090-234C-9545-8F99-AF138C280EF8}"/>
                  </a:ext>
                </a:extLst>
              </p:cNvPr>
              <p:cNvSpPr txBox="1"/>
              <p:nvPr/>
            </p:nvSpPr>
            <p:spPr>
              <a:xfrm>
                <a:off x="4533900" y="2052515"/>
                <a:ext cx="1163598" cy="369231"/>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b="0" i="1" smtClean="0">
                        <a:latin typeface="Cambria Math"/>
                        <a:ea typeface="Times New Roman" panose="02020603050405020304" pitchFamily="18" charset="0"/>
                        <a:cs typeface="Times New Roman" panose="02020603050405020304" pitchFamily="18" charset="0"/>
                      </a:rPr>
                      <m:t>7.</m:t>
                    </m:r>
                    <m:r>
                      <a:rPr lang="en-US" sz="2000" i="1">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Cambria" panose="02040503050406030204" pitchFamily="18" charset="0"/>
                    <a:ea typeface="Times New Roman" panose="02020603050405020304" pitchFamily="18" charset="0"/>
                    <a:cs typeface="Times New Roman" panose="02020603050405020304" pitchFamily="18" charset="0"/>
                  </a:rPr>
                  <a:t> </a:t>
                </a:r>
                <a:r>
                  <a:rPr lang="en-US" sz="2000" dirty="0">
                    <a:latin typeface="Verdana" panose="020B0604030504040204" pitchFamily="34" charset="0"/>
                    <a:ea typeface="Times New Roman" panose="02020603050405020304" pitchFamily="18" charset="0"/>
                    <a:cs typeface="Times New Roman" panose="02020603050405020304" pitchFamily="18" charset="0"/>
                  </a:rPr>
                  <a:t>cm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10" name="Text Box 27">
                <a:extLst>
                  <a:ext uri="{FF2B5EF4-FFF2-40B4-BE49-F238E27FC236}">
                    <a16:creationId xmlns:a16="http://schemas.microsoft.com/office/drawing/2014/main" xmlns:a14="http://schemas.microsoft.com/office/drawing/2010/main" xmlns="" id="{98457090-234C-9545-8F99-AF138C280EF8}"/>
                  </a:ext>
                </a:extLst>
              </p:cNvPr>
              <p:cNvSpPr txBox="1">
                <a:spLocks noRot="1" noChangeAspect="1" noMove="1" noResize="1" noEditPoints="1" noAdjustHandles="1" noChangeArrowheads="1" noChangeShapeType="1" noTextEdit="1"/>
              </p:cNvSpPr>
              <p:nvPr/>
            </p:nvSpPr>
            <p:spPr>
              <a:xfrm>
                <a:off x="4533900" y="2052515"/>
                <a:ext cx="1163598" cy="369231"/>
              </a:xfrm>
              <a:prstGeom prst="rect">
                <a:avLst/>
              </a:prstGeom>
              <a:blipFill rotWithShape="1">
                <a:blip r:embed="rId5"/>
                <a:stretch>
                  <a:fillRect t="-8333" b="-38333"/>
                </a:stretch>
              </a:blipFill>
              <a:ln w="6350">
                <a:noFill/>
              </a:ln>
            </p:spPr>
            <p:txBody>
              <a:bodyPr/>
              <a:lstStyle/>
              <a:p>
                <a:r>
                  <a:rPr lang="en-PH">
                    <a:noFill/>
                  </a:rPr>
                  <a:t> </a:t>
                </a:r>
              </a:p>
            </p:txBody>
          </p:sp>
        </mc:Fallback>
      </mc:AlternateContent>
      <p:sp>
        <p:nvSpPr>
          <p:cNvPr id="11" name="Text Box 29">
            <a:extLst>
              <a:ext uri="{FF2B5EF4-FFF2-40B4-BE49-F238E27FC236}">
                <a16:creationId xmlns:a16="http://schemas.microsoft.com/office/drawing/2014/main" xmlns="" id="{52906AEB-5511-3247-BAFC-3A132B4E44F0}"/>
              </a:ext>
            </a:extLst>
          </p:cNvPr>
          <p:cNvSpPr txBox="1"/>
          <p:nvPr/>
        </p:nvSpPr>
        <p:spPr>
          <a:xfrm>
            <a:off x="5706658" y="2896312"/>
            <a:ext cx="409575" cy="3524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2000">
                <a:latin typeface="Verdana" panose="020B0604030504040204" pitchFamily="34" charset="0"/>
                <a:ea typeface="Times New Roman" panose="02020603050405020304" pitchFamily="18" charset="0"/>
                <a:cs typeface="Times New Roman" panose="02020603050405020304" pitchFamily="18" charset="0"/>
              </a:rPr>
              <a:t>?</a:t>
            </a:r>
            <a:endParaRPr lang="en-US" sz="2000">
              <a:latin typeface="Cambria" panose="02040503050406030204" pitchFamily="18" charset="0"/>
              <a:ea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2" name="Text Box 28">
                <a:extLst>
                  <a:ext uri="{FF2B5EF4-FFF2-40B4-BE49-F238E27FC236}">
                    <a16:creationId xmlns:a16="http://schemas.microsoft.com/office/drawing/2014/main" xmlns="" id="{C3122401-EB53-534F-BDC9-9A27ADF8C101}"/>
                  </a:ext>
                </a:extLst>
              </p:cNvPr>
              <p:cNvSpPr txBox="1"/>
              <p:nvPr/>
            </p:nvSpPr>
            <p:spPr>
              <a:xfrm>
                <a:off x="6431163" y="3072524"/>
                <a:ext cx="988564" cy="3524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b="0" i="1" smtClean="0">
                        <a:latin typeface="Cambria Math"/>
                        <a:ea typeface="Times New Roman" panose="02020603050405020304" pitchFamily="18" charset="0"/>
                        <a:cs typeface="Times New Roman" panose="02020603050405020304" pitchFamily="18" charset="0"/>
                      </a:rPr>
                      <m:t>5</m:t>
                    </m:r>
                  </m:oMath>
                </a14:m>
                <a:r>
                  <a:rPr lang="en-US" sz="2000" dirty="0">
                    <a:latin typeface="Cambria" panose="02040503050406030204" pitchFamily="18" charset="0"/>
                    <a:ea typeface="Times New Roman" panose="02020603050405020304" pitchFamily="18" charset="0"/>
                    <a:cs typeface="Times New Roman" panose="02020603050405020304" pitchFamily="18" charset="0"/>
                  </a:rPr>
                  <a:t> </a:t>
                </a:r>
                <a:r>
                  <a:rPr lang="en-US" sz="2000" dirty="0">
                    <a:latin typeface="Verdana" panose="020B0604030504040204" pitchFamily="34" charset="0"/>
                    <a:ea typeface="Times New Roman" panose="02020603050405020304" pitchFamily="18" charset="0"/>
                    <a:cs typeface="Times New Roman" panose="02020603050405020304" pitchFamily="18" charset="0"/>
                  </a:rPr>
                  <a:t>cm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12" name="Text Box 28">
                <a:extLst>
                  <a:ext uri="{FF2B5EF4-FFF2-40B4-BE49-F238E27FC236}">
                    <a16:creationId xmlns:a16="http://schemas.microsoft.com/office/drawing/2014/main" xmlns:a14="http://schemas.microsoft.com/office/drawing/2010/main" xmlns="" id="{C3122401-EB53-534F-BDC9-9A27ADF8C101}"/>
                  </a:ext>
                </a:extLst>
              </p:cNvPr>
              <p:cNvSpPr txBox="1">
                <a:spLocks noRot="1" noChangeAspect="1" noMove="1" noResize="1" noEditPoints="1" noAdjustHandles="1" noChangeArrowheads="1" noChangeShapeType="1" noTextEdit="1"/>
              </p:cNvSpPr>
              <p:nvPr/>
            </p:nvSpPr>
            <p:spPr>
              <a:xfrm>
                <a:off x="6431163" y="3072524"/>
                <a:ext cx="988564" cy="352425"/>
              </a:xfrm>
              <a:prstGeom prst="rect">
                <a:avLst/>
              </a:prstGeom>
              <a:blipFill rotWithShape="1">
                <a:blip r:embed="rId6"/>
                <a:stretch>
                  <a:fillRect t="-8621" b="-43103"/>
                </a:stretch>
              </a:blipFill>
              <a:ln w="6350">
                <a:noFill/>
              </a:ln>
            </p:spPr>
            <p:txBody>
              <a:bodyPr/>
              <a:lstStyle/>
              <a:p>
                <a:r>
                  <a:rPr lang="en-PH">
                    <a:noFill/>
                  </a:rPr>
                  <a:t> </a:t>
                </a:r>
              </a:p>
            </p:txBody>
          </p:sp>
        </mc:Fallback>
      </mc:AlternateContent>
    </p:spTree>
    <p:extLst>
      <p:ext uri="{BB962C8B-B14F-4D97-AF65-F5344CB8AC3E}">
        <p14:creationId xmlns:p14="http://schemas.microsoft.com/office/powerpoint/2010/main" val="879431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09" name="Google Shape;209;p8"/>
          <p:cNvSpPr txBox="1"/>
          <p:nvPr/>
        </p:nvSpPr>
        <p:spPr>
          <a:xfrm>
            <a:off x="1026942" y="520393"/>
            <a:ext cx="10288782" cy="923289"/>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If Julius wants to use the least amount of material to construct the juice box, which juice box should he choose? Explain your reasoning.</a:t>
            </a:r>
          </a:p>
          <a:p>
            <a:endParaRPr lang="en-US" dirty="0"/>
          </a:p>
        </p:txBody>
      </p:sp>
      <p:sp>
        <p:nvSpPr>
          <p:cNvPr id="6"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33</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272448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1"/>
          <p:cNvSpPr/>
          <p:nvPr/>
        </p:nvSpPr>
        <p:spPr>
          <a:xfrm>
            <a:off x="0" y="-8101"/>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37" name="Google Shape;337;p21"/>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339" name="Google Shape;339;p21" descr="Icon&#10;&#10;Description automatically generated"/>
          <p:cNvPicPr preferRelativeResize="0"/>
          <p:nvPr/>
        </p:nvPicPr>
        <p:blipFill rotWithShape="1">
          <a:blip r:embed="rId3">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34</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22"/>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47" name="Google Shape;347;p22"/>
          <p:cNvSpPr txBox="1"/>
          <p:nvPr/>
        </p:nvSpPr>
        <p:spPr>
          <a:xfrm>
            <a:off x="1428783" y="0"/>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54B5D1"/>
                </a:solidFill>
                <a:latin typeface="Verdana"/>
                <a:ea typeface="Verdana"/>
                <a:cs typeface="Verdana"/>
                <a:sym typeface="Verdana"/>
              </a:rPr>
              <a:t>8.6.3 Guided Practice: Surface Area and Volume</a:t>
            </a:r>
            <a:endParaRPr dirty="0"/>
          </a:p>
        </p:txBody>
      </p:sp>
      <p:pic>
        <p:nvPicPr>
          <p:cNvPr id="349" name="Google Shape;349;p22"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78975" y="166026"/>
            <a:ext cx="749808" cy="749808"/>
          </a:xfrm>
          <a:prstGeom prst="rect">
            <a:avLst/>
          </a:prstGeom>
          <a:noFill/>
          <a:ln>
            <a:noFill/>
          </a:ln>
          <a:effectLst>
            <a:outerShdw blurRad="50800" dist="38100" dir="2700000" algn="tl" rotWithShape="0">
              <a:srgbClr val="000000">
                <a:alpha val="40000"/>
              </a:srgbClr>
            </a:outerShdw>
          </a:effectLst>
        </p:spPr>
      </p:pic>
      <p:sp>
        <p:nvSpPr>
          <p:cNvPr id="350" name="Google Shape;350;p22"/>
          <p:cNvSpPr txBox="1"/>
          <p:nvPr/>
        </p:nvSpPr>
        <p:spPr>
          <a:xfrm>
            <a:off x="1322363" y="1386025"/>
            <a:ext cx="9803306" cy="1538842"/>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With your partner, complete the chart for the three-dimensional figures below.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dirty="0"/>
              <a:t> </a:t>
            </a:r>
          </a:p>
        </p:txBody>
      </p:sp>
      <p:pic>
        <p:nvPicPr>
          <p:cNvPr id="4" name="Picture 3" descr="Chart, radar chart&#10;&#10;Description automatically generated">
            <a:extLst>
              <a:ext uri="{FF2B5EF4-FFF2-40B4-BE49-F238E27FC236}">
                <a16:creationId xmlns:a16="http://schemas.microsoft.com/office/drawing/2014/main" xmlns="" id="{9556AB09-C3E8-2C48-BDCE-070F03AF175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835951" y="2202380"/>
            <a:ext cx="4897261" cy="3474079"/>
          </a:xfrm>
          <a:prstGeom prst="rect">
            <a:avLst/>
          </a:prstGeom>
        </p:spPr>
      </p:pic>
      <p:sp>
        <p:nvSpPr>
          <p:cNvPr id="11"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34</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3"/>
          <p:cNvSpPr/>
          <p:nvPr/>
        </p:nvSpPr>
        <p:spPr>
          <a:xfrm>
            <a:off x="-10668"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6" name="Table 5">
            <a:extLst>
              <a:ext uri="{FF2B5EF4-FFF2-40B4-BE49-F238E27FC236}">
                <a16:creationId xmlns:a16="http://schemas.microsoft.com/office/drawing/2014/main" xmlns="" id="{B67C3C22-4A46-6B44-8487-E885E4968210}"/>
              </a:ext>
            </a:extLst>
          </p:cNvPr>
          <p:cNvGraphicFramePr>
            <a:graphicFrameLocks noGrp="1"/>
          </p:cNvGraphicFramePr>
          <p:nvPr>
            <p:extLst>
              <p:ext uri="{D42A27DB-BD31-4B8C-83A1-F6EECF244321}">
                <p14:modId xmlns:p14="http://schemas.microsoft.com/office/powerpoint/2010/main" val="1192796758"/>
              </p:ext>
            </p:extLst>
          </p:nvPr>
        </p:nvGraphicFramePr>
        <p:xfrm>
          <a:off x="1987826" y="1817095"/>
          <a:ext cx="7312928" cy="4712143"/>
        </p:xfrm>
        <a:graphic>
          <a:graphicData uri="http://schemas.openxmlformats.org/drawingml/2006/table">
            <a:tbl>
              <a:tblPr firstRow="1" firstCol="1" bandRow="1">
                <a:tableStyleId>{5C22544A-7EE6-4342-B048-85BDC9FD1C3A}</a:tableStyleId>
              </a:tblPr>
              <a:tblGrid>
                <a:gridCol w="2558736">
                  <a:extLst>
                    <a:ext uri="{9D8B030D-6E8A-4147-A177-3AD203B41FA5}">
                      <a16:colId xmlns:a16="http://schemas.microsoft.com/office/drawing/2014/main" xmlns="" val="1144388142"/>
                    </a:ext>
                  </a:extLst>
                </a:gridCol>
                <a:gridCol w="4754192">
                  <a:extLst>
                    <a:ext uri="{9D8B030D-6E8A-4147-A177-3AD203B41FA5}">
                      <a16:colId xmlns:a16="http://schemas.microsoft.com/office/drawing/2014/main" xmlns="" val="3112481507"/>
                    </a:ext>
                  </a:extLst>
                </a:gridCol>
              </a:tblGrid>
              <a:tr h="920810">
                <a:tc>
                  <a:txBody>
                    <a:bodyPr/>
                    <a:lstStyle/>
                    <a:p>
                      <a:pPr marL="0" marR="0" algn="ctr">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What is the type of figure?</a:t>
                      </a:r>
                    </a:p>
                  </a:txBody>
                  <a:tcPr marL="51506" marR="5150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51506" marR="5150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4157555441"/>
                  </a:ext>
                </a:extLst>
              </a:tr>
              <a:tr h="2148557">
                <a:tc>
                  <a:txBody>
                    <a:bodyPr/>
                    <a:lstStyle/>
                    <a:p>
                      <a:pPr marL="0" marR="0" algn="ctr">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Draw a net or the individual faces of the figure. Label the measurements.</a:t>
                      </a:r>
                    </a:p>
                  </a:txBody>
                  <a:tcPr marL="51506" marR="5150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51506" marR="5150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081513854"/>
                  </a:ext>
                </a:extLst>
              </a:tr>
              <a:tr h="1642776">
                <a:tc>
                  <a:txBody>
                    <a:bodyPr/>
                    <a:lstStyle/>
                    <a:p>
                      <a:pPr marL="0" marR="0" algn="ctr">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Find the surface area of the figure.</a:t>
                      </a:r>
                    </a:p>
                  </a:txBody>
                  <a:tcPr marL="51506" marR="5150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51506" marR="5150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4243692676"/>
                  </a:ext>
                </a:extLst>
              </a:tr>
            </a:tbl>
          </a:graphicData>
        </a:graphic>
      </p:graphicFrame>
      <p:pic>
        <p:nvPicPr>
          <p:cNvPr id="7" name="Picture 6" descr="Chart, radar chart&#10;&#10;Description automatically generated">
            <a:extLst>
              <a:ext uri="{FF2B5EF4-FFF2-40B4-BE49-F238E27FC236}">
                <a16:creationId xmlns:a16="http://schemas.microsoft.com/office/drawing/2014/main" xmlns="" id="{8A366805-4CFE-4545-8A49-247A541A81A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20014" y="-87086"/>
            <a:ext cx="2561480" cy="1817094"/>
          </a:xfrm>
          <a:prstGeom prst="rect">
            <a:avLst/>
          </a:prstGeom>
        </p:spPr>
      </p:pic>
      <p:sp>
        <p:nvSpPr>
          <p:cNvPr id="8"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32"/>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49" name="Google Shape;449;p32"/>
          <p:cNvSpPr txBox="1"/>
          <p:nvPr/>
        </p:nvSpPr>
        <p:spPr>
          <a:xfrm>
            <a:off x="2007765" y="520394"/>
            <a:ext cx="8327136" cy="400069"/>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sym typeface="Verdana"/>
              </a:rPr>
              <a:t> </a:t>
            </a:r>
            <a:endParaRPr sz="20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a:extLst>
              <a:ext uri="{FF2B5EF4-FFF2-40B4-BE49-F238E27FC236}">
                <a16:creationId xmlns:a16="http://schemas.microsoft.com/office/drawing/2014/main" xmlns="" id="{5B088F5F-550D-2243-8D98-D2801C672E58}"/>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795784" y="75463"/>
            <a:ext cx="2681908" cy="2106570"/>
          </a:xfrm>
          <a:prstGeom prst="rect">
            <a:avLst/>
          </a:prstGeom>
        </p:spPr>
      </p:pic>
      <p:graphicFrame>
        <p:nvGraphicFramePr>
          <p:cNvPr id="2" name="Table 1">
            <a:extLst>
              <a:ext uri="{FF2B5EF4-FFF2-40B4-BE49-F238E27FC236}">
                <a16:creationId xmlns:a16="http://schemas.microsoft.com/office/drawing/2014/main" xmlns="" id="{3A442049-F478-6A4C-9D9C-3123CC9B0C07}"/>
              </a:ext>
            </a:extLst>
          </p:cNvPr>
          <p:cNvGraphicFramePr>
            <a:graphicFrameLocks noGrp="1"/>
          </p:cNvGraphicFramePr>
          <p:nvPr>
            <p:extLst>
              <p:ext uri="{D42A27DB-BD31-4B8C-83A1-F6EECF244321}">
                <p14:modId xmlns:p14="http://schemas.microsoft.com/office/powerpoint/2010/main" val="3048455289"/>
              </p:ext>
            </p:extLst>
          </p:nvPr>
        </p:nvGraphicFramePr>
        <p:xfrm>
          <a:off x="1849242" y="2264230"/>
          <a:ext cx="6766934" cy="4275841"/>
        </p:xfrm>
        <a:graphic>
          <a:graphicData uri="http://schemas.openxmlformats.org/drawingml/2006/table">
            <a:tbl>
              <a:tblPr firstRow="1" firstCol="1" bandRow="1">
                <a:tableStyleId>{5C22544A-7EE6-4342-B048-85BDC9FD1C3A}</a:tableStyleId>
              </a:tblPr>
              <a:tblGrid>
                <a:gridCol w="2798958">
                  <a:extLst>
                    <a:ext uri="{9D8B030D-6E8A-4147-A177-3AD203B41FA5}">
                      <a16:colId xmlns:a16="http://schemas.microsoft.com/office/drawing/2014/main" xmlns="" val="1015319918"/>
                    </a:ext>
                  </a:extLst>
                </a:gridCol>
                <a:gridCol w="3967976">
                  <a:extLst>
                    <a:ext uri="{9D8B030D-6E8A-4147-A177-3AD203B41FA5}">
                      <a16:colId xmlns:a16="http://schemas.microsoft.com/office/drawing/2014/main" xmlns="" val="864132328"/>
                    </a:ext>
                  </a:extLst>
                </a:gridCol>
              </a:tblGrid>
              <a:tr h="669318">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What is the type of figure?</a:t>
                      </a:r>
                    </a:p>
                  </a:txBody>
                  <a:tcPr marL="37911" marR="379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spcBef>
                          <a:spcPts val="0"/>
                        </a:spcBef>
                        <a:spcAft>
                          <a:spcPts val="0"/>
                        </a:spcAft>
                      </a:pPr>
                      <a:r>
                        <a:rPr lang="en-US" sz="800" dirty="0">
                          <a:solidFill>
                            <a:schemeClr val="tx1"/>
                          </a:solidFill>
                          <a:effectLst/>
                        </a:rPr>
                        <a:t> </a:t>
                      </a:r>
                      <a:endParaRPr lang="en-US" sz="7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37911" marR="379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40625337"/>
                  </a:ext>
                </a:extLst>
              </a:tr>
              <a:tr h="1771803">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Draw a net of the figure or the individual faces. Label the measurements. </a:t>
                      </a:r>
                    </a:p>
                  </a:txBody>
                  <a:tcPr marL="37911" marR="379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spcBef>
                          <a:spcPts val="0"/>
                        </a:spcBef>
                        <a:spcAft>
                          <a:spcPts val="0"/>
                        </a:spcAft>
                      </a:pPr>
                      <a:r>
                        <a:rPr lang="en-US" sz="800" dirty="0">
                          <a:solidFill>
                            <a:schemeClr val="tx1"/>
                          </a:solidFill>
                          <a:effectLst/>
                        </a:rPr>
                        <a:t> </a:t>
                      </a:r>
                      <a:endParaRPr lang="en-US" sz="7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37911" marR="379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44038223"/>
                  </a:ext>
                </a:extLst>
              </a:tr>
              <a:tr h="999129">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Find the surface area of the figure.</a:t>
                      </a:r>
                    </a:p>
                  </a:txBody>
                  <a:tcPr marL="37911" marR="379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spcBef>
                          <a:spcPts val="0"/>
                        </a:spcBef>
                        <a:spcAft>
                          <a:spcPts val="0"/>
                        </a:spcAft>
                      </a:pPr>
                      <a:r>
                        <a:rPr lang="en-US" sz="800" dirty="0">
                          <a:solidFill>
                            <a:schemeClr val="tx1"/>
                          </a:solidFill>
                          <a:effectLst/>
                        </a:rPr>
                        <a:t> </a:t>
                      </a:r>
                      <a:endParaRPr lang="en-US" sz="7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37911" marR="379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4068929706"/>
                  </a:ext>
                </a:extLst>
              </a:tr>
              <a:tr h="835591">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Find the volume of the figure.</a:t>
                      </a:r>
                    </a:p>
                  </a:txBody>
                  <a:tcPr marL="37911" marR="3791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spcBef>
                          <a:spcPts val="0"/>
                        </a:spcBef>
                        <a:spcAft>
                          <a:spcPts val="0"/>
                        </a:spcAft>
                      </a:pPr>
                      <a:r>
                        <a:rPr lang="en-US" sz="800" dirty="0">
                          <a:solidFill>
                            <a:schemeClr val="tx1"/>
                          </a:solidFill>
                          <a:effectLst/>
                        </a:rPr>
                        <a:t> </a:t>
                      </a:r>
                      <a:endParaRPr lang="en-US" sz="7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37911" marR="37911"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284464064"/>
                  </a:ext>
                </a:extLst>
              </a:tr>
            </a:tbl>
          </a:graphicData>
        </a:graphic>
      </p:graphicFrame>
      <p:sp>
        <p:nvSpPr>
          <p:cNvPr id="8"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35</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317920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30"/>
          <p:cNvSpPr/>
          <p:nvPr/>
        </p:nvSpPr>
        <p:spPr>
          <a:xfrm>
            <a:off x="0" y="-8101"/>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27" name="Google Shape;427;p30"/>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428" name="Google Shape;428;p30"/>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31"/>
          <p:cNvSpPr/>
          <p:nvPr/>
        </p:nvSpPr>
        <p:spPr>
          <a:xfrm>
            <a:off x="541"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37" name="Google Shape;437;p31"/>
          <p:cNvSpPr txBox="1"/>
          <p:nvPr/>
        </p:nvSpPr>
        <p:spPr>
          <a:xfrm>
            <a:off x="1521044" y="238061"/>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dirty="0">
                <a:solidFill>
                  <a:srgbClr val="E24E5F"/>
                </a:solidFill>
                <a:latin typeface="Verdana"/>
                <a:ea typeface="Verdana"/>
                <a:cs typeface="Verdana"/>
                <a:sym typeface="Verdana"/>
              </a:rPr>
              <a:t>8.6.4 Your Turn!</a:t>
            </a:r>
            <a:endParaRPr dirty="0"/>
          </a:p>
        </p:txBody>
      </p:sp>
      <p:pic>
        <p:nvPicPr>
          <p:cNvPr id="438" name="Google Shape;438;p31"/>
          <p:cNvPicPr preferRelativeResize="0"/>
          <p:nvPr/>
        </p:nvPicPr>
        <p:blipFill rotWithShape="1">
          <a:blip r:embed="rId3">
            <a:alphaModFix/>
          </a:blip>
          <a:srcRect/>
          <a:stretch/>
        </p:blipFill>
        <p:spPr>
          <a:xfrm>
            <a:off x="773744" y="238061"/>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440" name="Google Shape;440;p31"/>
              <p:cNvSpPr txBox="1"/>
              <p:nvPr/>
            </p:nvSpPr>
            <p:spPr>
              <a:xfrm>
                <a:off x="1521044" y="1163098"/>
                <a:ext cx="8952292" cy="101562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Nikolas is constructing a skyscraper with walls made of only glass that is </a:t>
                </a:r>
                <a14:m>
                  <m:oMath xmlns:m="http://schemas.openxmlformats.org/officeDocument/2006/math">
                    <m:r>
                      <a:rPr lang="en-US" sz="2000" i="1">
                        <a:latin typeface="Cambria Math" panose="02040503050406030204" pitchFamily="18" charset="0"/>
                        <a:ea typeface="Cambria Math" panose="02040503050406030204" pitchFamily="18" charset="0"/>
                      </a:rPr>
                      <m:t>350</m:t>
                    </m:r>
                  </m:oMath>
                </a14:m>
                <a:r>
                  <a:rPr lang="en-US" sz="2000" dirty="0">
                    <a:latin typeface="Verdana" panose="020B0604030504040204" pitchFamily="34" charset="0"/>
                    <a:ea typeface="Verdana" panose="020B0604030504040204" pitchFamily="34" charset="0"/>
                    <a:cs typeface="Verdana" panose="020B0604030504040204" pitchFamily="34" charset="0"/>
                  </a:rPr>
                  <a:t> meters (m) high and is in the shape of a rectangular pyramid. </a:t>
                </a:r>
              </a:p>
            </p:txBody>
          </p:sp>
        </mc:Choice>
        <mc:Fallback xmlns="">
          <p:sp>
            <p:nvSpPr>
              <p:cNvPr id="440" name="Google Shape;440;p31"/>
              <p:cNvSpPr txBox="1">
                <a:spLocks noRot="1" noChangeAspect="1" noMove="1" noResize="1" noEditPoints="1" noAdjustHandles="1" noChangeArrowheads="1" noChangeShapeType="1" noTextEdit="1"/>
              </p:cNvSpPr>
              <p:nvPr/>
            </p:nvSpPr>
            <p:spPr>
              <a:xfrm>
                <a:off x="1521044" y="1163098"/>
                <a:ext cx="8952292" cy="1015622"/>
              </a:xfrm>
              <a:prstGeom prst="rect">
                <a:avLst/>
              </a:prstGeom>
              <a:blipFill rotWithShape="0">
                <a:blip r:embed="rId4"/>
                <a:stretch>
                  <a:fillRect l="-749" t="-4217" b="-10241"/>
                </a:stretch>
              </a:blipFill>
              <a:ln>
                <a:noFill/>
              </a:ln>
            </p:spPr>
            <p:txBody>
              <a:bodyPr/>
              <a:lstStyle/>
              <a:p>
                <a:r>
                  <a:rPr lang="en-US">
                    <a:noFill/>
                  </a:rPr>
                  <a:t> </a:t>
                </a:r>
              </a:p>
            </p:txBody>
          </p:sp>
        </mc:Fallback>
      </mc:AlternateContent>
      <p:pic>
        <p:nvPicPr>
          <p:cNvPr id="3" name="Picture 2" descr="Chart, radar chart&#10;&#10;Description automatically generated">
            <a:extLst>
              <a:ext uri="{FF2B5EF4-FFF2-40B4-BE49-F238E27FC236}">
                <a16:creationId xmlns:a16="http://schemas.microsoft.com/office/drawing/2014/main" xmlns="" id="{4B352342-4793-CF4A-A890-68AC1862ED5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231601" y="2534194"/>
            <a:ext cx="3550155" cy="4062549"/>
          </a:xfrm>
          <a:prstGeom prst="rect">
            <a:avLst/>
          </a:prstGeom>
        </p:spPr>
      </p:pic>
      <p:sp>
        <p:nvSpPr>
          <p:cNvPr id="9"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35</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32"/>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49" name="Google Shape;449;p32"/>
          <p:cNvSpPr txBox="1"/>
          <p:nvPr/>
        </p:nvSpPr>
        <p:spPr>
          <a:xfrm>
            <a:off x="1336431" y="520393"/>
            <a:ext cx="9669804" cy="5324494"/>
          </a:xfrm>
          <a:prstGeom prst="rect">
            <a:avLst/>
          </a:prstGeom>
          <a:noFill/>
          <a:ln>
            <a:noFill/>
          </a:ln>
        </p:spPr>
        <p:txBody>
          <a:bodyPr spcFirstLastPara="1" wrap="square" lIns="91425" tIns="45700" rIns="91425" bIns="45700" anchor="t" anchorCtr="0">
            <a:spAutoFit/>
          </a:bodyPr>
          <a:lstStyle/>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surface area of the skyscraper?</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Using the model shown, determine how much of the surface area will be made of glass.</a:t>
            </a:r>
          </a:p>
        </p:txBody>
      </p:sp>
      <p:pic>
        <p:nvPicPr>
          <p:cNvPr id="6" name="Picture 5" descr="Chart, radar chart&#10;&#10;Description automatically generated">
            <a:extLst>
              <a:ext uri="{FF2B5EF4-FFF2-40B4-BE49-F238E27FC236}">
                <a16:creationId xmlns:a16="http://schemas.microsoft.com/office/drawing/2014/main" xmlns="" id="{D78C083C-8789-AD47-9CE4-9AC35FC5552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466282" y="122958"/>
            <a:ext cx="2848468" cy="3259587"/>
          </a:xfrm>
          <a:prstGeom prst="rect">
            <a:avLst/>
          </a:prstGeom>
        </p:spPr>
      </p:pic>
      <p:sp>
        <p:nvSpPr>
          <p:cNvPr id="7"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32"/>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449" name="Google Shape;449;p32"/>
              <p:cNvSpPr txBox="1"/>
              <p:nvPr/>
            </p:nvSpPr>
            <p:spPr>
              <a:xfrm>
                <a:off x="1477108" y="520393"/>
                <a:ext cx="9388450" cy="5324494"/>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 cooler has a length of </a:t>
                </a:r>
                <a14:m>
                  <m:oMath xmlns:m="http://schemas.openxmlformats.org/officeDocument/2006/math">
                    <m:r>
                      <a:rPr lang="en-US" sz="2000" i="1">
                        <a:latin typeface="Cambria Math" panose="02040503050406030204" pitchFamily="18" charset="0"/>
                        <a:ea typeface="Cambria Math" panose="02040503050406030204" pitchFamily="18" charset="0"/>
                      </a:rPr>
                      <m:t>78</m:t>
                    </m:r>
                  </m:oMath>
                </a14:m>
                <a:r>
                  <a:rPr lang="en-US" sz="2000" dirty="0">
                    <a:latin typeface="Verdana" panose="020B0604030504040204" pitchFamily="34" charset="0"/>
                    <a:ea typeface="Verdana" panose="020B0604030504040204" pitchFamily="34" charset="0"/>
                    <a:cs typeface="Verdana" panose="020B0604030504040204" pitchFamily="34" charset="0"/>
                  </a:rPr>
                  <a:t> centimeters (cm), a height of </a:t>
                </a:r>
                <a14:m>
                  <m:oMath xmlns:m="http://schemas.openxmlformats.org/officeDocument/2006/math">
                    <m:r>
                      <a:rPr lang="en-US" sz="2000" i="1">
                        <a:latin typeface="Cambria Math" panose="02040503050406030204" pitchFamily="18" charset="0"/>
                        <a:ea typeface="Cambria Math" panose="02040503050406030204" pitchFamily="18" charset="0"/>
                      </a:rPr>
                      <m:t>74</m:t>
                    </m:r>
                  </m:oMath>
                </a14:m>
                <a:r>
                  <a:rPr lang="en-US" sz="2000" dirty="0">
                    <a:latin typeface="Verdana" panose="020B0604030504040204" pitchFamily="34" charset="0"/>
                    <a:ea typeface="Verdana" panose="020B0604030504040204" pitchFamily="34" charset="0"/>
                    <a:cs typeface="Verdana" panose="020B0604030504040204" pitchFamily="34" charset="0"/>
                  </a:rPr>
                  <a:t> cm, and a width of </a:t>
                </a:r>
                <a14:m>
                  <m:oMath xmlns:m="http://schemas.openxmlformats.org/officeDocument/2006/math">
                    <m:r>
                      <a:rPr lang="en-US" sz="2000" i="1">
                        <a:latin typeface="Cambria Math" panose="02040503050406030204" pitchFamily="18" charset="0"/>
                        <a:ea typeface="Cambria Math" panose="02040503050406030204" pitchFamily="18" charset="0"/>
                      </a:rPr>
                      <m:t>40</m:t>
                    </m:r>
                  </m:oMath>
                </a14:m>
                <a:r>
                  <a:rPr lang="en-US" sz="2000" dirty="0">
                    <a:latin typeface="Verdana" panose="020B0604030504040204" pitchFamily="34" charset="0"/>
                    <a:ea typeface="Verdana" panose="020B0604030504040204" pitchFamily="34" charset="0"/>
                    <a:cs typeface="Verdana" panose="020B0604030504040204" pitchFamily="34" charset="0"/>
                  </a:rPr>
                  <a:t> cm.</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Find the surface area of the cooler.</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Find the volume of the cooler.</a:t>
                </a:r>
              </a:p>
            </p:txBody>
          </p:sp>
        </mc:Choice>
        <mc:Fallback xmlns="">
          <p:sp>
            <p:nvSpPr>
              <p:cNvPr id="449" name="Google Shape;449;p32"/>
              <p:cNvSpPr txBox="1">
                <a:spLocks noRot="1" noChangeAspect="1" noMove="1" noResize="1" noEditPoints="1" noAdjustHandles="1" noChangeArrowheads="1" noChangeShapeType="1" noTextEdit="1"/>
              </p:cNvSpPr>
              <p:nvPr/>
            </p:nvSpPr>
            <p:spPr>
              <a:xfrm>
                <a:off x="1477108" y="520393"/>
                <a:ext cx="9388450" cy="5324494"/>
              </a:xfrm>
              <a:prstGeom prst="rect">
                <a:avLst/>
              </a:prstGeom>
              <a:blipFill rotWithShape="0">
                <a:blip r:embed="rId3"/>
                <a:stretch>
                  <a:fillRect l="-714" t="-686" r="-1494" b="-1144"/>
                </a:stretch>
              </a:blipFill>
              <a:ln>
                <a:noFill/>
              </a:ln>
            </p:spPr>
            <p:txBody>
              <a:bodyPr/>
              <a:lstStyle/>
              <a:p>
                <a:r>
                  <a:rPr lang="en-US">
                    <a:noFill/>
                  </a:rPr>
                  <a:t> </a:t>
                </a:r>
              </a:p>
            </p:txBody>
          </p:sp>
        </mc:Fallback>
      </mc:AlternateContent>
      <p:pic>
        <p:nvPicPr>
          <p:cNvPr id="3" name="Picture 2" descr="A picture containing text&#10;&#10;Description automatically generated">
            <a:extLst>
              <a:ext uri="{FF2B5EF4-FFF2-40B4-BE49-F238E27FC236}">
                <a16:creationId xmlns:a16="http://schemas.microsoft.com/office/drawing/2014/main" xmlns="" id="{E0BF0449-1863-2346-9E45-684C83FC8D1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336869" y="1192556"/>
            <a:ext cx="4362994" cy="2465438"/>
          </a:xfrm>
          <a:prstGeom prst="rect">
            <a:avLst/>
          </a:prstGeom>
        </p:spPr>
      </p:pic>
      <p:sp>
        <p:nvSpPr>
          <p:cNvPr id="7"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36</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1478710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32"/>
          <p:cNvSpPr/>
          <p:nvPr/>
        </p:nvSpPr>
        <p:spPr>
          <a:xfrm>
            <a:off x="0" y="1257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449" name="Google Shape;449;p32"/>
              <p:cNvSpPr txBox="1"/>
              <p:nvPr/>
            </p:nvSpPr>
            <p:spPr>
              <a:xfrm>
                <a:off x="1139483" y="520394"/>
                <a:ext cx="10063700" cy="2462172"/>
              </a:xfrm>
              <a:prstGeom prst="rect">
                <a:avLst/>
              </a:prstGeom>
              <a:noFill/>
              <a:ln>
                <a:noFill/>
              </a:ln>
            </p:spPr>
            <p:txBody>
              <a:bodyPr spcFirstLastPara="1" wrap="square" lIns="91425" tIns="45700" rIns="91425" bIns="45700" anchor="t" anchorCtr="0">
                <a:spAutoFit/>
              </a:bodyPr>
              <a:lstStyle/>
              <a:p>
                <a:pPr marL="914400" indent="-449263">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If the </a:t>
                </a:r>
                <a:r>
                  <a:rPr lang="en-US" sz="2000" b="1" dirty="0">
                    <a:latin typeface="Verdana" panose="020B0604030504040204" pitchFamily="34" charset="0"/>
                    <a:ea typeface="Verdana" panose="020B0604030504040204" pitchFamily="34" charset="0"/>
                    <a:cs typeface="Verdana" panose="020B0604030504040204" pitchFamily="34" charset="0"/>
                  </a:rPr>
                  <a:t>inside</a:t>
                </a:r>
                <a:r>
                  <a:rPr lang="en-US" sz="2000" dirty="0">
                    <a:latin typeface="Verdana" panose="020B0604030504040204" pitchFamily="34" charset="0"/>
                    <a:ea typeface="Verdana" panose="020B0604030504040204" pitchFamily="34" charset="0"/>
                    <a:cs typeface="Verdana" panose="020B0604030504040204" pitchFamily="34" charset="0"/>
                  </a:rPr>
                  <a:t> of the cooler has a length </a:t>
                </a:r>
                <a14:m>
                  <m:oMath xmlns:m="http://schemas.openxmlformats.org/officeDocument/2006/math">
                    <m:r>
                      <a:rPr lang="en-US" sz="2000" i="1">
                        <a:latin typeface="Cambria Math" panose="02040503050406030204" pitchFamily="18" charset="0"/>
                        <a:ea typeface="Cambria Math" panose="02040503050406030204" pitchFamily="18" charset="0"/>
                      </a:rPr>
                      <m:t>62</m:t>
                    </m:r>
                  </m:oMath>
                </a14:m>
                <a:r>
                  <a:rPr lang="en-US" sz="2000" dirty="0">
                    <a:latin typeface="Verdana" panose="020B0604030504040204" pitchFamily="34" charset="0"/>
                    <a:ea typeface="Verdana" panose="020B0604030504040204" pitchFamily="34" charset="0"/>
                    <a:cs typeface="Verdana" panose="020B0604030504040204" pitchFamily="34" charset="0"/>
                  </a:rPr>
                  <a:t> cm, a height of </a:t>
                </a:r>
                <a14:m>
                  <m:oMath xmlns:m="http://schemas.openxmlformats.org/officeDocument/2006/math">
                    <m:r>
                      <a:rPr lang="en-US" sz="2000" i="1">
                        <a:latin typeface="Cambria Math" panose="02040503050406030204" pitchFamily="18" charset="0"/>
                        <a:ea typeface="Cambria Math" panose="02040503050406030204" pitchFamily="18" charset="0"/>
                      </a:rPr>
                      <m:t>58</m:t>
                    </m:r>
                  </m:oMath>
                </a14:m>
                <a:r>
                  <a:rPr lang="en-US" sz="2000" dirty="0">
                    <a:latin typeface="Verdana" panose="020B0604030504040204" pitchFamily="34" charset="0"/>
                    <a:ea typeface="Verdana" panose="020B0604030504040204" pitchFamily="34" charset="0"/>
                    <a:cs typeface="Verdana" panose="020B0604030504040204" pitchFamily="34" charset="0"/>
                  </a:rPr>
                  <a:t> cm, and a width of </a:t>
                </a:r>
                <a14:m>
                  <m:oMath xmlns:m="http://schemas.openxmlformats.org/officeDocument/2006/math">
                    <m:r>
                      <a:rPr lang="en-US" sz="2000" i="1">
                        <a:latin typeface="Cambria Math" panose="02040503050406030204" pitchFamily="18" charset="0"/>
                        <a:ea typeface="Cambria Math" panose="02040503050406030204" pitchFamily="18" charset="0"/>
                      </a:rPr>
                      <m:t>28</m:t>
                    </m:r>
                  </m:oMath>
                </a14:m>
                <a:r>
                  <a:rPr lang="en-US" sz="2000" dirty="0">
                    <a:latin typeface="Verdana" panose="020B0604030504040204" pitchFamily="34" charset="0"/>
                    <a:ea typeface="Verdana" panose="020B0604030504040204" pitchFamily="34" charset="0"/>
                    <a:cs typeface="Verdana" panose="020B0604030504040204" pitchFamily="34" charset="0"/>
                  </a:rPr>
                  <a:t> cm, how much smaller is the volume of the inside of the cooler than the volume of the entire cooler?</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dirty="0"/>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449" name="Google Shape;449;p32"/>
              <p:cNvSpPr txBox="1">
                <a:spLocks noRot="1" noChangeAspect="1" noMove="1" noResize="1" noEditPoints="1" noAdjustHandles="1" noChangeArrowheads="1" noChangeShapeType="1" noTextEdit="1"/>
              </p:cNvSpPr>
              <p:nvPr/>
            </p:nvSpPr>
            <p:spPr>
              <a:xfrm>
                <a:off x="1139483" y="520394"/>
                <a:ext cx="10063700" cy="2462172"/>
              </a:xfrm>
              <a:prstGeom prst="rect">
                <a:avLst/>
              </a:prstGeom>
              <a:blipFill>
                <a:blip r:embed="rId3"/>
                <a:stretch>
                  <a:fillRect t="-1485" r="-1090"/>
                </a:stretch>
              </a:blipFill>
              <a:ln>
                <a:noFill/>
              </a:ln>
            </p:spPr>
            <p:txBody>
              <a:bodyPr/>
              <a:lstStyle/>
              <a:p>
                <a:r>
                  <a:rPr lang="en-US">
                    <a:noFill/>
                  </a:rPr>
                  <a:t> </a:t>
                </a:r>
              </a:p>
            </p:txBody>
          </p:sp>
        </mc:Fallback>
      </mc:AlternateContent>
      <p:sp>
        <p:nvSpPr>
          <p:cNvPr id="9"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36</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pic>
        <p:nvPicPr>
          <p:cNvPr id="3" name="Picture 2">
            <a:extLst>
              <a:ext uri="{FF2B5EF4-FFF2-40B4-BE49-F238E27FC236}">
                <a16:creationId xmlns:a16="http://schemas.microsoft.com/office/drawing/2014/main" xmlns="" id="{1FCD7E48-7840-87B6-3E63-3AD44950FD22}"/>
              </a:ext>
            </a:extLst>
          </p:cNvPr>
          <p:cNvPicPr>
            <a:picLocks noChangeAspect="1"/>
          </p:cNvPicPr>
          <p:nvPr/>
        </p:nvPicPr>
        <p:blipFill>
          <a:blip r:embed="rId5"/>
          <a:stretch>
            <a:fillRect/>
          </a:stretch>
        </p:blipFill>
        <p:spPr>
          <a:xfrm>
            <a:off x="4324102" y="2342998"/>
            <a:ext cx="3543795" cy="2172003"/>
          </a:xfrm>
          <a:prstGeom prst="rect">
            <a:avLst/>
          </a:prstGeom>
        </p:spPr>
      </p:pic>
    </p:spTree>
    <p:extLst>
      <p:ext uri="{BB962C8B-B14F-4D97-AF65-F5344CB8AC3E}">
        <p14:creationId xmlns:p14="http://schemas.microsoft.com/office/powerpoint/2010/main" val="3437966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32"/>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449" name="Google Shape;449;p32"/>
              <p:cNvSpPr txBox="1"/>
              <p:nvPr/>
            </p:nvSpPr>
            <p:spPr>
              <a:xfrm>
                <a:off x="1181686" y="520393"/>
                <a:ext cx="9979294" cy="2776938"/>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3"/>
                </a:pPr>
                <a:r>
                  <a:rPr lang="en-US" sz="2000" dirty="0" err="1">
                    <a:latin typeface="Verdana" panose="020B0604030504040204" pitchFamily="34" charset="0"/>
                    <a:ea typeface="Verdana" panose="020B0604030504040204" pitchFamily="34" charset="0"/>
                    <a:cs typeface="Verdana" panose="020B0604030504040204" pitchFamily="34" charset="0"/>
                  </a:rPr>
                  <a:t>Tamya</a:t>
                </a:r>
                <a:r>
                  <a:rPr lang="en-US" sz="2000" dirty="0">
                    <a:latin typeface="Verdana" panose="020B0604030504040204" pitchFamily="34" charset="0"/>
                    <a:ea typeface="Verdana" panose="020B0604030504040204" pitchFamily="34" charset="0"/>
                    <a:cs typeface="Verdana" panose="020B0604030504040204" pitchFamily="34" charset="0"/>
                  </a:rPr>
                  <a:t> is creating a gardening box that needs to have a volume of </a:t>
                </a:r>
                <a14:m>
                  <m:oMath xmlns:m="http://schemas.openxmlformats.org/officeDocument/2006/math">
                    <m:r>
                      <a:rPr lang="en-US" sz="2000" i="1">
                        <a:latin typeface="Cambria Math" panose="02040503050406030204" pitchFamily="18" charset="0"/>
                        <a:ea typeface="Cambria Math" panose="02040503050406030204" pitchFamily="18" charset="0"/>
                      </a:rPr>
                      <m:t>13.5</m:t>
                    </m:r>
                    <m:r>
                      <a:rPr lang="en-US" sz="2000" i="1">
                        <a:latin typeface="Cambria Math" panose="02040503050406030204" pitchFamily="18" charset="0"/>
                      </a:rPr>
                      <m:t> </m:t>
                    </m:r>
                    <m:sSup>
                      <m:sSupPr>
                        <m:ctrlPr>
                          <a:rPr lang="en-US" sz="2000" i="1">
                            <a:latin typeface="Cambria Math"/>
                          </a:rPr>
                        </m:ctrlPr>
                      </m:sSupPr>
                      <m:e>
                        <m:r>
                          <m:rPr>
                            <m:nor/>
                          </m:rPr>
                          <a:rPr lang="en-US" sz="2000">
                            <a:latin typeface="Verdana" panose="020B0604030504040204" pitchFamily="34" charset="0"/>
                            <a:ea typeface="Verdana" panose="020B0604030504040204" pitchFamily="34" charset="0"/>
                            <a:cs typeface="Verdana" panose="020B0604030504040204" pitchFamily="34" charset="0"/>
                          </a:rPr>
                          <m:t>ft</m:t>
                        </m:r>
                      </m:e>
                      <m:sup>
                        <m:r>
                          <a:rPr lang="en-US" sz="2000" i="1">
                            <a:latin typeface="Cambria Math" panose="02040503050406030204" pitchFamily="18" charset="0"/>
                          </a:rPr>
                          <m:t>3</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If the box has a width of </a:t>
                </a:r>
                <a:r>
                  <a:rPr lang="en-US" sz="2000" dirty="0">
                    <a:latin typeface="Cambria Math" panose="02040503050406030204" pitchFamily="18" charset="0"/>
                    <a:ea typeface="Cambria Math" panose="02040503050406030204" pitchFamily="18" charset="0"/>
                    <a:cs typeface="Verdana" panose="020B0604030504040204" pitchFamily="34" charset="0"/>
                  </a:rPr>
                  <a:t>3</a:t>
                </a:r>
                <a:r>
                  <a:rPr lang="en-US" sz="2000" dirty="0">
                    <a:latin typeface="Verdana" panose="020B0604030504040204" pitchFamily="34" charset="0"/>
                    <a:ea typeface="Verdana" panose="020B0604030504040204" pitchFamily="34" charset="0"/>
                    <a:cs typeface="Verdana" panose="020B0604030504040204" pitchFamily="34" charset="0"/>
                  </a:rPr>
                  <a:t> feet and a length of </a:t>
                </a:r>
                <a14:m>
                  <m:oMath xmlns:m="http://schemas.openxmlformats.org/officeDocument/2006/math">
                    <m:r>
                      <a:rPr lang="en-US" sz="2000" i="1">
                        <a:latin typeface="Cambria Math" panose="02040503050406030204" pitchFamily="18" charset="0"/>
                        <a:ea typeface="Cambria Math" panose="020405030504060302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feet, what is the height?</a:t>
                </a:r>
              </a:p>
              <a:p>
                <a:r>
                  <a:rPr lang="en-US" dirty="0"/>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449" name="Google Shape;449;p32"/>
              <p:cNvSpPr txBox="1">
                <a:spLocks noRot="1" noChangeAspect="1" noMove="1" noResize="1" noEditPoints="1" noAdjustHandles="1" noChangeArrowheads="1" noChangeShapeType="1" noTextEdit="1"/>
              </p:cNvSpPr>
              <p:nvPr/>
            </p:nvSpPr>
            <p:spPr>
              <a:xfrm>
                <a:off x="1181686" y="520393"/>
                <a:ext cx="9979294" cy="2776938"/>
              </a:xfrm>
              <a:prstGeom prst="rect">
                <a:avLst/>
              </a:prstGeom>
              <a:blipFill rotWithShape="0">
                <a:blip r:embed="rId3"/>
                <a:stretch>
                  <a:fillRect l="-672" t="-2851"/>
                </a:stretch>
              </a:blipFill>
              <a:ln>
                <a:noFill/>
              </a:ln>
            </p:spPr>
            <p:txBody>
              <a:bodyPr/>
              <a:lstStyle/>
              <a:p>
                <a:r>
                  <a:rPr lang="en-US">
                    <a:noFill/>
                  </a:rPr>
                  <a:t> </a:t>
                </a:r>
              </a:p>
            </p:txBody>
          </p:sp>
        </mc:Fallback>
      </mc:AlternateContent>
      <p:pic>
        <p:nvPicPr>
          <p:cNvPr id="3" name="Picture 2" descr="A plant in a pot&#10;&#10;Description automatically generated with low confidence">
            <a:extLst>
              <a:ext uri="{FF2B5EF4-FFF2-40B4-BE49-F238E27FC236}">
                <a16:creationId xmlns:a16="http://schemas.microsoft.com/office/drawing/2014/main" xmlns="" id="{C26DE96D-EDD2-4D44-ACC6-FBF192121D8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538681" y="2218508"/>
            <a:ext cx="3265304" cy="3429000"/>
          </a:xfrm>
          <a:prstGeom prst="rect">
            <a:avLst/>
          </a:prstGeom>
        </p:spPr>
      </p:pic>
      <p:sp>
        <p:nvSpPr>
          <p:cNvPr id="7"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36</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248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32"/>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49" name="Google Shape;449;p32"/>
          <p:cNvSpPr txBox="1"/>
          <p:nvPr/>
        </p:nvSpPr>
        <p:spPr>
          <a:xfrm>
            <a:off x="1280160" y="520393"/>
            <a:ext cx="9782346" cy="2369839"/>
          </a:xfrm>
          <a:prstGeom prst="rect">
            <a:avLst/>
          </a:prstGeom>
          <a:noFill/>
          <a:ln>
            <a:noFill/>
          </a:ln>
        </p:spPr>
        <p:txBody>
          <a:bodyPr spcFirstLastPara="1" wrap="square" lIns="91425" tIns="45700" rIns="91425" bIns="45700" anchor="t" anchorCtr="0">
            <a:spAutoFit/>
          </a:bodyPr>
          <a:lstStyle/>
          <a:p>
            <a:pPr marL="914400" indent="-449263">
              <a:buFont typeface="+mj-lt"/>
              <a:buAutoNum type="alphaLcPeriod" startAt="2"/>
            </a:pPr>
            <a:r>
              <a:rPr lang="en-US" sz="2000" dirty="0" err="1">
                <a:latin typeface="Verdana" panose="020B0604030504040204" pitchFamily="34" charset="0"/>
                <a:ea typeface="Verdana" panose="020B0604030504040204" pitchFamily="34" charset="0"/>
                <a:cs typeface="Verdana" panose="020B0604030504040204" pitchFamily="34" charset="0"/>
              </a:rPr>
              <a:t>Tamya</a:t>
            </a:r>
            <a:r>
              <a:rPr lang="en-US" sz="2000" dirty="0">
                <a:latin typeface="Verdana" panose="020B0604030504040204" pitchFamily="34" charset="0"/>
                <a:ea typeface="Verdana" panose="020B0604030504040204" pitchFamily="34" charset="0"/>
                <a:cs typeface="Verdana" panose="020B0604030504040204" pitchFamily="34" charset="0"/>
              </a:rPr>
              <a:t> decided to paint the exterior walls of the gardening box and needs to know how much paint to buy. What is the surface area of the area she wants to paint?</a:t>
            </a:r>
          </a:p>
          <a:p>
            <a:r>
              <a:rPr lang="en-US" dirty="0"/>
              <a:t> </a:t>
            </a:r>
          </a:p>
          <a:p>
            <a:r>
              <a:rPr lang="en-US" dirty="0"/>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sp>
        <p:nvSpPr>
          <p:cNvPr id="6"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36</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810816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32"/>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49" name="Google Shape;449;p32"/>
          <p:cNvSpPr txBox="1"/>
          <p:nvPr/>
        </p:nvSpPr>
        <p:spPr>
          <a:xfrm>
            <a:off x="1153551" y="520394"/>
            <a:ext cx="10035564" cy="4708941"/>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Ryan makes custom jewelry and recently received an order for a pendant in the shape of a rectangular pyramid. Ryan designed a hollow gold pendant to have a square base with a side length of </a:t>
            </a:r>
            <a:r>
              <a:rPr lang="en-US" sz="2000" dirty="0" smtClean="0">
                <a:latin typeface="Cambria Math" panose="02040503050406030204" pitchFamily="18" charset="0"/>
                <a:ea typeface="Cambria Math" panose="02040503050406030204" pitchFamily="18" charset="0"/>
                <a:cs typeface="Verdana" panose="020B0604030504040204" pitchFamily="34" charset="0"/>
              </a:rPr>
              <a:t>15</a:t>
            </a:r>
            <a:r>
              <a:rPr lang="en-US" sz="2000" dirty="0" smtClean="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millimeters (mm) and a slant height of </a:t>
            </a:r>
            <a:r>
              <a:rPr lang="en-US" sz="2000" dirty="0" smtClean="0">
                <a:latin typeface="Cambria Math" panose="02040503050406030204" pitchFamily="18" charset="0"/>
                <a:ea typeface="Cambria Math" panose="02040503050406030204" pitchFamily="18" charset="0"/>
                <a:cs typeface="Verdana" panose="020B0604030504040204" pitchFamily="34" charset="0"/>
              </a:rPr>
              <a:t>13.24</a:t>
            </a:r>
            <a:r>
              <a:rPr lang="en-US" sz="2000" dirty="0" smtClean="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mm. </a:t>
            </a: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How much gold does Ryan need to make the pendant?</a:t>
            </a:r>
          </a:p>
        </p:txBody>
      </p:sp>
      <p:sp>
        <p:nvSpPr>
          <p:cNvPr id="7"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37</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pic>
        <p:nvPicPr>
          <p:cNvPr id="9" name="Picture 8">
            <a:extLst>
              <a:ext uri="{FF2B5EF4-FFF2-40B4-BE49-F238E27FC236}">
                <a16:creationId xmlns:a16="http://schemas.microsoft.com/office/drawing/2014/main" xmlns="" id="{A0C56CCD-3800-A64A-9618-7085C216E19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75628" y="1967712"/>
            <a:ext cx="2639122" cy="2390793"/>
          </a:xfrm>
          <a:prstGeom prst="rect">
            <a:avLst/>
          </a:prstGeom>
        </p:spPr>
      </p:pic>
      <mc:AlternateContent xmlns:mc="http://schemas.openxmlformats.org/markup-compatibility/2006">
        <mc:Choice xmlns:a14="http://schemas.microsoft.com/office/drawing/2010/main" Requires="a14">
          <p:sp>
            <p:nvSpPr>
              <p:cNvPr id="10" name="Text Box 53">
                <a:extLst>
                  <a:ext uri="{FF2B5EF4-FFF2-40B4-BE49-F238E27FC236}">
                    <a16:creationId xmlns:a16="http://schemas.microsoft.com/office/drawing/2014/main" xmlns="" id="{E042135E-0BA7-5943-B4C6-4BAE95DF9A1C}"/>
                  </a:ext>
                </a:extLst>
              </p:cNvPr>
              <p:cNvSpPr txBox="1"/>
              <p:nvPr/>
            </p:nvSpPr>
            <p:spPr>
              <a:xfrm>
                <a:off x="6748013" y="2953557"/>
                <a:ext cx="1353251" cy="4191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b="0" i="1" smtClean="0">
                        <a:latin typeface="Cambria Math"/>
                        <a:ea typeface="Times New Roman" panose="02020603050405020304" pitchFamily="18" charset="0"/>
                        <a:cs typeface="Times New Roman" panose="02020603050405020304" pitchFamily="18" charset="0"/>
                      </a:rPr>
                      <m:t>13.24</m:t>
                    </m:r>
                    <m:r>
                      <a:rPr lang="en-US" sz="2000" i="1">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mm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10" name="Text Box 53">
                <a:extLst>
                  <a:ext uri="{FF2B5EF4-FFF2-40B4-BE49-F238E27FC236}">
                    <a16:creationId xmlns:a16="http://schemas.microsoft.com/office/drawing/2014/main" xmlns:a14="http://schemas.microsoft.com/office/drawing/2010/main" xmlns="" id="{E042135E-0BA7-5943-B4C6-4BAE95DF9A1C}"/>
                  </a:ext>
                </a:extLst>
              </p:cNvPr>
              <p:cNvSpPr txBox="1">
                <a:spLocks noRot="1" noChangeAspect="1" noMove="1" noResize="1" noEditPoints="1" noAdjustHandles="1" noChangeArrowheads="1" noChangeShapeType="1" noTextEdit="1"/>
              </p:cNvSpPr>
              <p:nvPr/>
            </p:nvSpPr>
            <p:spPr>
              <a:xfrm>
                <a:off x="6748013" y="2953557"/>
                <a:ext cx="1353251" cy="419100"/>
              </a:xfrm>
              <a:prstGeom prst="rect">
                <a:avLst/>
              </a:prstGeom>
              <a:blipFill rotWithShape="1">
                <a:blip r:embed="rId5"/>
                <a:stretch>
                  <a:fillRect t="-7353" r="-4505" b="-22059"/>
                </a:stretch>
              </a:blipFill>
              <a:ln w="6350">
                <a:noFill/>
              </a:ln>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1" name="Text Box 52">
                <a:extLst>
                  <a:ext uri="{FF2B5EF4-FFF2-40B4-BE49-F238E27FC236}">
                    <a16:creationId xmlns:a16="http://schemas.microsoft.com/office/drawing/2014/main" xmlns="" id="{473D1648-641C-A341-9963-49052E571D4D}"/>
                  </a:ext>
                </a:extLst>
              </p:cNvPr>
              <p:cNvSpPr txBox="1"/>
              <p:nvPr/>
            </p:nvSpPr>
            <p:spPr>
              <a:xfrm>
                <a:off x="5464396" y="3991866"/>
                <a:ext cx="1061587" cy="4191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2000" b="0" i="1" smtClean="0">
                        <a:latin typeface="Cambria Math"/>
                        <a:ea typeface="Times New Roman" panose="02020603050405020304" pitchFamily="18" charset="0"/>
                        <a:cs typeface="Times New Roman" panose="02020603050405020304" pitchFamily="18" charset="0"/>
                      </a:rPr>
                      <m:t>15</m:t>
                    </m:r>
                    <m:r>
                      <a:rPr lang="en-US" sz="2000" i="1">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mm</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11" name="Text Box 52">
                <a:extLst>
                  <a:ext uri="{FF2B5EF4-FFF2-40B4-BE49-F238E27FC236}">
                    <a16:creationId xmlns:a16="http://schemas.microsoft.com/office/drawing/2014/main" xmlns:a14="http://schemas.microsoft.com/office/drawing/2010/main" xmlns="" id="{473D1648-641C-A341-9963-49052E571D4D}"/>
                  </a:ext>
                </a:extLst>
              </p:cNvPr>
              <p:cNvSpPr txBox="1">
                <a:spLocks noRot="1" noChangeAspect="1" noMove="1" noResize="1" noEditPoints="1" noAdjustHandles="1" noChangeArrowheads="1" noChangeShapeType="1" noTextEdit="1"/>
              </p:cNvSpPr>
              <p:nvPr/>
            </p:nvSpPr>
            <p:spPr>
              <a:xfrm>
                <a:off x="5464396" y="3991866"/>
                <a:ext cx="1061587" cy="419100"/>
              </a:xfrm>
              <a:prstGeom prst="rect">
                <a:avLst/>
              </a:prstGeom>
              <a:blipFill rotWithShape="1">
                <a:blip r:embed="rId6"/>
                <a:stretch>
                  <a:fillRect t="-7246" r="-1714" b="-20290"/>
                </a:stretch>
              </a:blipFill>
              <a:ln w="6350">
                <a:noFill/>
              </a:ln>
            </p:spPr>
            <p:txBody>
              <a:bodyPr/>
              <a:lstStyle/>
              <a:p>
                <a:r>
                  <a:rPr lang="en-PH">
                    <a:noFill/>
                  </a:rPr>
                  <a:t> </a:t>
                </a:r>
              </a:p>
            </p:txBody>
          </p:sp>
        </mc:Fallback>
      </mc:AlternateContent>
    </p:spTree>
    <p:extLst>
      <p:ext uri="{BB962C8B-B14F-4D97-AF65-F5344CB8AC3E}">
        <p14:creationId xmlns:p14="http://schemas.microsoft.com/office/powerpoint/2010/main" val="15788763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8101"/>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37</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34"/>
          <p:cNvSpPr/>
          <p:nvPr/>
        </p:nvSpPr>
        <p:spPr>
          <a:xfrm>
            <a:off x="3880" y="-989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68" name="Google Shape;468;p34"/>
          <p:cNvSpPr txBox="1"/>
          <p:nvPr/>
        </p:nvSpPr>
        <p:spPr>
          <a:xfrm>
            <a:off x="1575059" y="-56779"/>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8.6.5 Wrap-Up: Reflection</a:t>
            </a:r>
            <a:endParaRPr dirty="0"/>
          </a:p>
        </p:txBody>
      </p:sp>
      <p:pic>
        <p:nvPicPr>
          <p:cNvPr id="469" name="Google Shape;469;p34"/>
          <p:cNvPicPr preferRelativeResize="0"/>
          <p:nvPr/>
        </p:nvPicPr>
        <p:blipFill rotWithShape="1">
          <a:blip r:embed="rId3">
            <a:alphaModFix/>
          </a:blip>
          <a:srcRect/>
          <a:stretch/>
        </p:blipFill>
        <p:spPr>
          <a:xfrm>
            <a:off x="745609" y="170525"/>
            <a:ext cx="747300" cy="747300"/>
          </a:xfrm>
          <a:prstGeom prst="rect">
            <a:avLst/>
          </a:prstGeom>
          <a:noFill/>
          <a:ln>
            <a:noFill/>
          </a:ln>
          <a:effectLst>
            <a:outerShdw blurRad="50800" dist="38100" dir="2700000" algn="tl" rotWithShape="0">
              <a:srgbClr val="000000">
                <a:alpha val="40000"/>
              </a:srgbClr>
            </a:outerShdw>
          </a:effectLst>
        </p:spPr>
      </p:pic>
      <p:sp>
        <p:nvSpPr>
          <p:cNvPr id="470" name="Google Shape;470;p34"/>
          <p:cNvSpPr txBox="1"/>
          <p:nvPr/>
        </p:nvSpPr>
        <p:spPr>
          <a:xfrm>
            <a:off x="1492909" y="1386025"/>
            <a:ext cx="8894675" cy="193895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Rate yourself on each of the concepts.</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2003425"/>
            <a:r>
              <a:rPr lang="en-US" sz="2000" dirty="0">
                <a:latin typeface="Verdana" panose="020B0604030504040204" pitchFamily="34" charset="0"/>
                <a:ea typeface="Verdana" panose="020B0604030504040204" pitchFamily="34" charset="0"/>
                <a:cs typeface="Verdana" panose="020B0604030504040204" pitchFamily="34" charset="0"/>
              </a:rPr>
              <a:t>4 – I can do this on my own.</a:t>
            </a:r>
          </a:p>
          <a:p>
            <a:pPr marL="2003425"/>
            <a:r>
              <a:rPr lang="en-US" sz="2000" dirty="0">
                <a:latin typeface="Verdana" panose="020B0604030504040204" pitchFamily="34" charset="0"/>
                <a:ea typeface="Verdana" panose="020B0604030504040204" pitchFamily="34" charset="0"/>
                <a:cs typeface="Verdana" panose="020B0604030504040204" pitchFamily="34" charset="0"/>
              </a:rPr>
              <a:t>3 – I can do this but need more practice.</a:t>
            </a:r>
          </a:p>
          <a:p>
            <a:pPr marL="2003425"/>
            <a:r>
              <a:rPr lang="en-US" sz="2000" dirty="0">
                <a:latin typeface="Verdana" panose="020B0604030504040204" pitchFamily="34" charset="0"/>
                <a:ea typeface="Verdana" panose="020B0604030504040204" pitchFamily="34" charset="0"/>
                <a:cs typeface="Verdana" panose="020B0604030504040204" pitchFamily="34" charset="0"/>
              </a:rPr>
              <a:t>2 – I need help getting started.</a:t>
            </a:r>
          </a:p>
          <a:p>
            <a:pPr marL="2003425"/>
            <a:r>
              <a:rPr lang="en-US" sz="2000" dirty="0">
                <a:latin typeface="Verdana" panose="020B0604030504040204" pitchFamily="34" charset="0"/>
                <a:ea typeface="Verdana" panose="020B0604030504040204" pitchFamily="34" charset="0"/>
                <a:cs typeface="Verdana" panose="020B0604030504040204" pitchFamily="34" charset="0"/>
              </a:rPr>
              <a:t>1 – I do not understand yet.</a:t>
            </a:r>
          </a:p>
        </p:txBody>
      </p:sp>
      <p:graphicFrame>
        <p:nvGraphicFramePr>
          <p:cNvPr id="2" name="Table 1">
            <a:extLst>
              <a:ext uri="{FF2B5EF4-FFF2-40B4-BE49-F238E27FC236}">
                <a16:creationId xmlns:a16="http://schemas.microsoft.com/office/drawing/2014/main" xmlns="" id="{8D8F9B2B-FF8F-5345-93DC-8888D254E846}"/>
              </a:ext>
            </a:extLst>
          </p:cNvPr>
          <p:cNvGraphicFramePr>
            <a:graphicFrameLocks noGrp="1"/>
          </p:cNvGraphicFramePr>
          <p:nvPr>
            <p:extLst>
              <p:ext uri="{D42A27DB-BD31-4B8C-83A1-F6EECF244321}">
                <p14:modId xmlns:p14="http://schemas.microsoft.com/office/powerpoint/2010/main" val="667543288"/>
              </p:ext>
            </p:extLst>
          </p:nvPr>
        </p:nvGraphicFramePr>
        <p:xfrm>
          <a:off x="2060448" y="3491129"/>
          <a:ext cx="6475286" cy="3166646"/>
        </p:xfrm>
        <a:graphic>
          <a:graphicData uri="http://schemas.openxmlformats.org/drawingml/2006/table">
            <a:tbl>
              <a:tblPr firstRow="1" firstCol="1" bandRow="1">
                <a:tableStyleId>{5C22544A-7EE6-4342-B048-85BDC9FD1C3A}</a:tableStyleId>
              </a:tblPr>
              <a:tblGrid>
                <a:gridCol w="3227719">
                  <a:extLst>
                    <a:ext uri="{9D8B030D-6E8A-4147-A177-3AD203B41FA5}">
                      <a16:colId xmlns:a16="http://schemas.microsoft.com/office/drawing/2014/main" xmlns="" val="45015562"/>
                    </a:ext>
                  </a:extLst>
                </a:gridCol>
                <a:gridCol w="3247567">
                  <a:extLst>
                    <a:ext uri="{9D8B030D-6E8A-4147-A177-3AD203B41FA5}">
                      <a16:colId xmlns:a16="http://schemas.microsoft.com/office/drawing/2014/main" xmlns="" val="1486911443"/>
                    </a:ext>
                  </a:extLst>
                </a:gridCol>
              </a:tblGrid>
              <a:tr h="217185">
                <a:tc>
                  <a:txBody>
                    <a:bodyPr/>
                    <a:lstStyle/>
                    <a:p>
                      <a:pPr marL="0" marR="0" algn="ctr">
                        <a:spcBef>
                          <a:spcPts val="0"/>
                        </a:spcBef>
                        <a:spcAft>
                          <a:spcPts val="0"/>
                        </a:spcAft>
                      </a:pPr>
                      <a:r>
                        <a:rPr lang="en-US" sz="17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Concept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17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Rating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4184155725"/>
                  </a:ext>
                </a:extLst>
              </a:tr>
              <a:tr h="1085926">
                <a:tc>
                  <a:txBody>
                    <a:bodyPr/>
                    <a:lstStyle/>
                    <a:p>
                      <a:pPr marL="0" marR="0">
                        <a:spcBef>
                          <a:spcPts val="0"/>
                        </a:spcBef>
                        <a:spcAft>
                          <a:spcPts val="0"/>
                        </a:spcAft>
                      </a:pPr>
                      <a:r>
                        <a:rPr lang="en-US" sz="17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 can find the surface area of a right rectangular pyramid using a net or the figure.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7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1        2        3        4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438639558"/>
                  </a:ext>
                </a:extLst>
              </a:tr>
              <a:tr h="910820">
                <a:tc>
                  <a:txBody>
                    <a:bodyPr/>
                    <a:lstStyle/>
                    <a:p>
                      <a:pPr marL="0" marR="0">
                        <a:spcBef>
                          <a:spcPts val="0"/>
                        </a:spcBef>
                        <a:spcAft>
                          <a:spcPts val="0"/>
                        </a:spcAft>
                      </a:pPr>
                      <a:r>
                        <a:rPr lang="en-US" sz="1700" b="0">
                          <a:solidFill>
                            <a:schemeClr val="tx1"/>
                          </a:solidFill>
                          <a:effectLst/>
                          <a:latin typeface="Verdana" panose="020B0604030504040204" pitchFamily="34" charset="0"/>
                          <a:ea typeface="Verdana" panose="020B0604030504040204" pitchFamily="34" charset="0"/>
                          <a:cs typeface="Verdana" panose="020B0604030504040204" pitchFamily="34" charset="0"/>
                        </a:rPr>
                        <a:t>I can find the surface area of a right rectangular prism using a net or the figure.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7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1        2        3        4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636757979"/>
                  </a:ext>
                </a:extLst>
              </a:tr>
              <a:tr h="910820">
                <a:tc>
                  <a:txBody>
                    <a:bodyPr/>
                    <a:lstStyle/>
                    <a:p>
                      <a:pPr marL="0" marR="0">
                        <a:spcBef>
                          <a:spcPts val="0"/>
                        </a:spcBef>
                        <a:spcAft>
                          <a:spcPts val="0"/>
                        </a:spcAft>
                      </a:pPr>
                      <a:r>
                        <a:rPr lang="en-US" sz="1700" b="0">
                          <a:solidFill>
                            <a:schemeClr val="tx1"/>
                          </a:solidFill>
                          <a:effectLst/>
                          <a:latin typeface="Verdana" panose="020B0604030504040204" pitchFamily="34" charset="0"/>
                          <a:ea typeface="Verdana" panose="020B0604030504040204" pitchFamily="34" charset="0"/>
                          <a:cs typeface="Verdana" panose="020B0604030504040204" pitchFamily="34" charset="0"/>
                        </a:rPr>
                        <a:t>I can find the volume of a right rectangular prism.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17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1        2        3        4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135538771"/>
                  </a:ext>
                </a:extLst>
              </a:tr>
            </a:tbl>
          </a:graphicData>
        </a:graphic>
      </p:graphicFrame>
      <p:sp>
        <p:nvSpPr>
          <p:cNvPr id="9"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37</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35"/>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79" name="Google Shape;479;p35"/>
          <p:cNvSpPr txBox="1"/>
          <p:nvPr/>
        </p:nvSpPr>
        <p:spPr>
          <a:xfrm>
            <a:off x="1223889" y="520394"/>
            <a:ext cx="9894888" cy="3170058"/>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 barrier to my learning today was … </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I will try to overcome this by …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sp>
        <p:nvSpPr>
          <p:cNvPr id="6" name="Google Shape;125;g104476d1465_1_17"/>
          <p:cNvSpPr txBox="1"/>
          <p:nvPr/>
        </p:nvSpPr>
        <p:spPr>
          <a:xfrm>
            <a:off x="8665248"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37</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03474"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C046C76-8BF2-4203-93BA-D66E9082C6B0}">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131B868E-CB53-4B57-A4AE-BF9E92FD751B}">
  <ds:schemaRefs>
    <ds:schemaRef ds:uri="http://schemas.microsoft.com/sharepoint/v3/contenttype/forms"/>
  </ds:schemaRefs>
</ds:datastoreItem>
</file>

<file path=customXml/itemProps3.xml><?xml version="1.0" encoding="utf-8"?>
<ds:datastoreItem xmlns:ds="http://schemas.openxmlformats.org/officeDocument/2006/customXml" ds:itemID="{F5477CDA-90C0-4D3E-9528-D09037CE36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101</TotalTime>
  <Words>966</Words>
  <Application>Microsoft Office PowerPoint</Application>
  <PresentationFormat>Custom</PresentationFormat>
  <Paragraphs>225</Paragraphs>
  <Slides>26</Slides>
  <Notes>26</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1_Office Theme</vt:lpstr>
      <vt:lpstr>6th Grade Accelerated Math  Unit 8, Lesson 6  Finding Surface Area and Volume  Volume 2, pg. 31  </vt:lpstr>
      <vt:lpstr>Benchmarks</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  Unit 8, Lesson #  Lesson Name  Volume x, pg. #  </dc:title>
  <dc:creator>Karen McKenzie</dc:creator>
  <cp:lastModifiedBy>Sensei</cp:lastModifiedBy>
  <cp:revision>11</cp:revision>
  <dcterms:created xsi:type="dcterms:W3CDTF">2015-03-17T18:51:18Z</dcterms:created>
  <dcterms:modified xsi:type="dcterms:W3CDTF">2023-07-07T05:52:30Z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