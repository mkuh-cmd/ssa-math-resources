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41"/>
  </p:notesMasterIdLst>
  <p:sldIdLst>
    <p:sldId id="256" r:id="rId2"/>
    <p:sldId id="257" r:id="rId3"/>
    <p:sldId id="258" r:id="rId4"/>
    <p:sldId id="259" r:id="rId5"/>
    <p:sldId id="260" r:id="rId6"/>
    <p:sldId id="261" r:id="rId7"/>
    <p:sldId id="262" r:id="rId8"/>
    <p:sldId id="266" r:id="rId9"/>
    <p:sldId id="267" r:id="rId10"/>
    <p:sldId id="268" r:id="rId11"/>
    <p:sldId id="293" r:id="rId12"/>
    <p:sldId id="294" r:id="rId13"/>
    <p:sldId id="295" r:id="rId14"/>
    <p:sldId id="296" r:id="rId15"/>
    <p:sldId id="297" r:id="rId16"/>
    <p:sldId id="300" r:id="rId17"/>
    <p:sldId id="298" r:id="rId18"/>
    <p:sldId id="299" r:id="rId19"/>
    <p:sldId id="275" r:id="rId20"/>
    <p:sldId id="276" r:id="rId21"/>
    <p:sldId id="277" r:id="rId22"/>
    <p:sldId id="301" r:id="rId23"/>
    <p:sldId id="302" r:id="rId24"/>
    <p:sldId id="303" r:id="rId25"/>
    <p:sldId id="304" r:id="rId26"/>
    <p:sldId id="305" r:id="rId27"/>
    <p:sldId id="306" r:id="rId28"/>
    <p:sldId id="307" r:id="rId29"/>
    <p:sldId id="313" r:id="rId30"/>
    <p:sldId id="314" r:id="rId31"/>
    <p:sldId id="315" r:id="rId32"/>
    <p:sldId id="308" r:id="rId33"/>
    <p:sldId id="309" r:id="rId34"/>
    <p:sldId id="310" r:id="rId35"/>
    <p:sldId id="287" r:id="rId36"/>
    <p:sldId id="288" r:id="rId37"/>
    <p:sldId id="289" r:id="rId38"/>
    <p:sldId id="290" r:id="rId39"/>
    <p:sldId id="291" r:id="rId4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65" roundtripDataSignature="AMtx7miGNqAw0ce6kMhO2MM82zLCkyAoc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704"/>
    <p:restoredTop sz="94695"/>
  </p:normalViewPr>
  <p:slideViewPr>
    <p:cSldViewPr snapToGrid="0">
      <p:cViewPr varScale="1">
        <p:scale>
          <a:sx n="59" d="100"/>
          <a:sy n="59" d="100"/>
        </p:scale>
        <p:origin x="168" y="4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66"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65"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69"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g104476d146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 name="Google Shape;119;g104476d1465_1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0" name="Google Shape;120;g104476d1465_1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0" name="Google Shape;130;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1" name="Google Shape;131;p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1" name="Google Shape;141;p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2" name="Google Shape;142;p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g104476d1465_1_3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3" name="Google Shape;153;g104476d1465_1_3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2" name="Google Shape;162;p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3" name="Google Shape;163;p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 name="Google Shape;173;p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4" name="Google Shape;174;p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2" name="Google Shape;212;p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3" name="Google Shape;213;p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2" name="Google Shape;222;p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3" name="Google Shape;223;p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3" name="Google Shape;233;p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4" name="Google Shape;234;p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11</a:t>
            </a:fld>
            <a:endParaRPr/>
          </a:p>
        </p:txBody>
      </p:sp>
    </p:spTree>
    <p:extLst>
      <p:ext uri="{BB962C8B-B14F-4D97-AF65-F5344CB8AC3E}">
        <p14:creationId xmlns:p14="http://schemas.microsoft.com/office/powerpoint/2010/main" val="5824077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2" name="Google Shape;212;p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3" name="Google Shape;213;p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Tree>
    <p:extLst>
      <p:ext uri="{BB962C8B-B14F-4D97-AF65-F5344CB8AC3E}">
        <p14:creationId xmlns:p14="http://schemas.microsoft.com/office/powerpoint/2010/main" val="38644187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2" name="Google Shape;222;p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3" name="Google Shape;223;p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13</a:t>
            </a:fld>
            <a:endParaRPr/>
          </a:p>
        </p:txBody>
      </p:sp>
    </p:spTree>
    <p:extLst>
      <p:ext uri="{BB962C8B-B14F-4D97-AF65-F5344CB8AC3E}">
        <p14:creationId xmlns:p14="http://schemas.microsoft.com/office/powerpoint/2010/main" val="30082436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14</a:t>
            </a:fld>
            <a:endParaRPr/>
          </a:p>
        </p:txBody>
      </p:sp>
    </p:spTree>
    <p:extLst>
      <p:ext uri="{BB962C8B-B14F-4D97-AF65-F5344CB8AC3E}">
        <p14:creationId xmlns:p14="http://schemas.microsoft.com/office/powerpoint/2010/main" val="40915218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15</a:t>
            </a:fld>
            <a:endParaRPr/>
          </a:p>
        </p:txBody>
      </p:sp>
    </p:spTree>
    <p:extLst>
      <p:ext uri="{BB962C8B-B14F-4D97-AF65-F5344CB8AC3E}">
        <p14:creationId xmlns:p14="http://schemas.microsoft.com/office/powerpoint/2010/main" val="34962954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16</a:t>
            </a:fld>
            <a:endParaRPr/>
          </a:p>
        </p:txBody>
      </p:sp>
    </p:spTree>
    <p:extLst>
      <p:ext uri="{BB962C8B-B14F-4D97-AF65-F5344CB8AC3E}">
        <p14:creationId xmlns:p14="http://schemas.microsoft.com/office/powerpoint/2010/main" val="24256189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17</a:t>
            </a:fld>
            <a:endParaRPr/>
          </a:p>
        </p:txBody>
      </p:sp>
    </p:spTree>
    <p:extLst>
      <p:ext uri="{BB962C8B-B14F-4D97-AF65-F5344CB8AC3E}">
        <p14:creationId xmlns:p14="http://schemas.microsoft.com/office/powerpoint/2010/main" val="355543936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3" name="Google Shape;203;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18</a:t>
            </a:fld>
            <a:endParaRPr/>
          </a:p>
        </p:txBody>
      </p:sp>
    </p:spTree>
    <p:extLst>
      <p:ext uri="{BB962C8B-B14F-4D97-AF65-F5344CB8AC3E}">
        <p14:creationId xmlns:p14="http://schemas.microsoft.com/office/powerpoint/2010/main" val="401356252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2" name="Google Shape;302;p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3" name="Google Shape;303;p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2" name="Google Shape;312;p1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3" name="Google Shape;313;p1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4" name="Google Shape;324;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4" name="Google Shape;324;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22</a:t>
            </a:fld>
            <a:endParaRPr/>
          </a:p>
        </p:txBody>
      </p:sp>
    </p:spTree>
    <p:extLst>
      <p:ext uri="{BB962C8B-B14F-4D97-AF65-F5344CB8AC3E}">
        <p14:creationId xmlns:p14="http://schemas.microsoft.com/office/powerpoint/2010/main" val="3582234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4" name="Google Shape;324;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23</a:t>
            </a:fld>
            <a:endParaRPr/>
          </a:p>
        </p:txBody>
      </p:sp>
    </p:spTree>
    <p:extLst>
      <p:ext uri="{BB962C8B-B14F-4D97-AF65-F5344CB8AC3E}">
        <p14:creationId xmlns:p14="http://schemas.microsoft.com/office/powerpoint/2010/main" val="31960955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4" name="Google Shape;324;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24</a:t>
            </a:fld>
            <a:endParaRPr/>
          </a:p>
        </p:txBody>
      </p:sp>
    </p:spTree>
    <p:extLst>
      <p:ext uri="{BB962C8B-B14F-4D97-AF65-F5344CB8AC3E}">
        <p14:creationId xmlns:p14="http://schemas.microsoft.com/office/powerpoint/2010/main" val="254541992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4" name="Google Shape;324;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25</a:t>
            </a:fld>
            <a:endParaRPr/>
          </a:p>
        </p:txBody>
      </p:sp>
    </p:spTree>
    <p:extLst>
      <p:ext uri="{BB962C8B-B14F-4D97-AF65-F5344CB8AC3E}">
        <p14:creationId xmlns:p14="http://schemas.microsoft.com/office/powerpoint/2010/main" val="198532770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4" name="Google Shape;324;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26</a:t>
            </a:fld>
            <a:endParaRPr/>
          </a:p>
        </p:txBody>
      </p:sp>
    </p:spTree>
    <p:extLst>
      <p:ext uri="{BB962C8B-B14F-4D97-AF65-F5344CB8AC3E}">
        <p14:creationId xmlns:p14="http://schemas.microsoft.com/office/powerpoint/2010/main" val="158801513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4" name="Google Shape;324;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27</a:t>
            </a:fld>
            <a:endParaRPr/>
          </a:p>
        </p:txBody>
      </p:sp>
    </p:spTree>
    <p:extLst>
      <p:ext uri="{BB962C8B-B14F-4D97-AF65-F5344CB8AC3E}">
        <p14:creationId xmlns:p14="http://schemas.microsoft.com/office/powerpoint/2010/main" val="150433139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4" name="Google Shape;324;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28</a:t>
            </a:fld>
            <a:endParaRPr/>
          </a:p>
        </p:txBody>
      </p:sp>
    </p:spTree>
    <p:extLst>
      <p:ext uri="{BB962C8B-B14F-4D97-AF65-F5344CB8AC3E}">
        <p14:creationId xmlns:p14="http://schemas.microsoft.com/office/powerpoint/2010/main" val="22143378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4" name="Google Shape;324;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29</a:t>
            </a:fld>
            <a:endParaRPr/>
          </a:p>
        </p:txBody>
      </p:sp>
    </p:spTree>
    <p:extLst>
      <p:ext uri="{BB962C8B-B14F-4D97-AF65-F5344CB8AC3E}">
        <p14:creationId xmlns:p14="http://schemas.microsoft.com/office/powerpoint/2010/main" val="273978172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4" name="Google Shape;324;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30</a:t>
            </a:fld>
            <a:endParaRPr/>
          </a:p>
        </p:txBody>
      </p:sp>
    </p:spTree>
    <p:extLst>
      <p:ext uri="{BB962C8B-B14F-4D97-AF65-F5344CB8AC3E}">
        <p14:creationId xmlns:p14="http://schemas.microsoft.com/office/powerpoint/2010/main" val="2854589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4" name="Google Shape;324;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31</a:t>
            </a:fld>
            <a:endParaRPr/>
          </a:p>
        </p:txBody>
      </p:sp>
    </p:spTree>
    <p:extLst>
      <p:ext uri="{BB962C8B-B14F-4D97-AF65-F5344CB8AC3E}">
        <p14:creationId xmlns:p14="http://schemas.microsoft.com/office/powerpoint/2010/main" val="416317551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4" name="Google Shape;324;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32</a:t>
            </a:fld>
            <a:endParaRPr/>
          </a:p>
        </p:txBody>
      </p:sp>
    </p:spTree>
    <p:extLst>
      <p:ext uri="{BB962C8B-B14F-4D97-AF65-F5344CB8AC3E}">
        <p14:creationId xmlns:p14="http://schemas.microsoft.com/office/powerpoint/2010/main" val="153077281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4" name="Google Shape;324;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33</a:t>
            </a:fld>
            <a:endParaRPr/>
          </a:p>
        </p:txBody>
      </p:sp>
    </p:spTree>
    <p:extLst>
      <p:ext uri="{BB962C8B-B14F-4D97-AF65-F5344CB8AC3E}">
        <p14:creationId xmlns:p14="http://schemas.microsoft.com/office/powerpoint/2010/main" val="257997759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3" name="Google Shape;323;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4" name="Google Shape;324;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34</a:t>
            </a:fld>
            <a:endParaRPr/>
          </a:p>
        </p:txBody>
      </p:sp>
    </p:spTree>
    <p:extLst>
      <p:ext uri="{BB962C8B-B14F-4D97-AF65-F5344CB8AC3E}">
        <p14:creationId xmlns:p14="http://schemas.microsoft.com/office/powerpoint/2010/main" val="301979874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0"/>
        <p:cNvGrpSpPr/>
        <p:nvPr/>
      </p:nvGrpSpPr>
      <p:grpSpPr>
        <a:xfrm>
          <a:off x="0" y="0"/>
          <a:ext cx="0" cy="0"/>
          <a:chOff x="0" y="0"/>
          <a:chExt cx="0" cy="0"/>
        </a:xfrm>
      </p:grpSpPr>
      <p:sp>
        <p:nvSpPr>
          <p:cNvPr id="421" name="Google Shape;421;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2" name="Google Shape;422;p3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23" name="Google Shape;423;p3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35</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2" name="Google Shape;432;p3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3" name="Google Shape;433;p3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36</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3" name="Google Shape;443;p3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4" name="Google Shape;444;p3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37</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2" name="Google Shape;452;p3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3" name="Google Shape;453;p3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38</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2" name="Google Shape;462;p3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63" name="Google Shape;463;p3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39</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9"/>
        <p:cNvGrpSpPr/>
        <p:nvPr/>
      </p:nvGrpSpPr>
      <p:grpSpPr>
        <a:xfrm>
          <a:off x="0" y="0"/>
          <a:ext cx="0" cy="0"/>
          <a:chOff x="0" y="0"/>
          <a:chExt cx="0" cy="0"/>
        </a:xfrm>
      </p:grpSpPr>
      <p:sp>
        <p:nvSpPr>
          <p:cNvPr id="20" name="Google Shape;20;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algn="l">
              <a:lnSpc>
                <a:spcPct val="100000"/>
              </a:lnSpc>
              <a:spcBef>
                <a:spcPts val="0"/>
              </a:spcBef>
              <a:spcAft>
                <a:spcPts val="0"/>
              </a:spcAft>
              <a:buSzPts val="1400"/>
              <a:buNone/>
              <a:defRPr sz="7200"/>
            </a:lvl2pPr>
            <a:lvl3pPr lvl="2" algn="l">
              <a:lnSpc>
                <a:spcPct val="100000"/>
              </a:lnSpc>
              <a:spcBef>
                <a:spcPts val="0"/>
              </a:spcBef>
              <a:spcAft>
                <a:spcPts val="0"/>
              </a:spcAft>
              <a:buSzPts val="1400"/>
              <a:buNone/>
              <a:defRPr sz="7200"/>
            </a:lvl3pPr>
            <a:lvl4pPr lvl="3" algn="l">
              <a:lnSpc>
                <a:spcPct val="100000"/>
              </a:lnSpc>
              <a:spcBef>
                <a:spcPts val="0"/>
              </a:spcBef>
              <a:spcAft>
                <a:spcPts val="0"/>
              </a:spcAft>
              <a:buSzPts val="1400"/>
              <a:buNone/>
              <a:defRPr sz="7200"/>
            </a:lvl4pPr>
            <a:lvl5pPr lvl="4" algn="l">
              <a:lnSpc>
                <a:spcPct val="100000"/>
              </a:lnSpc>
              <a:spcBef>
                <a:spcPts val="0"/>
              </a:spcBef>
              <a:spcAft>
                <a:spcPts val="0"/>
              </a:spcAft>
              <a:buSzPts val="1400"/>
              <a:buNone/>
              <a:defRPr sz="7200"/>
            </a:lvl5pPr>
            <a:lvl6pPr lvl="5" algn="l">
              <a:lnSpc>
                <a:spcPct val="100000"/>
              </a:lnSpc>
              <a:spcBef>
                <a:spcPts val="0"/>
              </a:spcBef>
              <a:spcAft>
                <a:spcPts val="0"/>
              </a:spcAft>
              <a:buSzPts val="1400"/>
              <a:buNone/>
              <a:defRPr sz="7200"/>
            </a:lvl6pPr>
            <a:lvl7pPr lvl="6" algn="l">
              <a:lnSpc>
                <a:spcPct val="100000"/>
              </a:lnSpc>
              <a:spcBef>
                <a:spcPts val="0"/>
              </a:spcBef>
              <a:spcAft>
                <a:spcPts val="0"/>
              </a:spcAft>
              <a:buSzPts val="1400"/>
              <a:buNone/>
              <a:defRPr sz="7200"/>
            </a:lvl7pPr>
            <a:lvl8pPr lvl="7" algn="l">
              <a:lnSpc>
                <a:spcPct val="100000"/>
              </a:lnSpc>
              <a:spcBef>
                <a:spcPts val="0"/>
              </a:spcBef>
              <a:spcAft>
                <a:spcPts val="0"/>
              </a:spcAft>
              <a:buSzPts val="1400"/>
              <a:buNone/>
              <a:defRPr sz="7200"/>
            </a:lvl8pPr>
            <a:lvl9pPr lvl="8" algn="l">
              <a:lnSpc>
                <a:spcPct val="100000"/>
              </a:lnSpc>
              <a:spcBef>
                <a:spcPts val="0"/>
              </a:spcBef>
              <a:spcAft>
                <a:spcPts val="0"/>
              </a:spcAft>
              <a:buSzPts val="1400"/>
              <a:buNone/>
              <a:defRPr sz="72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
        <p:nvSpPr>
          <p:cNvPr id="24" name="Google Shape;24;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7"/>
        <p:cNvGrpSpPr/>
        <p:nvPr/>
      </p:nvGrpSpPr>
      <p:grpSpPr>
        <a:xfrm>
          <a:off x="0" y="0"/>
          <a:ext cx="0" cy="0"/>
          <a:chOff x="0" y="0"/>
          <a:chExt cx="0" cy="0"/>
        </a:xfrm>
      </p:grpSpPr>
      <p:sp>
        <p:nvSpPr>
          <p:cNvPr id="28" name="Google Shape;28;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30" name="Google Shape;30;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3"/>
        <p:cNvGrpSpPr/>
        <p:nvPr/>
      </p:nvGrpSpPr>
      <p:grpSpPr>
        <a:xfrm>
          <a:off x="0" y="0"/>
          <a:ext cx="0" cy="0"/>
          <a:chOff x="0" y="0"/>
          <a:chExt cx="0" cy="0"/>
        </a:xfrm>
      </p:grpSpPr>
      <p:sp>
        <p:nvSpPr>
          <p:cNvPr id="34" name="Google Shape;34;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rgbClr val="888888"/>
              </a:buClr>
              <a:buSzPts val="1800"/>
              <a:buNone/>
              <a:defRPr sz="1800">
                <a:solidFill>
                  <a:srgbClr val="888888"/>
                </a:solidFill>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6" name="Google Shape;36;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9"/>
        <p:cNvGrpSpPr/>
        <p:nvPr/>
      </p:nvGrpSpPr>
      <p:grpSpPr>
        <a:xfrm>
          <a:off x="0" y="0"/>
          <a:ext cx="0" cy="0"/>
          <a:chOff x="0" y="0"/>
          <a:chExt cx="0" cy="0"/>
        </a:xfrm>
      </p:grpSpPr>
      <p:sp>
        <p:nvSpPr>
          <p:cNvPr id="40" name="Google Shape;40;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2" name="Google Shape;42;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3" name="Google Shape;43;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
        <p:cNvGrpSpPr/>
        <p:nvPr/>
      </p:nvGrpSpPr>
      <p:grpSpPr>
        <a:xfrm>
          <a:off x="0" y="0"/>
          <a:ext cx="0" cy="0"/>
          <a:chOff x="0" y="0"/>
          <a:chExt cx="0" cy="0"/>
        </a:xfrm>
      </p:grpSpPr>
      <p:sp>
        <p:nvSpPr>
          <p:cNvPr id="47" name="Google Shape;47;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49" name="Google Shape;49;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0" name="Google Shape;50;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51" name="Google Shape;51;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2" name="Google Shape;52;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5"/>
        <p:cNvGrpSpPr/>
        <p:nvPr/>
      </p:nvGrpSpPr>
      <p:grpSpPr>
        <a:xfrm>
          <a:off x="0" y="0"/>
          <a:ext cx="0" cy="0"/>
          <a:chOff x="0" y="0"/>
          <a:chExt cx="0" cy="0"/>
        </a:xfrm>
      </p:grpSpPr>
      <p:sp>
        <p:nvSpPr>
          <p:cNvPr id="56" name="Google Shape;56;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750"/>
              </a:spcBef>
              <a:spcAft>
                <a:spcPts val="0"/>
              </a:spcAft>
              <a:buClr>
                <a:schemeClr val="dk1"/>
              </a:buClr>
              <a:buSzPts val="2400"/>
              <a:buChar char="•"/>
              <a:defRPr sz="2400"/>
            </a:lvl1pPr>
            <a:lvl2pPr marL="914400" lvl="1" indent="-361950" algn="l">
              <a:lnSpc>
                <a:spcPct val="90000"/>
              </a:lnSpc>
              <a:spcBef>
                <a:spcPts val="375"/>
              </a:spcBef>
              <a:spcAft>
                <a:spcPts val="0"/>
              </a:spcAft>
              <a:buClr>
                <a:schemeClr val="dk1"/>
              </a:buClr>
              <a:buSzPts val="2100"/>
              <a:buChar char="•"/>
              <a:defRPr sz="2100"/>
            </a:lvl2pPr>
            <a:lvl3pPr marL="1371600" lvl="2" indent="-342900" algn="l">
              <a:lnSpc>
                <a:spcPct val="90000"/>
              </a:lnSpc>
              <a:spcBef>
                <a:spcPts val="375"/>
              </a:spcBef>
              <a:spcAft>
                <a:spcPts val="0"/>
              </a:spcAft>
              <a:buClr>
                <a:schemeClr val="dk1"/>
              </a:buClr>
              <a:buSzPts val="1800"/>
              <a:buChar char="•"/>
              <a:defRPr sz="1800"/>
            </a:lvl3pPr>
            <a:lvl4pPr marL="1828800" lvl="3" indent="-323850" algn="l">
              <a:lnSpc>
                <a:spcPct val="90000"/>
              </a:lnSpc>
              <a:spcBef>
                <a:spcPts val="375"/>
              </a:spcBef>
              <a:spcAft>
                <a:spcPts val="0"/>
              </a:spcAft>
              <a:buClr>
                <a:schemeClr val="dk1"/>
              </a:buClr>
              <a:buSzPts val="1500"/>
              <a:buChar char="•"/>
              <a:defRPr sz="1500"/>
            </a:lvl4pPr>
            <a:lvl5pPr marL="2286000" lvl="4" indent="-323850" algn="l">
              <a:lnSpc>
                <a:spcPct val="90000"/>
              </a:lnSpc>
              <a:spcBef>
                <a:spcPts val="375"/>
              </a:spcBef>
              <a:spcAft>
                <a:spcPts val="0"/>
              </a:spcAft>
              <a:buClr>
                <a:schemeClr val="dk1"/>
              </a:buClr>
              <a:buSzPts val="1500"/>
              <a:buChar char="•"/>
              <a:defRPr sz="1500"/>
            </a:lvl5pPr>
            <a:lvl6pPr marL="2743200" lvl="5" indent="-323850" algn="l">
              <a:lnSpc>
                <a:spcPct val="90000"/>
              </a:lnSpc>
              <a:spcBef>
                <a:spcPts val="375"/>
              </a:spcBef>
              <a:spcAft>
                <a:spcPts val="0"/>
              </a:spcAft>
              <a:buClr>
                <a:schemeClr val="dk1"/>
              </a:buClr>
              <a:buSzPts val="1500"/>
              <a:buChar char="•"/>
              <a:defRPr sz="1500"/>
            </a:lvl6pPr>
            <a:lvl7pPr marL="3200400" lvl="6" indent="-323850" algn="l">
              <a:lnSpc>
                <a:spcPct val="90000"/>
              </a:lnSpc>
              <a:spcBef>
                <a:spcPts val="375"/>
              </a:spcBef>
              <a:spcAft>
                <a:spcPts val="0"/>
              </a:spcAft>
              <a:buClr>
                <a:schemeClr val="dk1"/>
              </a:buClr>
              <a:buSzPts val="1500"/>
              <a:buChar char="•"/>
              <a:defRPr sz="1500"/>
            </a:lvl7pPr>
            <a:lvl8pPr marL="3657600" lvl="7" indent="-323850" algn="l">
              <a:lnSpc>
                <a:spcPct val="90000"/>
              </a:lnSpc>
              <a:spcBef>
                <a:spcPts val="375"/>
              </a:spcBef>
              <a:spcAft>
                <a:spcPts val="0"/>
              </a:spcAft>
              <a:buClr>
                <a:schemeClr val="dk1"/>
              </a:buClr>
              <a:buSzPts val="1500"/>
              <a:buChar char="•"/>
              <a:defRPr sz="1500"/>
            </a:lvl8pPr>
            <a:lvl9pPr marL="4114800" lvl="8" indent="-323850" algn="l">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fld id="{00000000-1234-1234-1234-123412341234}" type="slidenum">
              <a:rPr lang="uk-UA" smtClean="0"/>
              <a:pPr/>
              <a:t>‹#›</a:t>
            </a:fld>
            <a:endParaRPr lang="uk-UA"/>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5.png"/><Relationship Id="rId7"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20.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29.png"/><Relationship Id="rId4" Type="http://schemas.openxmlformats.org/officeDocument/2006/relationships/image" Target="../media/image28.png"/></Relationships>
</file>

<file path=ppt/slides/_rels/slide2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32.png"/></Relationships>
</file>

<file path=ppt/slides/_rels/slide2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34.png"/></Relationships>
</file>

<file path=ppt/slides/_rels/slide2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7.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39.png"/></Relationships>
</file>

<file path=ppt/slides/_rels/slide2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8.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41.png"/></Relationships>
</file>

<file path=ppt/slides/_rels/slide2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9.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41.png"/></Relationships>
</file>

<file path=ppt/slides/_rels/slide3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0.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41.png"/></Relationships>
</file>

<file path=ppt/slides/_rels/slide3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1.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41.png"/></Relationships>
</file>

<file path=ppt/slides/_rels/slide3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2.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46.png"/></Relationships>
</file>

<file path=ppt/slides/_rels/slide3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3.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48.png"/></Relationships>
</file>

<file path=ppt/slides/_rels/slide34.xml.rels><?xml version="1.0" encoding="UTF-8" standalone="yes"?>
<Relationships xmlns="http://schemas.openxmlformats.org/package/2006/relationships"><Relationship Id="rId3" Type="http://schemas.openxmlformats.org/officeDocument/2006/relationships/image" Target="../media/image480.png"/><Relationship Id="rId2" Type="http://schemas.openxmlformats.org/officeDocument/2006/relationships/notesSlide" Target="../notesSlides/notesSlide34.xml"/><Relationship Id="rId1" Type="http://schemas.openxmlformats.org/officeDocument/2006/relationships/slideLayout" Target="../slideLayouts/slideLayout1.xml"/><Relationship Id="rId5" Type="http://schemas.openxmlformats.org/officeDocument/2006/relationships/image" Target="../media/image48.png"/><Relationship Id="rId4" Type="http://schemas.openxmlformats.org/officeDocument/2006/relationships/image" Target="../media/image10.png"/></Relationships>
</file>

<file path=ppt/slides/_rels/slide35.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3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51.png"/><Relationship Id="rId4" Type="http://schemas.openxmlformats.org/officeDocument/2006/relationships/image" Target="../media/image50.png"/></Relationships>
</file>

<file path=ppt/slides/_rels/slide3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7.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51.png"/></Relationships>
</file>

<file path=ppt/slides/_rels/slide3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8.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3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9.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5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6" name="Google Shape;115;g104476d1465_0_0">
            <a:extLst>
              <a:ext uri="{FF2B5EF4-FFF2-40B4-BE49-F238E27FC236}">
                <a16:creationId xmlns:a16="http://schemas.microsoft.com/office/drawing/2014/main" id="{4FE2E5DE-613B-445B-8B03-987A2D460387}"/>
              </a:ext>
            </a:extLst>
          </p:cNvPr>
          <p:cNvSpPr/>
          <p:nvPr/>
        </p:nvSpPr>
        <p:spPr>
          <a:xfrm>
            <a:off x="0" y="0"/>
            <a:ext cx="4094106"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113" name="Google Shape;113;g104476d1465_0_0"/>
          <p:cNvSpPr txBox="1">
            <a:spLocks noGrp="1"/>
          </p:cNvSpPr>
          <p:nvPr>
            <p:ph type="ctrTitle" idx="4294967295"/>
          </p:nvPr>
        </p:nvSpPr>
        <p:spPr>
          <a:xfrm>
            <a:off x="5742834" y="2054277"/>
            <a:ext cx="4925167" cy="3194455"/>
          </a:xfrm>
          <a:prstGeom prst="rect">
            <a:avLst/>
          </a:prstGeom>
          <a:noFill/>
          <a:ln>
            <a:noFill/>
          </a:ln>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6</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Accelerated Math</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t>
            </a:r>
            <a:endParaRPr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8, Lesson 1</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Volume of Right Rectangular Prisms</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3</a:t>
            </a:r>
            <a:endParaRPr dirty="0"/>
          </a:p>
          <a:p>
            <a:pPr algn="ctr">
              <a:lnSpc>
                <a:spcPct val="100000"/>
              </a:lnSpc>
              <a:buClr>
                <a:srgbClr val="000000"/>
              </a:buClr>
            </a:pPr>
            <a:endParaRPr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pic>
        <p:nvPicPr>
          <p:cNvPr id="116" name="Google Shape;116;g104476d1465_0_0" descr="A blue sign with white text&#10;&#10;Description automatically generated with medium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411640" y="1526626"/>
            <a:ext cx="3270825" cy="3812847"/>
          </a:xfrm>
          <a:prstGeom prst="rect">
            <a:avLst/>
          </a:prstGeom>
          <a:noFill/>
          <a:ln>
            <a:noFill/>
          </a:ln>
          <a:effectLst>
            <a:outerShdw blurRad="50800" dist="38100" dir="2700000" algn="tl" rotWithShape="0">
              <a:srgbClr val="000000">
                <a:alpha val="4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3" name="Google Shape;123;g104476d1465_1_17"/>
          <p:cNvSpPr txBox="1">
            <a:spLocks noGrp="1"/>
          </p:cNvSpPr>
          <p:nvPr>
            <p:ph type="title" idx="4294967295"/>
          </p:nvPr>
        </p:nvSpPr>
        <p:spPr>
          <a:xfrm>
            <a:off x="1473650" y="149225"/>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124" name="Google Shape;124;g104476d1465_1_17"/>
          <p:cNvPicPr preferRelativeResize="0"/>
          <p:nvPr/>
        </p:nvPicPr>
        <p:blipFill rotWithShape="1">
          <a:blip r:embed="rId3">
            <a:alphaModFix/>
          </a:blip>
          <a:srcRect/>
          <a:stretch/>
        </p:blipFill>
        <p:spPr>
          <a:xfrm>
            <a:off x="650150" y="385000"/>
            <a:ext cx="747300" cy="747300"/>
          </a:xfrm>
          <a:prstGeom prst="rect">
            <a:avLst/>
          </a:prstGeom>
          <a:noFill/>
          <a:ln>
            <a:noFill/>
          </a:ln>
          <a:effectLst>
            <a:outerShdw blurRad="57150" dist="19050" dir="5400000" algn="bl" rotWithShape="0">
              <a:srgbClr val="000000">
                <a:alpha val="49803"/>
              </a:srgbClr>
            </a:outerShdw>
          </a:effectLst>
        </p:spPr>
      </p:pic>
      <p:sp>
        <p:nvSpPr>
          <p:cNvPr id="125"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3</a:t>
            </a:r>
            <a:endParaRPr i="1" dirty="0">
              <a:latin typeface="Calibri"/>
              <a:ea typeface="Calibri"/>
              <a:cs typeface="Calibri"/>
              <a:sym typeface="Calibri"/>
            </a:endParaRPr>
          </a:p>
        </p:txBody>
      </p:sp>
      <p:pic>
        <p:nvPicPr>
          <p:cNvPr id="126"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
        <p:nvSpPr>
          <p:cNvPr id="127" name="Google Shape;127;g104476d1465_1_17"/>
          <p:cNvSpPr txBox="1"/>
          <p:nvPr/>
        </p:nvSpPr>
        <p:spPr>
          <a:xfrm>
            <a:off x="1257300" y="1600200"/>
            <a:ext cx="8953500" cy="4205700"/>
          </a:xfrm>
          <a:prstGeom prst="rect">
            <a:avLst/>
          </a:prstGeom>
          <a:noFill/>
          <a:ln>
            <a:noFill/>
          </a:ln>
        </p:spPr>
        <p:txBody>
          <a:bodyPr spcFirstLastPara="1" wrap="square" lIns="91425" tIns="45700" rIns="91425" bIns="45700" anchor="t" anchorCtr="0">
            <a:normAutofit/>
          </a:bodyPr>
          <a:lstStyle/>
          <a:p>
            <a:pPr>
              <a:lnSpc>
                <a:spcPct val="90000"/>
              </a:lnSpc>
              <a:spcBef>
                <a:spcPts val="750"/>
              </a:spcBef>
              <a:buClr>
                <a:schemeClr val="dk1"/>
              </a:buClr>
              <a:buSzPts val="1100"/>
            </a:pPr>
            <a:r>
              <a:rPr lang="en-US" sz="2400" dirty="0">
                <a:solidFill>
                  <a:schemeClr val="dk1"/>
                </a:solidFill>
                <a:latin typeface="Verdana"/>
                <a:ea typeface="Verdana"/>
                <a:cs typeface="Verdana"/>
                <a:sym typeface="Verdana"/>
              </a:rPr>
              <a:t>MA.6.GR.2.3</a:t>
            </a:r>
            <a:endParaRPr sz="2400" dirty="0">
              <a:solidFill>
                <a:schemeClr val="dk1"/>
              </a:solidFill>
              <a:latin typeface="Verdana"/>
              <a:ea typeface="Verdana"/>
              <a:cs typeface="Verdana"/>
              <a:sym typeface="Verdana"/>
            </a:endParaRPr>
          </a:p>
          <a:p>
            <a:pPr marL="463550"/>
            <a:r>
              <a:rPr lang="en-US" sz="2400" dirty="0">
                <a:latin typeface="Verdana" panose="020B0604030504040204" pitchFamily="34" charset="0"/>
                <a:ea typeface="Verdana" panose="020B0604030504040204" pitchFamily="34" charset="0"/>
                <a:cs typeface="Verdana" panose="020B0604030504040204" pitchFamily="34" charset="0"/>
              </a:rPr>
              <a:t>Solve mathematical and real-world problems involving the volume of right rectangular prisms with positive rational number edge lengths using a visual model and a formula.</a:t>
            </a:r>
          </a:p>
        </p:txBody>
      </p:sp>
      <p:sp>
        <p:nvSpPr>
          <p:cNvPr id="8" name="Google Shape;122;g104476d1465_1_17">
            <a:extLst>
              <a:ext uri="{FF2B5EF4-FFF2-40B4-BE49-F238E27FC236}">
                <a16:creationId xmlns:a16="http://schemas.microsoft.com/office/drawing/2014/main" id="{52681655-3FF5-4922-BE4F-819C5E798DBF}"/>
              </a:ext>
            </a:extLst>
          </p:cNvPr>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pic>
        <p:nvPicPr>
          <p:cNvPr id="133" name="Google Shape;133;p1"/>
          <p:cNvPicPr preferRelativeResize="0"/>
          <p:nvPr/>
        </p:nvPicPr>
        <p:blipFill rotWithShape="1">
          <a:blip r:embed="rId3">
            <a:alphaModFix/>
          </a:blip>
          <a:srcRect/>
          <a:stretch/>
        </p:blipFill>
        <p:spPr>
          <a:xfrm>
            <a:off x="916850" y="372300"/>
            <a:ext cx="747300" cy="747300"/>
          </a:xfrm>
          <a:prstGeom prst="rect">
            <a:avLst/>
          </a:prstGeom>
          <a:noFill/>
          <a:ln>
            <a:noFill/>
          </a:ln>
          <a:effectLst>
            <a:outerShdw blurRad="57150" dist="19050" dir="5400000" algn="bl" rotWithShape="0">
              <a:srgbClr val="000000">
                <a:alpha val="49803"/>
              </a:srgbClr>
            </a:outerShdw>
          </a:effectLst>
        </p:spPr>
      </p:pic>
      <p:sp>
        <p:nvSpPr>
          <p:cNvPr id="135" name="Google Shape;135;p1"/>
          <p:cNvSpPr txBox="1"/>
          <p:nvPr/>
        </p:nvSpPr>
        <p:spPr>
          <a:xfrm>
            <a:off x="1741500" y="129667"/>
            <a:ext cx="8024426"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000" b="1">
                <a:solidFill>
                  <a:srgbClr val="54B5D1"/>
                </a:solidFill>
                <a:latin typeface="Verdana"/>
                <a:ea typeface="Verdana"/>
                <a:cs typeface="Verdana"/>
                <a:sym typeface="Verdana"/>
              </a:rPr>
              <a:t>Integrated Mathematical Thinking and Reasoning Standards</a:t>
            </a:r>
            <a:endParaRPr/>
          </a:p>
        </p:txBody>
      </p:sp>
      <p:sp>
        <p:nvSpPr>
          <p:cNvPr id="137" name="Google Shape;137;p1"/>
          <p:cNvSpPr txBox="1"/>
          <p:nvPr/>
        </p:nvSpPr>
        <p:spPr>
          <a:xfrm>
            <a:off x="1741500" y="1596390"/>
            <a:ext cx="9296820" cy="4205700"/>
          </a:xfrm>
          <a:prstGeom prst="rect">
            <a:avLst/>
          </a:prstGeom>
          <a:noFill/>
          <a:ln>
            <a:noFill/>
          </a:ln>
        </p:spPr>
        <p:txBody>
          <a:bodyPr spcFirstLastPara="1" wrap="square" lIns="91425" tIns="45700" rIns="91425" bIns="45700" anchor="t" anchorCtr="0">
            <a:noAutofit/>
          </a:bodyPr>
          <a:lstStyle/>
          <a:p>
            <a:r>
              <a:rPr lang="en-US" sz="2000" dirty="0">
                <a:solidFill>
                  <a:schemeClr val="dk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endParaRPr sz="2000" dirty="0">
              <a:latin typeface="Verdana" panose="020B0604030504040204" pitchFamily="34" charset="0"/>
              <a:ea typeface="Verdana" panose="020B0604030504040204" pitchFamily="34" charset="0"/>
              <a:cs typeface="Verdana" panose="020B0604030504040204" pitchFamily="34" charset="0"/>
            </a:endParaRPr>
          </a:p>
          <a:p>
            <a:pPr marL="457200"/>
            <a:endParaRPr sz="2000" dirty="0">
              <a:solidFill>
                <a:schemeClr val="dk1"/>
              </a:solidFill>
              <a:latin typeface="Verdana" panose="020B0604030504040204" pitchFamily="34" charset="0"/>
              <a:ea typeface="Verdana" panose="020B0604030504040204" pitchFamily="34" charset="0"/>
              <a:cs typeface="Verdana" panose="020B0604030504040204" pitchFamily="34" charset="0"/>
              <a:sym typeface="Verdana"/>
            </a:endParaRPr>
          </a:p>
          <a:p>
            <a:r>
              <a:rPr lang="en-US" sz="2000" dirty="0">
                <a:solidFill>
                  <a:schemeClr val="dk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endParaRPr sz="2000" dirty="0">
              <a:latin typeface="Verdana" panose="020B0604030504040204" pitchFamily="34" charset="0"/>
              <a:ea typeface="Verdana" panose="020B0604030504040204" pitchFamily="34" charset="0"/>
              <a:cs typeface="Verdana" panose="020B0604030504040204" pitchFamily="34" charset="0"/>
            </a:endParaRPr>
          </a:p>
          <a:p>
            <a:pPr marL="457200"/>
            <a:endParaRPr sz="2000" dirty="0">
              <a:solidFill>
                <a:schemeClr val="dk1"/>
              </a:solidFill>
              <a:latin typeface="Verdana" panose="020B0604030504040204" pitchFamily="34" charset="0"/>
              <a:ea typeface="Verdana" panose="020B0604030504040204" pitchFamily="34" charset="0"/>
              <a:cs typeface="Verdana" panose="020B0604030504040204" pitchFamily="34" charset="0"/>
              <a:sym typeface="Verdana"/>
            </a:endParaRPr>
          </a:p>
          <a:p>
            <a:r>
              <a:rPr lang="en-US" sz="2000" dirty="0">
                <a:solidFill>
                  <a:schemeClr val="dk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endParaRPr sz="2000" dirty="0">
              <a:latin typeface="Verdana" panose="020B0604030504040204" pitchFamily="34" charset="0"/>
              <a:ea typeface="Verdana" panose="020B0604030504040204" pitchFamily="34" charset="0"/>
              <a:cs typeface="Verdana" panose="020B0604030504040204" pitchFamily="34" charset="0"/>
            </a:endParaRPr>
          </a:p>
          <a:p>
            <a:pPr marL="457200"/>
            <a:endParaRPr sz="2000" dirty="0">
              <a:solidFill>
                <a:schemeClr val="dk1"/>
              </a:solidFill>
              <a:latin typeface="Verdana" panose="020B0604030504040204" pitchFamily="34" charset="0"/>
              <a:ea typeface="Verdana" panose="020B0604030504040204" pitchFamily="34" charset="0"/>
              <a:cs typeface="Verdana" panose="020B0604030504040204" pitchFamily="34" charset="0"/>
              <a:sym typeface="Verdana"/>
            </a:endParaRPr>
          </a:p>
          <a:p>
            <a:r>
              <a:rPr lang="en-US" sz="2000" dirty="0">
                <a:solidFill>
                  <a:schemeClr val="dk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endParaRPr sz="2000" dirty="0">
              <a:latin typeface="Verdana" panose="020B0604030504040204" pitchFamily="34" charset="0"/>
              <a:ea typeface="Verdana" panose="020B0604030504040204" pitchFamily="34" charset="0"/>
              <a:cs typeface="Verdana" panose="020B0604030504040204" pitchFamily="34" charset="0"/>
            </a:endParaRPr>
          </a:p>
        </p:txBody>
      </p:sp>
      <p:sp>
        <p:nvSpPr>
          <p:cNvPr id="8" name="Google Shape;122;g104476d1465_1_17">
            <a:extLst>
              <a:ext uri="{FF2B5EF4-FFF2-40B4-BE49-F238E27FC236}">
                <a16:creationId xmlns:a16="http://schemas.microsoft.com/office/drawing/2014/main" id="{FC543A4E-A088-4F9B-886E-8A2FA58A1B0E}"/>
              </a:ext>
            </a:extLst>
          </p:cNvPr>
          <p:cNvSpPr/>
          <p:nvPr/>
        </p:nvSpPr>
        <p:spPr>
          <a:xfrm>
            <a:off x="0" y="-8101"/>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10"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3</a:t>
            </a:r>
            <a:endParaRPr i="1" dirty="0">
              <a:latin typeface="Calibri"/>
              <a:ea typeface="Calibri"/>
              <a:cs typeface="Calibri"/>
              <a:sym typeface="Calibri"/>
            </a:endParaRPr>
          </a:p>
        </p:txBody>
      </p:sp>
      <p:pic>
        <p:nvPicPr>
          <p:cNvPr id="11"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5" name="Google Shape;145;p2"/>
          <p:cNvSpPr txBox="1"/>
          <p:nvPr/>
        </p:nvSpPr>
        <p:spPr>
          <a:xfrm>
            <a:off x="1501169" y="-51449"/>
            <a:ext cx="79584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4700" b="1" dirty="0">
                <a:solidFill>
                  <a:srgbClr val="52BDA6"/>
                </a:solidFill>
                <a:latin typeface="Verdana"/>
                <a:ea typeface="Verdana"/>
                <a:cs typeface="Verdana"/>
                <a:sym typeface="Verdana"/>
              </a:rPr>
              <a:t>Learning Target</a:t>
            </a:r>
            <a:endParaRPr dirty="0"/>
          </a:p>
        </p:txBody>
      </p:sp>
      <p:pic>
        <p:nvPicPr>
          <p:cNvPr id="146" name="Google Shape;146;p2"/>
          <p:cNvPicPr preferRelativeResize="0"/>
          <p:nvPr/>
        </p:nvPicPr>
        <p:blipFill rotWithShape="1">
          <a:blip r:embed="rId3">
            <a:alphaModFix/>
          </a:blip>
          <a:srcRect/>
          <a:stretch/>
        </p:blipFill>
        <p:spPr>
          <a:xfrm>
            <a:off x="719007" y="237751"/>
            <a:ext cx="747300" cy="747300"/>
          </a:xfrm>
          <a:prstGeom prst="rect">
            <a:avLst/>
          </a:prstGeom>
          <a:noFill/>
          <a:ln>
            <a:noFill/>
          </a:ln>
          <a:effectLst>
            <a:outerShdw blurRad="50800" dist="38100" dir="2700000" algn="tl" rotWithShape="0">
              <a:srgbClr val="000000">
                <a:alpha val="40000"/>
              </a:srgbClr>
            </a:outerShdw>
          </a:effectLst>
        </p:spPr>
      </p:pic>
      <p:sp>
        <p:nvSpPr>
          <p:cNvPr id="148" name="Google Shape;148;p2"/>
          <p:cNvSpPr txBox="1"/>
          <p:nvPr/>
        </p:nvSpPr>
        <p:spPr>
          <a:xfrm>
            <a:off x="1371600" y="1600200"/>
            <a:ext cx="9448800" cy="4205700"/>
          </a:xfrm>
          <a:prstGeom prst="rect">
            <a:avLst/>
          </a:prstGeom>
          <a:noFill/>
          <a:ln>
            <a:noFill/>
          </a:ln>
        </p:spPr>
        <p:txBody>
          <a:bodyPr spcFirstLastPara="1" wrap="square" lIns="91425" tIns="45700" rIns="91425" bIns="45700" anchor="t" anchorCtr="0">
            <a:noAutofit/>
          </a:bodyPr>
          <a:lstStyle/>
          <a:p>
            <a:pPr marL="457200" indent="-450850">
              <a:buClr>
                <a:srgbClr val="434343"/>
              </a:buClr>
              <a:buSzPct val="125000"/>
              <a:buFont typeface="Verdana"/>
              <a:buChar char="❏"/>
            </a:pPr>
            <a:r>
              <a:rPr lang="en-US" sz="2400" dirty="0">
                <a:solidFill>
                  <a:schemeClr val="dk1"/>
                </a:solidFill>
                <a:latin typeface="Verdana"/>
                <a:ea typeface="Verdana"/>
                <a:cs typeface="Verdana"/>
                <a:sym typeface="Verdana"/>
              </a:rPr>
              <a:t>I can pack a rectangular prism using a cube with fractional edges.</a:t>
            </a:r>
            <a:endParaRPr sz="2400" dirty="0"/>
          </a:p>
        </p:txBody>
      </p:sp>
      <p:sp>
        <p:nvSpPr>
          <p:cNvPr id="9" name="Google Shape;122;g104476d1465_1_17">
            <a:extLst>
              <a:ext uri="{FF2B5EF4-FFF2-40B4-BE49-F238E27FC236}">
                <a16:creationId xmlns:a16="http://schemas.microsoft.com/office/drawing/2014/main" id="{675EBF73-CA42-4F07-90FF-6130669B77F1}"/>
              </a:ext>
            </a:extLst>
          </p:cNvPr>
          <p:cNvSpPr/>
          <p:nvPr/>
        </p:nvSpPr>
        <p:spPr>
          <a:xfrm>
            <a:off x="0" y="-8101"/>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10"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3</a:t>
            </a:r>
            <a:endParaRPr i="1" dirty="0">
              <a:latin typeface="Calibri"/>
              <a:ea typeface="Calibri"/>
              <a:cs typeface="Calibri"/>
              <a:sym typeface="Calibri"/>
            </a:endParaRPr>
          </a:p>
        </p:txBody>
      </p:sp>
      <p:pic>
        <p:nvPicPr>
          <p:cNvPr id="11"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pic>
        <p:nvPicPr>
          <p:cNvPr id="157" name="Google Shape;157;g104476d1465_1_39"/>
          <p:cNvPicPr preferRelativeResize="0"/>
          <p:nvPr/>
        </p:nvPicPr>
        <p:blipFill rotWithShape="1">
          <a:blip r:embed="rId3">
            <a:alphaModFix/>
          </a:blip>
          <a:srcRect/>
          <a:stretch/>
        </p:blipFill>
        <p:spPr>
          <a:xfrm>
            <a:off x="4635550" y="2879325"/>
            <a:ext cx="1031750" cy="1031750"/>
          </a:xfrm>
          <a:prstGeom prst="rect">
            <a:avLst/>
          </a:prstGeom>
          <a:noFill/>
          <a:ln>
            <a:noFill/>
          </a:ln>
          <a:effectLst>
            <a:outerShdw blurRad="50800" dist="38100" dir="2700000" algn="tl" rotWithShape="0">
              <a:srgbClr val="000000">
                <a:alpha val="40000"/>
              </a:srgbClr>
            </a:outerShdw>
          </a:effectLst>
        </p:spPr>
      </p:pic>
      <p:sp>
        <p:nvSpPr>
          <p:cNvPr id="158" name="Google Shape;158;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3F2A67"/>
                </a:solidFill>
                <a:latin typeface="Verdana"/>
                <a:ea typeface="Verdana"/>
                <a:cs typeface="Verdana"/>
                <a:sym typeface="Verdana"/>
              </a:rPr>
              <a:t>Warm-Up</a:t>
            </a:r>
            <a:endParaRPr sz="5100" b="1">
              <a:solidFill>
                <a:srgbClr val="3F2A67"/>
              </a:solidFill>
              <a:latin typeface="Verdana"/>
              <a:ea typeface="Verdana"/>
              <a:cs typeface="Verdana"/>
              <a:sym typeface="Verdana"/>
            </a:endParaRPr>
          </a:p>
        </p:txBody>
      </p:sp>
      <p:sp>
        <p:nvSpPr>
          <p:cNvPr id="8" name="Google Shape;155;g104476d1465_1_39">
            <a:extLst>
              <a:ext uri="{FF2B5EF4-FFF2-40B4-BE49-F238E27FC236}">
                <a16:creationId xmlns:a16="http://schemas.microsoft.com/office/drawing/2014/main" id="{5F67195C-9615-45D7-AD59-F82703C9F3AB}"/>
              </a:ext>
            </a:extLst>
          </p:cNvPr>
          <p:cNvSpPr/>
          <p:nvPr/>
        </p:nvSpPr>
        <p:spPr>
          <a:xfrm>
            <a:off x="0" y="0"/>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9"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3</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6" name="Google Shape;166;p4"/>
          <p:cNvSpPr txBox="1"/>
          <p:nvPr/>
        </p:nvSpPr>
        <p:spPr>
          <a:xfrm>
            <a:off x="1465750" y="-41274"/>
            <a:ext cx="946895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3F2A67"/>
                </a:solidFill>
                <a:latin typeface="Verdana"/>
                <a:ea typeface="Verdana"/>
                <a:cs typeface="Verdana"/>
                <a:sym typeface="Verdana"/>
              </a:rPr>
              <a:t>8.1.1 Warm-Up: Guess the Word</a:t>
            </a:r>
            <a:endParaRPr dirty="0"/>
          </a:p>
        </p:txBody>
      </p:sp>
      <p:pic>
        <p:nvPicPr>
          <p:cNvPr id="167" name="Google Shape;167;p4"/>
          <p:cNvPicPr preferRelativeResize="0"/>
          <p:nvPr/>
        </p:nvPicPr>
        <p:blipFill rotWithShape="1">
          <a:blip r:embed="rId3">
            <a:alphaModFix/>
          </a:blip>
          <a:srcRect/>
          <a:stretch/>
        </p:blipFill>
        <p:spPr>
          <a:xfrm>
            <a:off x="718450" y="197486"/>
            <a:ext cx="747300" cy="747300"/>
          </a:xfrm>
          <a:prstGeom prst="rect">
            <a:avLst/>
          </a:prstGeom>
          <a:noFill/>
          <a:ln>
            <a:noFill/>
          </a:ln>
          <a:effectLst>
            <a:outerShdw blurRad="50800" dist="38100" dir="2700000" algn="tl" rotWithShape="0">
              <a:srgbClr val="000000">
                <a:alpha val="40000"/>
              </a:srgbClr>
            </a:outerShdw>
          </a:effectLst>
        </p:spPr>
      </p:pic>
      <p:sp>
        <p:nvSpPr>
          <p:cNvPr id="169" name="Google Shape;169;p4"/>
          <p:cNvSpPr txBox="1"/>
          <p:nvPr/>
        </p:nvSpPr>
        <p:spPr>
          <a:xfrm>
            <a:off x="1465750" y="1386026"/>
            <a:ext cx="9516532" cy="2339061"/>
          </a:xfrm>
          <a:prstGeom prst="rect">
            <a:avLst/>
          </a:prstGeom>
          <a:noFill/>
          <a:ln>
            <a:noFill/>
          </a:ln>
        </p:spPr>
        <p:txBody>
          <a:bodyPr spcFirstLastPara="1" wrap="square" lIns="91425" tIns="45700" rIns="91425" bIns="45700" anchor="t" anchorCtr="0">
            <a:spAutoFit/>
          </a:bodyPr>
          <a:lstStyle/>
          <a:p>
            <a:r>
              <a:rPr lang="en-US" sz="2200" dirty="0">
                <a:latin typeface="Verdana" panose="020B0604030504040204" pitchFamily="34" charset="0"/>
                <a:ea typeface="Verdana" panose="020B0604030504040204" pitchFamily="34" charset="0"/>
                <a:cs typeface="Verdana" panose="020B0604030504040204" pitchFamily="34" charset="0"/>
              </a:rPr>
              <a:t>Micah and his family are playing a game in which each person chooses a card with a word written on it. Once a person chooses, they have one minute to draw a picture of the word. Then, his team guesses the word. </a:t>
            </a:r>
          </a:p>
          <a:p>
            <a:r>
              <a:rPr lang="en-US" sz="2200" dirty="0">
                <a:latin typeface="Verdana" panose="020B0604030504040204" pitchFamily="34" charset="0"/>
                <a:ea typeface="Verdana" panose="020B0604030504040204" pitchFamily="34" charset="0"/>
                <a:cs typeface="Verdana" panose="020B0604030504040204" pitchFamily="34" charset="0"/>
              </a:rPr>
              <a:t> </a:t>
            </a:r>
          </a:p>
          <a:p>
            <a:r>
              <a:rPr lang="en-US" sz="2200" dirty="0">
                <a:latin typeface="Verdana" panose="020B0604030504040204" pitchFamily="34" charset="0"/>
                <a:ea typeface="Verdana" panose="020B0604030504040204" pitchFamily="34" charset="0"/>
                <a:cs typeface="Verdana" panose="020B0604030504040204" pitchFamily="34" charset="0"/>
              </a:rPr>
              <a:t>Micah chose the word “volume”. His drawing is shown.</a:t>
            </a:r>
          </a:p>
          <a:p>
            <a:r>
              <a:rPr lang="en-US" b="1" dirty="0"/>
              <a:t> </a:t>
            </a:r>
            <a:endParaRPr lang="en-US" dirty="0"/>
          </a:p>
        </p:txBody>
      </p:sp>
      <p:pic>
        <p:nvPicPr>
          <p:cNvPr id="8" name="Picture 7" descr="A picture containing linedrawing&#10;&#10;Description automatically generated">
            <a:extLst>
              <a:ext uri="{FF2B5EF4-FFF2-40B4-BE49-F238E27FC236}">
                <a16:creationId xmlns:a16="http://schemas.microsoft.com/office/drawing/2014/main" id="{10C7F2D7-480A-5240-9700-8C62B0EE958A}"/>
              </a:ext>
            </a:extLst>
          </p:cNvPr>
          <p:cNvPicPr>
            <a:picLocks noChangeAspect="1"/>
          </p:cNvPicPr>
          <p:nvPr/>
        </p:nvPicPr>
        <p:blipFill>
          <a:blip r:embed="rId4"/>
          <a:stretch>
            <a:fillRect/>
          </a:stretch>
        </p:blipFill>
        <p:spPr>
          <a:xfrm>
            <a:off x="3513681" y="3469996"/>
            <a:ext cx="4785953" cy="3388005"/>
          </a:xfrm>
          <a:prstGeom prst="rect">
            <a:avLst/>
          </a:prstGeom>
        </p:spPr>
      </p:pic>
      <p:sp>
        <p:nvSpPr>
          <p:cNvPr id="10" name="Google Shape;122;g104476d1465_1_17">
            <a:extLst>
              <a:ext uri="{FF2B5EF4-FFF2-40B4-BE49-F238E27FC236}">
                <a16:creationId xmlns:a16="http://schemas.microsoft.com/office/drawing/2014/main" id="{EFDCA461-CB87-481C-9726-9BEB549697AF}"/>
              </a:ext>
            </a:extLst>
          </p:cNvPr>
          <p:cNvSpPr/>
          <p:nvPr/>
        </p:nvSpPr>
        <p:spPr>
          <a:xfrm>
            <a:off x="-25821" y="-8101"/>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11"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3</a:t>
            </a:r>
            <a:endParaRPr i="1" dirty="0">
              <a:latin typeface="Calibri"/>
              <a:ea typeface="Calibri"/>
              <a:cs typeface="Calibri"/>
              <a:sym typeface="Calibri"/>
            </a:endParaRPr>
          </a:p>
        </p:txBody>
      </p:sp>
      <p:pic>
        <p:nvPicPr>
          <p:cNvPr id="12"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8" name="Google Shape;178;p5"/>
          <p:cNvSpPr txBox="1"/>
          <p:nvPr/>
        </p:nvSpPr>
        <p:spPr>
          <a:xfrm>
            <a:off x="1016000" y="520394"/>
            <a:ext cx="10310666" cy="4001055"/>
          </a:xfrm>
          <a:prstGeom prst="rect">
            <a:avLst/>
          </a:prstGeom>
          <a:noFill/>
          <a:ln>
            <a:noFill/>
          </a:ln>
        </p:spPr>
        <p:txBody>
          <a:bodyPr spcFirstLastPara="1" wrap="square" lIns="91425" tIns="45700" rIns="91425" bIns="45700" anchor="t" anchorCtr="0">
            <a:spAutoFit/>
          </a:bodyPr>
          <a:lstStyle/>
          <a:p>
            <a:pPr marL="342900" indent="-3429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Choose the statement(s) that best describe volume. Select all that apply.</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920750" indent="-460375">
              <a:buFont typeface="Wingdings" pitchFamily="2" charset="2"/>
              <a:buChar char="q"/>
            </a:pPr>
            <a:r>
              <a:rPr lang="en-US" sz="2400" dirty="0">
                <a:latin typeface="Verdana" panose="020B0604030504040204" pitchFamily="34" charset="0"/>
                <a:ea typeface="Verdana" panose="020B0604030504040204" pitchFamily="34" charset="0"/>
                <a:cs typeface="Verdana" panose="020B0604030504040204" pitchFamily="34" charset="0"/>
              </a:rPr>
              <a:t>the sum of the length of all the edges of a three-dimensional object</a:t>
            </a:r>
          </a:p>
          <a:p>
            <a:pPr marL="920750" indent="-460375">
              <a:buFont typeface="Wingdings" pitchFamily="2" charset="2"/>
              <a:buChar char="q"/>
            </a:pPr>
            <a:r>
              <a:rPr lang="en-US" sz="2400" dirty="0">
                <a:latin typeface="Verdana" panose="020B0604030504040204" pitchFamily="34" charset="0"/>
                <a:ea typeface="Verdana" panose="020B0604030504040204" pitchFamily="34" charset="0"/>
                <a:cs typeface="Verdana" panose="020B0604030504040204" pitchFamily="34" charset="0"/>
              </a:rPr>
              <a:t>the distance around a two-dimensional shape</a:t>
            </a:r>
          </a:p>
          <a:p>
            <a:pPr marL="920750" indent="-460375">
              <a:buFont typeface="Wingdings" pitchFamily="2" charset="2"/>
              <a:buChar char="q"/>
            </a:pPr>
            <a:r>
              <a:rPr lang="en-US" sz="2400" dirty="0">
                <a:latin typeface="Verdana" panose="020B0604030504040204" pitchFamily="34" charset="0"/>
                <a:ea typeface="Verdana" panose="020B0604030504040204" pitchFamily="34" charset="0"/>
                <a:cs typeface="Verdana" panose="020B0604030504040204" pitchFamily="34" charset="0"/>
              </a:rPr>
              <a:t>the amount of three-dimensional space enclosed within a container</a:t>
            </a:r>
          </a:p>
          <a:p>
            <a:pPr marL="920750" indent="-460375">
              <a:buFont typeface="Wingdings" pitchFamily="2" charset="2"/>
              <a:buChar char="q"/>
            </a:pPr>
            <a:r>
              <a:rPr lang="en-US" sz="2400" dirty="0">
                <a:latin typeface="Verdana" panose="020B0604030504040204" pitchFamily="34" charset="0"/>
                <a:ea typeface="Verdana" panose="020B0604030504040204" pitchFamily="34" charset="0"/>
                <a:cs typeface="Verdana" panose="020B0604030504040204" pitchFamily="34" charset="0"/>
              </a:rPr>
              <a:t>the total area of the surface of a three-dimensional object</a:t>
            </a:r>
          </a:p>
          <a:p>
            <a:pPr marL="920750" indent="-460375">
              <a:buFont typeface="Wingdings" pitchFamily="2" charset="2"/>
              <a:buChar char="q"/>
            </a:pPr>
            <a:r>
              <a:rPr lang="en-US" sz="2400" dirty="0">
                <a:latin typeface="Verdana" panose="020B0604030504040204" pitchFamily="34" charset="0"/>
                <a:ea typeface="Verdana" panose="020B0604030504040204" pitchFamily="34" charset="0"/>
                <a:cs typeface="Verdana" panose="020B0604030504040204" pitchFamily="34" charset="0"/>
              </a:rPr>
              <a:t>the formula length times width times height</a:t>
            </a:r>
          </a:p>
          <a:p>
            <a:pPr lvl="1"/>
            <a:endParaRPr dirty="0"/>
          </a:p>
        </p:txBody>
      </p:sp>
      <p:pic>
        <p:nvPicPr>
          <p:cNvPr id="6" name="Picture 5" descr="A picture containing linedrawing&#10;&#10;Description automatically generated">
            <a:extLst>
              <a:ext uri="{FF2B5EF4-FFF2-40B4-BE49-F238E27FC236}">
                <a16:creationId xmlns:a16="http://schemas.microsoft.com/office/drawing/2014/main" id="{213C4459-3323-BE4F-9F7C-6B5EF3C7EF71}"/>
              </a:ext>
            </a:extLst>
          </p:cNvPr>
          <p:cNvPicPr>
            <a:picLocks noChangeAspect="1"/>
          </p:cNvPicPr>
          <p:nvPr/>
        </p:nvPicPr>
        <p:blipFill>
          <a:blip r:embed="rId3"/>
          <a:stretch>
            <a:fillRect/>
          </a:stretch>
        </p:blipFill>
        <p:spPr>
          <a:xfrm>
            <a:off x="4610100" y="4622351"/>
            <a:ext cx="2971800" cy="2103755"/>
          </a:xfrm>
          <a:prstGeom prst="rect">
            <a:avLst/>
          </a:prstGeom>
        </p:spPr>
      </p:pic>
      <p:sp>
        <p:nvSpPr>
          <p:cNvPr id="8" name="Google Shape;122;g104476d1465_1_17">
            <a:extLst>
              <a:ext uri="{FF2B5EF4-FFF2-40B4-BE49-F238E27FC236}">
                <a16:creationId xmlns:a16="http://schemas.microsoft.com/office/drawing/2014/main" id="{DAC53BCF-81F8-4EE4-9C99-B04E5E2BC1FE}"/>
              </a:ext>
            </a:extLst>
          </p:cNvPr>
          <p:cNvSpPr/>
          <p:nvPr/>
        </p:nvSpPr>
        <p:spPr>
          <a:xfrm>
            <a:off x="0" y="-8101"/>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9"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3</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7" name="Google Shape;217;p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33BEA6"/>
                </a:solidFill>
                <a:latin typeface="Verdana"/>
                <a:ea typeface="Verdana"/>
                <a:cs typeface="Verdana"/>
                <a:sym typeface="Verdana"/>
              </a:rPr>
              <a:t>Exploration</a:t>
            </a:r>
            <a:endParaRPr sz="5100" b="1">
              <a:solidFill>
                <a:srgbClr val="33BEA6"/>
              </a:solidFill>
              <a:latin typeface="Verdana"/>
              <a:ea typeface="Verdana"/>
              <a:cs typeface="Verdana"/>
              <a:sym typeface="Verdana"/>
            </a:endParaRPr>
          </a:p>
        </p:txBody>
      </p:sp>
      <p:pic>
        <p:nvPicPr>
          <p:cNvPr id="219" name="Google Shape;219;p9" descr="Icon&#10;&#10;Description automatically generated"/>
          <p:cNvPicPr preferRelativeResize="0"/>
          <p:nvPr/>
        </p:nvPicPr>
        <p:blipFill rotWithShape="1">
          <a:blip r:embed="rId3">
            <a:alphaModFix/>
          </a:blip>
          <a:srcRect/>
          <a:stretch/>
        </p:blipFill>
        <p:spPr>
          <a:xfrm>
            <a:off x="4630950" y="2814305"/>
            <a:ext cx="1156228" cy="1156228"/>
          </a:xfrm>
          <a:prstGeom prst="rect">
            <a:avLst/>
          </a:prstGeom>
          <a:noFill/>
          <a:ln>
            <a:noFill/>
          </a:ln>
          <a:effectLst>
            <a:outerShdw blurRad="50800" dist="38100" dir="2700000" algn="tl" rotWithShape="0">
              <a:srgbClr val="000000">
                <a:alpha val="40000"/>
              </a:srgbClr>
            </a:outerShdw>
          </a:effectLst>
        </p:spPr>
      </p:pic>
      <p:sp>
        <p:nvSpPr>
          <p:cNvPr id="7" name="Google Shape;155;g104476d1465_1_39">
            <a:extLst>
              <a:ext uri="{FF2B5EF4-FFF2-40B4-BE49-F238E27FC236}">
                <a16:creationId xmlns:a16="http://schemas.microsoft.com/office/drawing/2014/main" id="{017E2A09-D3E5-45BA-9D7A-A8B119A45722}"/>
              </a:ext>
            </a:extLst>
          </p:cNvPr>
          <p:cNvSpPr/>
          <p:nvPr/>
        </p:nvSpPr>
        <p:spPr>
          <a:xfrm>
            <a:off x="0" y="-8101"/>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9"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4</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6" name="Google Shape;226;p10"/>
          <p:cNvSpPr txBox="1"/>
          <p:nvPr/>
        </p:nvSpPr>
        <p:spPr>
          <a:xfrm>
            <a:off x="1341616" y="41773"/>
            <a:ext cx="9135884"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33BEA6"/>
                </a:solidFill>
                <a:latin typeface="Verdana"/>
                <a:ea typeface="Verdana"/>
                <a:cs typeface="Verdana"/>
                <a:sym typeface="Verdana"/>
              </a:rPr>
              <a:t>8.1.2 Exploration: The Unit Cube</a:t>
            </a:r>
            <a:endParaRPr dirty="0"/>
          </a:p>
        </p:txBody>
      </p:sp>
      <p:pic>
        <p:nvPicPr>
          <p:cNvPr id="228" name="Google Shape;228;p10" descr="Icon&#10;&#10;Description automatically generated"/>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585318" y="289898"/>
            <a:ext cx="752254" cy="752254"/>
          </a:xfrm>
          <a:prstGeom prst="rect">
            <a:avLst/>
          </a:prstGeom>
          <a:noFill/>
          <a:ln>
            <a:noFill/>
          </a:ln>
          <a:effectLst>
            <a:outerShdw blurRad="50800" dist="38100" dir="2700000" algn="tl" rotWithShape="0">
              <a:srgbClr val="000000">
                <a:alpha val="40000"/>
              </a:srgbClr>
            </a:outerShdw>
          </a:effectLst>
        </p:spPr>
      </p:pic>
      <p:sp>
        <p:nvSpPr>
          <p:cNvPr id="229" name="Google Shape;229;p10"/>
          <p:cNvSpPr txBox="1"/>
          <p:nvPr/>
        </p:nvSpPr>
        <p:spPr>
          <a:xfrm>
            <a:off x="1337572" y="1386025"/>
            <a:ext cx="9772888" cy="3385502"/>
          </a:xfrm>
          <a:prstGeom prst="rect">
            <a:avLst/>
          </a:prstGeom>
          <a:noFill/>
          <a:ln>
            <a:noFill/>
          </a:ln>
        </p:spPr>
        <p:txBody>
          <a:bodyPr spcFirstLastPara="1" wrap="square" lIns="91425" tIns="45700" rIns="91425" bIns="45700" anchor="t" anchorCtr="0">
            <a:spAutoFit/>
          </a:bodyPr>
          <a:lstStyle/>
          <a:p>
            <a:pPr marL="460375" indent="-4445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Two images of the same cube are shown. The image on the right shows the coordinates of some of the edges of the cube.</a:t>
            </a:r>
          </a:p>
          <a:p>
            <a:pPr marL="342900" indent="-3429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endParaRPr dirty="0"/>
          </a:p>
        </p:txBody>
      </p:sp>
      <p:sp>
        <p:nvSpPr>
          <p:cNvPr id="33" name="Google Shape;122;g104476d1465_1_17">
            <a:extLst>
              <a:ext uri="{FF2B5EF4-FFF2-40B4-BE49-F238E27FC236}">
                <a16:creationId xmlns:a16="http://schemas.microsoft.com/office/drawing/2014/main" id="{D8B57E77-B882-4B23-B996-F5F587AEB254}"/>
              </a:ext>
            </a:extLst>
          </p:cNvPr>
          <p:cNvSpPr/>
          <p:nvPr/>
        </p:nvSpPr>
        <p:spPr>
          <a:xfrm>
            <a:off x="-1492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34"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4</a:t>
            </a:r>
            <a:endParaRPr i="1" dirty="0">
              <a:latin typeface="Calibri"/>
              <a:ea typeface="Calibri"/>
              <a:cs typeface="Calibri"/>
              <a:sym typeface="Calibri"/>
            </a:endParaRPr>
          </a:p>
        </p:txBody>
      </p:sp>
      <p:pic>
        <p:nvPicPr>
          <p:cNvPr id="35"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grpSp>
        <p:nvGrpSpPr>
          <p:cNvPr id="32" name="Group 31">
            <a:extLst>
              <a:ext uri="{FF2B5EF4-FFF2-40B4-BE49-F238E27FC236}">
                <a16:creationId xmlns:a16="http://schemas.microsoft.com/office/drawing/2014/main" id="{0F4A13BD-5420-714B-B3E7-0775285AC25C}"/>
              </a:ext>
            </a:extLst>
          </p:cNvPr>
          <p:cNvGrpSpPr/>
          <p:nvPr/>
        </p:nvGrpSpPr>
        <p:grpSpPr>
          <a:xfrm>
            <a:off x="5770390" y="2918300"/>
            <a:ext cx="3136900" cy="2501900"/>
            <a:chOff x="38100" y="0"/>
            <a:chExt cx="3136900" cy="2501900"/>
          </a:xfrm>
        </p:grpSpPr>
        <p:grpSp>
          <p:nvGrpSpPr>
            <p:cNvPr id="37" name="Group 36">
              <a:extLst>
                <a:ext uri="{FF2B5EF4-FFF2-40B4-BE49-F238E27FC236}">
                  <a16:creationId xmlns:a16="http://schemas.microsoft.com/office/drawing/2014/main" id="{A1DF7481-4098-354D-8F88-97223E7FAC2C}"/>
                </a:ext>
              </a:extLst>
            </p:cNvPr>
            <p:cNvGrpSpPr/>
            <p:nvPr/>
          </p:nvGrpSpPr>
          <p:grpSpPr>
            <a:xfrm>
              <a:off x="279400" y="0"/>
              <a:ext cx="2733675" cy="2197100"/>
              <a:chOff x="0" y="0"/>
              <a:chExt cx="2733675" cy="2197100"/>
            </a:xfrm>
          </p:grpSpPr>
          <p:pic>
            <p:nvPicPr>
              <p:cNvPr id="42" name="Picture 41">
                <a:extLst>
                  <a:ext uri="{FF2B5EF4-FFF2-40B4-BE49-F238E27FC236}">
                    <a16:creationId xmlns:a16="http://schemas.microsoft.com/office/drawing/2014/main" id="{B054D3C5-EE90-A740-8FD3-A5AC60E6B440}"/>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32369" t="33484" r="33132" b="38794"/>
              <a:stretch/>
            </p:blipFill>
            <p:spPr bwMode="auto">
              <a:xfrm>
                <a:off x="0" y="0"/>
                <a:ext cx="2733675" cy="2197100"/>
              </a:xfrm>
              <a:prstGeom prst="rect">
                <a:avLst/>
              </a:prstGeom>
              <a:ln>
                <a:noFill/>
              </a:ln>
              <a:extLst>
                <a:ext uri="{53640926-AAD7-44D8-BBD7-CCE9431645EC}">
                  <a14:shadowObscured xmlns:a14="http://schemas.microsoft.com/office/drawing/2010/main"/>
                </a:ext>
              </a:extLst>
            </p:spPr>
          </p:pic>
          <p:sp>
            <p:nvSpPr>
              <p:cNvPr id="43" name="Oval 42">
                <a:extLst>
                  <a:ext uri="{FF2B5EF4-FFF2-40B4-BE49-F238E27FC236}">
                    <a16:creationId xmlns:a16="http://schemas.microsoft.com/office/drawing/2014/main" id="{6765B6F2-AAB7-4D46-BEF4-8FB3F424C957}"/>
                  </a:ext>
                </a:extLst>
              </p:cNvPr>
              <p:cNvSpPr/>
              <p:nvPr/>
            </p:nvSpPr>
            <p:spPr>
              <a:xfrm>
                <a:off x="1879600" y="609600"/>
                <a:ext cx="152400" cy="13970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endParaRPr lang="en-US"/>
              </a:p>
            </p:txBody>
          </p:sp>
          <p:sp>
            <p:nvSpPr>
              <p:cNvPr id="44" name="Oval 43">
                <a:extLst>
                  <a:ext uri="{FF2B5EF4-FFF2-40B4-BE49-F238E27FC236}">
                    <a16:creationId xmlns:a16="http://schemas.microsoft.com/office/drawing/2014/main" id="{3EF5AC25-3EE9-F945-A2B6-AC6A068EAEE8}"/>
                  </a:ext>
                </a:extLst>
              </p:cNvPr>
              <p:cNvSpPr/>
              <p:nvPr/>
            </p:nvSpPr>
            <p:spPr>
              <a:xfrm>
                <a:off x="596900" y="1866900"/>
                <a:ext cx="152400" cy="13970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endParaRPr lang="en-US"/>
              </a:p>
            </p:txBody>
          </p:sp>
          <p:sp>
            <p:nvSpPr>
              <p:cNvPr id="45" name="Oval 44">
                <a:extLst>
                  <a:ext uri="{FF2B5EF4-FFF2-40B4-BE49-F238E27FC236}">
                    <a16:creationId xmlns:a16="http://schemas.microsoft.com/office/drawing/2014/main" id="{4C55BE90-AD09-C347-9EFC-2DAAD02AD662}"/>
                  </a:ext>
                </a:extLst>
              </p:cNvPr>
              <p:cNvSpPr/>
              <p:nvPr/>
            </p:nvSpPr>
            <p:spPr>
              <a:xfrm>
                <a:off x="1231900" y="1879600"/>
                <a:ext cx="152400" cy="13970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endParaRPr lang="en-US"/>
              </a:p>
            </p:txBody>
          </p:sp>
          <p:sp>
            <p:nvSpPr>
              <p:cNvPr id="46" name="Oval 45">
                <a:extLst>
                  <a:ext uri="{FF2B5EF4-FFF2-40B4-BE49-F238E27FC236}">
                    <a16:creationId xmlns:a16="http://schemas.microsoft.com/office/drawing/2014/main" id="{4E1DB52E-217B-A24D-97FF-2A20A10DCB9D}"/>
                  </a:ext>
                </a:extLst>
              </p:cNvPr>
              <p:cNvSpPr/>
              <p:nvPr/>
            </p:nvSpPr>
            <p:spPr>
              <a:xfrm>
                <a:off x="1879600" y="1879600"/>
                <a:ext cx="152400" cy="139700"/>
              </a:xfrm>
              <a:prstGeom prst="ellipse">
                <a:avLst/>
              </a:prstGeom>
              <a:solidFill>
                <a:schemeClr val="tx1"/>
              </a:solid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endParaRPr lang="en-US"/>
              </a:p>
            </p:txBody>
          </p:sp>
        </p:grpSp>
        <mc:AlternateContent xmlns:mc="http://schemas.openxmlformats.org/markup-compatibility/2006" xmlns:a14="http://schemas.microsoft.com/office/drawing/2010/main">
          <mc:Choice Requires="a14">
            <p:sp>
              <p:nvSpPr>
                <p:cNvPr id="38" name="Text Box 10">
                  <a:extLst>
                    <a:ext uri="{FF2B5EF4-FFF2-40B4-BE49-F238E27FC236}">
                      <a16:creationId xmlns:a16="http://schemas.microsoft.com/office/drawing/2014/main" id="{F245C3C0-4D91-EA4A-9C7D-3996CAF8E624}"/>
                    </a:ext>
                  </a:extLst>
                </p:cNvPr>
                <p:cNvSpPr txBox="1"/>
                <p:nvPr/>
              </p:nvSpPr>
              <p:spPr>
                <a:xfrm>
                  <a:off x="2235200" y="609600"/>
                  <a:ext cx="939800" cy="49530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spcAft>
                      <a:spcPts val="1000"/>
                    </a:spcAft>
                  </a:pP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ea typeface="MS Mincho" panose="02020609040205080304" pitchFamily="49" charset="-128"/>
                            <a:cs typeface="Times New Roman" panose="02020603050405020304" pitchFamily="18" charset="0"/>
                          </a:rPr>
                          <m:t>(0, 1)</m:t>
                        </m:r>
                      </m:oMath>
                    </m:oMathPara>
                  </a14:m>
                  <a:endParaRPr lang="en-US" sz="1200">
                    <a:latin typeface="Cambria" panose="02040503050406030204" pitchFamily="18" charset="0"/>
                    <a:ea typeface="MS Mincho" panose="02020609040205080304" pitchFamily="49" charset="-128"/>
                    <a:cs typeface="Times New Roman" panose="02020603050405020304" pitchFamily="18" charset="0"/>
                  </a:endParaRPr>
                </a:p>
              </p:txBody>
            </p:sp>
          </mc:Choice>
          <mc:Fallback xmlns="">
            <p:sp>
              <p:nvSpPr>
                <p:cNvPr id="38" name="Text Box 10">
                  <a:extLst>
                    <a:ext uri="{FF2B5EF4-FFF2-40B4-BE49-F238E27FC236}">
                      <a16:creationId xmlns:a16="http://schemas.microsoft.com/office/drawing/2014/main" id="{F245C3C0-4D91-EA4A-9C7D-3996CAF8E624}"/>
                    </a:ext>
                  </a:extLst>
                </p:cNvPr>
                <p:cNvSpPr txBox="1">
                  <a:spLocks noRot="1" noChangeAspect="1" noMove="1" noResize="1" noEditPoints="1" noAdjustHandles="1" noChangeArrowheads="1" noChangeShapeType="1" noTextEdit="1"/>
                </p:cNvSpPr>
                <p:nvPr/>
              </p:nvSpPr>
              <p:spPr>
                <a:xfrm>
                  <a:off x="2235200" y="609600"/>
                  <a:ext cx="939800" cy="495300"/>
                </a:xfrm>
                <a:prstGeom prst="rect">
                  <a:avLst/>
                </a:prstGeom>
                <a:blipFill>
                  <a:blip r:embed="rId6"/>
                  <a:stretch>
                    <a:fillRect/>
                  </a:stretch>
                </a:blipFill>
                <a:ln w="6350">
                  <a:noFill/>
                </a:ln>
              </p:spPr>
              <p:txBody>
                <a:bodyPr/>
                <a:lstStyle/>
                <a:p>
                  <a:r>
                    <a:rPr lang="en-PH">
                      <a:noFill/>
                    </a:rPr>
                    <a:t> </a:t>
                  </a:r>
                </a:p>
              </p:txBody>
            </p:sp>
          </mc:Fallback>
        </mc:AlternateContent>
        <mc:AlternateContent xmlns:mc="http://schemas.openxmlformats.org/markup-compatibility/2006" xmlns:a14="http://schemas.microsoft.com/office/drawing/2010/main">
          <mc:Choice Requires="a14">
            <p:sp>
              <p:nvSpPr>
                <p:cNvPr id="39" name="Text Box 13">
                  <a:extLst>
                    <a:ext uri="{FF2B5EF4-FFF2-40B4-BE49-F238E27FC236}">
                      <a16:creationId xmlns:a16="http://schemas.microsoft.com/office/drawing/2014/main" id="{F8FE642B-A9F0-5D40-B647-450F55464776}"/>
                    </a:ext>
                  </a:extLst>
                </p:cNvPr>
                <p:cNvSpPr txBox="1"/>
                <p:nvPr/>
              </p:nvSpPr>
              <p:spPr>
                <a:xfrm>
                  <a:off x="2235200" y="1892300"/>
                  <a:ext cx="939800" cy="49530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spcAft>
                      <a:spcPts val="1000"/>
                    </a:spcAft>
                  </a:pP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ea typeface="MS Mincho" panose="02020609040205080304" pitchFamily="49" charset="-128"/>
                            <a:cs typeface="Times New Roman" panose="02020603050405020304" pitchFamily="18" charset="0"/>
                          </a:rPr>
                          <m:t>(0, 0)</m:t>
                        </m:r>
                      </m:oMath>
                    </m:oMathPara>
                  </a14:m>
                  <a:endParaRPr lang="en-US" sz="1200">
                    <a:latin typeface="Cambria" panose="02040503050406030204" pitchFamily="18" charset="0"/>
                    <a:ea typeface="MS Mincho" panose="02020609040205080304" pitchFamily="49" charset="-128"/>
                    <a:cs typeface="Times New Roman" panose="02020603050405020304" pitchFamily="18" charset="0"/>
                  </a:endParaRPr>
                </a:p>
              </p:txBody>
            </p:sp>
          </mc:Choice>
          <mc:Fallback xmlns="">
            <p:sp>
              <p:nvSpPr>
                <p:cNvPr id="39" name="Text Box 13">
                  <a:extLst>
                    <a:ext uri="{FF2B5EF4-FFF2-40B4-BE49-F238E27FC236}">
                      <a16:creationId xmlns:a16="http://schemas.microsoft.com/office/drawing/2014/main" id="{F8FE642B-A9F0-5D40-B647-450F55464776}"/>
                    </a:ext>
                  </a:extLst>
                </p:cNvPr>
                <p:cNvSpPr txBox="1">
                  <a:spLocks noRot="1" noChangeAspect="1" noMove="1" noResize="1" noEditPoints="1" noAdjustHandles="1" noChangeArrowheads="1" noChangeShapeType="1" noTextEdit="1"/>
                </p:cNvSpPr>
                <p:nvPr/>
              </p:nvSpPr>
              <p:spPr>
                <a:xfrm>
                  <a:off x="2235200" y="1892300"/>
                  <a:ext cx="939800" cy="495300"/>
                </a:xfrm>
                <a:prstGeom prst="rect">
                  <a:avLst/>
                </a:prstGeom>
                <a:blipFill>
                  <a:blip r:embed="rId7"/>
                  <a:stretch>
                    <a:fillRect/>
                  </a:stretch>
                </a:blipFill>
                <a:ln w="6350">
                  <a:noFill/>
                </a:ln>
              </p:spPr>
              <p:txBody>
                <a:bodyPr/>
                <a:lstStyle/>
                <a:p>
                  <a:r>
                    <a:rPr lang="en-PH">
                      <a:noFill/>
                    </a:rPr>
                    <a:t> </a:t>
                  </a:r>
                </a:p>
              </p:txBody>
            </p:sp>
          </mc:Fallback>
        </mc:AlternateContent>
        <mc:AlternateContent xmlns:mc="http://schemas.openxmlformats.org/markup-compatibility/2006" xmlns:a14="http://schemas.microsoft.com/office/drawing/2010/main">
          <mc:Choice Requires="a14">
            <p:sp>
              <p:nvSpPr>
                <p:cNvPr id="40" name="Text Box 20">
                  <a:extLst>
                    <a:ext uri="{FF2B5EF4-FFF2-40B4-BE49-F238E27FC236}">
                      <a16:creationId xmlns:a16="http://schemas.microsoft.com/office/drawing/2014/main" id="{4837218F-0D4B-F440-8CE8-BC0283F79A2A}"/>
                    </a:ext>
                  </a:extLst>
                </p:cNvPr>
                <p:cNvSpPr txBox="1"/>
                <p:nvPr/>
              </p:nvSpPr>
              <p:spPr>
                <a:xfrm>
                  <a:off x="38100" y="1892300"/>
                  <a:ext cx="1028700" cy="49530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spcAft>
                      <a:spcPts val="1000"/>
                    </a:spcAft>
                  </a:pP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ea typeface="MS Mincho" panose="02020609040205080304" pitchFamily="49" charset="-128"/>
                            <a:cs typeface="Times New Roman" panose="02020603050405020304" pitchFamily="18" charset="0"/>
                          </a:rPr>
                          <m:t>(−1, 0)</m:t>
                        </m:r>
                      </m:oMath>
                    </m:oMathPara>
                  </a14:m>
                  <a:endParaRPr lang="en-US" sz="1200">
                    <a:latin typeface="Cambria" panose="02040503050406030204" pitchFamily="18" charset="0"/>
                    <a:ea typeface="MS Mincho" panose="02020609040205080304" pitchFamily="49" charset="-128"/>
                    <a:cs typeface="Times New Roman" panose="02020603050405020304" pitchFamily="18" charset="0"/>
                  </a:endParaRPr>
                </a:p>
              </p:txBody>
            </p:sp>
          </mc:Choice>
          <mc:Fallback xmlns="">
            <p:sp>
              <p:nvSpPr>
                <p:cNvPr id="40" name="Text Box 20">
                  <a:extLst>
                    <a:ext uri="{FF2B5EF4-FFF2-40B4-BE49-F238E27FC236}">
                      <a16:creationId xmlns:a16="http://schemas.microsoft.com/office/drawing/2014/main" id="{4837218F-0D4B-F440-8CE8-BC0283F79A2A}"/>
                    </a:ext>
                  </a:extLst>
                </p:cNvPr>
                <p:cNvSpPr txBox="1">
                  <a:spLocks noRot="1" noChangeAspect="1" noMove="1" noResize="1" noEditPoints="1" noAdjustHandles="1" noChangeArrowheads="1" noChangeShapeType="1" noTextEdit="1"/>
                </p:cNvSpPr>
                <p:nvPr/>
              </p:nvSpPr>
              <p:spPr>
                <a:xfrm>
                  <a:off x="38100" y="1892300"/>
                  <a:ext cx="1028700" cy="495300"/>
                </a:xfrm>
                <a:prstGeom prst="rect">
                  <a:avLst/>
                </a:prstGeom>
                <a:blipFill>
                  <a:blip r:embed="rId8"/>
                  <a:stretch>
                    <a:fillRect/>
                  </a:stretch>
                </a:blipFill>
                <a:ln w="6350">
                  <a:noFill/>
                </a:ln>
              </p:spPr>
              <p:txBody>
                <a:bodyPr/>
                <a:lstStyle/>
                <a:p>
                  <a:r>
                    <a:rPr lang="en-PH">
                      <a:noFill/>
                    </a:rPr>
                    <a:t> </a:t>
                  </a:r>
                </a:p>
              </p:txBody>
            </p:sp>
          </mc:Fallback>
        </mc:AlternateContent>
        <mc:AlternateContent xmlns:mc="http://schemas.openxmlformats.org/markup-compatibility/2006" xmlns:a14="http://schemas.microsoft.com/office/drawing/2010/main">
          <mc:Choice Requires="a14">
            <p:sp>
              <p:nvSpPr>
                <p:cNvPr id="41" name="Text Box 21">
                  <a:extLst>
                    <a:ext uri="{FF2B5EF4-FFF2-40B4-BE49-F238E27FC236}">
                      <a16:creationId xmlns:a16="http://schemas.microsoft.com/office/drawing/2014/main" id="{C200D662-F109-4A4F-A3E9-09B42A7C40F6}"/>
                    </a:ext>
                  </a:extLst>
                </p:cNvPr>
                <p:cNvSpPr txBox="1"/>
                <p:nvPr/>
              </p:nvSpPr>
              <p:spPr>
                <a:xfrm>
                  <a:off x="1066800" y="2006600"/>
                  <a:ext cx="1282700" cy="495300"/>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spcAft>
                      <a:spcPts val="1000"/>
                    </a:spcAft>
                  </a:pPr>
                  <a14:m>
                    <m:oMathPara xmlns:m="http://schemas.openxmlformats.org/officeDocument/2006/math">
                      <m:oMathParaPr>
                        <m:jc m:val="centerGroup"/>
                      </m:oMathParaPr>
                      <m:oMath xmlns:m="http://schemas.openxmlformats.org/officeDocument/2006/math">
                        <m:r>
                          <a:rPr lang="en-US" sz="1800" i="1">
                            <a:latin typeface="Cambria Math" panose="02040503050406030204" pitchFamily="18" charset="0"/>
                            <a:ea typeface="MS Mincho" panose="02020609040205080304" pitchFamily="49" charset="-128"/>
                            <a:cs typeface="Times New Roman" panose="02020603050405020304" pitchFamily="18" charset="0"/>
                          </a:rPr>
                          <m:t>(−</m:t>
                        </m:r>
                        <m:r>
                          <a:rPr lang="en-US" sz="1800">
                            <a:latin typeface="Cambria Math" panose="02040503050406030204" pitchFamily="18" charset="0"/>
                            <a:ea typeface="MS Mincho" panose="02020609040205080304" pitchFamily="49" charset="-128"/>
                            <a:cs typeface="Times New Roman" panose="02020603050405020304" pitchFamily="18" charset="0"/>
                          </a:rPr>
                          <m:t>0.5, 0</m:t>
                        </m:r>
                        <m:r>
                          <a:rPr lang="en-US" sz="1800" i="1">
                            <a:latin typeface="Cambria Math" panose="02040503050406030204" pitchFamily="18" charset="0"/>
                            <a:ea typeface="MS Mincho" panose="02020609040205080304" pitchFamily="49" charset="-128"/>
                            <a:cs typeface="Times New Roman" panose="02020603050405020304" pitchFamily="18" charset="0"/>
                          </a:rPr>
                          <m:t>)</m:t>
                        </m:r>
                      </m:oMath>
                    </m:oMathPara>
                  </a14:m>
                  <a:endParaRPr lang="en-US" sz="1200">
                    <a:latin typeface="Cambria" panose="02040503050406030204" pitchFamily="18" charset="0"/>
                    <a:ea typeface="MS Mincho" panose="02020609040205080304" pitchFamily="49" charset="-128"/>
                    <a:cs typeface="Times New Roman" panose="02020603050405020304" pitchFamily="18" charset="0"/>
                  </a:endParaRPr>
                </a:p>
              </p:txBody>
            </p:sp>
          </mc:Choice>
          <mc:Fallback xmlns="">
            <p:sp>
              <p:nvSpPr>
                <p:cNvPr id="41" name="Text Box 21">
                  <a:extLst>
                    <a:ext uri="{FF2B5EF4-FFF2-40B4-BE49-F238E27FC236}">
                      <a16:creationId xmlns:a16="http://schemas.microsoft.com/office/drawing/2014/main" id="{C200D662-F109-4A4F-A3E9-09B42A7C40F6}"/>
                    </a:ext>
                  </a:extLst>
                </p:cNvPr>
                <p:cNvSpPr txBox="1">
                  <a:spLocks noRot="1" noChangeAspect="1" noMove="1" noResize="1" noEditPoints="1" noAdjustHandles="1" noChangeArrowheads="1" noChangeShapeType="1" noTextEdit="1"/>
                </p:cNvSpPr>
                <p:nvPr/>
              </p:nvSpPr>
              <p:spPr>
                <a:xfrm>
                  <a:off x="1066800" y="2006600"/>
                  <a:ext cx="1282700" cy="495300"/>
                </a:xfrm>
                <a:prstGeom prst="rect">
                  <a:avLst/>
                </a:prstGeom>
                <a:blipFill>
                  <a:blip r:embed="rId9"/>
                  <a:stretch>
                    <a:fillRect/>
                  </a:stretch>
                </a:blipFill>
                <a:ln w="6350">
                  <a:noFill/>
                </a:ln>
              </p:spPr>
              <p:txBody>
                <a:bodyPr/>
                <a:lstStyle/>
                <a:p>
                  <a:r>
                    <a:rPr lang="en-PH">
                      <a:noFill/>
                    </a:rPr>
                    <a:t> </a:t>
                  </a:r>
                </a:p>
              </p:txBody>
            </p:sp>
          </mc:Fallback>
        </mc:AlternateContent>
      </p:grpSp>
      <p:pic>
        <p:nvPicPr>
          <p:cNvPr id="36" name="Picture 35" descr="Shape&#10;&#10;Description automatically generated with medium confidence">
            <a:extLst>
              <a:ext uri="{FF2B5EF4-FFF2-40B4-BE49-F238E27FC236}">
                <a16:creationId xmlns:a16="http://schemas.microsoft.com/office/drawing/2014/main" id="{80BBAB9B-8340-BB4A-B8BE-1B27F08216C5}"/>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32369" t="33484" r="33132" b="38794"/>
          <a:stretch/>
        </p:blipFill>
        <p:spPr bwMode="auto">
          <a:xfrm>
            <a:off x="2750965" y="2918300"/>
            <a:ext cx="2733675" cy="2197100"/>
          </a:xfrm>
          <a:prstGeom prst="rect">
            <a:avLst/>
          </a:prstGeom>
          <a:ln>
            <a:noFill/>
          </a:ln>
          <a:extLst>
            <a:ext uri="{53640926-AAD7-44D8-BBD7-CCE9431645EC}">
              <a14:shadowObscured xmlns:a14="http://schemas.microsoft.com/office/drawing/2010/main"/>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7D800133-7A7E-6B40-9679-0F9183DBB45E}"/>
              </a:ext>
            </a:extLst>
          </p:cNvPr>
          <p:cNvGraphicFramePr>
            <a:graphicFrameLocks noGrp="1"/>
          </p:cNvGraphicFramePr>
          <p:nvPr>
            <p:extLst>
              <p:ext uri="{D42A27DB-BD31-4B8C-83A1-F6EECF244321}">
                <p14:modId xmlns:p14="http://schemas.microsoft.com/office/powerpoint/2010/main" val="501076222"/>
              </p:ext>
            </p:extLst>
          </p:nvPr>
        </p:nvGraphicFramePr>
        <p:xfrm>
          <a:off x="2565416" y="1600288"/>
          <a:ext cx="7061169" cy="4131570"/>
        </p:xfrm>
        <a:graphic>
          <a:graphicData uri="http://schemas.openxmlformats.org/drawingml/2006/table">
            <a:tbl>
              <a:tblPr firstRow="1" firstCol="1" bandRow="1">
                <a:tableStyleId>{5C22544A-7EE6-4342-B048-85BDC9FD1C3A}</a:tableStyleId>
              </a:tblPr>
              <a:tblGrid>
                <a:gridCol w="2300860">
                  <a:extLst>
                    <a:ext uri="{9D8B030D-6E8A-4147-A177-3AD203B41FA5}">
                      <a16:colId xmlns:a16="http://schemas.microsoft.com/office/drawing/2014/main" val="2198398513"/>
                    </a:ext>
                  </a:extLst>
                </a:gridCol>
                <a:gridCol w="2436127">
                  <a:extLst>
                    <a:ext uri="{9D8B030D-6E8A-4147-A177-3AD203B41FA5}">
                      <a16:colId xmlns:a16="http://schemas.microsoft.com/office/drawing/2014/main" val="2192679174"/>
                    </a:ext>
                  </a:extLst>
                </a:gridCol>
                <a:gridCol w="2324182">
                  <a:extLst>
                    <a:ext uri="{9D8B030D-6E8A-4147-A177-3AD203B41FA5}">
                      <a16:colId xmlns:a16="http://schemas.microsoft.com/office/drawing/2014/main" val="1401699309"/>
                    </a:ext>
                  </a:extLst>
                </a:gridCol>
              </a:tblGrid>
              <a:tr h="610595">
                <a:tc>
                  <a:txBody>
                    <a:bodyPr/>
                    <a:lstStyle/>
                    <a:p>
                      <a:pPr marL="0" marR="0" algn="ctr">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I Know…</a:t>
                      </a:r>
                    </a:p>
                  </a:txBody>
                  <a:tcPr marL="60976" marR="6097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I’m Not Sure Of…</a:t>
                      </a:r>
                    </a:p>
                  </a:txBody>
                  <a:tcPr marL="60976" marR="6097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A Question I Have…</a:t>
                      </a:r>
                    </a:p>
                  </a:txBody>
                  <a:tcPr marL="60976" marR="6097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909269541"/>
                  </a:ext>
                </a:extLst>
              </a:tr>
              <a:tr h="3520975">
                <a:tc>
                  <a:txBody>
                    <a:bodyPr/>
                    <a:lstStyle/>
                    <a:p>
                      <a:pPr marL="0" marR="0">
                        <a:spcBef>
                          <a:spcPts val="0"/>
                        </a:spcBef>
                        <a:spcAft>
                          <a:spcPts val="0"/>
                        </a:spcAft>
                      </a:pPr>
                      <a:r>
                        <a:rPr lang="en-US" sz="1200" dirty="0">
                          <a:effectLst/>
                        </a:rPr>
                        <a:t> </a:t>
                      </a:r>
                      <a:endParaRPr lang="en-US"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0976" marR="6097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spcBef>
                          <a:spcPts val="0"/>
                        </a:spcBef>
                        <a:spcAft>
                          <a:spcPts val="0"/>
                        </a:spcAft>
                      </a:pPr>
                      <a:r>
                        <a:rPr lang="en-US" sz="1200" dirty="0">
                          <a:effectLst/>
                        </a:rPr>
                        <a:t> </a:t>
                      </a:r>
                      <a:endParaRPr lang="en-US"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0976" marR="6097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spcBef>
                          <a:spcPts val="0"/>
                        </a:spcBef>
                        <a:spcAft>
                          <a:spcPts val="0"/>
                        </a:spcAft>
                      </a:pPr>
                      <a:r>
                        <a:rPr lang="en-US" sz="1200" dirty="0">
                          <a:effectLst/>
                        </a:rPr>
                        <a:t> </a:t>
                      </a:r>
                      <a:endParaRPr lang="en-US" sz="1100" dirty="0">
                        <a:effectLst/>
                        <a:latin typeface="Cambria" panose="02040503050406030204" pitchFamily="18" charset="0"/>
                        <a:ea typeface="MS Mincho" panose="02020609040205080304" pitchFamily="49" charset="-128"/>
                        <a:cs typeface="Times New Roman" panose="02020603050405020304" pitchFamily="18" charset="0"/>
                      </a:endParaRPr>
                    </a:p>
                  </a:txBody>
                  <a:tcPr marL="60976" marR="60976"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73641832"/>
                  </a:ext>
                </a:extLst>
              </a:tr>
            </a:tbl>
          </a:graphicData>
        </a:graphic>
      </p:graphicFrame>
      <p:sp>
        <p:nvSpPr>
          <p:cNvPr id="7" name="TextBox 6">
            <a:extLst>
              <a:ext uri="{FF2B5EF4-FFF2-40B4-BE49-F238E27FC236}">
                <a16:creationId xmlns:a16="http://schemas.microsoft.com/office/drawing/2014/main" id="{1A5C9CA6-1C64-674C-B7BF-EAAD2CFD32E0}"/>
              </a:ext>
            </a:extLst>
          </p:cNvPr>
          <p:cNvSpPr txBox="1"/>
          <p:nvPr/>
        </p:nvSpPr>
        <p:spPr>
          <a:xfrm>
            <a:off x="1244600" y="423661"/>
            <a:ext cx="9702800" cy="707886"/>
          </a:xfrm>
          <a:prstGeom prst="rect">
            <a:avLst/>
          </a:prstGeom>
          <a:noFill/>
        </p:spPr>
        <p:txBody>
          <a:bodyPr wrap="square">
            <a:spAutoFit/>
          </a:bodyPr>
          <a:lstStyle/>
          <a:p>
            <a:pPr marL="460375"/>
            <a:r>
              <a:rPr lang="en-US" sz="2000" dirty="0">
                <a:latin typeface="Verdana" panose="020B0604030504040204" pitchFamily="34" charset="0"/>
                <a:ea typeface="Verdana" panose="020B0604030504040204" pitchFamily="34" charset="0"/>
                <a:cs typeface="Verdana" panose="020B0604030504040204" pitchFamily="34" charset="0"/>
              </a:rPr>
              <a:t>Share three things you know, two things you are not sure of, and one thing you have a question about.</a:t>
            </a:r>
          </a:p>
        </p:txBody>
      </p:sp>
      <p:sp>
        <p:nvSpPr>
          <p:cNvPr id="8" name="Google Shape;122;g104476d1465_1_17">
            <a:extLst>
              <a:ext uri="{FF2B5EF4-FFF2-40B4-BE49-F238E27FC236}">
                <a16:creationId xmlns:a16="http://schemas.microsoft.com/office/drawing/2014/main" id="{E37AA71C-0B45-49D3-94E7-46663568DF62}"/>
              </a:ext>
            </a:extLst>
          </p:cNvPr>
          <p:cNvSpPr/>
          <p:nvPr/>
        </p:nvSpPr>
        <p:spPr>
          <a:xfrm>
            <a:off x="0" y="-8101"/>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9"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4</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08" name="Google Shape;208;p8"/>
              <p:cNvSpPr txBox="1"/>
              <p:nvPr/>
            </p:nvSpPr>
            <p:spPr>
              <a:xfrm>
                <a:off x="1117600" y="410665"/>
                <a:ext cx="10107466" cy="2154396"/>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This cube is known as a unit cube because each dimension (length, width, and height) is </a:t>
                </a:r>
                <a14:m>
                  <m:oMath xmlns:m="http://schemas.openxmlformats.org/officeDocument/2006/math">
                    <m:r>
                      <a:rPr lang="en-US" sz="2400" i="1">
                        <a:latin typeface="Cambria Math" panose="02040503050406030204" pitchFamily="18" charset="0"/>
                      </a:rPr>
                      <m:t>1</m:t>
                    </m:r>
                  </m:oMath>
                </a14:m>
                <a:r>
                  <a:rPr lang="en-US" sz="2400" dirty="0">
                    <a:latin typeface="Verdana" panose="020B0604030504040204" pitchFamily="34" charset="0"/>
                    <a:ea typeface="Verdana" panose="020B0604030504040204" pitchFamily="34" charset="0"/>
                    <a:cs typeface="Verdana" panose="020B0604030504040204" pitchFamily="34" charset="0"/>
                  </a:rPr>
                  <a:t> unit.  </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463550"/>
                <a:r>
                  <a:rPr lang="en-US" sz="2400" dirty="0">
                    <a:latin typeface="Verdana" panose="020B0604030504040204" pitchFamily="34" charset="0"/>
                    <a:ea typeface="Verdana" panose="020B0604030504040204" pitchFamily="34" charset="0"/>
                    <a:cs typeface="Verdana" panose="020B0604030504040204" pitchFamily="34" charset="0"/>
                  </a:rPr>
                  <a:t>What is the volume of the cube? Include the units for the cube's volume.</a:t>
                </a:r>
              </a:p>
              <a:p>
                <a:r>
                  <a:rPr lang="en-US" i="1" dirty="0"/>
                  <a:t> </a:t>
                </a:r>
                <a:endParaRPr lang="en-US" dirty="0"/>
              </a:p>
            </p:txBody>
          </p:sp>
        </mc:Choice>
        <mc:Fallback xmlns="">
          <p:sp>
            <p:nvSpPr>
              <p:cNvPr id="208" name="Google Shape;208;p8"/>
              <p:cNvSpPr txBox="1">
                <a:spLocks noRot="1" noChangeAspect="1" noMove="1" noResize="1" noEditPoints="1" noAdjustHandles="1" noChangeArrowheads="1" noChangeShapeType="1" noTextEdit="1"/>
              </p:cNvSpPr>
              <p:nvPr/>
            </p:nvSpPr>
            <p:spPr>
              <a:xfrm>
                <a:off x="1117600" y="410665"/>
                <a:ext cx="10107466" cy="2154396"/>
              </a:xfrm>
              <a:prstGeom prst="rect">
                <a:avLst/>
              </a:prstGeom>
              <a:blipFill rotWithShape="0">
                <a:blip r:embed="rId3"/>
                <a:stretch>
                  <a:fillRect l="-905" t="-2260"/>
                </a:stretch>
              </a:blipFill>
              <a:ln>
                <a:noFill/>
              </a:ln>
            </p:spPr>
            <p:txBody>
              <a:bodyPr/>
              <a:lstStyle/>
              <a:p>
                <a:r>
                  <a:rPr lang="en-US">
                    <a:noFill/>
                  </a:rPr>
                  <a:t> </a:t>
                </a:r>
              </a:p>
            </p:txBody>
          </p:sp>
        </mc:Fallback>
      </mc:AlternateContent>
      <p:grpSp>
        <p:nvGrpSpPr>
          <p:cNvPr id="6" name="Group 5">
            <a:extLst>
              <a:ext uri="{FF2B5EF4-FFF2-40B4-BE49-F238E27FC236}">
                <a16:creationId xmlns:a16="http://schemas.microsoft.com/office/drawing/2014/main" id="{A699D29E-A68D-6B41-996E-6C6F387D8901}"/>
              </a:ext>
            </a:extLst>
          </p:cNvPr>
          <p:cNvGrpSpPr/>
          <p:nvPr/>
        </p:nvGrpSpPr>
        <p:grpSpPr>
          <a:xfrm>
            <a:off x="2315738" y="4638908"/>
            <a:ext cx="7633013" cy="1393283"/>
            <a:chOff x="2031300" y="3373600"/>
            <a:chExt cx="6629400" cy="812800"/>
          </a:xfrm>
        </p:grpSpPr>
        <p:grpSp>
          <p:nvGrpSpPr>
            <p:cNvPr id="7" name="Group 6">
              <a:extLst>
                <a:ext uri="{FF2B5EF4-FFF2-40B4-BE49-F238E27FC236}">
                  <a16:creationId xmlns:a16="http://schemas.microsoft.com/office/drawing/2014/main" id="{38050CDC-51B1-0F48-836A-336D19858C46}"/>
                </a:ext>
              </a:extLst>
            </p:cNvPr>
            <p:cNvGrpSpPr/>
            <p:nvPr/>
          </p:nvGrpSpPr>
          <p:grpSpPr>
            <a:xfrm>
              <a:off x="2031300" y="3373600"/>
              <a:ext cx="6629400" cy="812800"/>
              <a:chOff x="2031300" y="3373600"/>
              <a:chExt cx="6629400" cy="812800"/>
            </a:xfrm>
          </p:grpSpPr>
          <p:sp>
            <p:nvSpPr>
              <p:cNvPr id="8" name="Rectangle 7">
                <a:extLst>
                  <a:ext uri="{FF2B5EF4-FFF2-40B4-BE49-F238E27FC236}">
                    <a16:creationId xmlns:a16="http://schemas.microsoft.com/office/drawing/2014/main" id="{75876504-67EE-204D-9873-F6BDB870FB7F}"/>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MS Mincho" panose="02020609040205080304" pitchFamily="49" charset="-128"/>
                    <a:cs typeface="Times New Roman" panose="02020603050405020304" pitchFamily="18" charset="0"/>
                  </a:rPr>
                  <a:t> </a:t>
                </a:r>
              </a:p>
            </p:txBody>
          </p:sp>
          <p:grpSp>
            <p:nvGrpSpPr>
              <p:cNvPr id="9" name="Group 8">
                <a:extLst>
                  <a:ext uri="{FF2B5EF4-FFF2-40B4-BE49-F238E27FC236}">
                    <a16:creationId xmlns:a16="http://schemas.microsoft.com/office/drawing/2014/main" id="{4940991F-D2FF-FF49-AFBF-9F9DC1D7A236}"/>
                  </a:ext>
                </a:extLst>
              </p:cNvPr>
              <p:cNvGrpSpPr/>
              <p:nvPr/>
            </p:nvGrpSpPr>
            <p:grpSpPr>
              <a:xfrm>
                <a:off x="2031300" y="3373600"/>
                <a:ext cx="6629400" cy="812800"/>
                <a:chOff x="0" y="0"/>
                <a:chExt cx="6629400" cy="812800"/>
              </a:xfrm>
            </p:grpSpPr>
            <p:sp>
              <p:nvSpPr>
                <p:cNvPr id="10" name="Rectangle 9">
                  <a:extLst>
                    <a:ext uri="{FF2B5EF4-FFF2-40B4-BE49-F238E27FC236}">
                      <a16:creationId xmlns:a16="http://schemas.microsoft.com/office/drawing/2014/main" id="{45EE01CA-F475-6D49-A01A-DE46C02B0E8F}"/>
                    </a:ext>
                  </a:extLst>
                </p:cNvPr>
                <p:cNvSpPr/>
                <p:nvPr/>
              </p:nvSpPr>
              <p:spPr>
                <a:xfrm>
                  <a:off x="0" y="0"/>
                  <a:ext cx="6629400" cy="812800"/>
                </a:xfrm>
                <a:prstGeom prst="rect">
                  <a:avLst/>
                </a:prstGeom>
                <a:noFill/>
                <a:ln>
                  <a:noFill/>
                </a:ln>
              </p:spPr>
              <p:txBody>
                <a:bodyPr spcFirstLastPara="1" wrap="square" lIns="91425" tIns="91425" rIns="91425" bIns="91425" anchor="ctr" anchorCtr="0">
                  <a:noAutofit/>
                </a:bodyPr>
                <a:lstStyle/>
                <a:p>
                  <a:pPr>
                    <a:spcAft>
                      <a:spcPts val="1000"/>
                    </a:spcAft>
                  </a:pPr>
                  <a:r>
                    <a:rPr lang="en-US" sz="1200">
                      <a:latin typeface="Cambria" panose="02040503050406030204" pitchFamily="18" charset="0"/>
                      <a:ea typeface="MS Mincho" panose="02020609040205080304" pitchFamily="49" charset="-128"/>
                      <a:cs typeface="Times New Roman" panose="02020603050405020304" pitchFamily="18" charset="0"/>
                    </a:rPr>
                    <a:t> </a:t>
                  </a:r>
                </a:p>
              </p:txBody>
            </p:sp>
            <p:sp>
              <p:nvSpPr>
                <p:cNvPr id="11" name="Rounded Rectangle 10">
                  <a:extLst>
                    <a:ext uri="{FF2B5EF4-FFF2-40B4-BE49-F238E27FC236}">
                      <a16:creationId xmlns:a16="http://schemas.microsoft.com/office/drawing/2014/main" id="{54EAC309-543D-9B49-B7BC-570D4452CC29}"/>
                    </a:ext>
                  </a:extLst>
                </p:cNvPr>
                <p:cNvSpPr/>
                <p:nvPr/>
              </p:nvSpPr>
              <p:spPr>
                <a:xfrm>
                  <a:off x="0" y="0"/>
                  <a:ext cx="6629400" cy="812506"/>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marL="742950">
                    <a:spcAft>
                      <a:spcPts val="1000"/>
                    </a:spcAft>
                  </a:pPr>
                  <a:r>
                    <a:rPr lang="en-US" sz="2400" dirty="0">
                      <a:solidFill>
                        <a:srgbClr val="6C993D"/>
                      </a:solidFill>
                      <a:latin typeface="Verdana" panose="020B0604030504040204" pitchFamily="34" charset="0"/>
                      <a:ea typeface="Verdana" panose="020B0604030504040204" pitchFamily="34" charset="0"/>
                      <a:cs typeface="Verdana" panose="020B0604030504040204" pitchFamily="34" charset="0"/>
                    </a:rPr>
                    <a:t>A </a:t>
                  </a:r>
                  <a:r>
                    <a:rPr lang="en-US" sz="2400" b="1" i="1" dirty="0">
                      <a:solidFill>
                        <a:srgbClr val="6C993D"/>
                      </a:solidFill>
                      <a:latin typeface="Verdana" panose="020B0604030504040204" pitchFamily="34" charset="0"/>
                      <a:ea typeface="Verdana" panose="020B0604030504040204" pitchFamily="34" charset="0"/>
                      <a:cs typeface="Verdana" panose="020B0604030504040204" pitchFamily="34" charset="0"/>
                    </a:rPr>
                    <a:t>cube</a:t>
                  </a:r>
                  <a:r>
                    <a:rPr lang="en-US" sz="2400" dirty="0">
                      <a:solidFill>
                        <a:srgbClr val="6C993D"/>
                      </a:solidFill>
                      <a:latin typeface="Verdana" panose="020B0604030504040204" pitchFamily="34" charset="0"/>
                      <a:ea typeface="Verdana" panose="020B0604030504040204" pitchFamily="34" charset="0"/>
                      <a:cs typeface="Verdana" panose="020B0604030504040204" pitchFamily="34" charset="0"/>
                    </a:rPr>
                    <a:t> is a rectangular prism with six congruent square faces.</a:t>
                  </a:r>
                  <a:endParaRPr lang="en-US" sz="2400" dirty="0">
                    <a:latin typeface="Verdana" panose="020B0604030504040204" pitchFamily="34" charset="0"/>
                    <a:ea typeface="Verdana" panose="020B0604030504040204" pitchFamily="34" charset="0"/>
                    <a:cs typeface="Verdana" panose="020B0604030504040204" pitchFamily="34" charset="0"/>
                  </a:endParaRPr>
                </a:p>
                <a:p>
                  <a:pPr marL="685800">
                    <a:spcAft>
                      <a:spcPts val="1000"/>
                    </a:spcAft>
                  </a:pPr>
                  <a:r>
                    <a:rPr lang="en-US" sz="1200" dirty="0">
                      <a:latin typeface="Cambria" panose="02040503050406030204" pitchFamily="18" charset="0"/>
                      <a:ea typeface="MS Mincho" panose="02020609040205080304" pitchFamily="49" charset="-128"/>
                      <a:cs typeface="Times New Roman" panose="02020603050405020304" pitchFamily="18" charset="0"/>
                    </a:rPr>
                    <a:t> </a:t>
                  </a:r>
                </a:p>
              </p:txBody>
            </p:sp>
          </p:grpSp>
        </p:grpSp>
      </p:grpSp>
      <p:pic>
        <p:nvPicPr>
          <p:cNvPr id="13" name="Shape 7" descr="Icon&#10;&#10;Description automatically generated">
            <a:extLst>
              <a:ext uri="{FF2B5EF4-FFF2-40B4-BE49-F238E27FC236}">
                <a16:creationId xmlns:a16="http://schemas.microsoft.com/office/drawing/2014/main" id="{5BEEEB1A-4D3A-1B4C-A7AB-C7E7CD9D7788}"/>
              </a:ext>
            </a:extLst>
          </p:cNvPr>
          <p:cNvPicPr/>
          <p:nvPr/>
        </p:nvPicPr>
        <p:blipFill rotWithShape="1">
          <a:blip r:embed="rId4" cstate="screen">
            <a:alphaModFix/>
            <a:extLst>
              <a:ext uri="{28A0092B-C50C-407E-A947-70E740481C1C}">
                <a14:useLocalDpi xmlns:a14="http://schemas.microsoft.com/office/drawing/2010/main"/>
              </a:ext>
            </a:extLst>
          </a:blip>
          <a:srcRect/>
          <a:stretch/>
        </p:blipFill>
        <p:spPr>
          <a:xfrm>
            <a:off x="2436154" y="4795025"/>
            <a:ext cx="615563" cy="607179"/>
          </a:xfrm>
          <a:prstGeom prst="rect">
            <a:avLst/>
          </a:prstGeom>
          <a:noFill/>
          <a:ln>
            <a:noFill/>
          </a:ln>
          <a:effectLst>
            <a:outerShdw blurRad="50800" dist="38100" dir="2700000" algn="tl" rotWithShape="0">
              <a:prstClr val="black">
                <a:alpha val="40000"/>
              </a:prstClr>
            </a:outerShdw>
          </a:effectLst>
        </p:spPr>
      </p:pic>
      <p:sp>
        <p:nvSpPr>
          <p:cNvPr id="15" name="Google Shape;122;g104476d1465_1_17">
            <a:extLst>
              <a:ext uri="{FF2B5EF4-FFF2-40B4-BE49-F238E27FC236}">
                <a16:creationId xmlns:a16="http://schemas.microsoft.com/office/drawing/2014/main" id="{7AA04558-E54B-42B0-85E1-6648CC5A97EC}"/>
              </a:ext>
            </a:extLst>
          </p:cNvPr>
          <p:cNvSpPr/>
          <p:nvPr/>
        </p:nvSpPr>
        <p:spPr>
          <a:xfrm>
            <a:off x="0" y="-8101"/>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16"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a:t>
            </a:r>
            <a:r>
              <a:rPr lang="en-US" i="1">
                <a:latin typeface="Calibri"/>
                <a:ea typeface="Calibri"/>
                <a:cs typeface="Calibri"/>
                <a:sym typeface="Calibri"/>
              </a:rPr>
              <a:t>4</a:t>
            </a:r>
            <a:endParaRPr i="1" dirty="0">
              <a:latin typeface="Calibri"/>
              <a:ea typeface="Calibri"/>
              <a:cs typeface="Calibri"/>
              <a:sym typeface="Calibri"/>
            </a:endParaRPr>
          </a:p>
        </p:txBody>
      </p:sp>
      <p:pic>
        <p:nvPicPr>
          <p:cNvPr id="17"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10588514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7" name="Google Shape;217;p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33BEA6"/>
                </a:solidFill>
                <a:latin typeface="Verdana"/>
                <a:ea typeface="Verdana"/>
                <a:cs typeface="Verdana"/>
                <a:sym typeface="Verdana"/>
              </a:rPr>
              <a:t>Exploration</a:t>
            </a:r>
            <a:endParaRPr sz="5100" b="1">
              <a:solidFill>
                <a:srgbClr val="33BEA6"/>
              </a:solidFill>
              <a:latin typeface="Verdana"/>
              <a:ea typeface="Verdana"/>
              <a:cs typeface="Verdana"/>
              <a:sym typeface="Verdana"/>
            </a:endParaRPr>
          </a:p>
        </p:txBody>
      </p:sp>
      <p:pic>
        <p:nvPicPr>
          <p:cNvPr id="219" name="Google Shape;219;p9" descr="Icon&#10;&#10;Description automatically generated"/>
          <p:cNvPicPr preferRelativeResize="0"/>
          <p:nvPr/>
        </p:nvPicPr>
        <p:blipFill rotWithShape="1">
          <a:blip r:embed="rId3">
            <a:alphaModFix/>
          </a:blip>
          <a:srcRect/>
          <a:stretch/>
        </p:blipFill>
        <p:spPr>
          <a:xfrm>
            <a:off x="4630950" y="2814305"/>
            <a:ext cx="1156228" cy="1156228"/>
          </a:xfrm>
          <a:prstGeom prst="rect">
            <a:avLst/>
          </a:prstGeom>
          <a:noFill/>
          <a:ln>
            <a:noFill/>
          </a:ln>
          <a:effectLst>
            <a:outerShdw blurRad="50800" dist="38100" dir="2700000" algn="tl" rotWithShape="0">
              <a:srgbClr val="000000">
                <a:alpha val="40000"/>
              </a:srgbClr>
            </a:outerShdw>
          </a:effectLst>
        </p:spPr>
      </p:pic>
      <p:sp>
        <p:nvSpPr>
          <p:cNvPr id="7" name="Google Shape;155;g104476d1465_1_39">
            <a:extLst>
              <a:ext uri="{FF2B5EF4-FFF2-40B4-BE49-F238E27FC236}">
                <a16:creationId xmlns:a16="http://schemas.microsoft.com/office/drawing/2014/main" id="{586A1DD4-545E-4DDA-B014-374029B2CF3D}"/>
              </a:ext>
            </a:extLst>
          </p:cNvPr>
          <p:cNvSpPr/>
          <p:nvPr/>
        </p:nvSpPr>
        <p:spPr>
          <a:xfrm>
            <a:off x="0" y="-8101"/>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8"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5</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1191304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6" name="Google Shape;226;p10"/>
          <p:cNvSpPr txBox="1"/>
          <p:nvPr/>
        </p:nvSpPr>
        <p:spPr>
          <a:xfrm>
            <a:off x="1452833" y="25230"/>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33BEA6"/>
                </a:solidFill>
                <a:latin typeface="Verdana"/>
                <a:ea typeface="Verdana"/>
                <a:cs typeface="Verdana"/>
                <a:sym typeface="Verdana"/>
              </a:rPr>
              <a:t>8.1.3 Exploration: Drawing Fractional Cubes </a:t>
            </a:r>
            <a:endParaRPr dirty="0"/>
          </a:p>
        </p:txBody>
      </p:sp>
      <p:pic>
        <p:nvPicPr>
          <p:cNvPr id="228" name="Google Shape;228;p10" descr="Icon&#10;&#10;Description automatically generated"/>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696535" y="273355"/>
            <a:ext cx="752254" cy="752254"/>
          </a:xfrm>
          <a:prstGeom prst="rect">
            <a:avLst/>
          </a:prstGeom>
          <a:noFill/>
          <a:ln>
            <a:noFill/>
          </a:ln>
          <a:effectLst>
            <a:outerShdw blurRad="50800" dist="38100" dir="2700000" algn="tl" rotWithShape="0">
              <a:srgbClr val="000000">
                <a:alpha val="40000"/>
              </a:srgbClr>
            </a:outerShdw>
          </a:effectLst>
        </p:spPr>
      </p:pic>
      <p:sp>
        <p:nvSpPr>
          <p:cNvPr id="229" name="Google Shape;229;p10"/>
          <p:cNvSpPr txBox="1"/>
          <p:nvPr/>
        </p:nvSpPr>
        <p:spPr>
          <a:xfrm>
            <a:off x="1448789" y="1386026"/>
            <a:ext cx="9550454" cy="4924385"/>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Two cubes are shown. </a:t>
            </a: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63550"/>
            <a:r>
              <a:rPr lang="en-US" sz="2000" dirty="0">
                <a:latin typeface="Verdana" panose="020B0604030504040204" pitchFamily="34" charset="0"/>
                <a:ea typeface="Verdana" panose="020B0604030504040204" pitchFamily="34" charset="0"/>
                <a:cs typeface="Verdana" panose="020B0604030504040204" pitchFamily="34" charset="0"/>
              </a:rPr>
              <a:t>The cube on the left is a unit cube. The cube on the right has different dimensions. </a:t>
            </a:r>
          </a:p>
          <a:p>
            <a:r>
              <a:rPr lang="en-US" sz="2000" dirty="0">
                <a:latin typeface="Verdana" panose="020B0604030504040204" pitchFamily="34" charset="0"/>
                <a:ea typeface="Verdana" panose="020B0604030504040204" pitchFamily="34" charset="0"/>
                <a:cs typeface="Verdana" panose="020B0604030504040204" pitchFamily="34" charset="0"/>
              </a:rPr>
              <a:t> </a:t>
            </a: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a:pPr>
            <a:endParaRPr dirty="0"/>
          </a:p>
        </p:txBody>
      </p:sp>
      <p:pic>
        <p:nvPicPr>
          <p:cNvPr id="32" name="Picture 31" descr="Shape, rectangle&#10;&#10;Description automatically generated">
            <a:extLst>
              <a:ext uri="{FF2B5EF4-FFF2-40B4-BE49-F238E27FC236}">
                <a16:creationId xmlns:a16="http://schemas.microsoft.com/office/drawing/2014/main" id="{928DB538-1699-FD4E-9B43-7F0BDFB97674}"/>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3589341" y="1828801"/>
            <a:ext cx="5257612" cy="2514601"/>
          </a:xfrm>
          <a:prstGeom prst="rect">
            <a:avLst/>
          </a:prstGeom>
        </p:spPr>
      </p:pic>
      <p:sp>
        <p:nvSpPr>
          <p:cNvPr id="10" name="Google Shape;122;g104476d1465_1_17">
            <a:extLst>
              <a:ext uri="{FF2B5EF4-FFF2-40B4-BE49-F238E27FC236}">
                <a16:creationId xmlns:a16="http://schemas.microsoft.com/office/drawing/2014/main" id="{D6397185-65EF-47C6-B604-351D83F79423}"/>
              </a:ext>
            </a:extLst>
          </p:cNvPr>
          <p:cNvSpPr/>
          <p:nvPr/>
        </p:nvSpPr>
        <p:spPr>
          <a:xfrm>
            <a:off x="0" y="-8101"/>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11"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5</a:t>
            </a:r>
            <a:endParaRPr i="1" dirty="0">
              <a:latin typeface="Calibri"/>
              <a:ea typeface="Calibri"/>
              <a:cs typeface="Calibri"/>
              <a:sym typeface="Calibri"/>
            </a:endParaRPr>
          </a:p>
        </p:txBody>
      </p:sp>
      <p:pic>
        <p:nvPicPr>
          <p:cNvPr id="12"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32188489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8" name="Google Shape;208;p8"/>
          <p:cNvSpPr txBox="1"/>
          <p:nvPr/>
        </p:nvSpPr>
        <p:spPr>
          <a:xfrm>
            <a:off x="1130300" y="410666"/>
            <a:ext cx="10082066" cy="615513"/>
          </a:xfrm>
          <a:prstGeom prst="rect">
            <a:avLst/>
          </a:prstGeom>
          <a:noFill/>
          <a:ln>
            <a:noFill/>
          </a:ln>
        </p:spPr>
        <p:txBody>
          <a:bodyPr spcFirstLastPara="1" wrap="square" lIns="91425" tIns="45700" rIns="91425" bIns="45700" anchor="t" anchorCtr="0">
            <a:spAutoFit/>
          </a:bodyPr>
          <a:lstStyle/>
          <a:p>
            <a:pPr marL="463550"/>
            <a:r>
              <a:rPr lang="en-US" sz="2000" dirty="0">
                <a:latin typeface="Verdana" panose="020B0604030504040204" pitchFamily="34" charset="0"/>
                <a:ea typeface="Verdana" panose="020B0604030504040204" pitchFamily="34" charset="0"/>
                <a:cs typeface="Verdana" panose="020B0604030504040204" pitchFamily="34" charset="0"/>
              </a:rPr>
              <a:t>Share an observation and something you wonder about this new cube.</a:t>
            </a:r>
          </a:p>
          <a:p>
            <a:endParaRPr dirty="0"/>
          </a:p>
        </p:txBody>
      </p:sp>
      <p:graphicFrame>
        <p:nvGraphicFramePr>
          <p:cNvPr id="2" name="Table 1">
            <a:extLst>
              <a:ext uri="{FF2B5EF4-FFF2-40B4-BE49-F238E27FC236}">
                <a16:creationId xmlns:a16="http://schemas.microsoft.com/office/drawing/2014/main" id="{7F6AF303-35CF-7B42-8E1B-4B423D7087E0}"/>
              </a:ext>
            </a:extLst>
          </p:cNvPr>
          <p:cNvGraphicFramePr>
            <a:graphicFrameLocks noGrp="1"/>
          </p:cNvGraphicFramePr>
          <p:nvPr>
            <p:extLst>
              <p:ext uri="{D42A27DB-BD31-4B8C-83A1-F6EECF244321}">
                <p14:modId xmlns:p14="http://schemas.microsoft.com/office/powerpoint/2010/main" val="3279899467"/>
              </p:ext>
            </p:extLst>
          </p:nvPr>
        </p:nvGraphicFramePr>
        <p:xfrm>
          <a:off x="2785970" y="1333955"/>
          <a:ext cx="6770726" cy="4415665"/>
        </p:xfrm>
        <a:graphic>
          <a:graphicData uri="http://schemas.openxmlformats.org/drawingml/2006/table">
            <a:tbl>
              <a:tblPr firstRow="1" firstCol="1" bandRow="1">
                <a:tableStyleId>{5C22544A-7EE6-4342-B048-85BDC9FD1C3A}</a:tableStyleId>
              </a:tblPr>
              <a:tblGrid>
                <a:gridCol w="3307615">
                  <a:extLst>
                    <a:ext uri="{9D8B030D-6E8A-4147-A177-3AD203B41FA5}">
                      <a16:colId xmlns:a16="http://schemas.microsoft.com/office/drawing/2014/main" val="1633653059"/>
                    </a:ext>
                  </a:extLst>
                </a:gridCol>
                <a:gridCol w="3463111">
                  <a:extLst>
                    <a:ext uri="{9D8B030D-6E8A-4147-A177-3AD203B41FA5}">
                      <a16:colId xmlns:a16="http://schemas.microsoft.com/office/drawing/2014/main" val="1924813826"/>
                    </a:ext>
                  </a:extLst>
                </a:gridCol>
              </a:tblGrid>
              <a:tr h="369616">
                <a:tc>
                  <a:txBody>
                    <a:bodyPr/>
                    <a:lstStyle/>
                    <a:p>
                      <a:pPr marL="0" marR="0" algn="ctr">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Observation</a:t>
                      </a:r>
                    </a:p>
                  </a:txBody>
                  <a:tcPr marL="59965" marR="5996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Wondering</a:t>
                      </a:r>
                    </a:p>
                  </a:txBody>
                  <a:tcPr marL="59965" marR="5996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748691856"/>
                  </a:ext>
                </a:extLst>
              </a:tr>
              <a:tr h="4046049">
                <a:tc>
                  <a:txBody>
                    <a:bodyPr/>
                    <a:lstStyle/>
                    <a:p>
                      <a:pPr marL="0" marR="0">
                        <a:spcBef>
                          <a:spcPts val="0"/>
                        </a:spcBef>
                        <a:spcAft>
                          <a:spcPts val="0"/>
                        </a:spcAft>
                      </a:pPr>
                      <a:r>
                        <a:rPr lang="en-US" sz="1200" dirty="0">
                          <a:effectLst/>
                        </a:rPr>
                        <a:t> </a:t>
                      </a:r>
                      <a:endParaRPr lang="en-US" sz="1000" dirty="0">
                        <a:effectLst/>
                        <a:latin typeface="Cambria" panose="02040503050406030204" pitchFamily="18" charset="0"/>
                        <a:ea typeface="MS Mincho" panose="02020609040205080304" pitchFamily="49" charset="-128"/>
                        <a:cs typeface="Times New Roman" panose="02020603050405020304" pitchFamily="18" charset="0"/>
                      </a:endParaRPr>
                    </a:p>
                  </a:txBody>
                  <a:tcPr marL="59965" marR="5996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a:spcBef>
                          <a:spcPts val="0"/>
                        </a:spcBef>
                        <a:spcAft>
                          <a:spcPts val="0"/>
                        </a:spcAft>
                      </a:pPr>
                      <a:r>
                        <a:rPr lang="en-US" sz="1200" dirty="0">
                          <a:effectLst/>
                        </a:rPr>
                        <a:t> </a:t>
                      </a:r>
                      <a:endParaRPr lang="en-US" sz="1000" dirty="0">
                        <a:effectLst/>
                        <a:latin typeface="Cambria" panose="02040503050406030204" pitchFamily="18" charset="0"/>
                        <a:ea typeface="MS Mincho" panose="02020609040205080304" pitchFamily="49" charset="-128"/>
                        <a:cs typeface="Times New Roman" panose="02020603050405020304" pitchFamily="18" charset="0"/>
                      </a:endParaRPr>
                    </a:p>
                  </a:txBody>
                  <a:tcPr marL="59965" marR="59965"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0599354"/>
                  </a:ext>
                </a:extLst>
              </a:tr>
            </a:tbl>
          </a:graphicData>
        </a:graphic>
      </p:graphicFrame>
      <p:sp>
        <p:nvSpPr>
          <p:cNvPr id="8" name="Google Shape;122;g104476d1465_1_17">
            <a:extLst>
              <a:ext uri="{FF2B5EF4-FFF2-40B4-BE49-F238E27FC236}">
                <a16:creationId xmlns:a16="http://schemas.microsoft.com/office/drawing/2014/main" id="{1CCA72CA-9A84-4232-97F9-806AA711307B}"/>
              </a:ext>
            </a:extLst>
          </p:cNvPr>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9"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5</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3862896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08" name="Google Shape;208;p8"/>
              <p:cNvSpPr txBox="1"/>
              <p:nvPr/>
            </p:nvSpPr>
            <p:spPr>
              <a:xfrm>
                <a:off x="1130300" y="410666"/>
                <a:ext cx="10082066" cy="5218439"/>
              </a:xfrm>
              <a:prstGeom prst="rect">
                <a:avLst/>
              </a:prstGeom>
              <a:noFill/>
              <a:ln>
                <a:noFill/>
              </a:ln>
            </p:spPr>
            <p:txBody>
              <a:bodyPr spcFirstLastPara="1" wrap="square" lIns="91425" tIns="45700" rIns="91425" bIns="45700" anchor="t" anchorCtr="0">
                <a:spAutoFit/>
              </a:bodyPr>
              <a:lstStyle/>
              <a:p>
                <a:pPr marL="463550"/>
                <a:r>
                  <a:rPr lang="en-US" sz="2400" dirty="0">
                    <a:latin typeface="Verdana" panose="020B0604030504040204" pitchFamily="34" charset="0"/>
                    <a:ea typeface="Verdana" panose="020B0604030504040204" pitchFamily="34" charset="0"/>
                    <a:cs typeface="Verdana" panose="020B0604030504040204" pitchFamily="34" charset="0"/>
                  </a:rPr>
                  <a:t>A unit cube and a half-unit cube are shown.</a:t>
                </a:r>
              </a:p>
              <a:p>
                <a:pPr lvl="0"/>
                <a:endParaRPr lang="en-US" sz="2400" dirty="0">
                  <a:latin typeface="Verdana" panose="020B0604030504040204" pitchFamily="34" charset="0"/>
                  <a:ea typeface="Verdana" panose="020B0604030504040204" pitchFamily="34" charset="0"/>
                  <a:cs typeface="Verdana" panose="020B0604030504040204" pitchFamily="34" charset="0"/>
                </a:endParaRPr>
              </a:p>
              <a:p>
                <a:pPr lvl="0"/>
                <a:endParaRPr lang="en-US" sz="2400" dirty="0"/>
              </a:p>
              <a:p>
                <a:pPr lvl="0"/>
                <a:endParaRPr lang="en-US" sz="2400" dirty="0"/>
              </a:p>
              <a:p>
                <a:pPr lvl="0"/>
                <a:endParaRPr lang="en-US" sz="2400" dirty="0"/>
              </a:p>
              <a:p>
                <a:pPr lvl="0"/>
                <a:endParaRPr lang="en-US" sz="2400" dirty="0"/>
              </a:p>
              <a:p>
                <a:pPr lvl="0"/>
                <a:endParaRPr lang="en-US" sz="2400" dirty="0"/>
              </a:p>
              <a:p>
                <a:pPr lvl="0"/>
                <a:endParaRPr lang="en-US" sz="2400" dirty="0"/>
              </a:p>
              <a:p>
                <a:pPr lvl="0"/>
                <a:endParaRPr lang="en-US" sz="2400" dirty="0"/>
              </a:p>
              <a:p>
                <a:pPr marL="463550"/>
                <a:r>
                  <a:rPr lang="en-US" sz="2400" dirty="0">
                    <a:latin typeface="Verdana" panose="020B0604030504040204" pitchFamily="34" charset="0"/>
                    <a:ea typeface="Verdana" panose="020B0604030504040204" pitchFamily="34" charset="0"/>
                    <a:cs typeface="Verdana" panose="020B0604030504040204" pitchFamily="34" charset="0"/>
                  </a:rPr>
                  <a:t>Make a guess of how many cubes with a length of </a:t>
                </a:r>
                <a14:m>
                  <m:oMath xmlns:m="http://schemas.openxmlformats.org/officeDocument/2006/math">
                    <m:f>
                      <m:fPr>
                        <m:ctrlPr>
                          <a:rPr lang="en-US" sz="2400" i="1">
                            <a:latin typeface="Cambria Math" panose="02040503050406030204" pitchFamily="18" charset="0"/>
                          </a:rPr>
                        </m:ctrlPr>
                      </m:fPr>
                      <m:num>
                        <m:r>
                          <a:rPr lang="en-US" sz="2400" i="1">
                            <a:latin typeface="Cambria Math" panose="02040503050406030204" pitchFamily="18" charset="0"/>
                          </a:rPr>
                          <m:t>1</m:t>
                        </m:r>
                      </m:num>
                      <m:den>
                        <m:r>
                          <a:rPr lang="en-US" sz="2400" i="1">
                            <a:latin typeface="Cambria Math" panose="02040503050406030204" pitchFamily="18" charset="0"/>
                          </a:rPr>
                          <m:t>2</m:t>
                        </m:r>
                      </m:den>
                    </m:f>
                  </m:oMath>
                </a14:m>
                <a:r>
                  <a:rPr lang="en-US" sz="2400" dirty="0">
                    <a:latin typeface="Verdana" panose="020B0604030504040204" pitchFamily="34" charset="0"/>
                    <a:ea typeface="Verdana" panose="020B0604030504040204" pitchFamily="34" charset="0"/>
                    <a:cs typeface="Verdana" panose="020B0604030504040204" pitchFamily="34" charset="0"/>
                  </a:rPr>
                  <a:t> unit, width of </a:t>
                </a:r>
                <a14:m>
                  <m:oMath xmlns:m="http://schemas.openxmlformats.org/officeDocument/2006/math">
                    <m:f>
                      <m:fPr>
                        <m:ctrlPr>
                          <a:rPr lang="en-US" sz="2400" i="1">
                            <a:latin typeface="Cambria Math" panose="02040503050406030204" pitchFamily="18" charset="0"/>
                          </a:rPr>
                        </m:ctrlPr>
                      </m:fPr>
                      <m:num>
                        <m:r>
                          <a:rPr lang="en-US" sz="2400" i="1">
                            <a:latin typeface="Cambria Math" panose="02040503050406030204" pitchFamily="18" charset="0"/>
                          </a:rPr>
                          <m:t>1</m:t>
                        </m:r>
                      </m:num>
                      <m:den>
                        <m:r>
                          <a:rPr lang="en-US" sz="2400" i="1">
                            <a:latin typeface="Cambria Math" panose="02040503050406030204" pitchFamily="18" charset="0"/>
                          </a:rPr>
                          <m:t>2</m:t>
                        </m:r>
                      </m:den>
                    </m:f>
                  </m:oMath>
                </a14:m>
                <a:r>
                  <a:rPr lang="en-US" sz="2400" dirty="0">
                    <a:latin typeface="Verdana" panose="020B0604030504040204" pitchFamily="34" charset="0"/>
                    <a:ea typeface="Verdana" panose="020B0604030504040204" pitchFamily="34" charset="0"/>
                    <a:cs typeface="Verdana" panose="020B0604030504040204" pitchFamily="34" charset="0"/>
                  </a:rPr>
                  <a:t> ​unit, and height of </a:t>
                </a:r>
                <a14:m>
                  <m:oMath xmlns:m="http://schemas.openxmlformats.org/officeDocument/2006/math">
                    <m:f>
                      <m:fPr>
                        <m:ctrlPr>
                          <a:rPr lang="en-US" sz="2400" i="1">
                            <a:latin typeface="Cambria Math" panose="02040503050406030204" pitchFamily="18" charset="0"/>
                          </a:rPr>
                        </m:ctrlPr>
                      </m:fPr>
                      <m:num>
                        <m:r>
                          <a:rPr lang="en-US" sz="2400" i="1">
                            <a:latin typeface="Cambria Math" panose="02040503050406030204" pitchFamily="18" charset="0"/>
                          </a:rPr>
                          <m:t>1</m:t>
                        </m:r>
                      </m:num>
                      <m:den>
                        <m:r>
                          <a:rPr lang="en-US" sz="2400" i="1">
                            <a:latin typeface="Cambria Math" panose="02040503050406030204" pitchFamily="18" charset="0"/>
                          </a:rPr>
                          <m:t>2</m:t>
                        </m:r>
                      </m:den>
                    </m:f>
                  </m:oMath>
                </a14:m>
                <a:r>
                  <a:rPr lang="en-US" sz="2400" dirty="0">
                    <a:latin typeface="Verdana" panose="020B0604030504040204" pitchFamily="34" charset="0"/>
                    <a:ea typeface="Verdana" panose="020B0604030504040204" pitchFamily="34" charset="0"/>
                    <a:cs typeface="Verdana" panose="020B0604030504040204" pitchFamily="34" charset="0"/>
                  </a:rPr>
                  <a:t> unit will fit in the </a:t>
                </a:r>
                <a14:m>
                  <m:oMath xmlns:m="http://schemas.openxmlformats.org/officeDocument/2006/math">
                    <m:r>
                      <a:rPr lang="en-US" sz="2400" i="1">
                        <a:latin typeface="Cambria Math" panose="02040503050406030204" pitchFamily="18" charset="0"/>
                      </a:rPr>
                      <m:t>1</m:t>
                    </m:r>
                  </m:oMath>
                </a14:m>
                <a:r>
                  <a:rPr lang="en-US" sz="2400" dirty="0">
                    <a:latin typeface="Verdana" panose="020B0604030504040204" pitchFamily="34" charset="0"/>
                    <a:ea typeface="Verdana" panose="020B0604030504040204" pitchFamily="34" charset="0"/>
                    <a:cs typeface="Verdana" panose="020B0604030504040204" pitchFamily="34" charset="0"/>
                  </a:rPr>
                  <a:t>-unit cube.  </a:t>
                </a:r>
              </a:p>
              <a:p>
                <a:pPr lvl="0"/>
                <a:r>
                  <a:rPr lang="en-US" sz="2400" dirty="0"/>
                  <a:t> </a:t>
                </a:r>
                <a:endParaRPr dirty="0"/>
              </a:p>
            </p:txBody>
          </p:sp>
        </mc:Choice>
        <mc:Fallback xmlns="">
          <p:sp>
            <p:nvSpPr>
              <p:cNvPr id="208" name="Google Shape;208;p8"/>
              <p:cNvSpPr txBox="1">
                <a:spLocks noRot="1" noChangeAspect="1" noMove="1" noResize="1" noEditPoints="1" noAdjustHandles="1" noChangeArrowheads="1" noChangeShapeType="1" noTextEdit="1"/>
              </p:cNvSpPr>
              <p:nvPr/>
            </p:nvSpPr>
            <p:spPr>
              <a:xfrm>
                <a:off x="1130300" y="410666"/>
                <a:ext cx="10082066" cy="5218439"/>
              </a:xfrm>
              <a:prstGeom prst="rect">
                <a:avLst/>
              </a:prstGeom>
              <a:blipFill rotWithShape="0">
                <a:blip r:embed="rId3"/>
                <a:stretch>
                  <a:fillRect t="-935"/>
                </a:stretch>
              </a:blipFill>
              <a:ln>
                <a:noFill/>
              </a:ln>
            </p:spPr>
            <p:txBody>
              <a:bodyPr/>
              <a:lstStyle/>
              <a:p>
                <a:r>
                  <a:rPr lang="en-US">
                    <a:noFill/>
                  </a:rPr>
                  <a:t> </a:t>
                </a:r>
              </a:p>
            </p:txBody>
          </p:sp>
        </mc:Fallback>
      </mc:AlternateContent>
      <p:pic>
        <p:nvPicPr>
          <p:cNvPr id="9" name="Picture 8" descr="Shape, rectangle&#10;&#10;Description automatically generated">
            <a:extLst>
              <a:ext uri="{FF2B5EF4-FFF2-40B4-BE49-F238E27FC236}">
                <a16:creationId xmlns:a16="http://schemas.microsoft.com/office/drawing/2014/main" id="{810EBC0A-F1D9-9148-A5DD-6FD0D21BFE5E}"/>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3889058" y="1074182"/>
            <a:ext cx="4413885" cy="2590800"/>
          </a:xfrm>
          <a:prstGeom prst="rect">
            <a:avLst/>
          </a:prstGeom>
        </p:spPr>
      </p:pic>
      <p:sp>
        <p:nvSpPr>
          <p:cNvPr id="8" name="Google Shape;122;g104476d1465_1_17">
            <a:extLst>
              <a:ext uri="{FF2B5EF4-FFF2-40B4-BE49-F238E27FC236}">
                <a16:creationId xmlns:a16="http://schemas.microsoft.com/office/drawing/2014/main" id="{7AAE6EFC-DE21-4D65-A235-389B1E7F2F98}"/>
              </a:ext>
            </a:extLst>
          </p:cNvPr>
          <p:cNvSpPr/>
          <p:nvPr/>
        </p:nvSpPr>
        <p:spPr>
          <a:xfrm>
            <a:off x="0" y="-8101"/>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10"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5</a:t>
            </a:r>
            <a:endParaRPr i="1" dirty="0">
              <a:latin typeface="Calibri"/>
              <a:ea typeface="Calibri"/>
              <a:cs typeface="Calibri"/>
              <a:sym typeface="Calibri"/>
            </a:endParaRPr>
          </a:p>
        </p:txBody>
      </p:sp>
      <p:pic>
        <p:nvPicPr>
          <p:cNvPr id="11"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19057950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8" name="Google Shape;208;p8"/>
          <p:cNvSpPr txBox="1"/>
          <p:nvPr/>
        </p:nvSpPr>
        <p:spPr>
          <a:xfrm>
            <a:off x="1016000" y="410666"/>
            <a:ext cx="5080001" cy="2677616"/>
          </a:xfrm>
          <a:prstGeom prst="rect">
            <a:avLst/>
          </a:prstGeom>
          <a:noFill/>
          <a:ln>
            <a:noFill/>
          </a:ln>
        </p:spPr>
        <p:txBody>
          <a:bodyPr spcFirstLastPara="1" wrap="square" lIns="91425" tIns="45700" rIns="91425" bIns="45700" anchor="t" anchorCtr="0">
            <a:spAutoFit/>
          </a:bodyPr>
          <a:lstStyle/>
          <a:p>
            <a:pPr marL="460375" indent="-460375">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The figure shows a half-unit cube inside a unit cube.</a:t>
            </a:r>
          </a:p>
          <a:p>
            <a:r>
              <a:rPr lang="en-US" sz="2400" dirty="0">
                <a:latin typeface="Verdana" panose="020B0604030504040204" pitchFamily="34" charset="0"/>
                <a:ea typeface="Verdana" panose="020B0604030504040204" pitchFamily="34" charset="0"/>
                <a:cs typeface="Verdana" panose="020B0604030504040204" pitchFamily="34" charset="0"/>
              </a:rPr>
              <a:t> </a:t>
            </a:r>
          </a:p>
          <a:p>
            <a:pPr marL="460375"/>
            <a:r>
              <a:rPr lang="en-US" sz="2400" dirty="0">
                <a:latin typeface="Verdana" panose="020B0604030504040204" pitchFamily="34" charset="0"/>
                <a:ea typeface="Verdana" panose="020B0604030504040204" pitchFamily="34" charset="0"/>
                <a:cs typeface="Verdana" panose="020B0604030504040204" pitchFamily="34" charset="0"/>
              </a:rPr>
              <a:t>Explain how the figure helps you to visualize how to pack cubes that have a fractional length.   </a:t>
            </a:r>
          </a:p>
        </p:txBody>
      </p:sp>
      <p:pic>
        <p:nvPicPr>
          <p:cNvPr id="6" name="Picture 5" descr="Shape, rectangle&#10;&#10;Description automatically generated">
            <a:extLst>
              <a:ext uri="{FF2B5EF4-FFF2-40B4-BE49-F238E27FC236}">
                <a16:creationId xmlns:a16="http://schemas.microsoft.com/office/drawing/2014/main" id="{CF319BD7-77A6-2D41-8DCD-A8CF9BA71E3A}"/>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6413365" y="158762"/>
            <a:ext cx="3992970" cy="4396910"/>
          </a:xfrm>
          <a:prstGeom prst="rect">
            <a:avLst/>
          </a:prstGeom>
        </p:spPr>
      </p:pic>
      <p:sp>
        <p:nvSpPr>
          <p:cNvPr id="8" name="Google Shape;122;g104476d1465_1_17">
            <a:extLst>
              <a:ext uri="{FF2B5EF4-FFF2-40B4-BE49-F238E27FC236}">
                <a16:creationId xmlns:a16="http://schemas.microsoft.com/office/drawing/2014/main" id="{FE51BF40-7E07-47B8-BCC7-DFA862DEC231}"/>
              </a:ext>
            </a:extLst>
          </p:cNvPr>
          <p:cNvSpPr/>
          <p:nvPr/>
        </p:nvSpPr>
        <p:spPr>
          <a:xfrm>
            <a:off x="0" y="-8101"/>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9"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5</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24590043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8" name="Google Shape;208;p8"/>
          <p:cNvSpPr txBox="1"/>
          <p:nvPr/>
        </p:nvSpPr>
        <p:spPr>
          <a:xfrm>
            <a:off x="1143000" y="410665"/>
            <a:ext cx="10056666" cy="5478382"/>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startAt="3"/>
            </a:pPr>
            <a:r>
              <a:rPr lang="en-US" sz="2400" dirty="0">
                <a:latin typeface="Verdana" panose="020B0604030504040204" pitchFamily="34" charset="0"/>
                <a:ea typeface="Verdana" panose="020B0604030504040204" pitchFamily="34" charset="0"/>
                <a:cs typeface="Verdana" panose="020B0604030504040204" pitchFamily="34" charset="0"/>
              </a:rPr>
              <a:t>Three figures are shown.</a:t>
            </a:r>
          </a:p>
          <a:p>
            <a:pPr marL="457200" indent="-4572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startAt="3"/>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5988" indent="-452438">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Explain how the figures help you visualize how to pack cubes that have a fractional length.</a:t>
            </a:r>
          </a:p>
          <a:p>
            <a:r>
              <a:rPr lang="en-US" dirty="0"/>
              <a:t> </a:t>
            </a:r>
            <a:endParaRPr lang="en-US" sz="1050" dirty="0"/>
          </a:p>
        </p:txBody>
      </p:sp>
      <p:pic>
        <p:nvPicPr>
          <p:cNvPr id="6" name="Picture 5" descr="Shape&#10;&#10;Description automatically generated">
            <a:extLst>
              <a:ext uri="{FF2B5EF4-FFF2-40B4-BE49-F238E27FC236}">
                <a16:creationId xmlns:a16="http://schemas.microsoft.com/office/drawing/2014/main" id="{34822E62-FEA1-6047-A0B5-E3B68B2C252F}"/>
              </a:ext>
            </a:extLst>
          </p:cNvPr>
          <p:cNvPicPr>
            <a:picLocks noChangeAspect="1"/>
          </p:cNvPicPr>
          <p:nvPr/>
        </p:nvPicPr>
        <p:blipFill rotWithShape="1">
          <a:blip r:embed="rId3">
            <a:extLst>
              <a:ext uri="{28A0092B-C50C-407E-A947-70E740481C1C}">
                <a14:useLocalDpi xmlns:a14="http://schemas.microsoft.com/office/drawing/2010/main"/>
              </a:ext>
            </a:extLst>
          </a:blip>
          <a:srcRect l="1919" r="5500"/>
          <a:stretch/>
        </p:blipFill>
        <p:spPr bwMode="auto">
          <a:xfrm>
            <a:off x="2226974" y="1211943"/>
            <a:ext cx="7925528" cy="3164115"/>
          </a:xfrm>
          <a:prstGeom prst="rect">
            <a:avLst/>
          </a:prstGeom>
          <a:ln>
            <a:noFill/>
          </a:ln>
          <a:extLst>
            <a:ext uri="{53640926-AAD7-44d8-BBD7-CCE9431645EC}">
              <a14:shadowObscured xmlns:lc="http://schemas.openxmlformats.org/drawingml/2006/lockedCanvas" xmlns:a14="http://schemas.microsoft.com/office/drawing/2010/main" xmlns:w="http://schemas.openxmlformats.org/wordprocessingml/2006/main" xmlns:w10="urn:schemas-microsoft-com:office:word" xmlns:v="urn:schemas-microsoft-com:vml" xmlns:o="urn:schemas-microsoft-com:office:office" xmlns:mv="urn:schemas-microsoft-com:mac:vml" xmlns:mo="http://schemas.microsoft.com/office/mac/office/2008/main" xmlns="" xmlns:pic="http://schemas.openxmlformats.org/drawingml/2006/picture"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6sdtdh="http://schemas.microsoft.com/office/word/2020/wordml/sdtdatahash" xmlns:w16="http://schemas.microsoft.com/office/word/2018/wordml" xmlns:w16cid="http://schemas.microsoft.com/office/word/2016/wordml/cid" xmlns:w16cex="http://schemas.microsoft.com/office/word/2018/wordml/cex" xmlns:w15="http://schemas.microsoft.com/office/word/2012/wordml" xmlns:w14="http://schemas.microsoft.com/office/word/2010/wordml" xmlns:wp="http://schemas.openxmlformats.org/drawingml/2006/wordprocessingDrawing" xmlns:wp14="http://schemas.microsoft.com/office/word/2010/wordprocessingDrawing" xmlns:m="http://schemas.openxmlformats.org/officeDocument/2006/math" xmlns:am3d="http://schemas.microsoft.com/office/drawing/2017/model3d" xmlns:aink="http://schemas.microsoft.com/office/drawing/2016/ink" xmlns:mc="http://schemas.openxmlformats.org/markup-compatibility/2006"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cx1="http://schemas.microsoft.com/office/drawing/2015/9/8/chartex" xmlns:cx="http://schemas.microsoft.com/office/drawing/2014/chartex" xmlns:wpc="http://schemas.microsoft.com/office/word/2010/wordprocessingCanvas"/>
            </a:ext>
          </a:extLst>
        </p:spPr>
      </p:pic>
      <p:sp>
        <p:nvSpPr>
          <p:cNvPr id="8" name="Google Shape;122;g104476d1465_1_17">
            <a:extLst>
              <a:ext uri="{FF2B5EF4-FFF2-40B4-BE49-F238E27FC236}">
                <a16:creationId xmlns:a16="http://schemas.microsoft.com/office/drawing/2014/main" id="{CAB92ADE-453D-42DA-8EDB-904AA91FBC8B}"/>
              </a:ext>
            </a:extLst>
          </p:cNvPr>
          <p:cNvSpPr/>
          <p:nvPr/>
        </p:nvSpPr>
        <p:spPr>
          <a:xfrm>
            <a:off x="0" y="-8101"/>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9"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6</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31309576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08" name="Google Shape;208;p8"/>
              <p:cNvSpPr txBox="1"/>
              <p:nvPr/>
            </p:nvSpPr>
            <p:spPr>
              <a:xfrm>
                <a:off x="901700" y="410666"/>
                <a:ext cx="10539266" cy="3713797"/>
              </a:xfrm>
              <a:prstGeom prst="rect">
                <a:avLst/>
              </a:prstGeom>
              <a:noFill/>
              <a:ln>
                <a:noFill/>
              </a:ln>
            </p:spPr>
            <p:txBody>
              <a:bodyPr spcFirstLastPara="1" wrap="square" lIns="91425" tIns="45700" rIns="91425" bIns="45700" anchor="t" anchorCtr="0">
                <a:spAutoFit/>
              </a:bodyPr>
              <a:lstStyle/>
              <a:p>
                <a:pPr marL="915988" indent="-452438">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To find the number of cubes whose dimensions are </a:t>
                </a:r>
                <a14:m>
                  <m:oMath xmlns:m="http://schemas.openxmlformats.org/officeDocument/2006/math">
                    <m:f>
                      <m:fPr>
                        <m:ctrlPr>
                          <a:rPr lang="en-US" sz="2000" i="1">
                            <a:latin typeface="Cambria Math" panose="02040503050406030204" pitchFamily="18" charset="0"/>
                          </a:rPr>
                        </m:ctrlPr>
                      </m:fPr>
                      <m:num>
                        <m:r>
                          <a:rPr lang="en-US" sz="2000" i="1">
                            <a:latin typeface="Cambria Math" panose="02040503050406030204" pitchFamily="18" charset="0"/>
                          </a:rPr>
                          <m:t>1</m:t>
                        </m:r>
                      </m:num>
                      <m:den>
                        <m:r>
                          <a:rPr lang="en-US" sz="2000" i="1">
                            <a:latin typeface="Cambria Math" panose="02040503050406030204" pitchFamily="18" charset="0"/>
                          </a:rPr>
                          <m:t>2</m:t>
                        </m:r>
                      </m:den>
                    </m:f>
                  </m:oMath>
                </a14:m>
                <a:r>
                  <a:rPr lang="en-US" sz="2000" dirty="0">
                    <a:latin typeface="Verdana" panose="020B0604030504040204" pitchFamily="34" charset="0"/>
                    <a:ea typeface="Verdana" panose="020B0604030504040204" pitchFamily="34" charset="0"/>
                    <a:cs typeface="Verdana" panose="020B0604030504040204" pitchFamily="34" charset="0"/>
                  </a:rPr>
                  <a:t> unit that fit into a cube whose dimensions are </a:t>
                </a:r>
                <a14:m>
                  <m:oMath xmlns:m="http://schemas.openxmlformats.org/officeDocument/2006/math">
                    <m:r>
                      <a:rPr lang="en-US" sz="2000" i="1">
                        <a:latin typeface="Cambria Math" panose="02040503050406030204" pitchFamily="18" charset="0"/>
                      </a:rPr>
                      <m:t>1</m:t>
                    </m:r>
                  </m:oMath>
                </a14:m>
                <a:r>
                  <a:rPr lang="en-US" sz="2000" dirty="0">
                    <a:latin typeface="Verdana" panose="020B0604030504040204" pitchFamily="34" charset="0"/>
                    <a:ea typeface="Verdana" panose="020B0604030504040204" pitchFamily="34" charset="0"/>
                    <a:cs typeface="Verdana" panose="020B0604030504040204" pitchFamily="34" charset="0"/>
                  </a:rPr>
                  <a:t> unit, Derek wrote </a:t>
                </a:r>
                <a14:m>
                  <m:oMath xmlns:m="http://schemas.openxmlformats.org/officeDocument/2006/math">
                    <m:r>
                      <a:rPr lang="en-US" sz="2000" i="1">
                        <a:latin typeface="Cambria Math" panose="02040503050406030204" pitchFamily="18" charset="0"/>
                      </a:rPr>
                      <m:t>1</m:t>
                    </m:r>
                  </m:oMath>
                </a14:m>
                <a:r>
                  <a:rPr lang="en-US" sz="2000" dirty="0">
                    <a:latin typeface="Verdana" panose="020B0604030504040204" pitchFamily="34" charset="0"/>
                    <a:ea typeface="Verdana" panose="020B0604030504040204" pitchFamily="34" charset="0"/>
                    <a:cs typeface="Verdana" panose="020B0604030504040204" pitchFamily="34" charset="0"/>
                  </a:rPr>
                  <a:t> as </a:t>
                </a:r>
                <a14:m>
                  <m:oMath xmlns:m="http://schemas.openxmlformats.org/officeDocument/2006/math">
                    <m:f>
                      <m:fPr>
                        <m:ctrlPr>
                          <a:rPr lang="en-US" sz="2000" i="1">
                            <a:latin typeface="Cambria Math" panose="02040503050406030204" pitchFamily="18" charset="0"/>
                          </a:rPr>
                        </m:ctrlPr>
                      </m:fPr>
                      <m:num>
                        <m:r>
                          <a:rPr lang="en-US" sz="2000" i="1">
                            <a:latin typeface="Cambria Math" panose="02040503050406030204" pitchFamily="18" charset="0"/>
                          </a:rPr>
                          <m:t>2</m:t>
                        </m:r>
                      </m:num>
                      <m:den>
                        <m:r>
                          <a:rPr lang="en-US" sz="2000" i="1">
                            <a:latin typeface="Cambria Math" panose="02040503050406030204" pitchFamily="18" charset="0"/>
                          </a:rPr>
                          <m:t>2</m:t>
                        </m:r>
                      </m:den>
                    </m:f>
                  </m:oMath>
                </a14:m>
                <a:r>
                  <a:rPr lang="en-US" sz="2000" dirty="0">
                    <a:latin typeface="Verdana" panose="020B0604030504040204" pitchFamily="34" charset="0"/>
                    <a:ea typeface="Verdana" panose="020B0604030504040204" pitchFamily="34" charset="0"/>
                    <a:cs typeface="Verdana" panose="020B0604030504040204" pitchFamily="34" charset="0"/>
                  </a:rPr>
                  <a:t> so he could see that </a:t>
                </a:r>
                <a14:m>
                  <m:oMath xmlns:m="http://schemas.openxmlformats.org/officeDocument/2006/math">
                    <m:f>
                      <m:fPr>
                        <m:ctrlPr>
                          <a:rPr lang="en-US" sz="2000" i="1">
                            <a:latin typeface="Cambria Math" panose="02040503050406030204" pitchFamily="18" charset="0"/>
                          </a:rPr>
                        </m:ctrlPr>
                      </m:fPr>
                      <m:num>
                        <m:r>
                          <a:rPr lang="en-US" sz="2000" i="1">
                            <a:latin typeface="Cambria Math" panose="02040503050406030204" pitchFamily="18" charset="0"/>
                          </a:rPr>
                          <m:t>1</m:t>
                        </m:r>
                      </m:num>
                      <m:den>
                        <m:r>
                          <a:rPr lang="en-US" sz="2000" i="1">
                            <a:latin typeface="Cambria Math" panose="02040503050406030204" pitchFamily="18" charset="0"/>
                          </a:rPr>
                          <m:t>2</m:t>
                        </m:r>
                      </m:den>
                    </m:f>
                    <m:r>
                      <a:rPr lang="en-US" sz="2000" i="1">
                        <a:latin typeface="Cambria Math" panose="02040503050406030204" pitchFamily="18" charset="0"/>
                      </a:rPr>
                      <m:t> + </m:t>
                    </m:r>
                    <m:f>
                      <m:fPr>
                        <m:ctrlPr>
                          <a:rPr lang="en-US" sz="2000" i="1">
                            <a:latin typeface="Cambria Math" panose="02040503050406030204" pitchFamily="18" charset="0"/>
                          </a:rPr>
                        </m:ctrlPr>
                      </m:fPr>
                      <m:num>
                        <m:r>
                          <a:rPr lang="en-US" sz="2000" i="1">
                            <a:latin typeface="Cambria Math" panose="02040503050406030204" pitchFamily="18" charset="0"/>
                          </a:rPr>
                          <m:t>1</m:t>
                        </m:r>
                      </m:num>
                      <m:den>
                        <m:r>
                          <a:rPr lang="en-US" sz="2000" i="1">
                            <a:latin typeface="Cambria Math" panose="02040503050406030204" pitchFamily="18" charset="0"/>
                          </a:rPr>
                          <m:t>2</m:t>
                        </m:r>
                      </m:den>
                    </m:f>
                  </m:oMath>
                </a14:m>
                <a:r>
                  <a:rPr lang="en-US" sz="2000" dirty="0">
                    <a:latin typeface="Verdana" panose="020B0604030504040204" pitchFamily="34" charset="0"/>
                    <a:ea typeface="Verdana" panose="020B0604030504040204" pitchFamily="34" charset="0"/>
                    <a:cs typeface="Verdana" panose="020B0604030504040204" pitchFamily="34" charset="0"/>
                  </a:rPr>
                  <a:t> would add to length of </a:t>
                </a:r>
                <a14:m>
                  <m:oMath xmlns:m="http://schemas.openxmlformats.org/officeDocument/2006/math">
                    <m:f>
                      <m:fPr>
                        <m:ctrlPr>
                          <a:rPr lang="en-US" sz="2000" i="1">
                            <a:latin typeface="Cambria Math" panose="02040503050406030204" pitchFamily="18" charset="0"/>
                          </a:rPr>
                        </m:ctrlPr>
                      </m:fPr>
                      <m:num>
                        <m:r>
                          <a:rPr lang="en-US" sz="2000" i="1">
                            <a:latin typeface="Cambria Math" panose="02040503050406030204" pitchFamily="18" charset="0"/>
                          </a:rPr>
                          <m:t>2</m:t>
                        </m:r>
                      </m:num>
                      <m:den>
                        <m:r>
                          <a:rPr lang="en-US" sz="2000" i="1">
                            <a:latin typeface="Cambria Math" panose="02040503050406030204" pitchFamily="18" charset="0"/>
                          </a:rPr>
                          <m:t>2</m:t>
                        </m:r>
                      </m:den>
                    </m:f>
                  </m:oMath>
                </a14:m>
                <a:r>
                  <a:rPr lang="en-US" sz="2000" dirty="0">
                    <a:latin typeface="Verdana" panose="020B0604030504040204" pitchFamily="34" charset="0"/>
                    <a:ea typeface="Verdana" panose="020B0604030504040204" pitchFamily="34" charset="0"/>
                    <a:cs typeface="Verdana" panose="020B0604030504040204" pitchFamily="34" charset="0"/>
                  </a:rPr>
                  <a:t> or </a:t>
                </a:r>
                <a14:m>
                  <m:oMath xmlns:m="http://schemas.openxmlformats.org/officeDocument/2006/math">
                    <m:r>
                      <a:rPr lang="en-US" sz="2000" i="1">
                        <a:latin typeface="Cambria Math" panose="02040503050406030204" pitchFamily="18" charset="0"/>
                      </a:rPr>
                      <m:t>1</m:t>
                    </m:r>
                  </m:oMath>
                </a14:m>
                <a:r>
                  <a:rPr lang="en-US" sz="2000" dirty="0">
                    <a:latin typeface="Verdana" panose="020B0604030504040204" pitchFamily="34" charset="0"/>
                    <a:ea typeface="Verdana" panose="020B0604030504040204" pitchFamily="34" charset="0"/>
                    <a:cs typeface="Verdana" panose="020B0604030504040204" pitchFamily="34" charset="0"/>
                  </a:rPr>
                  <a:t>. Complete his explanation. </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915988"/>
                <a:r>
                  <a:rPr lang="en-US" sz="2000" dirty="0">
                    <a:latin typeface="Verdana" panose="020B0604030504040204" pitchFamily="34" charset="0"/>
                    <a:ea typeface="Verdana" panose="020B0604030504040204" pitchFamily="34" charset="0"/>
                    <a:cs typeface="Verdana" panose="020B0604030504040204" pitchFamily="34" charset="0"/>
                  </a:rPr>
                  <a:t>Since </a:t>
                </a:r>
                <a14:m>
                  <m:oMath xmlns:m="http://schemas.openxmlformats.org/officeDocument/2006/math">
                    <m:f>
                      <m:fPr>
                        <m:ctrlPr>
                          <a:rPr lang="en-US" sz="2000" i="1">
                            <a:latin typeface="Cambria Math" panose="02040503050406030204" pitchFamily="18" charset="0"/>
                          </a:rPr>
                        </m:ctrlPr>
                      </m:fPr>
                      <m:num>
                        <m:r>
                          <a:rPr lang="en-US" sz="2000" i="1">
                            <a:latin typeface="Cambria Math" panose="02040503050406030204" pitchFamily="18" charset="0"/>
                          </a:rPr>
                          <m:t>1</m:t>
                        </m:r>
                      </m:num>
                      <m:den>
                        <m:r>
                          <a:rPr lang="en-US" sz="2000" i="1">
                            <a:latin typeface="Cambria Math" panose="02040503050406030204" pitchFamily="18" charset="0"/>
                          </a:rPr>
                          <m:t>2</m:t>
                        </m:r>
                      </m:den>
                    </m:f>
                    <m:r>
                      <a:rPr lang="en-US" sz="2000" i="1">
                        <a:latin typeface="Cambria Math" panose="02040503050406030204" pitchFamily="18" charset="0"/>
                      </a:rPr>
                      <m:t> + </m:t>
                    </m:r>
                    <m:f>
                      <m:fPr>
                        <m:ctrlPr>
                          <a:rPr lang="en-US" sz="2000" i="1">
                            <a:latin typeface="Cambria Math" panose="02040503050406030204" pitchFamily="18" charset="0"/>
                          </a:rPr>
                        </m:ctrlPr>
                      </m:fPr>
                      <m:num>
                        <m:r>
                          <a:rPr lang="en-US" sz="2000" i="1">
                            <a:latin typeface="Cambria Math" panose="02040503050406030204" pitchFamily="18" charset="0"/>
                          </a:rPr>
                          <m:t>1</m:t>
                        </m:r>
                      </m:num>
                      <m:den>
                        <m:r>
                          <a:rPr lang="en-US" sz="2000" i="1">
                            <a:latin typeface="Cambria Math" panose="02040503050406030204" pitchFamily="18" charset="0"/>
                          </a:rPr>
                          <m:t>2</m:t>
                        </m:r>
                      </m:den>
                    </m:f>
                    <m:r>
                      <a:rPr lang="en-US" sz="2000" i="1">
                        <a:latin typeface="Cambria Math" panose="02040503050406030204" pitchFamily="18" charset="0"/>
                      </a:rPr>
                      <m:t> = </m:t>
                    </m:r>
                    <m:f>
                      <m:fPr>
                        <m:ctrlPr>
                          <a:rPr lang="en-US" sz="2000" i="1">
                            <a:latin typeface="Cambria Math" panose="02040503050406030204" pitchFamily="18" charset="0"/>
                          </a:rPr>
                        </m:ctrlPr>
                      </m:fPr>
                      <m:num>
                        <m:r>
                          <a:rPr lang="en-US" sz="2000" i="1">
                            <a:latin typeface="Cambria Math" panose="02040503050406030204" pitchFamily="18" charset="0"/>
                          </a:rPr>
                          <m:t>2</m:t>
                        </m:r>
                      </m:num>
                      <m:den>
                        <m:r>
                          <a:rPr lang="en-US" sz="2000" i="1">
                            <a:latin typeface="Cambria Math" panose="02040503050406030204" pitchFamily="18" charset="0"/>
                          </a:rPr>
                          <m:t>2</m:t>
                        </m:r>
                      </m:den>
                    </m:f>
                  </m:oMath>
                </a14:m>
                <a:r>
                  <a:rPr lang="en-US" sz="2000" dirty="0">
                    <a:latin typeface="Verdana" panose="020B0604030504040204" pitchFamily="34" charset="0"/>
                    <a:ea typeface="Verdana" panose="020B0604030504040204" pitchFamily="34" charset="0"/>
                    <a:cs typeface="Verdana" panose="020B0604030504040204" pitchFamily="34" charset="0"/>
                  </a:rPr>
                  <a:t> , or </a:t>
                </a:r>
                <a14:m>
                  <m:oMath xmlns:m="http://schemas.openxmlformats.org/officeDocument/2006/math">
                    <m:r>
                      <a:rPr lang="en-US" sz="2000" i="1">
                        <a:latin typeface="Cambria Math" panose="02040503050406030204" pitchFamily="18" charset="0"/>
                      </a:rPr>
                      <m:t>1</m:t>
                    </m:r>
                  </m:oMath>
                </a14:m>
                <a:r>
                  <a:rPr lang="en-US" sz="2000" dirty="0">
                    <a:latin typeface="Verdana" panose="020B0604030504040204" pitchFamily="34" charset="0"/>
                    <a:ea typeface="Verdana" panose="020B0604030504040204" pitchFamily="34" charset="0"/>
                    <a:cs typeface="Verdana" panose="020B0604030504040204" pitchFamily="34" charset="0"/>
                  </a:rPr>
                  <a:t>, I need _____ cubes for the length, ______ cubes for the width, and ______ cubes for the height.   </a:t>
                </a: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915988"/>
                <a:r>
                  <a:rPr lang="en-US" sz="2000" dirty="0">
                    <a:latin typeface="Verdana" panose="020B0604030504040204" pitchFamily="34" charset="0"/>
                    <a:ea typeface="Verdana" panose="020B0604030504040204" pitchFamily="34" charset="0"/>
                    <a:cs typeface="Verdana" panose="020B0604030504040204" pitchFamily="34" charset="0"/>
                  </a:rPr>
                  <a:t>Since _____ </a:t>
                </a:r>
                <a14:m>
                  <m:oMath xmlns:m="http://schemas.openxmlformats.org/officeDocument/2006/math">
                    <m:r>
                      <a:rPr lang="en-US" sz="2000" i="1">
                        <a:latin typeface="Cambria Math" panose="02040503050406030204" pitchFamily="18" charset="0"/>
                      </a:rPr>
                      <m:t>×</m:t>
                    </m:r>
                  </m:oMath>
                </a14:m>
                <a:r>
                  <a:rPr lang="en-US" sz="2000" dirty="0">
                    <a:latin typeface="Verdana" panose="020B0604030504040204" pitchFamily="34" charset="0"/>
                    <a:ea typeface="Verdana" panose="020B0604030504040204" pitchFamily="34" charset="0"/>
                    <a:cs typeface="Verdana" panose="020B0604030504040204" pitchFamily="34" charset="0"/>
                  </a:rPr>
                  <a:t> _____</a:t>
                </a:r>
                <a14:m>
                  <m:oMath xmlns:m="http://schemas.openxmlformats.org/officeDocument/2006/math">
                    <m:r>
                      <a:rPr lang="en-US" sz="2000" i="1">
                        <a:latin typeface="Cambria Math" panose="02040503050406030204" pitchFamily="18" charset="0"/>
                      </a:rPr>
                      <m:t>×</m:t>
                    </m:r>
                  </m:oMath>
                </a14:m>
                <a:r>
                  <a:rPr lang="en-US" sz="2000" dirty="0">
                    <a:latin typeface="Verdana" panose="020B0604030504040204" pitchFamily="34" charset="0"/>
                    <a:ea typeface="Verdana" panose="020B0604030504040204" pitchFamily="34" charset="0"/>
                    <a:cs typeface="Verdana" panose="020B0604030504040204" pitchFamily="34" charset="0"/>
                  </a:rPr>
                  <a:t> _____ </a:t>
                </a:r>
                <a14:m>
                  <m:oMath xmlns:m="http://schemas.openxmlformats.org/officeDocument/2006/math">
                    <m:r>
                      <a:rPr lang="en-US" sz="2000" i="1">
                        <a:latin typeface="Cambria Math" panose="02040503050406030204" pitchFamily="18" charset="0"/>
                      </a:rPr>
                      <m:t>=8</m:t>
                    </m:r>
                  </m:oMath>
                </a14:m>
                <a:r>
                  <a:rPr lang="en-US" sz="2000" dirty="0">
                    <a:latin typeface="Verdana" panose="020B0604030504040204" pitchFamily="34" charset="0"/>
                    <a:ea typeface="Verdana" panose="020B0604030504040204" pitchFamily="34" charset="0"/>
                    <a:cs typeface="Verdana" panose="020B0604030504040204" pitchFamily="34" charset="0"/>
                  </a:rPr>
                  <a:t> I know that I need </a:t>
                </a:r>
                <a14:m>
                  <m:oMath xmlns:m="http://schemas.openxmlformats.org/officeDocument/2006/math">
                    <m:r>
                      <a:rPr lang="en-US" sz="2000" i="1">
                        <a:latin typeface="Cambria Math" panose="02040503050406030204" pitchFamily="18" charset="0"/>
                      </a:rPr>
                      <m:t>8</m:t>
                    </m:r>
                  </m:oMath>
                </a14:m>
                <a:r>
                  <a:rPr lang="en-US" sz="2000" dirty="0">
                    <a:latin typeface="Verdana" panose="020B0604030504040204" pitchFamily="34" charset="0"/>
                    <a:ea typeface="Verdana" panose="020B0604030504040204" pitchFamily="34" charset="0"/>
                    <a:cs typeface="Verdana" panose="020B0604030504040204" pitchFamily="34" charset="0"/>
                  </a:rPr>
                  <a:t> cubes with dimensions </a:t>
                </a:r>
                <a14:m>
                  <m:oMath xmlns:m="http://schemas.openxmlformats.org/officeDocument/2006/math">
                    <m:f>
                      <m:fPr>
                        <m:ctrlPr>
                          <a:rPr lang="en-US" sz="2000" i="1">
                            <a:latin typeface="Cambria Math" panose="02040503050406030204" pitchFamily="18" charset="0"/>
                          </a:rPr>
                        </m:ctrlPr>
                      </m:fPr>
                      <m:num>
                        <m:r>
                          <a:rPr lang="en-US" sz="2000" i="1">
                            <a:latin typeface="Cambria Math" panose="02040503050406030204" pitchFamily="18" charset="0"/>
                          </a:rPr>
                          <m:t>1</m:t>
                        </m:r>
                      </m:num>
                      <m:den>
                        <m:r>
                          <a:rPr lang="en-US" sz="2000" i="1">
                            <a:latin typeface="Cambria Math" panose="02040503050406030204" pitchFamily="18" charset="0"/>
                          </a:rPr>
                          <m:t>2</m:t>
                        </m:r>
                      </m:den>
                    </m:f>
                  </m:oMath>
                </a14:m>
                <a:r>
                  <a:rPr lang="en-US" sz="2000" dirty="0">
                    <a:latin typeface="Verdana" panose="020B0604030504040204" pitchFamily="34" charset="0"/>
                    <a:ea typeface="Verdana" panose="020B0604030504040204" pitchFamily="34" charset="0"/>
                    <a:cs typeface="Verdana" panose="020B0604030504040204" pitchFamily="34" charset="0"/>
                  </a:rPr>
                  <a:t> unit to fit into one </a:t>
                </a:r>
                <a14:m>
                  <m:oMath xmlns:m="http://schemas.openxmlformats.org/officeDocument/2006/math">
                    <m:r>
                      <a:rPr lang="en-US" sz="2000" i="1">
                        <a:latin typeface="Cambria Math" panose="02040503050406030204" pitchFamily="18" charset="0"/>
                      </a:rPr>
                      <m:t>1</m:t>
                    </m:r>
                  </m:oMath>
                </a14:m>
                <a:r>
                  <a:rPr lang="en-US" sz="2000" dirty="0">
                    <a:latin typeface="Verdana" panose="020B0604030504040204" pitchFamily="34" charset="0"/>
                    <a:ea typeface="Verdana" panose="020B0604030504040204" pitchFamily="34" charset="0"/>
                    <a:cs typeface="Verdana" panose="020B0604030504040204" pitchFamily="34" charset="0"/>
                  </a:rPr>
                  <a:t>-unit cube.</a:t>
                </a:r>
              </a:p>
              <a:p>
                <a:r>
                  <a:rPr lang="en-US" dirty="0"/>
                  <a:t> </a:t>
                </a:r>
              </a:p>
            </p:txBody>
          </p:sp>
        </mc:Choice>
        <mc:Fallback xmlns="">
          <p:sp>
            <p:nvSpPr>
              <p:cNvPr id="208" name="Google Shape;208;p8"/>
              <p:cNvSpPr txBox="1">
                <a:spLocks noRot="1" noChangeAspect="1" noMove="1" noResize="1" noEditPoints="1" noAdjustHandles="1" noChangeArrowheads="1" noChangeShapeType="1" noTextEdit="1"/>
              </p:cNvSpPr>
              <p:nvPr/>
            </p:nvSpPr>
            <p:spPr>
              <a:xfrm>
                <a:off x="901700" y="410666"/>
                <a:ext cx="10539266" cy="3713797"/>
              </a:xfrm>
              <a:prstGeom prst="rect">
                <a:avLst/>
              </a:prstGeom>
              <a:blipFill rotWithShape="0">
                <a:blip r:embed="rId3"/>
                <a:stretch>
                  <a:fillRect/>
                </a:stretch>
              </a:blipFill>
              <a:ln>
                <a:noFill/>
              </a:ln>
            </p:spPr>
            <p:txBody>
              <a:bodyPr/>
              <a:lstStyle/>
              <a:p>
                <a:r>
                  <a:rPr lang="en-US">
                    <a:noFill/>
                  </a:rPr>
                  <a:t> </a:t>
                </a:r>
              </a:p>
            </p:txBody>
          </p:sp>
        </mc:Fallback>
      </mc:AlternateContent>
      <p:pic>
        <p:nvPicPr>
          <p:cNvPr id="7" name="Picture 6" descr="Shape&#10;&#10;Description automatically generated">
            <a:extLst>
              <a:ext uri="{FF2B5EF4-FFF2-40B4-BE49-F238E27FC236}">
                <a16:creationId xmlns:a16="http://schemas.microsoft.com/office/drawing/2014/main" id="{044D8F87-5911-FA46-9A49-ACBAE2691F50}"/>
              </a:ext>
            </a:extLst>
          </p:cNvPr>
          <p:cNvPicPr>
            <a:picLocks noChangeAspect="1"/>
          </p:cNvPicPr>
          <p:nvPr/>
        </p:nvPicPr>
        <p:blipFill rotWithShape="1">
          <a:blip r:embed="rId4">
            <a:extLst>
              <a:ext uri="{28A0092B-C50C-407E-A947-70E740481C1C}">
                <a14:useLocalDpi xmlns:a14="http://schemas.microsoft.com/office/drawing/2010/main"/>
              </a:ext>
            </a:extLst>
          </a:blip>
          <a:srcRect l="1919" r="5500"/>
          <a:stretch/>
        </p:blipFill>
        <p:spPr bwMode="auto">
          <a:xfrm>
            <a:off x="3017096" y="4416233"/>
            <a:ext cx="5614655" cy="2241543"/>
          </a:xfrm>
          <a:prstGeom prst="rect">
            <a:avLst/>
          </a:prstGeom>
          <a:ln>
            <a:noFill/>
          </a:ln>
          <a:extLst>
            <a:ext uri="{53640926-AAD7-44d8-BBD7-CCE9431645EC}">
              <a14:shadowObscured xmlns:lc="http://schemas.openxmlformats.org/drawingml/2006/lockedCanvas" xmlns:a14="http://schemas.microsoft.com/office/drawing/2010/main" xmlns:w="http://schemas.openxmlformats.org/wordprocessingml/2006/main" xmlns:w10="urn:schemas-microsoft-com:office:word" xmlns:v="urn:schemas-microsoft-com:vml" xmlns:o="urn:schemas-microsoft-com:office:office" xmlns:mv="urn:schemas-microsoft-com:mac:vml" xmlns:mo="http://schemas.microsoft.com/office/mac/office/2008/main" xmlns="" xmlns:pic="http://schemas.openxmlformats.org/drawingml/2006/picture"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6sdtdh="http://schemas.microsoft.com/office/word/2020/wordml/sdtdatahash" xmlns:w16="http://schemas.microsoft.com/office/word/2018/wordml" xmlns:w16cid="http://schemas.microsoft.com/office/word/2016/wordml/cid" xmlns:w16cex="http://schemas.microsoft.com/office/word/2018/wordml/cex" xmlns:w15="http://schemas.microsoft.com/office/word/2012/wordml" xmlns:w14="http://schemas.microsoft.com/office/word/2010/wordml" xmlns:wp="http://schemas.openxmlformats.org/drawingml/2006/wordprocessingDrawing" xmlns:wp14="http://schemas.microsoft.com/office/word/2010/wordprocessingDrawing" xmlns:m="http://schemas.openxmlformats.org/officeDocument/2006/math" xmlns:am3d="http://schemas.microsoft.com/office/drawing/2017/model3d" xmlns:aink="http://schemas.microsoft.com/office/drawing/2016/ink" xmlns:mc="http://schemas.openxmlformats.org/markup-compatibility/2006"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cx1="http://schemas.microsoft.com/office/drawing/2015/9/8/chartex" xmlns:cx="http://schemas.microsoft.com/office/drawing/2014/chartex" xmlns:wpc="http://schemas.microsoft.com/office/word/2010/wordprocessingCanvas"/>
            </a:ext>
          </a:extLst>
        </p:spPr>
      </p:pic>
      <p:sp>
        <p:nvSpPr>
          <p:cNvPr id="9" name="Google Shape;122;g104476d1465_1_17">
            <a:extLst>
              <a:ext uri="{FF2B5EF4-FFF2-40B4-BE49-F238E27FC236}">
                <a16:creationId xmlns:a16="http://schemas.microsoft.com/office/drawing/2014/main" id="{5076BCBA-2787-4EF8-A10C-A01B65BBFC6D}"/>
              </a:ext>
            </a:extLst>
          </p:cNvPr>
          <p:cNvSpPr/>
          <p:nvPr/>
        </p:nvSpPr>
        <p:spPr>
          <a:xfrm>
            <a:off x="-24329" y="-8101"/>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10"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6</a:t>
            </a:r>
            <a:endParaRPr i="1" dirty="0">
              <a:latin typeface="Calibri"/>
              <a:ea typeface="Calibri"/>
              <a:cs typeface="Calibri"/>
              <a:sym typeface="Calibri"/>
            </a:endParaRPr>
          </a:p>
        </p:txBody>
      </p:sp>
      <p:pic>
        <p:nvPicPr>
          <p:cNvPr id="11"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440950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7" name="Google Shape;307;p18"/>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ct val="96969"/>
            </a:pPr>
            <a:r>
              <a:rPr lang="en-US" sz="5500" b="1">
                <a:solidFill>
                  <a:srgbClr val="54B5D1"/>
                </a:solidFill>
                <a:latin typeface="Verdana"/>
                <a:ea typeface="Verdana"/>
                <a:cs typeface="Verdana"/>
                <a:sym typeface="Verdana"/>
              </a:rPr>
              <a:t>Guided Instruction</a:t>
            </a:r>
            <a:endParaRPr sz="5100" b="1">
              <a:solidFill>
                <a:srgbClr val="54B5D1"/>
              </a:solidFill>
              <a:latin typeface="Verdana"/>
              <a:ea typeface="Verdana"/>
              <a:cs typeface="Verdana"/>
              <a:sym typeface="Verdana"/>
            </a:endParaRPr>
          </a:p>
        </p:txBody>
      </p:sp>
      <p:pic>
        <p:nvPicPr>
          <p:cNvPr id="308" name="Google Shape;308;p18"/>
          <p:cNvPicPr preferRelativeResize="0"/>
          <p:nvPr/>
        </p:nvPicPr>
        <p:blipFill rotWithShape="1">
          <a:blip r:embed="rId3">
            <a:alphaModFix/>
          </a:blip>
          <a:srcRect/>
          <a:stretch/>
        </p:blipFill>
        <p:spPr>
          <a:xfrm>
            <a:off x="4519075" y="2849920"/>
            <a:ext cx="1145792" cy="1158150"/>
          </a:xfrm>
          <a:prstGeom prst="rect">
            <a:avLst/>
          </a:prstGeom>
          <a:noFill/>
          <a:ln>
            <a:noFill/>
          </a:ln>
          <a:effectLst>
            <a:outerShdw blurRad="50800" dist="38100" dir="2700000" algn="tl" rotWithShape="0">
              <a:srgbClr val="000000">
                <a:alpha val="40000"/>
              </a:srgbClr>
            </a:outerShdw>
          </a:effectLst>
        </p:spPr>
      </p:pic>
      <p:sp>
        <p:nvSpPr>
          <p:cNvPr id="8" name="Google Shape;155;g104476d1465_1_39">
            <a:extLst>
              <a:ext uri="{FF2B5EF4-FFF2-40B4-BE49-F238E27FC236}">
                <a16:creationId xmlns:a16="http://schemas.microsoft.com/office/drawing/2014/main" id="{1550BA11-0178-45CC-A973-A98FAB7B70B0}"/>
              </a:ext>
            </a:extLst>
          </p:cNvPr>
          <p:cNvSpPr/>
          <p:nvPr/>
        </p:nvSpPr>
        <p:spPr>
          <a:xfrm>
            <a:off x="225" y="-8101"/>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9"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6</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6" name="Google Shape;316;p19"/>
          <p:cNvSpPr txBox="1"/>
          <p:nvPr/>
        </p:nvSpPr>
        <p:spPr>
          <a:xfrm>
            <a:off x="1453288" y="60326"/>
            <a:ext cx="8019300" cy="13257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3600" b="1" dirty="0">
                <a:solidFill>
                  <a:srgbClr val="54B5D1"/>
                </a:solidFill>
                <a:latin typeface="Verdana"/>
                <a:ea typeface="Verdana"/>
                <a:cs typeface="Verdana"/>
                <a:sym typeface="Verdana"/>
              </a:rPr>
              <a:t>8.1.4 Guided Instruction: Volume with Fractional Cubes</a:t>
            </a:r>
            <a:endParaRPr dirty="0"/>
          </a:p>
        </p:txBody>
      </p:sp>
      <p:pic>
        <p:nvPicPr>
          <p:cNvPr id="317" name="Google Shape;317;p19"/>
          <p:cNvPicPr preferRelativeResize="0"/>
          <p:nvPr/>
        </p:nvPicPr>
        <p:blipFill rotWithShape="1">
          <a:blip r:embed="rId3">
            <a:alphaModFix/>
          </a:blip>
          <a:srcRect/>
          <a:stretch/>
        </p:blipFill>
        <p:spPr>
          <a:xfrm>
            <a:off x="705988" y="267590"/>
            <a:ext cx="747300" cy="747300"/>
          </a:xfrm>
          <a:prstGeom prst="rect">
            <a:avLst/>
          </a:prstGeom>
          <a:noFill/>
          <a:ln>
            <a:noFill/>
          </a:ln>
          <a:effectLst>
            <a:outerShdw blurRad="50800" dist="38100" dir="2700000" algn="tl" rotWithShape="0">
              <a:srgbClr val="000000">
                <a:alpha val="40000"/>
              </a:srgbClr>
            </a:outerShdw>
          </a:effectLst>
        </p:spPr>
      </p:pic>
      <mc:AlternateContent xmlns:mc="http://schemas.openxmlformats.org/markup-compatibility/2006" xmlns:a14="http://schemas.microsoft.com/office/drawing/2010/main">
        <mc:Choice Requires="a14">
          <p:sp>
            <p:nvSpPr>
              <p:cNvPr id="319" name="Google Shape;319;p19"/>
              <p:cNvSpPr txBox="1"/>
              <p:nvPr/>
            </p:nvSpPr>
            <p:spPr>
              <a:xfrm>
                <a:off x="1453288" y="1386026"/>
                <a:ext cx="4642712" cy="3418331"/>
              </a:xfrm>
              <a:prstGeom prst="rect">
                <a:avLst/>
              </a:prstGeom>
              <a:noFill/>
              <a:ln>
                <a:noFill/>
              </a:ln>
            </p:spPr>
            <p:txBody>
              <a:bodyPr spcFirstLastPara="1" wrap="square" lIns="91425" tIns="45700" rIns="91425" bIns="45700" anchor="t" anchorCtr="0">
                <a:spAutoFit/>
              </a:bodyPr>
              <a:lstStyle/>
              <a:p>
                <a:r>
                  <a:rPr lang="en-US" sz="2200" dirty="0">
                    <a:latin typeface="Verdana" panose="020B0604030504040204" pitchFamily="34" charset="0"/>
                    <a:ea typeface="Verdana" panose="020B0604030504040204" pitchFamily="34" charset="0"/>
                    <a:cs typeface="Verdana" panose="020B0604030504040204" pitchFamily="34" charset="0"/>
                  </a:rPr>
                  <a:t>The cube shown is a scale model of a moving box.</a:t>
                </a:r>
              </a:p>
              <a:p>
                <a:r>
                  <a:rPr lang="en-US" sz="2200" i="1" dirty="0">
                    <a:latin typeface="Verdana" panose="020B0604030504040204" pitchFamily="34" charset="0"/>
                    <a:ea typeface="Verdana" panose="020B0604030504040204" pitchFamily="34" charset="0"/>
                    <a:cs typeface="Verdana" panose="020B0604030504040204" pitchFamily="34" charset="0"/>
                  </a:rPr>
                  <a:t> </a:t>
                </a:r>
                <a:endParaRPr lang="en-US" sz="2200" dirty="0">
                  <a:latin typeface="Verdana" panose="020B0604030504040204" pitchFamily="34" charset="0"/>
                  <a:ea typeface="Verdana" panose="020B0604030504040204" pitchFamily="34" charset="0"/>
                  <a:cs typeface="Verdana" panose="020B0604030504040204" pitchFamily="34" charset="0"/>
                </a:endParaRPr>
              </a:p>
              <a:p>
                <a:pPr marL="463550" indent="-463550">
                  <a:buFont typeface="+mj-lt"/>
                  <a:buAutoNum type="arabicPeriod"/>
                </a:pPr>
                <a:r>
                  <a:rPr lang="en-US" sz="2200" dirty="0">
                    <a:latin typeface="Verdana" panose="020B0604030504040204" pitchFamily="34" charset="0"/>
                    <a:ea typeface="Verdana" panose="020B0604030504040204" pitchFamily="34" charset="0"/>
                    <a:cs typeface="Verdana" panose="020B0604030504040204" pitchFamily="34" charset="0"/>
                  </a:rPr>
                  <a:t>The edges of the box are </a:t>
                </a:r>
                <a14:m>
                  <m:oMath xmlns:m="http://schemas.openxmlformats.org/officeDocument/2006/math">
                    <m:r>
                      <a:rPr lang="en-US" sz="2200" i="1">
                        <a:latin typeface="Cambria Math" panose="02040503050406030204" pitchFamily="18" charset="0"/>
                      </a:rPr>
                      <m:t>1</m:t>
                    </m:r>
                    <m:f>
                      <m:fPr>
                        <m:ctrlPr>
                          <a:rPr lang="en-US" sz="2200" i="1">
                            <a:latin typeface="Cambria Math" panose="02040503050406030204" pitchFamily="18" charset="0"/>
                          </a:rPr>
                        </m:ctrlPr>
                      </m:fPr>
                      <m:num>
                        <m:r>
                          <a:rPr lang="en-US" sz="2200" i="1">
                            <a:latin typeface="Cambria Math" panose="02040503050406030204" pitchFamily="18" charset="0"/>
                          </a:rPr>
                          <m:t>1</m:t>
                        </m:r>
                      </m:num>
                      <m:den>
                        <m:r>
                          <a:rPr lang="en-US" sz="2200" i="1">
                            <a:latin typeface="Cambria Math" panose="02040503050406030204" pitchFamily="18" charset="0"/>
                          </a:rPr>
                          <m:t>2</m:t>
                        </m:r>
                      </m:den>
                    </m:f>
                  </m:oMath>
                </a14:m>
                <a:r>
                  <a:rPr lang="en-US" sz="2200" dirty="0">
                    <a:latin typeface="Verdana" panose="020B0604030504040204" pitchFamily="34" charset="0"/>
                    <a:ea typeface="Verdana" panose="020B0604030504040204" pitchFamily="34" charset="0"/>
                    <a:cs typeface="Verdana" panose="020B0604030504040204" pitchFamily="34" charset="0"/>
                  </a:rPr>
                  <a:t> feet long. How many cubes, whose dimensions are </a:t>
                </a:r>
                <a14:m>
                  <m:oMath xmlns:m="http://schemas.openxmlformats.org/officeDocument/2006/math">
                    <m:f>
                      <m:fPr>
                        <m:ctrlPr>
                          <a:rPr lang="en-US" sz="2200" i="1">
                            <a:latin typeface="Cambria Math" panose="02040503050406030204" pitchFamily="18" charset="0"/>
                          </a:rPr>
                        </m:ctrlPr>
                      </m:fPr>
                      <m:num>
                        <m:r>
                          <a:rPr lang="en-US" sz="2200" i="1">
                            <a:latin typeface="Cambria Math" panose="02040503050406030204" pitchFamily="18" charset="0"/>
                          </a:rPr>
                          <m:t>1</m:t>
                        </m:r>
                      </m:num>
                      <m:den>
                        <m:r>
                          <a:rPr lang="en-US" sz="2200" i="1">
                            <a:latin typeface="Cambria Math" panose="02040503050406030204" pitchFamily="18" charset="0"/>
                          </a:rPr>
                          <m:t>2</m:t>
                        </m:r>
                      </m:den>
                    </m:f>
                  </m:oMath>
                </a14:m>
                <a:r>
                  <a:rPr lang="en-US" sz="2200" dirty="0">
                    <a:latin typeface="Verdana" panose="020B0604030504040204" pitchFamily="34" charset="0"/>
                    <a:ea typeface="Verdana" panose="020B0604030504040204" pitchFamily="34" charset="0"/>
                    <a:cs typeface="Verdana" panose="020B0604030504040204" pitchFamily="34" charset="0"/>
                  </a:rPr>
                  <a:t> feet, can fit inside each dimension of the moving box?</a:t>
                </a:r>
              </a:p>
            </p:txBody>
          </p:sp>
        </mc:Choice>
        <mc:Fallback xmlns="">
          <p:sp>
            <p:nvSpPr>
              <p:cNvPr id="319" name="Google Shape;319;p19"/>
              <p:cNvSpPr txBox="1">
                <a:spLocks noRot="1" noChangeAspect="1" noMove="1" noResize="1" noEditPoints="1" noAdjustHandles="1" noChangeArrowheads="1" noChangeShapeType="1" noTextEdit="1"/>
              </p:cNvSpPr>
              <p:nvPr/>
            </p:nvSpPr>
            <p:spPr>
              <a:xfrm>
                <a:off x="1453288" y="1386026"/>
                <a:ext cx="4642712" cy="3418331"/>
              </a:xfrm>
              <a:prstGeom prst="rect">
                <a:avLst/>
              </a:prstGeom>
              <a:blipFill rotWithShape="0">
                <a:blip r:embed="rId4"/>
                <a:stretch>
                  <a:fillRect l="-1706" t="-891" r="-2362" b="-2852"/>
                </a:stretch>
              </a:blipFill>
              <a:ln>
                <a:noFill/>
              </a:ln>
            </p:spPr>
            <p:txBody>
              <a:bodyPr/>
              <a:lstStyle/>
              <a:p>
                <a:r>
                  <a:rPr lang="en-US">
                    <a:noFill/>
                  </a:rPr>
                  <a:t> </a:t>
                </a:r>
              </a:p>
            </p:txBody>
          </p:sp>
        </mc:Fallback>
      </mc:AlternateContent>
      <p:pic>
        <p:nvPicPr>
          <p:cNvPr id="11" name="Picture 10" descr="Shape, rectangle&#10;&#10;Description automatically generated">
            <a:extLst>
              <a:ext uri="{FF2B5EF4-FFF2-40B4-BE49-F238E27FC236}">
                <a16:creationId xmlns:a16="http://schemas.microsoft.com/office/drawing/2014/main" id="{9292802A-C7D3-F946-AB32-E28F5A694685}"/>
              </a:ext>
            </a:extLst>
          </p:cNvPr>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6529500" y="1073631"/>
            <a:ext cx="3257594" cy="3757785"/>
          </a:xfrm>
          <a:prstGeom prst="rect">
            <a:avLst/>
          </a:prstGeom>
        </p:spPr>
      </p:pic>
      <p:sp>
        <p:nvSpPr>
          <p:cNvPr id="10" name="Google Shape;122;g104476d1465_1_17">
            <a:extLst>
              <a:ext uri="{FF2B5EF4-FFF2-40B4-BE49-F238E27FC236}">
                <a16:creationId xmlns:a16="http://schemas.microsoft.com/office/drawing/2014/main" id="{26D46D32-F2E5-4601-8A56-3872839183EA}"/>
              </a:ext>
            </a:extLst>
          </p:cNvPr>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12"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6</a:t>
            </a:r>
            <a:endParaRPr i="1" dirty="0">
              <a:latin typeface="Calibri"/>
              <a:ea typeface="Calibri"/>
              <a:cs typeface="Calibri"/>
              <a:sym typeface="Calibri"/>
            </a:endParaRPr>
          </a:p>
        </p:txBody>
      </p:sp>
      <p:pic>
        <p:nvPicPr>
          <p:cNvPr id="13" name="Google Shape;126;g104476d1465_1_17"/>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8" name="Google Shape;328;p20"/>
          <p:cNvSpPr txBox="1"/>
          <p:nvPr/>
        </p:nvSpPr>
        <p:spPr>
          <a:xfrm>
            <a:off x="1079500" y="288746"/>
            <a:ext cx="10033000" cy="769401"/>
          </a:xfrm>
          <a:prstGeom prst="rect">
            <a:avLst/>
          </a:prstGeom>
          <a:noFill/>
          <a:ln>
            <a:noFill/>
          </a:ln>
        </p:spPr>
        <p:txBody>
          <a:bodyPr spcFirstLastPara="1" wrap="square" lIns="91425" tIns="45700" rIns="91425" bIns="45700" anchor="t" anchorCtr="0">
            <a:spAutoFit/>
          </a:bodyPr>
          <a:lstStyle/>
          <a:p>
            <a:pPr marL="463550" indent="-463550">
              <a:buFont typeface="+mj-lt"/>
              <a:buAutoNum type="arabicPeriod" startAt="2"/>
            </a:pPr>
            <a:r>
              <a:rPr lang="en-US" sz="2200" dirty="0">
                <a:latin typeface="Verdana" panose="020B0604030504040204" pitchFamily="34" charset="0"/>
                <a:ea typeface="Verdana" panose="020B0604030504040204" pitchFamily="34" charset="0"/>
                <a:cs typeface="Verdana" panose="020B0604030504040204" pitchFamily="34" charset="0"/>
              </a:rPr>
              <a:t>Sketch the cubes that can fit inside each dimension of  the moving box.</a:t>
            </a:r>
          </a:p>
        </p:txBody>
      </p:sp>
      <p:pic>
        <p:nvPicPr>
          <p:cNvPr id="6" name="Picture 5" descr="Shape, rectangle&#10;&#10;Description automatically generated">
            <a:extLst>
              <a:ext uri="{FF2B5EF4-FFF2-40B4-BE49-F238E27FC236}">
                <a16:creationId xmlns:a16="http://schemas.microsoft.com/office/drawing/2014/main" id="{BD27E6CE-0F16-A14C-95D0-CC7FC99F1F19}"/>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3715602" y="1058146"/>
            <a:ext cx="4760796" cy="5490840"/>
          </a:xfrm>
          <a:prstGeom prst="rect">
            <a:avLst/>
          </a:prstGeom>
        </p:spPr>
      </p:pic>
      <p:sp>
        <p:nvSpPr>
          <p:cNvPr id="8" name="Google Shape;122;g104476d1465_1_17">
            <a:extLst>
              <a:ext uri="{FF2B5EF4-FFF2-40B4-BE49-F238E27FC236}">
                <a16:creationId xmlns:a16="http://schemas.microsoft.com/office/drawing/2014/main" id="{1851E6A6-9D2D-4285-8A09-AEE787A22B87}"/>
              </a:ext>
            </a:extLst>
          </p:cNvPr>
          <p:cNvSpPr/>
          <p:nvPr/>
        </p:nvSpPr>
        <p:spPr>
          <a:xfrm>
            <a:off x="0" y="-8101"/>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9"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6</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28" name="Google Shape;328;p20"/>
              <p:cNvSpPr txBox="1"/>
              <p:nvPr/>
            </p:nvSpPr>
            <p:spPr>
              <a:xfrm>
                <a:off x="977900" y="288745"/>
                <a:ext cx="10236200" cy="834675"/>
              </a:xfrm>
              <a:prstGeom prst="rect">
                <a:avLst/>
              </a:prstGeom>
              <a:noFill/>
              <a:ln>
                <a:noFill/>
              </a:ln>
            </p:spPr>
            <p:txBody>
              <a:bodyPr spcFirstLastPara="1" wrap="square" lIns="91425" tIns="45700" rIns="91425" bIns="45700" anchor="t" anchorCtr="0">
                <a:spAutoFit/>
              </a:bodyPr>
              <a:lstStyle/>
              <a:p>
                <a:pPr marL="460375" indent="-460375">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Since </a:t>
                </a:r>
                <a14:m>
                  <m:oMath xmlns:m="http://schemas.openxmlformats.org/officeDocument/2006/math">
                    <m:r>
                      <a:rPr lang="en-US" sz="2000" i="1">
                        <a:latin typeface="Cambria Math" panose="02040503050406030204" pitchFamily="18" charset="0"/>
                      </a:rPr>
                      <m:t>3</m:t>
                    </m:r>
                  </m:oMath>
                </a14:m>
                <a:r>
                  <a:rPr lang="en-US" sz="2000" dirty="0">
                    <a:latin typeface="Verdana" panose="020B0604030504040204" pitchFamily="34" charset="0"/>
                    <a:ea typeface="Verdana" panose="020B0604030504040204" pitchFamily="34" charset="0"/>
                    <a:cs typeface="Verdana" panose="020B0604030504040204" pitchFamily="34" charset="0"/>
                  </a:rPr>
                  <a:t> cubes, whose dimensions are </a:t>
                </a:r>
                <a14:m>
                  <m:oMath xmlns:m="http://schemas.openxmlformats.org/officeDocument/2006/math">
                    <m:f>
                      <m:fPr>
                        <m:ctrlPr>
                          <a:rPr lang="en-US" sz="2000" i="1">
                            <a:latin typeface="Cambria Math" panose="02040503050406030204" pitchFamily="18" charset="0"/>
                          </a:rPr>
                        </m:ctrlPr>
                      </m:fPr>
                      <m:num>
                        <m:r>
                          <a:rPr lang="en-US" sz="2000" i="1">
                            <a:latin typeface="Cambria Math" panose="02040503050406030204" pitchFamily="18" charset="0"/>
                          </a:rPr>
                          <m:t>1</m:t>
                        </m:r>
                      </m:num>
                      <m:den>
                        <m:r>
                          <a:rPr lang="en-US" sz="2000" i="1">
                            <a:latin typeface="Cambria Math" panose="02040503050406030204" pitchFamily="18" charset="0"/>
                          </a:rPr>
                          <m:t>2</m:t>
                        </m:r>
                      </m:den>
                    </m:f>
                  </m:oMath>
                </a14:m>
                <a:r>
                  <a:rPr lang="en-US" sz="2000" dirty="0">
                    <a:latin typeface="Verdana" panose="020B0604030504040204" pitchFamily="34" charset="0"/>
                    <a:ea typeface="Verdana" panose="020B0604030504040204" pitchFamily="34" charset="0"/>
                    <a:cs typeface="Verdana" panose="020B0604030504040204" pitchFamily="34" charset="0"/>
                  </a:rPr>
                  <a:t> unit, will fit inside each dimension, how many of these cubes would be needed to pack the moving box?</a:t>
                </a:r>
              </a:p>
            </p:txBody>
          </p:sp>
        </mc:Choice>
        <mc:Fallback xmlns="">
          <p:sp>
            <p:nvSpPr>
              <p:cNvPr id="328" name="Google Shape;328;p20"/>
              <p:cNvSpPr txBox="1">
                <a:spLocks noRot="1" noChangeAspect="1" noMove="1" noResize="1" noEditPoints="1" noAdjustHandles="1" noChangeArrowheads="1" noChangeShapeType="1" noTextEdit="1"/>
              </p:cNvSpPr>
              <p:nvPr/>
            </p:nvSpPr>
            <p:spPr>
              <a:xfrm>
                <a:off x="977900" y="288745"/>
                <a:ext cx="10236200" cy="834675"/>
              </a:xfrm>
              <a:prstGeom prst="rect">
                <a:avLst/>
              </a:prstGeom>
              <a:blipFill rotWithShape="0">
                <a:blip r:embed="rId3"/>
                <a:stretch>
                  <a:fillRect l="-655" r="-298" b="-12409"/>
                </a:stretch>
              </a:blipFill>
              <a:ln>
                <a:noFill/>
              </a:ln>
            </p:spPr>
            <p:txBody>
              <a:bodyPr/>
              <a:lstStyle/>
              <a:p>
                <a:r>
                  <a:rPr lang="en-US">
                    <a:noFill/>
                  </a:rPr>
                  <a:t> </a:t>
                </a:r>
              </a:p>
            </p:txBody>
          </p:sp>
        </mc:Fallback>
      </mc:AlternateContent>
      <p:pic>
        <p:nvPicPr>
          <p:cNvPr id="6" name="Picture 5" descr="Shape, rectangle&#10;&#10;Description automatically generated">
            <a:extLst>
              <a:ext uri="{FF2B5EF4-FFF2-40B4-BE49-F238E27FC236}">
                <a16:creationId xmlns:a16="http://schemas.microsoft.com/office/drawing/2014/main" id="{A3F6FF6F-266C-C242-B74C-0FBF62150CA8}"/>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4076762" y="1633653"/>
            <a:ext cx="4038476" cy="4352848"/>
          </a:xfrm>
          <a:prstGeom prst="rect">
            <a:avLst/>
          </a:prstGeom>
        </p:spPr>
      </p:pic>
      <p:sp>
        <p:nvSpPr>
          <p:cNvPr id="8" name="Google Shape;122;g104476d1465_1_17">
            <a:extLst>
              <a:ext uri="{FF2B5EF4-FFF2-40B4-BE49-F238E27FC236}">
                <a16:creationId xmlns:a16="http://schemas.microsoft.com/office/drawing/2014/main" id="{EF64E377-1D4A-4F45-808C-AE983C3FA3E4}"/>
              </a:ext>
            </a:extLst>
          </p:cNvPr>
          <p:cNvSpPr/>
          <p:nvPr/>
        </p:nvSpPr>
        <p:spPr>
          <a:xfrm>
            <a:off x="0" y="-8101"/>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9"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7</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38468879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28" name="Google Shape;328;p20"/>
              <p:cNvSpPr txBox="1"/>
              <p:nvPr/>
            </p:nvSpPr>
            <p:spPr>
              <a:xfrm>
                <a:off x="1206500" y="288745"/>
                <a:ext cx="9779000" cy="5304873"/>
              </a:xfrm>
              <a:prstGeom prst="rect">
                <a:avLst/>
              </a:prstGeom>
              <a:noFill/>
              <a:ln>
                <a:noFill/>
              </a:ln>
            </p:spPr>
            <p:txBody>
              <a:bodyPr spcFirstLastPara="1" wrap="square" lIns="91425" tIns="45700" rIns="91425" bIns="45700" anchor="t" anchorCtr="0">
                <a:spAutoFit/>
              </a:bodyPr>
              <a:lstStyle/>
              <a:p>
                <a:pPr marL="460375" indent="-444500">
                  <a:buFont typeface="+mj-lt"/>
                  <a:buAutoNum type="arabicPeriod" startAt="4"/>
                </a:pPr>
                <a:r>
                  <a:rPr lang="en-US" sz="2000" dirty="0">
                    <a:latin typeface="Verdana" panose="020B0604030504040204" pitchFamily="34" charset="0"/>
                    <a:ea typeface="Verdana" panose="020B0604030504040204" pitchFamily="34" charset="0"/>
                    <a:cs typeface="Verdana" panose="020B0604030504040204" pitchFamily="34" charset="0"/>
                  </a:rPr>
                  <a:t>This cube is a scale model of a moving box. The edges of the box are </a:t>
                </a:r>
                <a14:m>
                  <m:oMath xmlns:m="http://schemas.openxmlformats.org/officeDocument/2006/math">
                    <m:r>
                      <a:rPr lang="en-US" sz="2000" i="1">
                        <a:latin typeface="Cambria Math" panose="02040503050406030204" pitchFamily="18" charset="0"/>
                      </a:rPr>
                      <m:t>1</m:t>
                    </m:r>
                    <m:f>
                      <m:fPr>
                        <m:ctrlPr>
                          <a:rPr lang="en-US" sz="2000" i="1">
                            <a:latin typeface="Cambria Math" panose="02040503050406030204" pitchFamily="18" charset="0"/>
                          </a:rPr>
                        </m:ctrlPr>
                      </m:fPr>
                      <m:num>
                        <m:r>
                          <a:rPr lang="en-US" sz="2000" i="1">
                            <a:latin typeface="Cambria Math" panose="02040503050406030204" pitchFamily="18" charset="0"/>
                          </a:rPr>
                          <m:t>1</m:t>
                        </m:r>
                      </m:num>
                      <m:den>
                        <m:r>
                          <a:rPr lang="en-US" sz="2000" i="1">
                            <a:latin typeface="Cambria Math" panose="02040503050406030204" pitchFamily="18" charset="0"/>
                          </a:rPr>
                          <m:t>2</m:t>
                        </m:r>
                      </m:den>
                    </m:f>
                  </m:oMath>
                </a14:m>
                <a:r>
                  <a:rPr lang="en-US" sz="2000" dirty="0">
                    <a:latin typeface="Verdana" panose="020B0604030504040204" pitchFamily="34" charset="0"/>
                    <a:ea typeface="Verdana" panose="020B0604030504040204" pitchFamily="34" charset="0"/>
                    <a:cs typeface="Verdana" panose="020B0604030504040204" pitchFamily="34" charset="0"/>
                  </a:rPr>
                  <a:t> feet long.</a:t>
                </a: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marL="460375"/>
                <a:r>
                  <a:rPr lang="en-US" sz="2000" dirty="0">
                    <a:latin typeface="Verdana" panose="020B0604030504040204" pitchFamily="34" charset="0"/>
                    <a:ea typeface="Verdana" panose="020B0604030504040204" pitchFamily="34" charset="0"/>
                    <a:cs typeface="Verdana" panose="020B0604030504040204" pitchFamily="34" charset="0"/>
                  </a:rPr>
                  <a:t>Since there are </a:t>
                </a:r>
                <a14:m>
                  <m:oMath xmlns:m="http://schemas.openxmlformats.org/officeDocument/2006/math">
                    <m:r>
                      <a:rPr lang="en-US" sz="2000" i="1">
                        <a:latin typeface="Cambria Math" panose="02040503050406030204" pitchFamily="18" charset="0"/>
                      </a:rPr>
                      <m:t>27</m:t>
                    </m:r>
                  </m:oMath>
                </a14:m>
                <a:r>
                  <a:rPr lang="en-US" sz="2000" dirty="0">
                    <a:latin typeface="Verdana" panose="020B0604030504040204" pitchFamily="34" charset="0"/>
                    <a:ea typeface="Verdana" panose="020B0604030504040204" pitchFamily="34" charset="0"/>
                    <a:cs typeface="Verdana" panose="020B0604030504040204" pitchFamily="34" charset="0"/>
                  </a:rPr>
                  <a:t> cubes whose dimensions are </a:t>
                </a:r>
                <a14:m>
                  <m:oMath xmlns:m="http://schemas.openxmlformats.org/officeDocument/2006/math">
                    <m:f>
                      <m:fPr>
                        <m:ctrlPr>
                          <a:rPr lang="en-US" sz="2000" i="1">
                            <a:latin typeface="Cambria Math" panose="02040503050406030204" pitchFamily="18" charset="0"/>
                          </a:rPr>
                        </m:ctrlPr>
                      </m:fPr>
                      <m:num>
                        <m:r>
                          <a:rPr lang="en-US" sz="2000" i="1">
                            <a:latin typeface="Cambria Math" panose="02040503050406030204" pitchFamily="18" charset="0"/>
                          </a:rPr>
                          <m:t>1</m:t>
                        </m:r>
                      </m:num>
                      <m:den>
                        <m:r>
                          <a:rPr lang="en-US" sz="2000" i="1">
                            <a:latin typeface="Cambria Math" panose="02040503050406030204" pitchFamily="18" charset="0"/>
                          </a:rPr>
                          <m:t>2</m:t>
                        </m:r>
                      </m:den>
                    </m:f>
                  </m:oMath>
                </a14:m>
                <a:r>
                  <a:rPr lang="en-US" sz="2000" dirty="0">
                    <a:latin typeface="Verdana" panose="020B0604030504040204" pitchFamily="34" charset="0"/>
                    <a:ea typeface="Verdana" panose="020B0604030504040204" pitchFamily="34" charset="0"/>
                    <a:cs typeface="Verdana" panose="020B0604030504040204" pitchFamily="34" charset="0"/>
                  </a:rPr>
                  <a:t> feet that will fill the moving box, the volume of the moving box can be found by multiplying the volume of the fractional cube by </a:t>
                </a:r>
                <a14:m>
                  <m:oMath xmlns:m="http://schemas.openxmlformats.org/officeDocument/2006/math">
                    <m:r>
                      <a:rPr lang="en-US" sz="2000" i="1">
                        <a:latin typeface="Cambria Math" panose="02040503050406030204" pitchFamily="18" charset="0"/>
                      </a:rPr>
                      <m:t>27</m:t>
                    </m:r>
                  </m:oMath>
                </a14:m>
                <a:r>
                  <a:rPr lang="en-US" sz="2000" dirty="0">
                    <a:latin typeface="Verdana" panose="020B0604030504040204" pitchFamily="34" charset="0"/>
                    <a:ea typeface="Verdana" panose="020B0604030504040204" pitchFamily="34" charset="0"/>
                    <a:cs typeface="Verdana" panose="020B0604030504040204" pitchFamily="34" charset="0"/>
                  </a:rPr>
                  <a:t>. What is the volume of a cube whose dimensions are </a:t>
                </a:r>
                <a14:m>
                  <m:oMath xmlns:m="http://schemas.openxmlformats.org/officeDocument/2006/math">
                    <m:f>
                      <m:fPr>
                        <m:ctrlPr>
                          <a:rPr lang="en-US" sz="2000" i="1">
                            <a:latin typeface="Cambria Math" panose="02040503050406030204" pitchFamily="18" charset="0"/>
                          </a:rPr>
                        </m:ctrlPr>
                      </m:fPr>
                      <m:num>
                        <m:r>
                          <a:rPr lang="en-US" sz="2000" i="1">
                            <a:latin typeface="Cambria Math" panose="02040503050406030204" pitchFamily="18" charset="0"/>
                          </a:rPr>
                          <m:t>1</m:t>
                        </m:r>
                      </m:num>
                      <m:den>
                        <m:r>
                          <a:rPr lang="en-US" sz="2000" i="1">
                            <a:latin typeface="Cambria Math" panose="02040503050406030204" pitchFamily="18" charset="0"/>
                          </a:rPr>
                          <m:t>2</m:t>
                        </m:r>
                      </m:den>
                    </m:f>
                  </m:oMath>
                </a14:m>
                <a:r>
                  <a:rPr lang="en-US" sz="2000" dirty="0">
                    <a:latin typeface="Verdana" panose="020B0604030504040204" pitchFamily="34" charset="0"/>
                    <a:ea typeface="Verdana" panose="020B0604030504040204" pitchFamily="34" charset="0"/>
                    <a:cs typeface="Verdana" panose="020B0604030504040204" pitchFamily="34" charset="0"/>
                  </a:rPr>
                  <a:t> feet?</a:t>
                </a:r>
              </a:p>
              <a:p>
                <a:pPr lvl="0"/>
                <a:endParaRPr lang="en-US" dirty="0"/>
              </a:p>
            </p:txBody>
          </p:sp>
        </mc:Choice>
        <mc:Fallback xmlns="">
          <p:sp>
            <p:nvSpPr>
              <p:cNvPr id="328" name="Google Shape;328;p20"/>
              <p:cNvSpPr txBox="1">
                <a:spLocks noRot="1" noChangeAspect="1" noMove="1" noResize="1" noEditPoints="1" noAdjustHandles="1" noChangeArrowheads="1" noChangeShapeType="1" noTextEdit="1"/>
              </p:cNvSpPr>
              <p:nvPr/>
            </p:nvSpPr>
            <p:spPr>
              <a:xfrm>
                <a:off x="1206500" y="288745"/>
                <a:ext cx="9779000" cy="5304873"/>
              </a:xfrm>
              <a:prstGeom prst="rect">
                <a:avLst/>
              </a:prstGeom>
              <a:blipFill rotWithShape="0">
                <a:blip r:embed="rId3"/>
                <a:stretch>
                  <a:fillRect l="-499" t="-689"/>
                </a:stretch>
              </a:blipFill>
              <a:ln>
                <a:noFill/>
              </a:ln>
            </p:spPr>
            <p:txBody>
              <a:bodyPr/>
              <a:lstStyle/>
              <a:p>
                <a:r>
                  <a:rPr lang="en-US">
                    <a:noFill/>
                  </a:rPr>
                  <a:t> </a:t>
                </a:r>
              </a:p>
            </p:txBody>
          </p:sp>
        </mc:Fallback>
      </mc:AlternateContent>
      <p:pic>
        <p:nvPicPr>
          <p:cNvPr id="6" name="Picture 5" descr="A picture containing building, window&#10;&#10;Description automatically generated">
            <a:extLst>
              <a:ext uri="{FF2B5EF4-FFF2-40B4-BE49-F238E27FC236}">
                <a16:creationId xmlns:a16="http://schemas.microsoft.com/office/drawing/2014/main" id="{734BCAFA-7F09-E24F-B4A8-C9BD9B1223B0}"/>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3683635" y="1152293"/>
            <a:ext cx="4824730" cy="2590800"/>
          </a:xfrm>
          <a:prstGeom prst="rect">
            <a:avLst/>
          </a:prstGeom>
        </p:spPr>
      </p:pic>
      <p:sp>
        <p:nvSpPr>
          <p:cNvPr id="8" name="Google Shape;122;g104476d1465_1_17">
            <a:extLst>
              <a:ext uri="{FF2B5EF4-FFF2-40B4-BE49-F238E27FC236}">
                <a16:creationId xmlns:a16="http://schemas.microsoft.com/office/drawing/2014/main" id="{3EC99230-039F-40A1-B197-1D017B92C30C}"/>
              </a:ext>
            </a:extLst>
          </p:cNvPr>
          <p:cNvSpPr/>
          <p:nvPr/>
        </p:nvSpPr>
        <p:spPr>
          <a:xfrm>
            <a:off x="-41971" y="-8101"/>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9"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7</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35752560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28" name="Google Shape;328;p20"/>
              <p:cNvSpPr txBox="1"/>
              <p:nvPr/>
            </p:nvSpPr>
            <p:spPr>
              <a:xfrm>
                <a:off x="1079500" y="288746"/>
                <a:ext cx="10033000" cy="1488957"/>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startAt="5"/>
                </a:pPr>
                <a:r>
                  <a:rPr lang="en-US" sz="2000" dirty="0">
                    <a:latin typeface="Verdana" panose="020B0604030504040204" pitchFamily="34" charset="0"/>
                    <a:ea typeface="Verdana" panose="020B0604030504040204" pitchFamily="34" charset="0"/>
                    <a:cs typeface="Verdana" panose="020B0604030504040204" pitchFamily="34" charset="0"/>
                  </a:rPr>
                  <a:t>Since there are </a:t>
                </a:r>
                <a14:m>
                  <m:oMath xmlns:m="http://schemas.openxmlformats.org/officeDocument/2006/math">
                    <m:r>
                      <a:rPr lang="en-US" sz="2000" i="1">
                        <a:latin typeface="Cambria Math" panose="02040503050406030204" pitchFamily="18" charset="0"/>
                      </a:rPr>
                      <m:t>27</m:t>
                    </m:r>
                  </m:oMath>
                </a14:m>
                <a:r>
                  <a:rPr lang="en-US" sz="2000" dirty="0">
                    <a:latin typeface="Verdana" panose="020B0604030504040204" pitchFamily="34" charset="0"/>
                    <a:ea typeface="Verdana" panose="020B0604030504040204" pitchFamily="34" charset="0"/>
                    <a:cs typeface="Verdana" panose="020B0604030504040204" pitchFamily="34" charset="0"/>
                  </a:rPr>
                  <a:t> cubes whose volume is </a:t>
                </a:r>
                <a14:m>
                  <m:oMath xmlns:m="http://schemas.openxmlformats.org/officeDocument/2006/math">
                    <m:f>
                      <m:fPr>
                        <m:ctrlPr>
                          <a:rPr lang="en-US" sz="2000" i="1">
                            <a:latin typeface="Cambria Math" panose="02040503050406030204" pitchFamily="18" charset="0"/>
                          </a:rPr>
                        </m:ctrlPr>
                      </m:fPr>
                      <m:num>
                        <m:r>
                          <a:rPr lang="en-US" sz="2000" i="1">
                            <a:latin typeface="Cambria Math" panose="02040503050406030204" pitchFamily="18" charset="0"/>
                          </a:rPr>
                          <m:t>1</m:t>
                        </m:r>
                      </m:num>
                      <m:den>
                        <m:r>
                          <a:rPr lang="en-US" sz="2000" i="1">
                            <a:latin typeface="Cambria Math" panose="02040503050406030204" pitchFamily="18" charset="0"/>
                          </a:rPr>
                          <m:t>8</m:t>
                        </m:r>
                      </m:den>
                    </m:f>
                  </m:oMath>
                </a14:m>
                <a:r>
                  <a:rPr lang="en-US" sz="2000" dirty="0">
                    <a:latin typeface="Verdana" panose="020B0604030504040204" pitchFamily="34" charset="0"/>
                    <a:ea typeface="Verdana" panose="020B0604030504040204" pitchFamily="34" charset="0"/>
                    <a:cs typeface="Verdana" panose="020B0604030504040204" pitchFamily="34" charset="0"/>
                  </a:rPr>
                  <a:t> cubic feet that will fill in the moving box, the volume of the moving box can be found by multiplying </a:t>
                </a:r>
                <a14:m>
                  <m:oMath xmlns:m="http://schemas.openxmlformats.org/officeDocument/2006/math">
                    <m:r>
                      <a:rPr lang="en-US" sz="2000" i="1">
                        <a:latin typeface="Cambria Math" panose="02040503050406030204" pitchFamily="18" charset="0"/>
                      </a:rPr>
                      <m:t>27</m:t>
                    </m:r>
                  </m:oMath>
                </a14:m>
                <a:r>
                  <a:rPr lang="en-US" sz="20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f>
                      <m:fPr>
                        <m:ctrlPr>
                          <a:rPr lang="en-US" sz="2000" i="1">
                            <a:latin typeface="Cambria Math" panose="02040503050406030204" pitchFamily="18" charset="0"/>
                          </a:rPr>
                        </m:ctrlPr>
                      </m:fPr>
                      <m:num>
                        <m:r>
                          <a:rPr lang="en-US" sz="2000" i="1">
                            <a:latin typeface="Cambria Math" panose="02040503050406030204" pitchFamily="18" charset="0"/>
                          </a:rPr>
                          <m:t>1</m:t>
                        </m:r>
                      </m:num>
                      <m:den>
                        <m:r>
                          <a:rPr lang="en-US" sz="2000" i="1">
                            <a:latin typeface="Cambria Math" panose="02040503050406030204" pitchFamily="18" charset="0"/>
                          </a:rPr>
                          <m:t>8</m:t>
                        </m:r>
                      </m:den>
                    </m:f>
                  </m:oMath>
                </a14:m>
                <a:r>
                  <a:rPr lang="en-US" sz="2000" dirty="0">
                    <a:latin typeface="Verdana" panose="020B0604030504040204" pitchFamily="34" charset="0"/>
                    <a:ea typeface="Verdana" panose="020B0604030504040204" pitchFamily="34" charset="0"/>
                    <a:cs typeface="Verdana" panose="020B0604030504040204" pitchFamily="34" charset="0"/>
                  </a:rPr>
                  <a:t> cubic feet. What is the volume of a cube of the moving box?</a:t>
                </a:r>
              </a:p>
              <a:p>
                <a:r>
                  <a:rPr lang="en-US" dirty="0"/>
                  <a:t> </a:t>
                </a:r>
              </a:p>
            </p:txBody>
          </p:sp>
        </mc:Choice>
        <mc:Fallback xmlns="">
          <p:sp>
            <p:nvSpPr>
              <p:cNvPr id="328" name="Google Shape;328;p20"/>
              <p:cNvSpPr txBox="1">
                <a:spLocks noRot="1" noChangeAspect="1" noMove="1" noResize="1" noEditPoints="1" noAdjustHandles="1" noChangeArrowheads="1" noChangeShapeType="1" noTextEdit="1"/>
              </p:cNvSpPr>
              <p:nvPr/>
            </p:nvSpPr>
            <p:spPr>
              <a:xfrm>
                <a:off x="1079500" y="288746"/>
                <a:ext cx="10033000" cy="1488957"/>
              </a:xfrm>
              <a:prstGeom prst="rect">
                <a:avLst/>
              </a:prstGeom>
              <a:blipFill rotWithShape="0">
                <a:blip r:embed="rId3"/>
                <a:stretch>
                  <a:fillRect l="-668"/>
                </a:stretch>
              </a:blipFill>
              <a:ln>
                <a:noFill/>
              </a:ln>
            </p:spPr>
            <p:txBody>
              <a:bodyPr/>
              <a:lstStyle/>
              <a:p>
                <a:r>
                  <a:rPr lang="en-US">
                    <a:noFill/>
                  </a:rPr>
                  <a:t> </a:t>
                </a:r>
              </a:p>
            </p:txBody>
          </p:sp>
        </mc:Fallback>
      </mc:AlternateContent>
      <p:sp>
        <p:nvSpPr>
          <p:cNvPr id="8" name="Google Shape;122;g104476d1465_1_17">
            <a:extLst>
              <a:ext uri="{FF2B5EF4-FFF2-40B4-BE49-F238E27FC236}">
                <a16:creationId xmlns:a16="http://schemas.microsoft.com/office/drawing/2014/main" id="{7CD326CA-34A9-480B-BAA2-C10A4D7E17EA}"/>
              </a:ext>
            </a:extLst>
          </p:cNvPr>
          <p:cNvSpPr/>
          <p:nvPr/>
        </p:nvSpPr>
        <p:spPr>
          <a:xfrm>
            <a:off x="0" y="-971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6"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7</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4353493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28" name="Google Shape;328;p20"/>
              <p:cNvSpPr txBox="1"/>
              <p:nvPr/>
            </p:nvSpPr>
            <p:spPr>
              <a:xfrm>
                <a:off x="1054100" y="288746"/>
                <a:ext cx="10083800" cy="5767629"/>
              </a:xfrm>
              <a:prstGeom prst="rect">
                <a:avLst/>
              </a:prstGeom>
              <a:noFill/>
              <a:ln>
                <a:noFill/>
              </a:ln>
            </p:spPr>
            <p:txBody>
              <a:bodyPr spcFirstLastPara="1" wrap="square" lIns="91425" tIns="45700" rIns="91425" bIns="45700" anchor="t" anchorCtr="0">
                <a:spAutoFit/>
              </a:bodyPr>
              <a:lstStyle/>
              <a:p>
                <a:pPr marL="460375" indent="-444500">
                  <a:buFont typeface="+mj-lt"/>
                  <a:buAutoNum type="arabicPeriod" startAt="6"/>
                </a:pPr>
                <a:r>
                  <a:rPr lang="en-US" sz="2000" dirty="0">
                    <a:latin typeface="Verdana" panose="020B0604030504040204" pitchFamily="34" charset="0"/>
                    <a:ea typeface="Verdana" panose="020B0604030504040204" pitchFamily="34" charset="0"/>
                    <a:cs typeface="Verdana" panose="020B0604030504040204" pitchFamily="34" charset="0"/>
                  </a:rPr>
                  <a:t>Find the volume of the moving box using the formula for volume of a rectangular prism or cube. </a:t>
                </a:r>
              </a:p>
              <a:p>
                <a:r>
                  <a:rPr lang="en-US" sz="2000" dirty="0">
                    <a:latin typeface="Verdana" panose="020B0604030504040204" pitchFamily="34" charset="0"/>
                    <a:ea typeface="Verdana" panose="020B0604030504040204" pitchFamily="34" charset="0"/>
                    <a:cs typeface="Verdana" panose="020B0604030504040204" pitchFamily="34" charset="0"/>
                  </a:rPr>
                  <a:t> </a:t>
                </a:r>
              </a:p>
              <a:p>
                <a:endParaRPr lang="en-US" sz="2000" dirty="0">
                  <a:latin typeface="Verdana" panose="020B0604030504040204" pitchFamily="34" charset="0"/>
                  <a:ea typeface="Verdana" panose="020B0604030504040204" pitchFamily="34" charset="0"/>
                  <a:cs typeface="Verdana" panose="020B0604030504040204" pitchFamily="34" charset="0"/>
                </a:endParaRPr>
              </a:p>
              <a:p>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𝑉</m:t>
                      </m:r>
                      <m:r>
                        <a:rPr lang="en-US" sz="2000" i="1">
                          <a:latin typeface="Cambria Math" panose="02040503050406030204" pitchFamily="18" charset="0"/>
                        </a:rPr>
                        <m:t>=</m:t>
                      </m:r>
                      <m:r>
                        <a:rPr lang="en-US" sz="2000" i="1">
                          <a:latin typeface="Cambria Math" panose="02040503050406030204" pitchFamily="18" charset="0"/>
                        </a:rPr>
                        <m:t>𝑙𝑤h</m:t>
                      </m:r>
                    </m:oMath>
                  </m:oMathPara>
                </a14:m>
                <a:endParaRPr lang="en-US"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 </a:t>
                </a: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460375"/>
                <a:r>
                  <a:rPr lang="en-US" sz="2000" dirty="0">
                    <a:latin typeface="Verdana" panose="020B0604030504040204" pitchFamily="34" charset="0"/>
                    <a:ea typeface="Verdana" panose="020B0604030504040204" pitchFamily="34" charset="0"/>
                    <a:cs typeface="Verdana" panose="020B0604030504040204" pitchFamily="34" charset="0"/>
                  </a:rPr>
                  <a:t>Each dimension of the box is </a:t>
                </a:r>
                <a14:m>
                  <m:oMath xmlns:m="http://schemas.openxmlformats.org/officeDocument/2006/math">
                    <m:r>
                      <a:rPr lang="en-US" sz="2000" i="1">
                        <a:latin typeface="Cambria Math" panose="02040503050406030204" pitchFamily="18" charset="0"/>
                      </a:rPr>
                      <m:t>1</m:t>
                    </m:r>
                    <m:f>
                      <m:fPr>
                        <m:ctrlPr>
                          <a:rPr lang="en-US" sz="2000" i="1">
                            <a:latin typeface="Cambria Math" panose="02040503050406030204" pitchFamily="18" charset="0"/>
                          </a:rPr>
                        </m:ctrlPr>
                      </m:fPr>
                      <m:num>
                        <m:r>
                          <a:rPr lang="en-US" sz="2000" i="1">
                            <a:latin typeface="Cambria Math" panose="02040503050406030204" pitchFamily="18" charset="0"/>
                          </a:rPr>
                          <m:t>1</m:t>
                        </m:r>
                      </m:num>
                      <m:den>
                        <m:r>
                          <a:rPr lang="en-US" sz="2000" i="1">
                            <a:latin typeface="Cambria Math" panose="02040503050406030204" pitchFamily="18" charset="0"/>
                          </a:rPr>
                          <m:t>2</m:t>
                        </m:r>
                      </m:den>
                    </m:f>
                  </m:oMath>
                </a14:m>
                <a:r>
                  <a:rPr lang="en-US" sz="2000" dirty="0">
                    <a:latin typeface="Verdana" panose="020B0604030504040204" pitchFamily="34" charset="0"/>
                    <a:ea typeface="Verdana" panose="020B0604030504040204" pitchFamily="34" charset="0"/>
                    <a:cs typeface="Verdana" panose="020B0604030504040204" pitchFamily="34" charset="0"/>
                  </a:rPr>
                  <a:t> feet.</a:t>
                </a:r>
              </a:p>
              <a:p>
                <a:pPr marL="352425"/>
                <a:endParaRPr lang="en-US" sz="2000" dirty="0">
                  <a:latin typeface="Verdana" panose="020B0604030504040204" pitchFamily="34" charset="0"/>
                  <a:ea typeface="Verdana" panose="020B0604030504040204" pitchFamily="34" charset="0"/>
                  <a:cs typeface="Verdana" panose="020B0604030504040204" pitchFamily="34" charset="0"/>
                </a:endParaRPr>
              </a:p>
              <a:p>
                <a:pPr marL="352425"/>
                <a:endParaRPr lang="en-US" sz="2000" dirty="0">
                  <a:latin typeface="Verdana" panose="020B0604030504040204" pitchFamily="34" charset="0"/>
                  <a:ea typeface="Verdana" panose="020B0604030504040204" pitchFamily="34" charset="0"/>
                  <a:cs typeface="Verdana" panose="020B0604030504040204" pitchFamily="34" charset="0"/>
                </a:endParaRPr>
              </a:p>
              <a:p>
                <a:pPr marL="352425"/>
                <a:endParaRPr lang="en-US" sz="2000" dirty="0">
                  <a:latin typeface="Verdana" panose="020B0604030504040204" pitchFamily="34" charset="0"/>
                  <a:ea typeface="Verdana" panose="020B0604030504040204" pitchFamily="34" charset="0"/>
                  <a:cs typeface="Verdana" panose="020B0604030504040204" pitchFamily="34" charset="0"/>
                </a:endParaRPr>
              </a:p>
              <a:p>
                <a:pPr marL="352425"/>
                <a:endParaRPr lang="en-US" sz="2000" dirty="0">
                  <a:latin typeface="Verdana" panose="020B0604030504040204" pitchFamily="34" charset="0"/>
                  <a:ea typeface="Verdana" panose="020B0604030504040204" pitchFamily="34" charset="0"/>
                  <a:cs typeface="Verdana" panose="020B0604030504040204" pitchFamily="34" charset="0"/>
                </a:endParaRPr>
              </a:p>
              <a:p>
                <a:pPr marL="352425"/>
                <a:endParaRPr lang="en-US" sz="2000" dirty="0">
                  <a:latin typeface="Verdana" panose="020B0604030504040204" pitchFamily="34" charset="0"/>
                  <a:ea typeface="Verdana" panose="020B0604030504040204" pitchFamily="34" charset="0"/>
                  <a:cs typeface="Verdana" panose="020B0604030504040204" pitchFamily="34" charset="0"/>
                </a:endParaRPr>
              </a:p>
              <a:p>
                <a:pPr marL="352425"/>
                <a:endParaRPr lang="en-US" sz="2000" dirty="0">
                  <a:latin typeface="Verdana" panose="020B0604030504040204" pitchFamily="34" charset="0"/>
                  <a:ea typeface="Verdana" panose="020B0604030504040204" pitchFamily="34" charset="0"/>
                  <a:cs typeface="Verdana" panose="020B0604030504040204" pitchFamily="34" charset="0"/>
                </a:endParaRPr>
              </a:p>
              <a:p>
                <a:pPr marL="352425"/>
                <a:endParaRPr lang="en-US" sz="2000" dirty="0"/>
              </a:p>
              <a:p>
                <a:pPr marL="460375" indent="-444500">
                  <a:buFont typeface="+mj-lt"/>
                  <a:buAutoNum type="arabicPeriod" startAt="7"/>
                </a:pPr>
                <a:r>
                  <a:rPr lang="en-US" sz="2000" dirty="0"/>
                  <a:t>Does the volume you found using the formula match the volume you  found by counting the number of fractional cubes?</a:t>
                </a:r>
              </a:p>
              <a:p>
                <a:pPr marL="352425"/>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328" name="Google Shape;328;p20"/>
              <p:cNvSpPr txBox="1">
                <a:spLocks noRot="1" noChangeAspect="1" noMove="1" noResize="1" noEditPoints="1" noAdjustHandles="1" noChangeArrowheads="1" noChangeShapeType="1" noTextEdit="1"/>
              </p:cNvSpPr>
              <p:nvPr/>
            </p:nvSpPr>
            <p:spPr>
              <a:xfrm>
                <a:off x="1054100" y="288746"/>
                <a:ext cx="10083800" cy="5767629"/>
              </a:xfrm>
              <a:prstGeom prst="rect">
                <a:avLst/>
              </a:prstGeom>
              <a:blipFill rotWithShape="0">
                <a:blip r:embed="rId3"/>
                <a:stretch>
                  <a:fillRect l="-484" t="-634"/>
                </a:stretch>
              </a:blipFill>
              <a:ln>
                <a:noFill/>
              </a:ln>
            </p:spPr>
            <p:txBody>
              <a:bodyPr/>
              <a:lstStyle/>
              <a:p>
                <a:r>
                  <a:rPr lang="en-US">
                    <a:noFill/>
                  </a:rPr>
                  <a:t> </a:t>
                </a:r>
              </a:p>
            </p:txBody>
          </p:sp>
        </mc:Fallback>
      </mc:AlternateContent>
      <p:sp>
        <p:nvSpPr>
          <p:cNvPr id="8" name="Google Shape;122;g104476d1465_1_17">
            <a:extLst>
              <a:ext uri="{FF2B5EF4-FFF2-40B4-BE49-F238E27FC236}">
                <a16:creationId xmlns:a16="http://schemas.microsoft.com/office/drawing/2014/main" id="{091BFC3D-EA5C-4908-8BD3-EC82D48C2DE2}"/>
              </a:ext>
            </a:extLst>
          </p:cNvPr>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7"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7</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37718799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8" name="Google Shape;328;p20"/>
          <p:cNvSpPr txBox="1"/>
          <p:nvPr/>
        </p:nvSpPr>
        <p:spPr>
          <a:xfrm>
            <a:off x="927100" y="288745"/>
            <a:ext cx="10337800" cy="5940047"/>
          </a:xfrm>
          <a:prstGeom prst="rect">
            <a:avLst/>
          </a:prstGeom>
          <a:noFill/>
          <a:ln>
            <a:noFill/>
          </a:ln>
        </p:spPr>
        <p:txBody>
          <a:bodyPr spcFirstLastPara="1" wrap="square" lIns="91425" tIns="45700" rIns="91425" bIns="45700" anchor="t" anchorCtr="0">
            <a:spAutoFit/>
          </a:bodyPr>
          <a:lstStyle/>
          <a:p>
            <a:pPr marL="460375" indent="-460375">
              <a:buFont typeface="+mj-lt"/>
              <a:buAutoNum type="arabicPeriod" startAt="8"/>
            </a:pPr>
            <a:r>
              <a:rPr lang="en-US" sz="2000" dirty="0">
                <a:latin typeface="Verdana" panose="020B0604030504040204" pitchFamily="34" charset="0"/>
                <a:ea typeface="Verdana" panose="020B0604030504040204" pitchFamily="34" charset="0"/>
                <a:cs typeface="Verdana" panose="020B0604030504040204" pitchFamily="34" charset="0"/>
              </a:rPr>
              <a:t>The images show different rectangular prisms composed of various numbers of cubes.</a:t>
            </a:r>
          </a:p>
          <a:p>
            <a:pPr marL="342900" indent="-342900">
              <a:buFont typeface="+mj-lt"/>
              <a:buAutoNum type="arabicPeriod" startAt="8"/>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startAt="8"/>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startAt="8"/>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startAt="8"/>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startAt="8"/>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startAt="8"/>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startAt="8"/>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startAt="8"/>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startAt="8"/>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startAt="8"/>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startAt="8"/>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startAt="8"/>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7100" lvl="2" indent="-466725">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What do you notice?</a:t>
            </a:r>
          </a:p>
          <a:p>
            <a:pPr marL="457200" lvl="2"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27100" lvl="2" indent="-466725">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Explain how the dimensions of the prism can be determined using the cubes shown if each small blue cube is 1 unit cube. </a:t>
            </a:r>
          </a:p>
          <a:p>
            <a:pPr marL="457200" lvl="2"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p:txBody>
      </p:sp>
      <p:pic>
        <p:nvPicPr>
          <p:cNvPr id="6" name="Picture 5" descr="Shape&#10;&#10;Description automatically generated">
            <a:extLst>
              <a:ext uri="{FF2B5EF4-FFF2-40B4-BE49-F238E27FC236}">
                <a16:creationId xmlns:a16="http://schemas.microsoft.com/office/drawing/2014/main" id="{7B8EB1C2-FE94-5049-9251-441EFD9370A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2964388" y="996591"/>
            <a:ext cx="6263224" cy="3445918"/>
          </a:xfrm>
          <a:prstGeom prst="rect">
            <a:avLst/>
          </a:prstGeom>
        </p:spPr>
      </p:pic>
      <p:sp>
        <p:nvSpPr>
          <p:cNvPr id="8" name="Google Shape;122;g104476d1465_1_17">
            <a:extLst>
              <a:ext uri="{FF2B5EF4-FFF2-40B4-BE49-F238E27FC236}">
                <a16:creationId xmlns:a16="http://schemas.microsoft.com/office/drawing/2014/main" id="{F991800D-8817-443F-9ABB-1599DD86A1B8}"/>
              </a:ext>
            </a:extLst>
          </p:cNvPr>
          <p:cNvSpPr/>
          <p:nvPr/>
        </p:nvSpPr>
        <p:spPr>
          <a:xfrm>
            <a:off x="0" y="-8101"/>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9"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8</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5481119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28" name="Google Shape;328;p20"/>
              <p:cNvSpPr txBox="1"/>
              <p:nvPr/>
            </p:nvSpPr>
            <p:spPr>
              <a:xfrm>
                <a:off x="838200" y="288745"/>
                <a:ext cx="10515600" cy="6185564"/>
              </a:xfrm>
              <a:prstGeom prst="rect">
                <a:avLst/>
              </a:prstGeom>
              <a:noFill/>
              <a:ln>
                <a:noFill/>
              </a:ln>
            </p:spPr>
            <p:txBody>
              <a:bodyPr spcFirstLastPara="1" wrap="square" lIns="91425" tIns="45700" rIns="91425" bIns="45700" anchor="t" anchorCtr="0">
                <a:spAutoFit/>
              </a:bodyPr>
              <a:lstStyle/>
              <a:p>
                <a:pPr marL="460375" indent="-460375">
                  <a:buFont typeface="+mj-lt"/>
                  <a:buAutoNum type="arabicPeriod" startAt="9"/>
                </a:pPr>
                <a:r>
                  <a:rPr lang="en-US" sz="2000" dirty="0">
                    <a:latin typeface="Verdana" panose="020B0604030504040204" pitchFamily="34" charset="0"/>
                    <a:ea typeface="Verdana" panose="020B0604030504040204" pitchFamily="34" charset="0"/>
                    <a:cs typeface="Verdana" panose="020B0604030504040204" pitchFamily="34" charset="0"/>
                  </a:rPr>
                  <a:t>The diagram shows </a:t>
                </a:r>
                <a14:m>
                  <m:oMath xmlns:m="http://schemas.openxmlformats.org/officeDocument/2006/math">
                    <m:r>
                      <a:rPr lang="en-US" sz="2000" i="1">
                        <a:latin typeface="Cambria Math" panose="02040503050406030204" pitchFamily="18" charset="0"/>
                      </a:rPr>
                      <m:t>3</m:t>
                    </m:r>
                  </m:oMath>
                </a14:m>
                <a:r>
                  <a:rPr lang="en-US" sz="2000" dirty="0">
                    <a:latin typeface="Verdana" panose="020B0604030504040204" pitchFamily="34" charset="0"/>
                    <a:ea typeface="Verdana" panose="020B0604030504040204" pitchFamily="34" charset="0"/>
                    <a:cs typeface="Verdana" panose="020B0604030504040204" pitchFamily="34" charset="0"/>
                  </a:rPr>
                  <a:t> cubes whose dimensions are </a:t>
                </a:r>
                <a14:m>
                  <m:oMath xmlns:m="http://schemas.openxmlformats.org/officeDocument/2006/math">
                    <m:f>
                      <m:fPr>
                        <m:ctrlPr>
                          <a:rPr lang="en-US" sz="2000" i="1">
                            <a:latin typeface="Cambria Math" panose="02040503050406030204" pitchFamily="18" charset="0"/>
                          </a:rPr>
                        </m:ctrlPr>
                      </m:fPr>
                      <m:num>
                        <m:r>
                          <a:rPr lang="en-US" sz="2000" i="1">
                            <a:latin typeface="Cambria Math" panose="02040503050406030204" pitchFamily="18" charset="0"/>
                          </a:rPr>
                          <m:t>1</m:t>
                        </m:r>
                      </m:num>
                      <m:den>
                        <m:r>
                          <a:rPr lang="en-US" sz="2000" i="1">
                            <a:latin typeface="Cambria Math" panose="02040503050406030204" pitchFamily="18" charset="0"/>
                          </a:rPr>
                          <m:t>4</m:t>
                        </m:r>
                      </m:den>
                    </m:f>
                  </m:oMath>
                </a14:m>
                <a:r>
                  <a:rPr lang="en-US" sz="2000" dirty="0">
                    <a:latin typeface="Verdana" panose="020B0604030504040204" pitchFamily="34" charset="0"/>
                    <a:ea typeface="Verdana" panose="020B0604030504040204" pitchFamily="34" charset="0"/>
                    <a:cs typeface="Verdana" panose="020B0604030504040204" pitchFamily="34" charset="0"/>
                  </a:rPr>
                  <a:t> inches. </a:t>
                </a: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marL="460375"/>
                <a:r>
                  <a:rPr lang="en-US" sz="2000" dirty="0">
                    <a:latin typeface="Verdana" panose="020B0604030504040204" pitchFamily="34" charset="0"/>
                    <a:ea typeface="Verdana" panose="020B0604030504040204" pitchFamily="34" charset="0"/>
                    <a:cs typeface="Verdana" panose="020B0604030504040204" pitchFamily="34" charset="0"/>
                  </a:rPr>
                  <a:t>Select the statements that correctly describe the volume of the diagram as shown.</a:t>
                </a:r>
              </a:p>
              <a:p>
                <a:pPr marL="352425"/>
                <a:endParaRPr lang="en-US" sz="2000" dirty="0">
                  <a:latin typeface="Verdana" panose="020B0604030504040204" pitchFamily="34" charset="0"/>
                  <a:ea typeface="Verdana" panose="020B0604030504040204" pitchFamily="34" charset="0"/>
                  <a:cs typeface="Verdana" panose="020B0604030504040204" pitchFamily="34" charset="0"/>
                </a:endParaRPr>
              </a:p>
              <a:p>
                <a:pPr marL="920750" indent="-460375">
                  <a:buFont typeface="Wingdings" pitchFamily="2" charset="2"/>
                  <a:buChar char="q"/>
                </a:pPr>
                <a:r>
                  <a:rPr lang="en-US" sz="2000" dirty="0">
                    <a:latin typeface="Verdana" panose="020B0604030504040204" pitchFamily="34" charset="0"/>
                    <a:ea typeface="Verdana" panose="020B0604030504040204" pitchFamily="34" charset="0"/>
                    <a:cs typeface="Verdana" panose="020B0604030504040204" pitchFamily="34" charset="0"/>
                  </a:rPr>
                  <a:t>Each cube has a volume of ​</a:t>
                </a:r>
                <a14:m>
                  <m:oMath xmlns:m="http://schemas.openxmlformats.org/officeDocument/2006/math">
                    <m:f>
                      <m:fPr>
                        <m:ctrlPr>
                          <a:rPr lang="en-US" sz="2000" i="1">
                            <a:latin typeface="Cambria Math" panose="02040503050406030204" pitchFamily="18" charset="0"/>
                          </a:rPr>
                        </m:ctrlPr>
                      </m:fPr>
                      <m:num>
                        <m:r>
                          <a:rPr lang="en-US" sz="2000" i="1">
                            <a:latin typeface="Cambria Math" panose="02040503050406030204" pitchFamily="18" charset="0"/>
                          </a:rPr>
                          <m:t>1</m:t>
                        </m:r>
                      </m:num>
                      <m:den>
                        <m:r>
                          <a:rPr lang="en-US" sz="2000" i="1">
                            <a:latin typeface="Cambria Math" panose="02040503050406030204" pitchFamily="18" charset="0"/>
                          </a:rPr>
                          <m:t>4</m:t>
                        </m:r>
                      </m:den>
                    </m:f>
                  </m:oMath>
                </a14:m>
                <a:r>
                  <a:rPr lang="en-US" sz="2000" dirty="0">
                    <a:latin typeface="Verdana" panose="020B0604030504040204" pitchFamily="34" charset="0"/>
                    <a:ea typeface="Verdana" panose="020B0604030504040204" pitchFamily="34" charset="0"/>
                    <a:cs typeface="Verdana" panose="020B0604030504040204" pitchFamily="34" charset="0"/>
                  </a:rPr>
                  <a:t> cubic inches.</a:t>
                </a:r>
              </a:p>
              <a:p>
                <a:pPr marL="920750" indent="-460375">
                  <a:buFont typeface="Wingdings" pitchFamily="2" charset="2"/>
                  <a:buChar char="q"/>
                </a:pPr>
                <a:r>
                  <a:rPr lang="en-US" sz="2000" dirty="0">
                    <a:latin typeface="Verdana" panose="020B0604030504040204" pitchFamily="34" charset="0"/>
                    <a:ea typeface="Verdana" panose="020B0604030504040204" pitchFamily="34" charset="0"/>
                    <a:cs typeface="Verdana" panose="020B0604030504040204" pitchFamily="34" charset="0"/>
                  </a:rPr>
                  <a:t>Each cube has a volume of ​</a:t>
                </a:r>
                <a14:m>
                  <m:oMath xmlns:m="http://schemas.openxmlformats.org/officeDocument/2006/math">
                    <m:f>
                      <m:fPr>
                        <m:ctrlPr>
                          <a:rPr lang="en-US" sz="2000" i="1">
                            <a:latin typeface="Cambria Math" panose="02040503050406030204" pitchFamily="18" charset="0"/>
                          </a:rPr>
                        </m:ctrlPr>
                      </m:fPr>
                      <m:num>
                        <m:r>
                          <a:rPr lang="en-US" sz="2000" i="1">
                            <a:latin typeface="Cambria Math" panose="02040503050406030204" pitchFamily="18" charset="0"/>
                          </a:rPr>
                          <m:t>1</m:t>
                        </m:r>
                      </m:num>
                      <m:den>
                        <m:r>
                          <a:rPr lang="en-US" sz="2000" i="1">
                            <a:latin typeface="Cambria Math" panose="02040503050406030204" pitchFamily="18" charset="0"/>
                          </a:rPr>
                          <m:t>16</m:t>
                        </m:r>
                      </m:den>
                    </m:f>
                  </m:oMath>
                </a14:m>
                <a:r>
                  <a:rPr lang="en-US" sz="2000" dirty="0">
                    <a:latin typeface="Verdana" panose="020B0604030504040204" pitchFamily="34" charset="0"/>
                    <a:ea typeface="Verdana" panose="020B0604030504040204" pitchFamily="34" charset="0"/>
                    <a:cs typeface="Verdana" panose="020B0604030504040204" pitchFamily="34" charset="0"/>
                  </a:rPr>
                  <a:t> cubic inches.</a:t>
                </a:r>
              </a:p>
              <a:p>
                <a:pPr marL="920750" indent="-460375">
                  <a:buFont typeface="Wingdings" pitchFamily="2" charset="2"/>
                  <a:buChar char="q"/>
                </a:pPr>
                <a:r>
                  <a:rPr lang="en-US" sz="2000" dirty="0">
                    <a:latin typeface="Verdana" panose="020B0604030504040204" pitchFamily="34" charset="0"/>
                    <a:ea typeface="Verdana" panose="020B0604030504040204" pitchFamily="34" charset="0"/>
                    <a:cs typeface="Verdana" panose="020B0604030504040204" pitchFamily="34" charset="0"/>
                  </a:rPr>
                  <a:t>Each cube has a volume of ​</a:t>
                </a:r>
                <a14:m>
                  <m:oMath xmlns:m="http://schemas.openxmlformats.org/officeDocument/2006/math">
                    <m:f>
                      <m:fPr>
                        <m:ctrlPr>
                          <a:rPr lang="en-US" sz="2000" i="1">
                            <a:latin typeface="Cambria Math" panose="02040503050406030204" pitchFamily="18" charset="0"/>
                          </a:rPr>
                        </m:ctrlPr>
                      </m:fPr>
                      <m:num>
                        <m:r>
                          <a:rPr lang="en-US" sz="2000" i="1">
                            <a:latin typeface="Cambria Math" panose="02040503050406030204" pitchFamily="18" charset="0"/>
                          </a:rPr>
                          <m:t>1</m:t>
                        </m:r>
                      </m:num>
                      <m:den>
                        <m:r>
                          <a:rPr lang="en-US" sz="2000" i="1">
                            <a:latin typeface="Cambria Math" panose="02040503050406030204" pitchFamily="18" charset="0"/>
                          </a:rPr>
                          <m:t>64</m:t>
                        </m:r>
                      </m:den>
                    </m:f>
                  </m:oMath>
                </a14:m>
                <a:r>
                  <a:rPr lang="en-US" sz="2000" dirty="0">
                    <a:latin typeface="Verdana" panose="020B0604030504040204" pitchFamily="34" charset="0"/>
                    <a:ea typeface="Verdana" panose="020B0604030504040204" pitchFamily="34" charset="0"/>
                    <a:cs typeface="Verdana" panose="020B0604030504040204" pitchFamily="34" charset="0"/>
                  </a:rPr>
                  <a:t> cubic inches.</a:t>
                </a:r>
              </a:p>
              <a:p>
                <a:pPr marL="920750" indent="-460375">
                  <a:buFont typeface="Wingdings" pitchFamily="2" charset="2"/>
                  <a:buChar char="q"/>
                </a:pPr>
                <a:r>
                  <a:rPr lang="en-US" sz="2000" dirty="0">
                    <a:latin typeface="Verdana" panose="020B0604030504040204" pitchFamily="34" charset="0"/>
                    <a:ea typeface="Verdana" panose="020B0604030504040204" pitchFamily="34" charset="0"/>
                    <a:cs typeface="Verdana" panose="020B0604030504040204" pitchFamily="34" charset="0"/>
                  </a:rPr>
                  <a:t>The volume of all three cubes is ​</a:t>
                </a:r>
                <a14:m>
                  <m:oMath xmlns:m="http://schemas.openxmlformats.org/officeDocument/2006/math">
                    <m:f>
                      <m:fPr>
                        <m:ctrlPr>
                          <a:rPr lang="en-US" sz="2000" i="1">
                            <a:latin typeface="Cambria Math" panose="02040503050406030204" pitchFamily="18" charset="0"/>
                          </a:rPr>
                        </m:ctrlPr>
                      </m:fPr>
                      <m:num>
                        <m:r>
                          <a:rPr lang="en-US" sz="2000" i="1">
                            <a:latin typeface="Cambria Math" panose="02040503050406030204" pitchFamily="18" charset="0"/>
                          </a:rPr>
                          <m:t>3</m:t>
                        </m:r>
                      </m:num>
                      <m:den>
                        <m:r>
                          <a:rPr lang="en-US" sz="2000" i="1">
                            <a:latin typeface="Cambria Math" panose="02040503050406030204" pitchFamily="18" charset="0"/>
                          </a:rPr>
                          <m:t>4</m:t>
                        </m:r>
                      </m:den>
                    </m:f>
                  </m:oMath>
                </a14:m>
                <a:r>
                  <a:rPr lang="en-US" sz="2000" dirty="0">
                    <a:latin typeface="Verdana" panose="020B0604030504040204" pitchFamily="34" charset="0"/>
                    <a:ea typeface="Verdana" panose="020B0604030504040204" pitchFamily="34" charset="0"/>
                    <a:cs typeface="Verdana" panose="020B0604030504040204" pitchFamily="34" charset="0"/>
                  </a:rPr>
                  <a:t> cubic inches.</a:t>
                </a:r>
              </a:p>
              <a:p>
                <a:pPr marL="920750" indent="-460375">
                  <a:buFont typeface="Wingdings" pitchFamily="2" charset="2"/>
                  <a:buChar char="q"/>
                </a:pPr>
                <a:r>
                  <a:rPr lang="en-US" sz="2000" dirty="0">
                    <a:latin typeface="Verdana" panose="020B0604030504040204" pitchFamily="34" charset="0"/>
                    <a:ea typeface="Verdana" panose="020B0604030504040204" pitchFamily="34" charset="0"/>
                    <a:cs typeface="Verdana" panose="020B0604030504040204" pitchFamily="34" charset="0"/>
                  </a:rPr>
                  <a:t>The volume of all three cubes is ​</a:t>
                </a:r>
                <a14:m>
                  <m:oMath xmlns:m="http://schemas.openxmlformats.org/officeDocument/2006/math">
                    <m:f>
                      <m:fPr>
                        <m:ctrlPr>
                          <a:rPr lang="en-US" sz="2000" i="1">
                            <a:latin typeface="Cambria Math" panose="02040503050406030204" pitchFamily="18" charset="0"/>
                          </a:rPr>
                        </m:ctrlPr>
                      </m:fPr>
                      <m:num>
                        <m:r>
                          <a:rPr lang="en-US" sz="2000" i="1">
                            <a:latin typeface="Cambria Math" panose="02040503050406030204" pitchFamily="18" charset="0"/>
                          </a:rPr>
                          <m:t>3</m:t>
                        </m:r>
                      </m:num>
                      <m:den>
                        <m:r>
                          <a:rPr lang="en-US" sz="2000" i="1">
                            <a:latin typeface="Cambria Math" panose="02040503050406030204" pitchFamily="18" charset="0"/>
                          </a:rPr>
                          <m:t>16</m:t>
                        </m:r>
                      </m:den>
                    </m:f>
                  </m:oMath>
                </a14:m>
                <a:r>
                  <a:rPr lang="en-US" sz="2000" dirty="0">
                    <a:latin typeface="Verdana" panose="020B0604030504040204" pitchFamily="34" charset="0"/>
                    <a:ea typeface="Verdana" panose="020B0604030504040204" pitchFamily="34" charset="0"/>
                    <a:cs typeface="Verdana" panose="020B0604030504040204" pitchFamily="34" charset="0"/>
                  </a:rPr>
                  <a:t> cubic inches.</a:t>
                </a:r>
              </a:p>
              <a:p>
                <a:pPr marL="920750" indent="-460375">
                  <a:buFont typeface="Wingdings" pitchFamily="2" charset="2"/>
                  <a:buChar char="q"/>
                </a:pPr>
                <a:r>
                  <a:rPr lang="en-US" sz="2000" dirty="0">
                    <a:latin typeface="Verdana" panose="020B0604030504040204" pitchFamily="34" charset="0"/>
                    <a:ea typeface="Verdana" panose="020B0604030504040204" pitchFamily="34" charset="0"/>
                    <a:cs typeface="Verdana" panose="020B0604030504040204" pitchFamily="34" charset="0"/>
                  </a:rPr>
                  <a:t>The volume of all three cubes is ​</a:t>
                </a:r>
                <a14:m>
                  <m:oMath xmlns:m="http://schemas.openxmlformats.org/officeDocument/2006/math">
                    <m:f>
                      <m:fPr>
                        <m:ctrlPr>
                          <a:rPr lang="en-US" sz="2000" i="1">
                            <a:latin typeface="Cambria Math" panose="02040503050406030204" pitchFamily="18" charset="0"/>
                          </a:rPr>
                        </m:ctrlPr>
                      </m:fPr>
                      <m:num>
                        <m:r>
                          <a:rPr lang="en-US" sz="2000" i="1">
                            <a:latin typeface="Cambria Math" panose="02040503050406030204" pitchFamily="18" charset="0"/>
                          </a:rPr>
                          <m:t>3</m:t>
                        </m:r>
                      </m:num>
                      <m:den>
                        <m:r>
                          <a:rPr lang="en-US" sz="2000" i="1">
                            <a:latin typeface="Cambria Math" panose="02040503050406030204" pitchFamily="18" charset="0"/>
                          </a:rPr>
                          <m:t>64</m:t>
                        </m:r>
                      </m:den>
                    </m:f>
                  </m:oMath>
                </a14:m>
                <a:r>
                  <a:rPr lang="en-US" sz="2000" dirty="0">
                    <a:latin typeface="Verdana" panose="020B0604030504040204" pitchFamily="34" charset="0"/>
                    <a:ea typeface="Verdana" panose="020B0604030504040204" pitchFamily="34" charset="0"/>
                    <a:cs typeface="Verdana" panose="020B0604030504040204" pitchFamily="34" charset="0"/>
                  </a:rPr>
                  <a:t> cubic inches.</a:t>
                </a:r>
              </a:p>
              <a:p>
                <a:pPr lvl="0"/>
                <a:endParaRPr lang="en-US" dirty="0"/>
              </a:p>
            </p:txBody>
          </p:sp>
        </mc:Choice>
        <mc:Fallback xmlns="">
          <p:sp>
            <p:nvSpPr>
              <p:cNvPr id="328" name="Google Shape;328;p20"/>
              <p:cNvSpPr txBox="1">
                <a:spLocks noRot="1" noChangeAspect="1" noMove="1" noResize="1" noEditPoints="1" noAdjustHandles="1" noChangeArrowheads="1" noChangeShapeType="1" noTextEdit="1"/>
              </p:cNvSpPr>
              <p:nvPr/>
            </p:nvSpPr>
            <p:spPr>
              <a:xfrm>
                <a:off x="838200" y="288745"/>
                <a:ext cx="10515600" cy="6185564"/>
              </a:xfrm>
              <a:prstGeom prst="rect">
                <a:avLst/>
              </a:prstGeom>
              <a:blipFill rotWithShape="0">
                <a:blip r:embed="rId3"/>
                <a:stretch>
                  <a:fillRect l="-696"/>
                </a:stretch>
              </a:blipFill>
              <a:ln>
                <a:noFill/>
              </a:ln>
            </p:spPr>
            <p:txBody>
              <a:bodyPr/>
              <a:lstStyle/>
              <a:p>
                <a:r>
                  <a:rPr lang="en-US">
                    <a:noFill/>
                  </a:rPr>
                  <a:t> </a:t>
                </a:r>
              </a:p>
            </p:txBody>
          </p:sp>
        </mc:Fallback>
      </mc:AlternateContent>
      <p:pic>
        <p:nvPicPr>
          <p:cNvPr id="6" name="Picture 5" descr="A picture containing building, window&#10;&#10;Description automatically generated">
            <a:extLst>
              <a:ext uri="{FF2B5EF4-FFF2-40B4-BE49-F238E27FC236}">
                <a16:creationId xmlns:a16="http://schemas.microsoft.com/office/drawing/2014/main" id="{08BA901B-4659-4B4C-BAD1-06BC6212ECB5}"/>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540250" y="846092"/>
            <a:ext cx="3111500" cy="1573530"/>
          </a:xfrm>
          <a:prstGeom prst="rect">
            <a:avLst/>
          </a:prstGeom>
        </p:spPr>
      </p:pic>
      <p:sp>
        <p:nvSpPr>
          <p:cNvPr id="8" name="Google Shape;122;g104476d1465_1_17">
            <a:extLst>
              <a:ext uri="{FF2B5EF4-FFF2-40B4-BE49-F238E27FC236}">
                <a16:creationId xmlns:a16="http://schemas.microsoft.com/office/drawing/2014/main" id="{67021443-8A92-4223-802D-0E5D3795DD4D}"/>
              </a:ext>
            </a:extLst>
          </p:cNvPr>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9"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8</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4895634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28" name="Google Shape;328;p20"/>
              <p:cNvSpPr txBox="1"/>
              <p:nvPr/>
            </p:nvSpPr>
            <p:spPr>
              <a:xfrm>
                <a:off x="965200" y="288746"/>
                <a:ext cx="10261600" cy="6390170"/>
              </a:xfrm>
              <a:prstGeom prst="rect">
                <a:avLst/>
              </a:prstGeom>
              <a:noFill/>
              <a:ln>
                <a:noFill/>
              </a:ln>
            </p:spPr>
            <p:txBody>
              <a:bodyPr spcFirstLastPara="1" wrap="square" lIns="91425" tIns="45700" rIns="91425" bIns="45700" anchor="t" anchorCtr="0">
                <a:spAutoFit/>
              </a:bodyPr>
              <a:lstStyle/>
              <a:p>
                <a:pPr marL="460375" indent="-460375">
                  <a:buFont typeface="+mj-lt"/>
                  <a:buAutoNum type="arabicPeriod" startAt="10"/>
                </a:pPr>
                <a:r>
                  <a:rPr lang="en-US" sz="2000" dirty="0">
                    <a:latin typeface="Verdana" panose="020B0604030504040204" pitchFamily="34" charset="0"/>
                    <a:ea typeface="Verdana" panose="020B0604030504040204" pitchFamily="34" charset="0"/>
                    <a:cs typeface="Verdana" panose="020B0604030504040204" pitchFamily="34" charset="0"/>
                  </a:rPr>
                  <a:t>The same diagram of </a:t>
                </a:r>
                <a14:m>
                  <m:oMath xmlns:m="http://schemas.openxmlformats.org/officeDocument/2006/math">
                    <m:r>
                      <a:rPr lang="en-US" sz="2000" i="1">
                        <a:latin typeface="Cambria Math" panose="02040503050406030204" pitchFamily="18" charset="0"/>
                      </a:rPr>
                      <m:t>3</m:t>
                    </m:r>
                  </m:oMath>
                </a14:m>
                <a:r>
                  <a:rPr lang="en-US" sz="2000" dirty="0">
                    <a:latin typeface="Verdana" panose="020B0604030504040204" pitchFamily="34" charset="0"/>
                    <a:ea typeface="Verdana" panose="020B0604030504040204" pitchFamily="34" charset="0"/>
                    <a:cs typeface="Verdana" panose="020B0604030504040204" pitchFamily="34" charset="0"/>
                  </a:rPr>
                  <a:t> cubes whose dimensions are </a:t>
                </a:r>
                <a14:m>
                  <m:oMath xmlns:m="http://schemas.openxmlformats.org/officeDocument/2006/math">
                    <m:f>
                      <m:fPr>
                        <m:ctrlPr>
                          <a:rPr lang="en-US" sz="2000" i="1">
                            <a:latin typeface="Cambria Math" panose="02040503050406030204" pitchFamily="18" charset="0"/>
                          </a:rPr>
                        </m:ctrlPr>
                      </m:fPr>
                      <m:num>
                        <m:r>
                          <a:rPr lang="en-US" sz="2000" i="1">
                            <a:latin typeface="Cambria Math" panose="02040503050406030204" pitchFamily="18" charset="0"/>
                          </a:rPr>
                          <m:t>1</m:t>
                        </m:r>
                      </m:num>
                      <m:den>
                        <m:r>
                          <a:rPr lang="en-US" sz="2000" i="1">
                            <a:latin typeface="Cambria Math" panose="02040503050406030204" pitchFamily="18" charset="0"/>
                          </a:rPr>
                          <m:t>4</m:t>
                        </m:r>
                      </m:den>
                    </m:f>
                  </m:oMath>
                </a14:m>
                <a:r>
                  <a:rPr lang="en-US" sz="2000" dirty="0">
                    <a:latin typeface="Verdana" panose="020B0604030504040204" pitchFamily="34" charset="0"/>
                    <a:ea typeface="Verdana" panose="020B0604030504040204" pitchFamily="34" charset="0"/>
                    <a:cs typeface="Verdana" panose="020B0604030504040204" pitchFamily="34" charset="0"/>
                  </a:rPr>
                  <a:t> inches is shown.</a:t>
                </a:r>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marL="920750" indent="-460375">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The dotted line represents the total length of the </a:t>
                </a:r>
                <a14:m>
                  <m:oMath xmlns:m="http://schemas.openxmlformats.org/officeDocument/2006/math">
                    <m:r>
                      <a:rPr lang="en-US" sz="2000" i="1">
                        <a:latin typeface="Cambria Math" panose="02040503050406030204" pitchFamily="18" charset="0"/>
                      </a:rPr>
                      <m:t>3 </m:t>
                    </m:r>
                  </m:oMath>
                </a14:m>
                <a:r>
                  <a:rPr lang="en-US" sz="2000" dirty="0">
                    <a:latin typeface="Verdana" panose="020B0604030504040204" pitchFamily="34" charset="0"/>
                    <a:ea typeface="Verdana" panose="020B0604030504040204" pitchFamily="34" charset="0"/>
                    <a:cs typeface="Verdana" panose="020B0604030504040204" pitchFamily="34" charset="0"/>
                  </a:rPr>
                  <a:t>cubes. How long, in inches, is the dotted line?</a:t>
                </a:r>
              </a:p>
              <a:p>
                <a:r>
                  <a:rPr lang="en-US" b="1" dirty="0"/>
                  <a:t> </a:t>
                </a:r>
                <a:endParaRPr lang="en-US" dirty="0"/>
              </a:p>
              <a:p>
                <a:pPr marL="1381125" indent="-460375">
                  <a:buFont typeface="+mj-lt"/>
                  <a:buAutoNum type="alphaUcPeriod"/>
                </a:pPr>
                <a14:m>
                  <m:oMath xmlns:m="http://schemas.openxmlformats.org/officeDocument/2006/math">
                    <m:f>
                      <m:fPr>
                        <m:ctrlPr>
                          <a:rPr lang="en-US" sz="2000" i="1">
                            <a:latin typeface="Cambria Math" panose="02040503050406030204" pitchFamily="18" charset="0"/>
                          </a:rPr>
                        </m:ctrlPr>
                      </m:fPr>
                      <m:num>
                        <m:r>
                          <a:rPr lang="en-US" sz="2000" i="1">
                            <a:latin typeface="Cambria Math" panose="02040503050406030204" pitchFamily="18" charset="0"/>
                          </a:rPr>
                          <m:t>4</m:t>
                        </m:r>
                      </m:num>
                      <m:den>
                        <m:r>
                          <a:rPr lang="en-US" sz="2000" i="1">
                            <a:latin typeface="Cambria Math" panose="02040503050406030204" pitchFamily="18" charset="0"/>
                          </a:rPr>
                          <m:t>4</m:t>
                        </m:r>
                      </m:den>
                    </m:f>
                  </m:oMath>
                </a14:m>
                <a:r>
                  <a:rPr lang="en-US" sz="2000" dirty="0">
                    <a:latin typeface="Verdana" panose="020B0604030504040204" pitchFamily="34" charset="0"/>
                    <a:ea typeface="Verdana" panose="020B0604030504040204" pitchFamily="34" charset="0"/>
                    <a:cs typeface="Verdana" panose="020B0604030504040204" pitchFamily="34" charset="0"/>
                  </a:rPr>
                  <a:t> inches</a:t>
                </a:r>
              </a:p>
              <a:p>
                <a:pPr marL="1381125" indent="-460375">
                  <a:buFont typeface="+mj-lt"/>
                  <a:buAutoNum type="alphaU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1381125" indent="-460375">
                  <a:buFont typeface="+mj-lt"/>
                  <a:buAutoNum type="alphaUcPeriod"/>
                </a:pPr>
                <a14:m>
                  <m:oMath xmlns:m="http://schemas.openxmlformats.org/officeDocument/2006/math">
                    <m:f>
                      <m:fPr>
                        <m:ctrlPr>
                          <a:rPr lang="en-US" sz="2000" i="1">
                            <a:latin typeface="Cambria Math" panose="02040503050406030204" pitchFamily="18" charset="0"/>
                          </a:rPr>
                        </m:ctrlPr>
                      </m:fPr>
                      <m:num>
                        <m:r>
                          <a:rPr lang="en-US" sz="2000" i="1">
                            <a:latin typeface="Cambria Math" panose="02040503050406030204" pitchFamily="18" charset="0"/>
                          </a:rPr>
                          <m:t>1</m:t>
                        </m:r>
                      </m:num>
                      <m:den>
                        <m:r>
                          <a:rPr lang="en-US" sz="2000" i="1">
                            <a:latin typeface="Cambria Math" panose="02040503050406030204" pitchFamily="18" charset="0"/>
                          </a:rPr>
                          <m:t>4</m:t>
                        </m:r>
                      </m:den>
                    </m:f>
                  </m:oMath>
                </a14:m>
                <a:r>
                  <a:rPr lang="en-US" sz="2000" dirty="0">
                    <a:latin typeface="Verdana" panose="020B0604030504040204" pitchFamily="34" charset="0"/>
                    <a:ea typeface="Verdana" panose="020B0604030504040204" pitchFamily="34" charset="0"/>
                    <a:cs typeface="Verdana" panose="020B0604030504040204" pitchFamily="34" charset="0"/>
                  </a:rPr>
                  <a:t> inches</a:t>
                </a:r>
              </a:p>
              <a:p>
                <a:pPr marL="1381125" indent="-460375">
                  <a:buFont typeface="+mj-lt"/>
                  <a:buAutoNum type="alphaU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1381125" indent="-460375">
                  <a:buFont typeface="+mj-lt"/>
                  <a:buAutoNum type="alphaUcPeriod"/>
                </a:pPr>
                <a14:m>
                  <m:oMath xmlns:m="http://schemas.openxmlformats.org/officeDocument/2006/math">
                    <m:f>
                      <m:fPr>
                        <m:ctrlPr>
                          <a:rPr lang="en-US" sz="2000" i="1">
                            <a:latin typeface="Cambria Math" panose="02040503050406030204" pitchFamily="18" charset="0"/>
                          </a:rPr>
                        </m:ctrlPr>
                      </m:fPr>
                      <m:num>
                        <m:r>
                          <a:rPr lang="en-US" sz="2000" i="1">
                            <a:latin typeface="Cambria Math" panose="02040503050406030204" pitchFamily="18" charset="0"/>
                          </a:rPr>
                          <m:t>3</m:t>
                        </m:r>
                      </m:num>
                      <m:den>
                        <m:r>
                          <a:rPr lang="en-US" sz="2000" i="1">
                            <a:latin typeface="Cambria Math" panose="02040503050406030204" pitchFamily="18" charset="0"/>
                          </a:rPr>
                          <m:t>4</m:t>
                        </m:r>
                      </m:den>
                    </m:f>
                  </m:oMath>
                </a14:m>
                <a:r>
                  <a:rPr lang="en-US" sz="2000" dirty="0">
                    <a:latin typeface="Verdana" panose="020B0604030504040204" pitchFamily="34" charset="0"/>
                    <a:ea typeface="Verdana" panose="020B0604030504040204" pitchFamily="34" charset="0"/>
                    <a:cs typeface="Verdana" panose="020B0604030504040204" pitchFamily="34" charset="0"/>
                  </a:rPr>
                  <a:t> inches</a:t>
                </a:r>
              </a:p>
              <a:p>
                <a:pPr marL="1381125" indent="-460375">
                  <a:buFont typeface="+mj-lt"/>
                  <a:buAutoNum type="alphaU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1381125" indent="-460375">
                  <a:buFont typeface="+mj-lt"/>
                  <a:buAutoNum type="alphaUcPeriod"/>
                </a:pPr>
                <a14:m>
                  <m:oMath xmlns:m="http://schemas.openxmlformats.org/officeDocument/2006/math">
                    <m:f>
                      <m:fPr>
                        <m:ctrlPr>
                          <a:rPr lang="en-US" sz="2000" i="1">
                            <a:latin typeface="Cambria Math" panose="02040503050406030204" pitchFamily="18" charset="0"/>
                          </a:rPr>
                        </m:ctrlPr>
                      </m:fPr>
                      <m:num>
                        <m:r>
                          <a:rPr lang="en-US" sz="2000" i="1">
                            <a:latin typeface="Cambria Math" panose="02040503050406030204" pitchFamily="18" charset="0"/>
                          </a:rPr>
                          <m:t>2</m:t>
                        </m:r>
                      </m:num>
                      <m:den>
                        <m:r>
                          <a:rPr lang="en-US" sz="2000" i="1">
                            <a:latin typeface="Cambria Math" panose="02040503050406030204" pitchFamily="18" charset="0"/>
                          </a:rPr>
                          <m:t>4</m:t>
                        </m:r>
                      </m:den>
                    </m:f>
                  </m:oMath>
                </a14:m>
                <a:r>
                  <a:rPr lang="en-US" sz="2000" dirty="0">
                    <a:latin typeface="Verdana" panose="020B0604030504040204" pitchFamily="34" charset="0"/>
                    <a:ea typeface="Verdana" panose="020B0604030504040204" pitchFamily="34" charset="0"/>
                    <a:cs typeface="Verdana" panose="020B0604030504040204" pitchFamily="34" charset="0"/>
                  </a:rPr>
                  <a:t> inches</a:t>
                </a:r>
              </a:p>
              <a:p>
                <a:pPr lvl="0"/>
                <a:endParaRPr lang="en-US" dirty="0"/>
              </a:p>
            </p:txBody>
          </p:sp>
        </mc:Choice>
        <mc:Fallback xmlns="">
          <p:sp>
            <p:nvSpPr>
              <p:cNvPr id="328" name="Google Shape;328;p20"/>
              <p:cNvSpPr txBox="1">
                <a:spLocks noRot="1" noChangeAspect="1" noMove="1" noResize="1" noEditPoints="1" noAdjustHandles="1" noChangeArrowheads="1" noChangeShapeType="1" noTextEdit="1"/>
              </p:cNvSpPr>
              <p:nvPr/>
            </p:nvSpPr>
            <p:spPr>
              <a:xfrm>
                <a:off x="965200" y="288746"/>
                <a:ext cx="10261600" cy="6390170"/>
              </a:xfrm>
              <a:prstGeom prst="rect">
                <a:avLst/>
              </a:prstGeom>
              <a:blipFill rotWithShape="0">
                <a:blip r:embed="rId3"/>
                <a:stretch>
                  <a:fillRect l="-653" r="-297"/>
                </a:stretch>
              </a:blipFill>
              <a:ln>
                <a:noFill/>
              </a:ln>
            </p:spPr>
            <p:txBody>
              <a:bodyPr/>
              <a:lstStyle/>
              <a:p>
                <a:r>
                  <a:rPr lang="en-US">
                    <a:noFill/>
                  </a:rPr>
                  <a:t> </a:t>
                </a:r>
              </a:p>
            </p:txBody>
          </p:sp>
        </mc:Fallback>
      </mc:AlternateContent>
      <p:pic>
        <p:nvPicPr>
          <p:cNvPr id="7" name="Picture 6" descr="Shape, rectangle&#10;&#10;Description automatically generated">
            <a:extLst>
              <a:ext uri="{FF2B5EF4-FFF2-40B4-BE49-F238E27FC236}">
                <a16:creationId xmlns:a16="http://schemas.microsoft.com/office/drawing/2014/main" id="{35798346-85F7-E841-8BD5-D9DCDCA70FD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318000" y="883215"/>
            <a:ext cx="3556000" cy="1816735"/>
          </a:xfrm>
          <a:prstGeom prst="rect">
            <a:avLst/>
          </a:prstGeom>
        </p:spPr>
      </p:pic>
      <p:sp>
        <p:nvSpPr>
          <p:cNvPr id="9" name="Google Shape;122;g104476d1465_1_17">
            <a:extLst>
              <a:ext uri="{FF2B5EF4-FFF2-40B4-BE49-F238E27FC236}">
                <a16:creationId xmlns:a16="http://schemas.microsoft.com/office/drawing/2014/main" id="{E2659A1E-5CC7-416C-B607-141349E4732C}"/>
              </a:ext>
            </a:extLst>
          </p:cNvPr>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10"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8</a:t>
            </a:r>
            <a:endParaRPr i="1" dirty="0">
              <a:latin typeface="Calibri"/>
              <a:ea typeface="Calibri"/>
              <a:cs typeface="Calibri"/>
              <a:sym typeface="Calibri"/>
            </a:endParaRPr>
          </a:p>
        </p:txBody>
      </p:sp>
      <p:pic>
        <p:nvPicPr>
          <p:cNvPr id="11"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32194292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28" name="Google Shape;328;p20"/>
              <p:cNvSpPr txBox="1"/>
              <p:nvPr/>
            </p:nvSpPr>
            <p:spPr>
              <a:xfrm>
                <a:off x="787400" y="288746"/>
                <a:ext cx="10274300" cy="6482503"/>
              </a:xfrm>
              <a:prstGeom prst="rect">
                <a:avLst/>
              </a:prstGeom>
              <a:noFill/>
              <a:ln>
                <a:noFill/>
              </a:ln>
            </p:spPr>
            <p:txBody>
              <a:bodyPr spcFirstLastPara="1" wrap="square" lIns="91425" tIns="45700" rIns="91425" bIns="45700" anchor="t" anchorCtr="0">
                <a:spAutoFit/>
              </a:bodyPr>
              <a:lstStyle/>
              <a:p>
                <a:pPr marL="460375" indent="-460375">
                  <a:buFont typeface="+mj-lt"/>
                  <a:buAutoNum type="arabicPeriod" startAt="10"/>
                </a:pPr>
                <a:r>
                  <a:rPr lang="en-US" sz="2000" dirty="0">
                    <a:latin typeface="Verdana" panose="020B0604030504040204" pitchFamily="34" charset="0"/>
                    <a:ea typeface="Verdana" panose="020B0604030504040204" pitchFamily="34" charset="0"/>
                    <a:cs typeface="Verdana" panose="020B0604030504040204" pitchFamily="34" charset="0"/>
                  </a:rPr>
                  <a:t>The same diagram of </a:t>
                </a:r>
                <a14:m>
                  <m:oMath xmlns:m="http://schemas.openxmlformats.org/officeDocument/2006/math">
                    <m:r>
                      <a:rPr lang="en-US" sz="2000" i="1">
                        <a:latin typeface="Cambria Math" panose="02040503050406030204" pitchFamily="18" charset="0"/>
                      </a:rPr>
                      <m:t>3</m:t>
                    </m:r>
                  </m:oMath>
                </a14:m>
                <a:r>
                  <a:rPr lang="en-US" sz="2000" dirty="0">
                    <a:latin typeface="Verdana" panose="020B0604030504040204" pitchFamily="34" charset="0"/>
                    <a:ea typeface="Verdana" panose="020B0604030504040204" pitchFamily="34" charset="0"/>
                    <a:cs typeface="Verdana" panose="020B0604030504040204" pitchFamily="34" charset="0"/>
                  </a:rPr>
                  <a:t> cubes whose dimensions are </a:t>
                </a:r>
                <a14:m>
                  <m:oMath xmlns:m="http://schemas.openxmlformats.org/officeDocument/2006/math">
                    <m:f>
                      <m:fPr>
                        <m:ctrlPr>
                          <a:rPr lang="en-US" sz="2000" i="1">
                            <a:latin typeface="Cambria Math" panose="02040503050406030204" pitchFamily="18" charset="0"/>
                          </a:rPr>
                        </m:ctrlPr>
                      </m:fPr>
                      <m:num>
                        <m:r>
                          <a:rPr lang="en-US" sz="2000" i="1">
                            <a:latin typeface="Cambria Math" panose="02040503050406030204" pitchFamily="18" charset="0"/>
                          </a:rPr>
                          <m:t>1</m:t>
                        </m:r>
                      </m:num>
                      <m:den>
                        <m:r>
                          <a:rPr lang="en-US" sz="2000" i="1">
                            <a:latin typeface="Cambria Math" panose="02040503050406030204" pitchFamily="18" charset="0"/>
                          </a:rPr>
                          <m:t>4</m:t>
                        </m:r>
                      </m:den>
                    </m:f>
                  </m:oMath>
                </a14:m>
                <a:r>
                  <a:rPr lang="en-US" sz="2000" dirty="0">
                    <a:latin typeface="Verdana" panose="020B0604030504040204" pitchFamily="34" charset="0"/>
                    <a:ea typeface="Verdana" panose="020B0604030504040204" pitchFamily="34" charset="0"/>
                    <a:cs typeface="Verdana" panose="020B0604030504040204" pitchFamily="34" charset="0"/>
                  </a:rPr>
                  <a:t> inches is shown.</a:t>
                </a:r>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marL="1036638" indent="-341313">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The </a:t>
                </a:r>
                <a:r>
                  <a:rPr lang="en-US" sz="2000" dirty="0">
                    <a:solidFill>
                      <a:srgbClr val="00B0F0"/>
                    </a:solidFill>
                    <a:latin typeface="Verdana" panose="020B0604030504040204" pitchFamily="34" charset="0"/>
                    <a:ea typeface="Verdana" panose="020B0604030504040204" pitchFamily="34" charset="0"/>
                    <a:cs typeface="Verdana" panose="020B0604030504040204" pitchFamily="34" charset="0"/>
                  </a:rPr>
                  <a:t>blue</a:t>
                </a:r>
                <a:r>
                  <a:rPr lang="en-US" sz="2000" dirty="0">
                    <a:latin typeface="Verdana" panose="020B0604030504040204" pitchFamily="34" charset="0"/>
                    <a:ea typeface="Verdana" panose="020B0604030504040204" pitchFamily="34" charset="0"/>
                    <a:cs typeface="Verdana" panose="020B0604030504040204" pitchFamily="34" charset="0"/>
                  </a:rPr>
                  <a:t> line represents the </a:t>
                </a:r>
                <a:r>
                  <a:rPr lang="en-US" sz="2000" dirty="0">
                    <a:solidFill>
                      <a:srgbClr val="00B0F0"/>
                    </a:solidFill>
                    <a:latin typeface="Verdana" panose="020B0604030504040204" pitchFamily="34" charset="0"/>
                    <a:ea typeface="Verdana" panose="020B0604030504040204" pitchFamily="34" charset="0"/>
                    <a:cs typeface="Verdana" panose="020B0604030504040204" pitchFamily="34" charset="0"/>
                  </a:rPr>
                  <a:t>width</a:t>
                </a:r>
                <a:r>
                  <a:rPr lang="en-US" sz="2000" dirty="0">
                    <a:latin typeface="Verdana" panose="020B0604030504040204" pitchFamily="34" charset="0"/>
                    <a:ea typeface="Verdana" panose="020B0604030504040204" pitchFamily="34" charset="0"/>
                    <a:cs typeface="Verdana" panose="020B0604030504040204" pitchFamily="34" charset="0"/>
                  </a:rPr>
                  <a:t> of the </a:t>
                </a:r>
                <a14:m>
                  <m:oMath xmlns:m="http://schemas.openxmlformats.org/officeDocument/2006/math">
                    <m:r>
                      <a:rPr lang="en-US" sz="2000" i="1">
                        <a:latin typeface="Cambria Math" panose="02040503050406030204" pitchFamily="18" charset="0"/>
                      </a:rPr>
                      <m:t>3</m:t>
                    </m:r>
                  </m:oMath>
                </a14:m>
                <a:r>
                  <a:rPr lang="en-US" sz="2000" dirty="0">
                    <a:latin typeface="Verdana" panose="020B0604030504040204" pitchFamily="34" charset="0"/>
                    <a:ea typeface="Verdana" panose="020B0604030504040204" pitchFamily="34" charset="0"/>
                    <a:cs typeface="Verdana" panose="020B0604030504040204" pitchFamily="34" charset="0"/>
                  </a:rPr>
                  <a:t> cubes.</a:t>
                </a:r>
              </a:p>
              <a:p>
                <a:pPr marL="1036638"/>
                <a:r>
                  <a:rPr lang="en-US" sz="2000" dirty="0">
                    <a:latin typeface="Verdana" panose="020B0604030504040204" pitchFamily="34" charset="0"/>
                    <a:ea typeface="Verdana" panose="020B0604030504040204" pitchFamily="34" charset="0"/>
                    <a:cs typeface="Verdana" panose="020B0604030504040204" pitchFamily="34" charset="0"/>
                  </a:rPr>
                  <a:t>What is the width, in inches?</a:t>
                </a:r>
              </a:p>
              <a:p>
                <a:pPr marL="1036638"/>
                <a:endParaRPr lang="en-US" sz="2000" dirty="0">
                  <a:latin typeface="Verdana" panose="020B0604030504040204" pitchFamily="34" charset="0"/>
                  <a:ea typeface="Verdana" panose="020B0604030504040204" pitchFamily="34" charset="0"/>
                  <a:cs typeface="Verdana" panose="020B0604030504040204" pitchFamily="34" charset="0"/>
                </a:endParaRPr>
              </a:p>
              <a:p>
                <a:pPr marL="1831975" indent="-485775">
                  <a:buFont typeface="+mj-lt"/>
                  <a:buAutoNum type="alphaUcPeriod"/>
                </a:pPr>
                <a14:m>
                  <m:oMath xmlns:m="http://schemas.openxmlformats.org/officeDocument/2006/math">
                    <m:f>
                      <m:fPr>
                        <m:ctrlPr>
                          <a:rPr lang="en-US" sz="2000" i="1">
                            <a:latin typeface="Cambria Math" panose="02040503050406030204" pitchFamily="18" charset="0"/>
                          </a:rPr>
                        </m:ctrlPr>
                      </m:fPr>
                      <m:num>
                        <m:r>
                          <a:rPr lang="en-US" sz="2000" i="1">
                            <a:latin typeface="Cambria Math" panose="02040503050406030204" pitchFamily="18" charset="0"/>
                          </a:rPr>
                          <m:t>1</m:t>
                        </m:r>
                      </m:num>
                      <m:den>
                        <m:r>
                          <a:rPr lang="en-US" sz="2000" i="1">
                            <a:latin typeface="Cambria Math" panose="02040503050406030204" pitchFamily="18" charset="0"/>
                          </a:rPr>
                          <m:t>4</m:t>
                        </m:r>
                      </m:den>
                    </m:f>
                  </m:oMath>
                </a14:m>
                <a:r>
                  <a:rPr lang="en-US" sz="2000" dirty="0">
                    <a:latin typeface="Verdana" panose="020B0604030504040204" pitchFamily="34" charset="0"/>
                    <a:ea typeface="Verdana" panose="020B0604030504040204" pitchFamily="34" charset="0"/>
                    <a:cs typeface="Verdana" panose="020B0604030504040204" pitchFamily="34" charset="0"/>
                  </a:rPr>
                  <a:t> inches</a:t>
                </a:r>
              </a:p>
              <a:p>
                <a:pPr marL="1831975" indent="-485775">
                  <a:buFont typeface="+mj-lt"/>
                  <a:buAutoNum type="alphaU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1831975" indent="-485775">
                  <a:buFont typeface="+mj-lt"/>
                  <a:buAutoNum type="alphaUcPeriod"/>
                </a:pPr>
                <a14:m>
                  <m:oMath xmlns:m="http://schemas.openxmlformats.org/officeDocument/2006/math">
                    <m:f>
                      <m:fPr>
                        <m:ctrlPr>
                          <a:rPr lang="en-US" sz="2000" i="1">
                            <a:latin typeface="Cambria Math" panose="02040503050406030204" pitchFamily="18" charset="0"/>
                          </a:rPr>
                        </m:ctrlPr>
                      </m:fPr>
                      <m:num>
                        <m:r>
                          <a:rPr lang="en-US" sz="2000" i="1">
                            <a:latin typeface="Cambria Math" panose="02040503050406030204" pitchFamily="18" charset="0"/>
                          </a:rPr>
                          <m:t>2</m:t>
                        </m:r>
                      </m:num>
                      <m:den>
                        <m:r>
                          <a:rPr lang="en-US" sz="2000" i="1">
                            <a:latin typeface="Cambria Math" panose="02040503050406030204" pitchFamily="18" charset="0"/>
                          </a:rPr>
                          <m:t>4</m:t>
                        </m:r>
                      </m:den>
                    </m:f>
                  </m:oMath>
                </a14:m>
                <a:r>
                  <a:rPr lang="en-US" sz="2000" dirty="0">
                    <a:latin typeface="Verdana" panose="020B0604030504040204" pitchFamily="34" charset="0"/>
                    <a:ea typeface="Verdana" panose="020B0604030504040204" pitchFamily="34" charset="0"/>
                    <a:cs typeface="Verdana" panose="020B0604030504040204" pitchFamily="34" charset="0"/>
                  </a:rPr>
                  <a:t> inches</a:t>
                </a:r>
              </a:p>
              <a:p>
                <a:pPr marL="1831975" indent="-485775">
                  <a:buFont typeface="+mj-lt"/>
                  <a:buAutoNum type="alphaU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1831975" indent="-485775">
                  <a:buFont typeface="+mj-lt"/>
                  <a:buAutoNum type="alphaUcPeriod"/>
                </a:pPr>
                <a14:m>
                  <m:oMath xmlns:m="http://schemas.openxmlformats.org/officeDocument/2006/math">
                    <m:f>
                      <m:fPr>
                        <m:ctrlPr>
                          <a:rPr lang="en-US" sz="2000" i="1">
                            <a:latin typeface="Cambria Math" panose="02040503050406030204" pitchFamily="18" charset="0"/>
                          </a:rPr>
                        </m:ctrlPr>
                      </m:fPr>
                      <m:num>
                        <m:r>
                          <a:rPr lang="en-US" sz="2000" i="1">
                            <a:latin typeface="Cambria Math" panose="02040503050406030204" pitchFamily="18" charset="0"/>
                          </a:rPr>
                          <m:t>3</m:t>
                        </m:r>
                      </m:num>
                      <m:den>
                        <m:r>
                          <a:rPr lang="en-US" sz="2000" i="1">
                            <a:latin typeface="Cambria Math" panose="02040503050406030204" pitchFamily="18" charset="0"/>
                          </a:rPr>
                          <m:t>4</m:t>
                        </m:r>
                      </m:den>
                    </m:f>
                  </m:oMath>
                </a14:m>
                <a:r>
                  <a:rPr lang="en-US" sz="2000" dirty="0">
                    <a:latin typeface="Verdana" panose="020B0604030504040204" pitchFamily="34" charset="0"/>
                    <a:ea typeface="Verdana" panose="020B0604030504040204" pitchFamily="34" charset="0"/>
                    <a:cs typeface="Verdana" panose="020B0604030504040204" pitchFamily="34" charset="0"/>
                  </a:rPr>
                  <a:t> inches</a:t>
                </a:r>
              </a:p>
              <a:p>
                <a:pPr marL="1831975" indent="-485775">
                  <a:buFont typeface="+mj-lt"/>
                  <a:buAutoNum type="alphaU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1831975" indent="-485775">
                  <a:buFont typeface="+mj-lt"/>
                  <a:buAutoNum type="alphaUcPeriod"/>
                </a:pPr>
                <a14:m>
                  <m:oMath xmlns:m="http://schemas.openxmlformats.org/officeDocument/2006/math">
                    <m:f>
                      <m:fPr>
                        <m:ctrlPr>
                          <a:rPr lang="en-US" sz="2000" i="1">
                            <a:latin typeface="Cambria Math" panose="02040503050406030204" pitchFamily="18" charset="0"/>
                          </a:rPr>
                        </m:ctrlPr>
                      </m:fPr>
                      <m:num>
                        <m:r>
                          <a:rPr lang="en-US" sz="2000" i="1">
                            <a:latin typeface="Cambria Math" panose="02040503050406030204" pitchFamily="18" charset="0"/>
                          </a:rPr>
                          <m:t>4</m:t>
                        </m:r>
                      </m:num>
                      <m:den>
                        <m:r>
                          <a:rPr lang="en-US" sz="2000" i="1">
                            <a:latin typeface="Cambria Math" panose="02040503050406030204" pitchFamily="18" charset="0"/>
                          </a:rPr>
                          <m:t>4</m:t>
                        </m:r>
                      </m:den>
                    </m:f>
                  </m:oMath>
                </a14:m>
                <a:r>
                  <a:rPr lang="en-US" sz="2000" dirty="0">
                    <a:latin typeface="Verdana" panose="020B0604030504040204" pitchFamily="34" charset="0"/>
                    <a:ea typeface="Verdana" panose="020B0604030504040204" pitchFamily="34" charset="0"/>
                    <a:cs typeface="Verdana" panose="020B0604030504040204" pitchFamily="34" charset="0"/>
                  </a:rPr>
                  <a:t> inches</a:t>
                </a:r>
              </a:p>
              <a:p>
                <a:pPr lvl="0"/>
                <a:endParaRPr lang="en-US" dirty="0"/>
              </a:p>
            </p:txBody>
          </p:sp>
        </mc:Choice>
        <mc:Fallback>
          <p:sp>
            <p:nvSpPr>
              <p:cNvPr id="328" name="Google Shape;328;p20"/>
              <p:cNvSpPr txBox="1">
                <a:spLocks noRot="1" noChangeAspect="1" noMove="1" noResize="1" noEditPoints="1" noAdjustHandles="1" noChangeArrowheads="1" noChangeShapeType="1" noTextEdit="1"/>
              </p:cNvSpPr>
              <p:nvPr/>
            </p:nvSpPr>
            <p:spPr>
              <a:xfrm>
                <a:off x="787400" y="288746"/>
                <a:ext cx="10274300" cy="6482503"/>
              </a:xfrm>
              <a:prstGeom prst="rect">
                <a:avLst/>
              </a:prstGeom>
              <a:blipFill>
                <a:blip r:embed="rId3"/>
                <a:stretch>
                  <a:fillRect l="-652"/>
                </a:stretch>
              </a:blipFill>
              <a:ln>
                <a:noFill/>
              </a:ln>
            </p:spPr>
            <p:txBody>
              <a:bodyPr/>
              <a:lstStyle/>
              <a:p>
                <a:r>
                  <a:rPr lang="en-US">
                    <a:noFill/>
                  </a:rPr>
                  <a:t> </a:t>
                </a:r>
              </a:p>
            </p:txBody>
          </p:sp>
        </mc:Fallback>
      </mc:AlternateContent>
      <p:sp>
        <p:nvSpPr>
          <p:cNvPr id="2" name="TextBox 1">
            <a:extLst>
              <a:ext uri="{FF2B5EF4-FFF2-40B4-BE49-F238E27FC236}">
                <a16:creationId xmlns:a16="http://schemas.microsoft.com/office/drawing/2014/main" id="{D4ECDC1C-44B9-A54C-A0E4-AE559A34C700}"/>
              </a:ext>
            </a:extLst>
          </p:cNvPr>
          <p:cNvSpPr txBox="1"/>
          <p:nvPr/>
        </p:nvSpPr>
        <p:spPr>
          <a:xfrm>
            <a:off x="4779265" y="2633473"/>
            <a:ext cx="184731" cy="307777"/>
          </a:xfrm>
          <a:prstGeom prst="rect">
            <a:avLst/>
          </a:prstGeom>
          <a:noFill/>
        </p:spPr>
        <p:txBody>
          <a:bodyPr wrap="none" rtlCol="0">
            <a:spAutoFit/>
          </a:bodyPr>
          <a:lstStyle/>
          <a:p>
            <a:endParaRPr lang="en-US" dirty="0"/>
          </a:p>
        </p:txBody>
      </p:sp>
      <p:pic>
        <p:nvPicPr>
          <p:cNvPr id="7" name="Picture 6" descr="Shape, rectangle&#10;&#10;Description automatically generated">
            <a:extLst>
              <a:ext uri="{FF2B5EF4-FFF2-40B4-BE49-F238E27FC236}">
                <a16:creationId xmlns:a16="http://schemas.microsoft.com/office/drawing/2014/main" id="{35798346-85F7-E841-8BD5-D9DCDCA70FD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318000" y="816738"/>
            <a:ext cx="3556000" cy="1816735"/>
          </a:xfrm>
          <a:prstGeom prst="rect">
            <a:avLst/>
          </a:prstGeom>
        </p:spPr>
      </p:pic>
      <p:sp>
        <p:nvSpPr>
          <p:cNvPr id="9" name="Google Shape;122;g104476d1465_1_17">
            <a:extLst>
              <a:ext uri="{FF2B5EF4-FFF2-40B4-BE49-F238E27FC236}">
                <a16:creationId xmlns:a16="http://schemas.microsoft.com/office/drawing/2014/main" id="{E62039CD-BAF9-4E7D-B5E0-1CDE332FE591}"/>
              </a:ext>
            </a:extLst>
          </p:cNvPr>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10"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9</a:t>
            </a:r>
            <a:endParaRPr i="1" dirty="0">
              <a:latin typeface="Calibri"/>
              <a:ea typeface="Calibri"/>
              <a:cs typeface="Calibri"/>
              <a:sym typeface="Calibri"/>
            </a:endParaRPr>
          </a:p>
        </p:txBody>
      </p:sp>
      <p:pic>
        <p:nvPicPr>
          <p:cNvPr id="11"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18605549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28" name="Google Shape;328;p20"/>
              <p:cNvSpPr txBox="1"/>
              <p:nvPr/>
            </p:nvSpPr>
            <p:spPr>
              <a:xfrm>
                <a:off x="863600" y="288746"/>
                <a:ext cx="10464800" cy="5959283"/>
              </a:xfrm>
              <a:prstGeom prst="rect">
                <a:avLst/>
              </a:prstGeom>
              <a:noFill/>
              <a:ln>
                <a:noFill/>
              </a:ln>
            </p:spPr>
            <p:txBody>
              <a:bodyPr spcFirstLastPara="1" wrap="square" lIns="91425" tIns="45700" rIns="91425" bIns="45700" anchor="t" anchorCtr="0">
                <a:spAutoFit/>
              </a:bodyPr>
              <a:lstStyle/>
              <a:p>
                <a:pPr marL="517525" indent="-517525">
                  <a:buFont typeface="+mj-lt"/>
                  <a:buAutoNum type="arabicPeriod" startAt="10"/>
                </a:pPr>
                <a:r>
                  <a:rPr lang="en-US" sz="2000" dirty="0">
                    <a:latin typeface="Verdana" panose="020B0604030504040204" pitchFamily="34" charset="0"/>
                    <a:ea typeface="Verdana" panose="020B0604030504040204" pitchFamily="34" charset="0"/>
                    <a:cs typeface="Verdana" panose="020B0604030504040204" pitchFamily="34" charset="0"/>
                  </a:rPr>
                  <a:t>The same diagram of </a:t>
                </a:r>
                <a14:m>
                  <m:oMath xmlns:m="http://schemas.openxmlformats.org/officeDocument/2006/math">
                    <m:r>
                      <a:rPr lang="en-US" sz="2000" i="1">
                        <a:latin typeface="Cambria Math" panose="02040503050406030204" pitchFamily="18" charset="0"/>
                      </a:rPr>
                      <m:t>3</m:t>
                    </m:r>
                  </m:oMath>
                </a14:m>
                <a:r>
                  <a:rPr lang="en-US" sz="2000" dirty="0">
                    <a:latin typeface="Verdana" panose="020B0604030504040204" pitchFamily="34" charset="0"/>
                    <a:ea typeface="Verdana" panose="020B0604030504040204" pitchFamily="34" charset="0"/>
                    <a:cs typeface="Verdana" panose="020B0604030504040204" pitchFamily="34" charset="0"/>
                  </a:rPr>
                  <a:t> cubes whose dimensions are </a:t>
                </a:r>
                <a14:m>
                  <m:oMath xmlns:m="http://schemas.openxmlformats.org/officeDocument/2006/math">
                    <m:f>
                      <m:fPr>
                        <m:ctrlPr>
                          <a:rPr lang="en-US" sz="2000" i="1">
                            <a:latin typeface="Cambria Math" panose="02040503050406030204" pitchFamily="18" charset="0"/>
                          </a:rPr>
                        </m:ctrlPr>
                      </m:fPr>
                      <m:num>
                        <m:r>
                          <a:rPr lang="en-US" sz="2000" i="1">
                            <a:latin typeface="Cambria Math" panose="02040503050406030204" pitchFamily="18" charset="0"/>
                          </a:rPr>
                          <m:t>1</m:t>
                        </m:r>
                      </m:num>
                      <m:den>
                        <m:r>
                          <a:rPr lang="en-US" sz="2000" i="1">
                            <a:latin typeface="Cambria Math" panose="02040503050406030204" pitchFamily="18" charset="0"/>
                          </a:rPr>
                          <m:t>4</m:t>
                        </m:r>
                      </m:den>
                    </m:f>
                  </m:oMath>
                </a14:m>
                <a:r>
                  <a:rPr lang="en-US" sz="2000" dirty="0">
                    <a:latin typeface="Verdana" panose="020B0604030504040204" pitchFamily="34" charset="0"/>
                    <a:ea typeface="Verdana" panose="020B0604030504040204" pitchFamily="34" charset="0"/>
                    <a:cs typeface="Verdana" panose="020B0604030504040204" pitchFamily="34" charset="0"/>
                  </a:rPr>
                  <a:t> inches is shown.</a:t>
                </a:r>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marL="915988" indent="-342900">
                  <a:buFont typeface="+mj-lt"/>
                  <a:buAutoNum type="alphaLcPeriod" startAt="3"/>
                </a:pPr>
                <a:r>
                  <a:rPr lang="en-US" sz="2000" dirty="0">
                    <a:latin typeface="Verdana" panose="020B0604030504040204" pitchFamily="34" charset="0"/>
                    <a:ea typeface="Verdana" panose="020B0604030504040204" pitchFamily="34" charset="0"/>
                    <a:cs typeface="Verdana" panose="020B0604030504040204" pitchFamily="34" charset="0"/>
                  </a:rPr>
                  <a:t>The </a:t>
                </a:r>
                <a:r>
                  <a:rPr lang="en-US" sz="2000" dirty="0">
                    <a:solidFill>
                      <a:srgbClr val="92D050"/>
                    </a:solidFill>
                    <a:latin typeface="Verdana" panose="020B0604030504040204" pitchFamily="34" charset="0"/>
                    <a:ea typeface="Verdana" panose="020B0604030504040204" pitchFamily="34" charset="0"/>
                    <a:cs typeface="Verdana" panose="020B0604030504040204" pitchFamily="34" charset="0"/>
                  </a:rPr>
                  <a:t>green</a:t>
                </a:r>
                <a:r>
                  <a:rPr lang="en-US" sz="2000" dirty="0">
                    <a:latin typeface="Verdana" panose="020B0604030504040204" pitchFamily="34" charset="0"/>
                    <a:ea typeface="Verdana" panose="020B0604030504040204" pitchFamily="34" charset="0"/>
                    <a:cs typeface="Verdana" panose="020B0604030504040204" pitchFamily="34" charset="0"/>
                  </a:rPr>
                  <a:t> line represents the </a:t>
                </a:r>
                <a:r>
                  <a:rPr lang="en-US" sz="2000" dirty="0">
                    <a:solidFill>
                      <a:srgbClr val="92D050"/>
                    </a:solidFill>
                    <a:latin typeface="Verdana" panose="020B0604030504040204" pitchFamily="34" charset="0"/>
                    <a:ea typeface="Verdana" panose="020B0604030504040204" pitchFamily="34" charset="0"/>
                    <a:cs typeface="Verdana" panose="020B0604030504040204" pitchFamily="34" charset="0"/>
                  </a:rPr>
                  <a:t>height</a:t>
                </a:r>
                <a:r>
                  <a:rPr lang="en-US" sz="2000" dirty="0">
                    <a:latin typeface="Verdana" panose="020B0604030504040204" pitchFamily="34" charset="0"/>
                    <a:ea typeface="Verdana" panose="020B0604030504040204" pitchFamily="34" charset="0"/>
                    <a:cs typeface="Verdana" panose="020B0604030504040204" pitchFamily="34" charset="0"/>
                  </a:rPr>
                  <a:t> of the cubes.</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971550"/>
                <a:r>
                  <a:rPr lang="en-US" sz="2000" dirty="0">
                    <a:latin typeface="Verdana" panose="020B0604030504040204" pitchFamily="34" charset="0"/>
                    <a:ea typeface="Verdana" panose="020B0604030504040204" pitchFamily="34" charset="0"/>
                    <a:cs typeface="Verdana" panose="020B0604030504040204" pitchFamily="34" charset="0"/>
                  </a:rPr>
                  <a:t>What is the height, in inches?</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1887538" indent="-541338">
                  <a:buFont typeface="+mj-lt"/>
                  <a:buAutoNum type="alphaUcPeriod"/>
                </a:pPr>
                <a14:m>
                  <m:oMath xmlns:m="http://schemas.openxmlformats.org/officeDocument/2006/math">
                    <m:f>
                      <m:fPr>
                        <m:ctrlPr>
                          <a:rPr lang="en-US" sz="2000" i="1">
                            <a:latin typeface="Cambria Math" panose="02040503050406030204" pitchFamily="18" charset="0"/>
                          </a:rPr>
                        </m:ctrlPr>
                      </m:fPr>
                      <m:num>
                        <m:r>
                          <a:rPr lang="en-US" sz="2000" i="1">
                            <a:latin typeface="Cambria Math" panose="02040503050406030204" pitchFamily="18" charset="0"/>
                          </a:rPr>
                          <m:t>1</m:t>
                        </m:r>
                      </m:num>
                      <m:den>
                        <m:r>
                          <a:rPr lang="en-US" sz="2000" i="1">
                            <a:latin typeface="Cambria Math" panose="02040503050406030204" pitchFamily="18" charset="0"/>
                          </a:rPr>
                          <m:t>4</m:t>
                        </m:r>
                      </m:den>
                    </m:f>
                  </m:oMath>
                </a14:m>
                <a:r>
                  <a:rPr lang="en-US" sz="2000" dirty="0">
                    <a:latin typeface="Verdana" panose="020B0604030504040204" pitchFamily="34" charset="0"/>
                    <a:ea typeface="Verdana" panose="020B0604030504040204" pitchFamily="34" charset="0"/>
                    <a:cs typeface="Verdana" panose="020B0604030504040204" pitchFamily="34" charset="0"/>
                  </a:rPr>
                  <a:t> inches</a:t>
                </a:r>
              </a:p>
              <a:p>
                <a:pPr marL="1887538" indent="-541338">
                  <a:buFont typeface="+mj-lt"/>
                  <a:buAutoNum type="alphaUcPeriod"/>
                </a:pPr>
                <a14:m>
                  <m:oMath xmlns:m="http://schemas.openxmlformats.org/officeDocument/2006/math">
                    <m:f>
                      <m:fPr>
                        <m:ctrlPr>
                          <a:rPr lang="en-US" sz="2000" i="1">
                            <a:latin typeface="Cambria Math" panose="02040503050406030204" pitchFamily="18" charset="0"/>
                          </a:rPr>
                        </m:ctrlPr>
                      </m:fPr>
                      <m:num>
                        <m:r>
                          <a:rPr lang="en-US" sz="2000" i="1">
                            <a:latin typeface="Cambria Math" panose="02040503050406030204" pitchFamily="18" charset="0"/>
                          </a:rPr>
                          <m:t>2</m:t>
                        </m:r>
                      </m:num>
                      <m:den>
                        <m:r>
                          <a:rPr lang="en-US" sz="2000" i="1">
                            <a:latin typeface="Cambria Math" panose="02040503050406030204" pitchFamily="18" charset="0"/>
                          </a:rPr>
                          <m:t>4</m:t>
                        </m:r>
                      </m:den>
                    </m:f>
                  </m:oMath>
                </a14:m>
                <a:r>
                  <a:rPr lang="en-US" sz="2000" dirty="0">
                    <a:latin typeface="Verdana" panose="020B0604030504040204" pitchFamily="34" charset="0"/>
                    <a:ea typeface="Verdana" panose="020B0604030504040204" pitchFamily="34" charset="0"/>
                    <a:cs typeface="Verdana" panose="020B0604030504040204" pitchFamily="34" charset="0"/>
                  </a:rPr>
                  <a:t> inches</a:t>
                </a:r>
              </a:p>
              <a:p>
                <a:pPr marL="1887538" indent="-541338">
                  <a:buFont typeface="+mj-lt"/>
                  <a:buAutoNum type="alphaUcPeriod"/>
                </a:pPr>
                <a14:m>
                  <m:oMath xmlns:m="http://schemas.openxmlformats.org/officeDocument/2006/math">
                    <m:f>
                      <m:fPr>
                        <m:ctrlPr>
                          <a:rPr lang="en-US" sz="2000" i="1">
                            <a:latin typeface="Cambria Math" panose="02040503050406030204" pitchFamily="18" charset="0"/>
                          </a:rPr>
                        </m:ctrlPr>
                      </m:fPr>
                      <m:num>
                        <m:r>
                          <a:rPr lang="en-US" sz="2000" i="1">
                            <a:latin typeface="Cambria Math" panose="02040503050406030204" pitchFamily="18" charset="0"/>
                          </a:rPr>
                          <m:t>3</m:t>
                        </m:r>
                      </m:num>
                      <m:den>
                        <m:r>
                          <a:rPr lang="en-US" sz="2000" i="1">
                            <a:latin typeface="Cambria Math" panose="02040503050406030204" pitchFamily="18" charset="0"/>
                          </a:rPr>
                          <m:t>4</m:t>
                        </m:r>
                      </m:den>
                    </m:f>
                  </m:oMath>
                </a14:m>
                <a:r>
                  <a:rPr lang="en-US" sz="2000" dirty="0">
                    <a:latin typeface="Verdana" panose="020B0604030504040204" pitchFamily="34" charset="0"/>
                    <a:ea typeface="Verdana" panose="020B0604030504040204" pitchFamily="34" charset="0"/>
                    <a:cs typeface="Verdana" panose="020B0604030504040204" pitchFamily="34" charset="0"/>
                  </a:rPr>
                  <a:t> inches</a:t>
                </a:r>
              </a:p>
              <a:p>
                <a:pPr marL="1887538" indent="-541338">
                  <a:buFont typeface="+mj-lt"/>
                  <a:buAutoNum type="alphaUcPeriod"/>
                </a:pPr>
                <a14:m>
                  <m:oMath xmlns:m="http://schemas.openxmlformats.org/officeDocument/2006/math">
                    <m:f>
                      <m:fPr>
                        <m:ctrlPr>
                          <a:rPr lang="en-US" sz="2000" i="1">
                            <a:latin typeface="Cambria Math" panose="02040503050406030204" pitchFamily="18" charset="0"/>
                          </a:rPr>
                        </m:ctrlPr>
                      </m:fPr>
                      <m:num>
                        <m:r>
                          <a:rPr lang="en-US" sz="2000" i="1">
                            <a:latin typeface="Cambria Math" panose="02040503050406030204" pitchFamily="18" charset="0"/>
                          </a:rPr>
                          <m:t>4</m:t>
                        </m:r>
                      </m:num>
                      <m:den>
                        <m:r>
                          <a:rPr lang="en-US" sz="2000" i="1">
                            <a:latin typeface="Cambria Math" panose="02040503050406030204" pitchFamily="18" charset="0"/>
                          </a:rPr>
                          <m:t>4</m:t>
                        </m:r>
                      </m:den>
                    </m:f>
                  </m:oMath>
                </a14:m>
                <a:r>
                  <a:rPr lang="en-US" sz="2000" dirty="0">
                    <a:latin typeface="Verdana" panose="020B0604030504040204" pitchFamily="34" charset="0"/>
                    <a:ea typeface="Verdana" panose="020B0604030504040204" pitchFamily="34" charset="0"/>
                    <a:cs typeface="Verdana" panose="020B0604030504040204" pitchFamily="34" charset="0"/>
                  </a:rPr>
                  <a:t> inches</a:t>
                </a:r>
              </a:p>
              <a:p>
                <a:pPr lvl="0"/>
                <a:endParaRPr lang="en-US" dirty="0"/>
              </a:p>
            </p:txBody>
          </p:sp>
        </mc:Choice>
        <mc:Fallback>
          <p:sp>
            <p:nvSpPr>
              <p:cNvPr id="328" name="Google Shape;328;p20"/>
              <p:cNvSpPr txBox="1">
                <a:spLocks noRot="1" noChangeAspect="1" noMove="1" noResize="1" noEditPoints="1" noAdjustHandles="1" noChangeArrowheads="1" noChangeShapeType="1" noTextEdit="1"/>
              </p:cNvSpPr>
              <p:nvPr/>
            </p:nvSpPr>
            <p:spPr>
              <a:xfrm>
                <a:off x="863600" y="288746"/>
                <a:ext cx="10464800" cy="5959283"/>
              </a:xfrm>
              <a:prstGeom prst="rect">
                <a:avLst/>
              </a:prstGeom>
              <a:blipFill>
                <a:blip r:embed="rId3"/>
                <a:stretch>
                  <a:fillRect l="-641"/>
                </a:stretch>
              </a:blipFill>
              <a:ln>
                <a:noFill/>
              </a:ln>
            </p:spPr>
            <p:txBody>
              <a:bodyPr/>
              <a:lstStyle/>
              <a:p>
                <a:r>
                  <a:rPr lang="en-US">
                    <a:noFill/>
                  </a:rPr>
                  <a:t> </a:t>
                </a:r>
              </a:p>
            </p:txBody>
          </p:sp>
        </mc:Fallback>
      </mc:AlternateContent>
      <p:sp>
        <p:nvSpPr>
          <p:cNvPr id="2" name="TextBox 1">
            <a:extLst>
              <a:ext uri="{FF2B5EF4-FFF2-40B4-BE49-F238E27FC236}">
                <a16:creationId xmlns:a16="http://schemas.microsoft.com/office/drawing/2014/main" id="{D4ECDC1C-44B9-A54C-A0E4-AE559A34C700}"/>
              </a:ext>
            </a:extLst>
          </p:cNvPr>
          <p:cNvSpPr txBox="1"/>
          <p:nvPr/>
        </p:nvSpPr>
        <p:spPr>
          <a:xfrm>
            <a:off x="4779265" y="2633473"/>
            <a:ext cx="184731" cy="307777"/>
          </a:xfrm>
          <a:prstGeom prst="rect">
            <a:avLst/>
          </a:prstGeom>
          <a:noFill/>
        </p:spPr>
        <p:txBody>
          <a:bodyPr wrap="none" rtlCol="0">
            <a:spAutoFit/>
          </a:bodyPr>
          <a:lstStyle/>
          <a:p>
            <a:endParaRPr lang="en-US" dirty="0"/>
          </a:p>
        </p:txBody>
      </p:sp>
      <p:pic>
        <p:nvPicPr>
          <p:cNvPr id="7" name="Picture 6" descr="Shape, rectangle&#10;&#10;Description automatically generated">
            <a:extLst>
              <a:ext uri="{FF2B5EF4-FFF2-40B4-BE49-F238E27FC236}">
                <a16:creationId xmlns:a16="http://schemas.microsoft.com/office/drawing/2014/main" id="{35798346-85F7-E841-8BD5-D9DCDCA70FD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318000" y="970626"/>
            <a:ext cx="3556000" cy="1816735"/>
          </a:xfrm>
          <a:prstGeom prst="rect">
            <a:avLst/>
          </a:prstGeom>
        </p:spPr>
      </p:pic>
      <p:sp>
        <p:nvSpPr>
          <p:cNvPr id="9" name="Google Shape;122;g104476d1465_1_17">
            <a:extLst>
              <a:ext uri="{FF2B5EF4-FFF2-40B4-BE49-F238E27FC236}">
                <a16:creationId xmlns:a16="http://schemas.microsoft.com/office/drawing/2014/main" id="{85B32055-1B28-436E-8CF3-F275C1A9E48B}"/>
              </a:ext>
            </a:extLst>
          </p:cNvPr>
          <p:cNvSpPr/>
          <p:nvPr/>
        </p:nvSpPr>
        <p:spPr>
          <a:xfrm>
            <a:off x="0" y="-8101"/>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10"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9</a:t>
            </a:r>
            <a:endParaRPr i="1" dirty="0">
              <a:latin typeface="Calibri"/>
              <a:ea typeface="Calibri"/>
              <a:cs typeface="Calibri"/>
              <a:sym typeface="Calibri"/>
            </a:endParaRPr>
          </a:p>
        </p:txBody>
      </p:sp>
      <p:pic>
        <p:nvPicPr>
          <p:cNvPr id="11"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9295021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28" name="Google Shape;328;p20"/>
              <p:cNvSpPr txBox="1"/>
              <p:nvPr/>
            </p:nvSpPr>
            <p:spPr>
              <a:xfrm>
                <a:off x="876300" y="288745"/>
                <a:ext cx="10439400" cy="3727775"/>
              </a:xfrm>
              <a:prstGeom prst="rect">
                <a:avLst/>
              </a:prstGeom>
              <a:noFill/>
              <a:ln>
                <a:noFill/>
              </a:ln>
            </p:spPr>
            <p:txBody>
              <a:bodyPr spcFirstLastPara="1" wrap="square" lIns="91425" tIns="45700" rIns="91425" bIns="45700" anchor="t" anchorCtr="0">
                <a:spAutoFit/>
              </a:bodyPr>
              <a:lstStyle/>
              <a:p>
                <a:pPr marL="517525" indent="-517525">
                  <a:buFont typeface="+mj-lt"/>
                  <a:buAutoNum type="arabicPeriod" startAt="10"/>
                </a:pPr>
                <a:r>
                  <a:rPr lang="en-US" sz="2000" dirty="0">
                    <a:latin typeface="Verdana" panose="020B0604030504040204" pitchFamily="34" charset="0"/>
                    <a:ea typeface="Verdana" panose="020B0604030504040204" pitchFamily="34" charset="0"/>
                    <a:cs typeface="Verdana" panose="020B0604030504040204" pitchFamily="34" charset="0"/>
                  </a:rPr>
                  <a:t>The same diagram of </a:t>
                </a:r>
                <a14:m>
                  <m:oMath xmlns:m="http://schemas.openxmlformats.org/officeDocument/2006/math">
                    <m:r>
                      <a:rPr lang="en-US" sz="2000" i="1">
                        <a:latin typeface="Cambria Math" panose="02040503050406030204" pitchFamily="18" charset="0"/>
                      </a:rPr>
                      <m:t>3</m:t>
                    </m:r>
                  </m:oMath>
                </a14:m>
                <a:r>
                  <a:rPr lang="en-US" sz="2000" dirty="0">
                    <a:latin typeface="Verdana" panose="020B0604030504040204" pitchFamily="34" charset="0"/>
                    <a:ea typeface="Verdana" panose="020B0604030504040204" pitchFamily="34" charset="0"/>
                    <a:cs typeface="Verdana" panose="020B0604030504040204" pitchFamily="34" charset="0"/>
                  </a:rPr>
                  <a:t> cubes whose dimensions are </a:t>
                </a:r>
                <a14:m>
                  <m:oMath xmlns:m="http://schemas.openxmlformats.org/officeDocument/2006/math">
                    <m:f>
                      <m:fPr>
                        <m:ctrlPr>
                          <a:rPr lang="en-US" sz="2000" i="1">
                            <a:latin typeface="Cambria Math" panose="02040503050406030204" pitchFamily="18" charset="0"/>
                          </a:rPr>
                        </m:ctrlPr>
                      </m:fPr>
                      <m:num>
                        <m:r>
                          <a:rPr lang="en-US" sz="2000" i="1">
                            <a:latin typeface="Cambria Math" panose="02040503050406030204" pitchFamily="18" charset="0"/>
                          </a:rPr>
                          <m:t>1</m:t>
                        </m:r>
                      </m:num>
                      <m:den>
                        <m:r>
                          <a:rPr lang="en-US" sz="2000" i="1">
                            <a:latin typeface="Cambria Math" panose="02040503050406030204" pitchFamily="18" charset="0"/>
                          </a:rPr>
                          <m:t>4</m:t>
                        </m:r>
                      </m:den>
                    </m:f>
                  </m:oMath>
                </a14:m>
                <a:r>
                  <a:rPr lang="en-US" sz="2000" dirty="0">
                    <a:latin typeface="Verdana" panose="020B0604030504040204" pitchFamily="34" charset="0"/>
                    <a:ea typeface="Verdana" panose="020B0604030504040204" pitchFamily="34" charset="0"/>
                    <a:cs typeface="Verdana" panose="020B0604030504040204" pitchFamily="34" charset="0"/>
                  </a:rPr>
                  <a:t> inches is shown.</a:t>
                </a:r>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lvl="0"/>
                <a:endParaRPr lang="en-US" dirty="0"/>
              </a:p>
              <a:p>
                <a:pPr marL="915988" indent="-452438">
                  <a:buFont typeface="+mj-lt"/>
                  <a:buAutoNum type="alphaLcPeriod" startAt="4"/>
                </a:pPr>
                <a:r>
                  <a:rPr lang="en-US" sz="2000" dirty="0">
                    <a:latin typeface="Verdana" panose="020B0604030504040204" pitchFamily="34" charset="0"/>
                    <a:ea typeface="Verdana" panose="020B0604030504040204" pitchFamily="34" charset="0"/>
                    <a:cs typeface="Verdana" panose="020B0604030504040204" pitchFamily="34" charset="0"/>
                  </a:rPr>
                  <a:t>Use the dimensions you found to determine the volume of all three cubes with the formula, </a:t>
                </a:r>
                <a14:m>
                  <m:oMath xmlns:m="http://schemas.openxmlformats.org/officeDocument/2006/math">
                    <m:r>
                      <a:rPr lang="en-US" sz="2000" i="1">
                        <a:latin typeface="Cambria Math" panose="02040503050406030204" pitchFamily="18" charset="0"/>
                      </a:rPr>
                      <m:t>𝑉</m:t>
                    </m:r>
                    <m:r>
                      <a:rPr lang="en-US" sz="2000" i="1">
                        <a:latin typeface="Cambria Math" panose="02040503050406030204" pitchFamily="18" charset="0"/>
                      </a:rPr>
                      <m:t>=</m:t>
                    </m:r>
                    <m:r>
                      <a:rPr lang="en-US" sz="2000" i="1">
                        <a:latin typeface="Cambria Math" panose="02040503050406030204" pitchFamily="18" charset="0"/>
                      </a:rPr>
                      <m:t>𝑙𝑤h</m:t>
                    </m:r>
                  </m:oMath>
                </a14:m>
                <a:r>
                  <a:rPr lang="en-US" sz="2000" dirty="0">
                    <a:latin typeface="Verdana" panose="020B0604030504040204" pitchFamily="34" charset="0"/>
                    <a:ea typeface="Verdana" panose="020B0604030504040204" pitchFamily="34" charset="0"/>
                    <a:cs typeface="Verdana" panose="020B0604030504040204" pitchFamily="34" charset="0"/>
                  </a:rPr>
                  <a:t>.</a:t>
                </a:r>
              </a:p>
              <a:p>
                <a:pPr lvl="0"/>
                <a:endParaRPr lang="en-US" dirty="0"/>
              </a:p>
            </p:txBody>
          </p:sp>
        </mc:Choice>
        <mc:Fallback xmlns="">
          <p:sp>
            <p:nvSpPr>
              <p:cNvPr id="328" name="Google Shape;328;p20"/>
              <p:cNvSpPr txBox="1">
                <a:spLocks noRot="1" noChangeAspect="1" noMove="1" noResize="1" noEditPoints="1" noAdjustHandles="1" noChangeArrowheads="1" noChangeShapeType="1" noTextEdit="1"/>
              </p:cNvSpPr>
              <p:nvPr/>
            </p:nvSpPr>
            <p:spPr>
              <a:xfrm>
                <a:off x="876300" y="288745"/>
                <a:ext cx="10439400" cy="3727775"/>
              </a:xfrm>
              <a:prstGeom prst="rect">
                <a:avLst/>
              </a:prstGeom>
              <a:blipFill rotWithShape="0">
                <a:blip r:embed="rId3"/>
                <a:stretch>
                  <a:fillRect l="-643"/>
                </a:stretch>
              </a:blipFill>
              <a:ln>
                <a:noFill/>
              </a:ln>
            </p:spPr>
            <p:txBody>
              <a:bodyPr/>
              <a:lstStyle/>
              <a:p>
                <a:r>
                  <a:rPr lang="en-US">
                    <a:noFill/>
                  </a:rPr>
                  <a:t> </a:t>
                </a:r>
              </a:p>
            </p:txBody>
          </p:sp>
        </mc:Fallback>
      </mc:AlternateContent>
      <p:sp>
        <p:nvSpPr>
          <p:cNvPr id="2" name="TextBox 1">
            <a:extLst>
              <a:ext uri="{FF2B5EF4-FFF2-40B4-BE49-F238E27FC236}">
                <a16:creationId xmlns:a16="http://schemas.microsoft.com/office/drawing/2014/main" id="{D4ECDC1C-44B9-A54C-A0E4-AE559A34C700}"/>
              </a:ext>
            </a:extLst>
          </p:cNvPr>
          <p:cNvSpPr txBox="1"/>
          <p:nvPr/>
        </p:nvSpPr>
        <p:spPr>
          <a:xfrm>
            <a:off x="4779265" y="2633473"/>
            <a:ext cx="184731" cy="307777"/>
          </a:xfrm>
          <a:prstGeom prst="rect">
            <a:avLst/>
          </a:prstGeom>
          <a:noFill/>
        </p:spPr>
        <p:txBody>
          <a:bodyPr wrap="none" rtlCol="0">
            <a:spAutoFit/>
          </a:bodyPr>
          <a:lstStyle/>
          <a:p>
            <a:endParaRPr lang="en-US" dirty="0"/>
          </a:p>
        </p:txBody>
      </p:sp>
      <p:pic>
        <p:nvPicPr>
          <p:cNvPr id="7" name="Picture 6" descr="Shape, rectangle&#10;&#10;Description automatically generated">
            <a:extLst>
              <a:ext uri="{FF2B5EF4-FFF2-40B4-BE49-F238E27FC236}">
                <a16:creationId xmlns:a16="http://schemas.microsoft.com/office/drawing/2014/main" id="{35798346-85F7-E841-8BD5-D9DCDCA70FD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318000" y="1124515"/>
            <a:ext cx="3556000" cy="1816735"/>
          </a:xfrm>
          <a:prstGeom prst="rect">
            <a:avLst/>
          </a:prstGeom>
        </p:spPr>
      </p:pic>
      <p:sp>
        <p:nvSpPr>
          <p:cNvPr id="9" name="Google Shape;122;g104476d1465_1_17">
            <a:extLst>
              <a:ext uri="{FF2B5EF4-FFF2-40B4-BE49-F238E27FC236}">
                <a16:creationId xmlns:a16="http://schemas.microsoft.com/office/drawing/2014/main" id="{0E0EA57C-D319-4F0D-8AEF-16F81E6ECD96}"/>
              </a:ext>
            </a:extLst>
          </p:cNvPr>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10"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9</a:t>
            </a:r>
            <a:endParaRPr i="1" dirty="0">
              <a:latin typeface="Calibri"/>
              <a:ea typeface="Calibri"/>
              <a:cs typeface="Calibri"/>
              <a:sym typeface="Calibri"/>
            </a:endParaRPr>
          </a:p>
        </p:txBody>
      </p:sp>
      <p:pic>
        <p:nvPicPr>
          <p:cNvPr id="11"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89790537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28" name="Google Shape;328;p20"/>
              <p:cNvSpPr txBox="1"/>
              <p:nvPr/>
            </p:nvSpPr>
            <p:spPr>
              <a:xfrm>
                <a:off x="901700" y="288745"/>
                <a:ext cx="10388600" cy="5459852"/>
              </a:xfrm>
              <a:prstGeom prst="rect">
                <a:avLst/>
              </a:prstGeom>
              <a:noFill/>
              <a:ln>
                <a:noFill/>
              </a:ln>
            </p:spPr>
            <p:txBody>
              <a:bodyPr spcFirstLastPara="1" wrap="square" lIns="91425" tIns="45700" rIns="91425" bIns="45700" anchor="t" anchorCtr="0">
                <a:spAutoFit/>
              </a:bodyPr>
              <a:lstStyle/>
              <a:p>
                <a:pPr lvl="0"/>
                <a:r>
                  <a:rPr lang="en-US" sz="2000" dirty="0">
                    <a:latin typeface="Verdana" panose="020B0604030504040204" pitchFamily="34" charset="0"/>
                    <a:ea typeface="Verdana" panose="020B0604030504040204" pitchFamily="34" charset="0"/>
                    <a:cs typeface="Verdana" panose="020B0604030504040204" pitchFamily="34" charset="0"/>
                  </a:rPr>
                  <a:t>Finding volume using fractional unit cubes can be done by first finding the volume of one of the fractional unit cubes, and then multiplying that by the total number of fractional unit cubes.</a:t>
                </a: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marL="342900" indent="-342900">
                  <a:buFont typeface="+mj-lt"/>
                  <a:buAutoNum type="arabicPeriod" startAt="11"/>
                </a:pPr>
                <a:r>
                  <a:rPr lang="en-US" sz="2000" dirty="0">
                    <a:latin typeface="Verdana" panose="020B0604030504040204" pitchFamily="34" charset="0"/>
                    <a:ea typeface="Verdana" panose="020B0604030504040204" pitchFamily="34" charset="0"/>
                    <a:cs typeface="Verdana" panose="020B0604030504040204" pitchFamily="34" charset="0"/>
                  </a:rPr>
                  <a:t> A rectangular prism is shown.</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860425" indent="-3429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How many unit cubes whose dimensions are </a:t>
                </a:r>
                <a14:m>
                  <m:oMath xmlns:m="http://schemas.openxmlformats.org/officeDocument/2006/math">
                    <m:f>
                      <m:fPr>
                        <m:ctrlPr>
                          <a:rPr lang="en-US" sz="2000" i="1">
                            <a:latin typeface="Cambria Math" panose="02040503050406030204" pitchFamily="18" charset="0"/>
                          </a:rPr>
                        </m:ctrlPr>
                      </m:fPr>
                      <m:num>
                        <m:r>
                          <a:rPr lang="en-US" sz="2000" i="1">
                            <a:latin typeface="Cambria Math" panose="02040503050406030204" pitchFamily="18" charset="0"/>
                          </a:rPr>
                          <m:t>1</m:t>
                        </m:r>
                      </m:num>
                      <m:den>
                        <m:r>
                          <a:rPr lang="en-US" sz="2000" i="1">
                            <a:latin typeface="Cambria Math" panose="02040503050406030204" pitchFamily="18" charset="0"/>
                          </a:rPr>
                          <m:t>4</m:t>
                        </m:r>
                      </m:den>
                    </m:f>
                  </m:oMath>
                </a14:m>
                <a:r>
                  <a:rPr lang="en-US" sz="2000" dirty="0">
                    <a:latin typeface="Verdana" panose="020B0604030504040204" pitchFamily="34" charset="0"/>
                    <a:ea typeface="Verdana" panose="020B0604030504040204" pitchFamily="34" charset="0"/>
                    <a:cs typeface="Verdana" panose="020B0604030504040204" pitchFamily="34" charset="0"/>
                  </a:rPr>
                  <a:t> inch fill up the rectangular prism?</a:t>
                </a:r>
              </a:p>
              <a:p>
                <a:pPr lvl="0"/>
                <a:r>
                  <a:rPr lang="en-US" sz="2000" dirty="0">
                    <a:latin typeface="Verdana" panose="020B0604030504040204" pitchFamily="34" charset="0"/>
                    <a:ea typeface="Verdana" panose="020B0604030504040204" pitchFamily="34" charset="0"/>
                    <a:cs typeface="Verdana" panose="020B0604030504040204" pitchFamily="34" charset="0"/>
                  </a:rPr>
                  <a:t> </a:t>
                </a:r>
                <a:endParaRPr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328" name="Google Shape;328;p20"/>
              <p:cNvSpPr txBox="1">
                <a:spLocks noRot="1" noChangeAspect="1" noMove="1" noResize="1" noEditPoints="1" noAdjustHandles="1" noChangeArrowheads="1" noChangeShapeType="1" noTextEdit="1"/>
              </p:cNvSpPr>
              <p:nvPr/>
            </p:nvSpPr>
            <p:spPr>
              <a:xfrm>
                <a:off x="901700" y="288745"/>
                <a:ext cx="10388600" cy="5459852"/>
              </a:xfrm>
              <a:prstGeom prst="rect">
                <a:avLst/>
              </a:prstGeom>
              <a:blipFill rotWithShape="0">
                <a:blip r:embed="rId3"/>
                <a:stretch>
                  <a:fillRect l="-646" t="-558" r="-1174"/>
                </a:stretch>
              </a:blipFill>
              <a:ln>
                <a:noFill/>
              </a:ln>
            </p:spPr>
            <p:txBody>
              <a:bodyPr/>
              <a:lstStyle/>
              <a:p>
                <a:r>
                  <a:rPr lang="en-US">
                    <a:noFill/>
                  </a:rPr>
                  <a:t> </a:t>
                </a:r>
              </a:p>
            </p:txBody>
          </p:sp>
        </mc:Fallback>
      </mc:AlternateContent>
      <p:pic>
        <p:nvPicPr>
          <p:cNvPr id="6" name="Picture 5" descr="A picture containing building, building material&#10;&#10;Description automatically generated">
            <a:extLst>
              <a:ext uri="{FF2B5EF4-FFF2-40B4-BE49-F238E27FC236}">
                <a16:creationId xmlns:a16="http://schemas.microsoft.com/office/drawing/2014/main" id="{B3B94806-E1E2-B647-9868-AC47FDB8025E}"/>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l="3373" r="4873"/>
          <a:stretch/>
        </p:blipFill>
        <p:spPr bwMode="auto">
          <a:xfrm>
            <a:off x="4278352" y="1227254"/>
            <a:ext cx="3256066" cy="2776035"/>
          </a:xfrm>
          <a:prstGeom prst="rect">
            <a:avLst/>
          </a:prstGeom>
          <a:ln>
            <a:noFill/>
          </a:ln>
          <a:extLst>
            <a:ext uri="{53640926-AAD7-44D8-BBD7-CCE9431645EC}">
              <a14:shadowObscured xmlns:a14="http://schemas.microsoft.com/office/drawing/2010/main"/>
            </a:ext>
          </a:extLst>
        </p:spPr>
      </p:pic>
      <p:sp>
        <p:nvSpPr>
          <p:cNvPr id="8" name="Google Shape;122;g104476d1465_1_17">
            <a:extLst>
              <a:ext uri="{FF2B5EF4-FFF2-40B4-BE49-F238E27FC236}">
                <a16:creationId xmlns:a16="http://schemas.microsoft.com/office/drawing/2014/main" id="{1F1046A0-B0E4-486D-A267-AF33825388F0}"/>
              </a:ext>
            </a:extLst>
          </p:cNvPr>
          <p:cNvSpPr/>
          <p:nvPr/>
        </p:nvSpPr>
        <p:spPr>
          <a:xfrm>
            <a:off x="0" y="-8101"/>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9"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9</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18569355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28" name="Google Shape;328;p20"/>
              <p:cNvSpPr txBox="1"/>
              <p:nvPr/>
            </p:nvSpPr>
            <p:spPr>
              <a:xfrm>
                <a:off x="952500" y="288745"/>
                <a:ext cx="10287000" cy="4581022"/>
              </a:xfrm>
              <a:prstGeom prst="rect">
                <a:avLst/>
              </a:prstGeom>
              <a:noFill/>
              <a:ln>
                <a:noFill/>
              </a:ln>
            </p:spPr>
            <p:txBody>
              <a:bodyPr spcFirstLastPara="1" wrap="square" lIns="91425" tIns="45700" rIns="91425" bIns="45700" anchor="t" anchorCtr="0">
                <a:spAutoFit/>
              </a:bodyPr>
              <a:lstStyle/>
              <a:p>
                <a:pPr marL="860425" indent="-342900">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Each unit cube whose dimensions are </a:t>
                </a:r>
                <a14:m>
                  <m:oMath xmlns:m="http://schemas.openxmlformats.org/officeDocument/2006/math">
                    <m:f>
                      <m:fPr>
                        <m:ctrlPr>
                          <a:rPr lang="en-US" sz="2000" i="1">
                            <a:latin typeface="Cambria Math" panose="02040503050406030204" pitchFamily="18" charset="0"/>
                          </a:rPr>
                        </m:ctrlPr>
                      </m:fPr>
                      <m:num>
                        <m:r>
                          <a:rPr lang="en-US" sz="2000" i="1">
                            <a:latin typeface="Cambria Math" panose="02040503050406030204" pitchFamily="18" charset="0"/>
                          </a:rPr>
                          <m:t>1</m:t>
                        </m:r>
                      </m:num>
                      <m:den>
                        <m:r>
                          <a:rPr lang="en-US" sz="2000" i="1">
                            <a:latin typeface="Cambria Math" panose="02040503050406030204" pitchFamily="18" charset="0"/>
                          </a:rPr>
                          <m:t>4</m:t>
                        </m:r>
                      </m:den>
                    </m:f>
                  </m:oMath>
                </a14:m>
                <a:r>
                  <a:rPr lang="en-US" sz="2000" dirty="0">
                    <a:latin typeface="Verdana" panose="020B0604030504040204" pitchFamily="34" charset="0"/>
                    <a:ea typeface="Verdana" panose="020B0604030504040204" pitchFamily="34" charset="0"/>
                    <a:cs typeface="Verdana" panose="020B0604030504040204" pitchFamily="34" charset="0"/>
                  </a:rPr>
                  <a:t> ​inch has a volume of </a:t>
                </a:r>
                <a14:m>
                  <m:oMath xmlns:m="http://schemas.openxmlformats.org/officeDocument/2006/math">
                    <m:f>
                      <m:fPr>
                        <m:ctrlPr>
                          <a:rPr lang="en-US" sz="2000" i="1">
                            <a:latin typeface="Cambria Math" panose="02040503050406030204" pitchFamily="18" charset="0"/>
                          </a:rPr>
                        </m:ctrlPr>
                      </m:fPr>
                      <m:num>
                        <m:r>
                          <a:rPr lang="en-US" sz="2000" i="1">
                            <a:latin typeface="Cambria Math" panose="02040503050406030204" pitchFamily="18" charset="0"/>
                          </a:rPr>
                          <m:t>1</m:t>
                        </m:r>
                      </m:num>
                      <m:den>
                        <m:r>
                          <a:rPr lang="en-US" sz="2000" i="1">
                            <a:latin typeface="Cambria Math" panose="02040503050406030204" pitchFamily="18" charset="0"/>
                          </a:rPr>
                          <m:t>64</m:t>
                        </m:r>
                      </m:den>
                    </m:f>
                  </m:oMath>
                </a14:m>
                <a:r>
                  <a:rPr lang="en-US" sz="2000" dirty="0">
                    <a:latin typeface="Verdana" panose="020B0604030504040204" pitchFamily="34" charset="0"/>
                    <a:ea typeface="Verdana" panose="020B0604030504040204" pitchFamily="34" charset="0"/>
                    <a:cs typeface="Verdana" panose="020B0604030504040204" pitchFamily="34" charset="0"/>
                  </a:rPr>
                  <a:t> ​cubic inches. </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860425"/>
                <a:r>
                  <a:rPr lang="en-US" sz="2000" dirty="0">
                    <a:latin typeface="Verdana" panose="020B0604030504040204" pitchFamily="34" charset="0"/>
                    <a:ea typeface="Verdana" panose="020B0604030504040204" pitchFamily="34" charset="0"/>
                    <a:cs typeface="Verdana" panose="020B0604030504040204" pitchFamily="34" charset="0"/>
                  </a:rPr>
                  <a:t>Find the total volume, in cubic inches, represented in the diagram by multiplying the number of cubes that fill the rectangular prism by the volume of one of the cubes</a:t>
                </a: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dirty="0"/>
              </a:p>
            </p:txBody>
          </p:sp>
        </mc:Choice>
        <mc:Fallback xmlns="">
          <p:sp>
            <p:nvSpPr>
              <p:cNvPr id="328" name="Google Shape;328;p20"/>
              <p:cNvSpPr txBox="1">
                <a:spLocks noRot="1" noChangeAspect="1" noMove="1" noResize="1" noEditPoints="1" noAdjustHandles="1" noChangeArrowheads="1" noChangeShapeType="1" noTextEdit="1"/>
              </p:cNvSpPr>
              <p:nvPr/>
            </p:nvSpPr>
            <p:spPr>
              <a:xfrm>
                <a:off x="952500" y="288745"/>
                <a:ext cx="10287000" cy="4581022"/>
              </a:xfrm>
              <a:prstGeom prst="rect">
                <a:avLst/>
              </a:prstGeom>
              <a:blipFill rotWithShape="0">
                <a:blip r:embed="rId3"/>
                <a:stretch>
                  <a:fillRect/>
                </a:stretch>
              </a:blipFill>
              <a:ln>
                <a:noFill/>
              </a:ln>
            </p:spPr>
            <p:txBody>
              <a:bodyPr/>
              <a:lstStyle/>
              <a:p>
                <a:r>
                  <a:rPr lang="en-US">
                    <a:noFill/>
                  </a:rPr>
                  <a:t> </a:t>
                </a:r>
              </a:p>
            </p:txBody>
          </p:sp>
        </mc:Fallback>
      </mc:AlternateContent>
      <p:pic>
        <p:nvPicPr>
          <p:cNvPr id="6" name="Picture 5" descr="A picture containing building, building material&#10;&#10;Description automatically generated">
            <a:extLst>
              <a:ext uri="{FF2B5EF4-FFF2-40B4-BE49-F238E27FC236}">
                <a16:creationId xmlns:a16="http://schemas.microsoft.com/office/drawing/2014/main" id="{D524B6FD-DEF8-0348-84B0-C7AABBC55060}"/>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l="3373" r="4873"/>
          <a:stretch/>
        </p:blipFill>
        <p:spPr bwMode="auto">
          <a:xfrm>
            <a:off x="6298205" y="2579257"/>
            <a:ext cx="4036696" cy="3441579"/>
          </a:xfrm>
          <a:prstGeom prst="rect">
            <a:avLst/>
          </a:prstGeom>
          <a:ln>
            <a:noFill/>
          </a:ln>
          <a:extLst>
            <a:ext uri="{53640926-AAD7-44D8-BBD7-CCE9431645EC}">
              <a14:shadowObscured xmlns:a14="http://schemas.microsoft.com/office/drawing/2010/main"/>
            </a:ext>
          </a:extLst>
        </p:spPr>
      </p:pic>
      <p:sp>
        <p:nvSpPr>
          <p:cNvPr id="7" name="Google Shape;122;g104476d1465_1_17">
            <a:extLst>
              <a:ext uri="{FF2B5EF4-FFF2-40B4-BE49-F238E27FC236}">
                <a16:creationId xmlns:a16="http://schemas.microsoft.com/office/drawing/2014/main" id="{CCE2578A-44A1-482D-AABB-19B0240473FB}"/>
              </a:ext>
            </a:extLst>
          </p:cNvPr>
          <p:cNvSpPr/>
          <p:nvPr/>
        </p:nvSpPr>
        <p:spPr>
          <a:xfrm>
            <a:off x="0" y="-8101"/>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9"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9</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Tree>
    <p:extLst>
      <p:ext uri="{BB962C8B-B14F-4D97-AF65-F5344CB8AC3E}">
        <p14:creationId xmlns:p14="http://schemas.microsoft.com/office/powerpoint/2010/main" val="113296531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28" name="Google Shape;328;p20"/>
              <p:cNvSpPr txBox="1"/>
              <p:nvPr/>
            </p:nvSpPr>
            <p:spPr>
              <a:xfrm>
                <a:off x="990600" y="288745"/>
                <a:ext cx="10210800" cy="1200288"/>
              </a:xfrm>
              <a:prstGeom prst="rect">
                <a:avLst/>
              </a:prstGeom>
              <a:noFill/>
              <a:ln>
                <a:noFill/>
              </a:ln>
            </p:spPr>
            <p:txBody>
              <a:bodyPr spcFirstLastPara="1" wrap="square" lIns="91425" tIns="45700" rIns="91425" bIns="45700" anchor="t" anchorCtr="0">
                <a:spAutoFit/>
              </a:bodyPr>
              <a:lstStyle/>
              <a:p>
                <a:pPr marL="860425" indent="-342900">
                  <a:buFont typeface="+mj-lt"/>
                  <a:buAutoNum type="alphaLcPeriod" startAt="3"/>
                </a:pPr>
                <a:r>
                  <a:rPr lang="en-US" sz="2400" dirty="0">
                    <a:latin typeface="Verdana" panose="020B0604030504040204" pitchFamily="34" charset="0"/>
                    <a:ea typeface="Verdana" panose="020B0604030504040204" pitchFamily="34" charset="0"/>
                    <a:cs typeface="Verdana" panose="020B0604030504040204" pitchFamily="34" charset="0"/>
                  </a:rPr>
                  <a:t>Find the total volume represented in the diagram, in cubic inches, using the formula, </a:t>
                </a:r>
                <a14:m>
                  <m:oMath xmlns:m="http://schemas.openxmlformats.org/officeDocument/2006/math">
                    <m:r>
                      <a:rPr lang="en-US" sz="2400" i="1">
                        <a:latin typeface="Cambria Math" panose="02040503050406030204" pitchFamily="18" charset="0"/>
                      </a:rPr>
                      <m:t>𝑉</m:t>
                    </m:r>
                    <m:r>
                      <a:rPr lang="en-US" sz="2400" i="1">
                        <a:latin typeface="Cambria Math" panose="02040503050406030204" pitchFamily="18" charset="0"/>
                      </a:rPr>
                      <m:t>=</m:t>
                    </m:r>
                    <m:r>
                      <a:rPr lang="en-US" sz="2400" i="1">
                        <a:latin typeface="Cambria Math" panose="02040503050406030204" pitchFamily="18" charset="0"/>
                      </a:rPr>
                      <m:t>𝑙𝑤h</m:t>
                    </m:r>
                  </m:oMath>
                </a14:m>
                <a:r>
                  <a:rPr lang="en-US" sz="2400" dirty="0">
                    <a:latin typeface="Verdana" panose="020B0604030504040204" pitchFamily="34" charset="0"/>
                    <a:ea typeface="Verdana" panose="020B0604030504040204" pitchFamily="34" charset="0"/>
                    <a:cs typeface="Verdana" panose="020B0604030504040204" pitchFamily="34" charset="0"/>
                  </a:rPr>
                  <a:t>. Show your work and your answer.</a:t>
                </a:r>
              </a:p>
            </p:txBody>
          </p:sp>
        </mc:Choice>
        <mc:Fallback xmlns="">
          <p:sp>
            <p:nvSpPr>
              <p:cNvPr id="328" name="Google Shape;328;p20"/>
              <p:cNvSpPr txBox="1">
                <a:spLocks noRot="1" noChangeAspect="1" noMove="1" noResize="1" noEditPoints="1" noAdjustHandles="1" noChangeArrowheads="1" noChangeShapeType="1" noTextEdit="1"/>
              </p:cNvSpPr>
              <p:nvPr/>
            </p:nvSpPr>
            <p:spPr>
              <a:xfrm>
                <a:off x="990600" y="288745"/>
                <a:ext cx="10210800" cy="1200288"/>
              </a:xfrm>
              <a:prstGeom prst="rect">
                <a:avLst/>
              </a:prstGeom>
              <a:blipFill rotWithShape="0">
                <a:blip r:embed="rId3"/>
                <a:stretch>
                  <a:fillRect t="-4061" b="-10660"/>
                </a:stretch>
              </a:blipFill>
              <a:ln>
                <a:noFill/>
              </a:ln>
            </p:spPr>
            <p:txBody>
              <a:bodyPr/>
              <a:lstStyle/>
              <a:p>
                <a:r>
                  <a:rPr lang="en-US">
                    <a:noFill/>
                  </a:rPr>
                  <a:t> </a:t>
                </a:r>
              </a:p>
            </p:txBody>
          </p:sp>
        </mc:Fallback>
      </mc:AlternateContent>
      <p:sp>
        <p:nvSpPr>
          <p:cNvPr id="9" name="Google Shape;122;g104476d1465_1_17">
            <a:extLst>
              <a:ext uri="{FF2B5EF4-FFF2-40B4-BE49-F238E27FC236}">
                <a16:creationId xmlns:a16="http://schemas.microsoft.com/office/drawing/2014/main" id="{D98533FE-F0D2-45F2-BB18-8BC5BE42A69E}"/>
              </a:ext>
            </a:extLst>
          </p:cNvPr>
          <p:cNvSpPr/>
          <p:nvPr/>
        </p:nvSpPr>
        <p:spPr>
          <a:xfrm>
            <a:off x="0" y="-8101"/>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10"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 9</a:t>
            </a:r>
            <a:endParaRPr i="1" dirty="0">
              <a:latin typeface="Calibri"/>
              <a:ea typeface="Calibri"/>
              <a:cs typeface="Calibri"/>
              <a:sym typeface="Calibri"/>
            </a:endParaRPr>
          </a:p>
        </p:txBody>
      </p:sp>
      <p:pic>
        <p:nvPicPr>
          <p:cNvPr id="11"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pic>
        <p:nvPicPr>
          <p:cNvPr id="8" name="Picture 7" descr="A picture containing building, building material&#10;&#10;Description automatically generated">
            <a:extLst>
              <a:ext uri="{FF2B5EF4-FFF2-40B4-BE49-F238E27FC236}">
                <a16:creationId xmlns:a16="http://schemas.microsoft.com/office/drawing/2014/main" id="{A6D526C1-AA79-9196-3264-36E26C04624A}"/>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l="3373" r="4873"/>
          <a:stretch/>
        </p:blipFill>
        <p:spPr bwMode="auto">
          <a:xfrm>
            <a:off x="6298205" y="2579257"/>
            <a:ext cx="4036696" cy="3441579"/>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4324216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24"/>
        <p:cNvGrpSpPr/>
        <p:nvPr/>
      </p:nvGrpSpPr>
      <p:grpSpPr>
        <a:xfrm>
          <a:off x="0" y="0"/>
          <a:ext cx="0" cy="0"/>
          <a:chOff x="0" y="0"/>
          <a:chExt cx="0" cy="0"/>
        </a:xfrm>
      </p:grpSpPr>
      <p:sp>
        <p:nvSpPr>
          <p:cNvPr id="427" name="Google Shape;427;p30"/>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E24E5F"/>
                </a:solidFill>
                <a:latin typeface="Verdana"/>
                <a:ea typeface="Verdana"/>
                <a:cs typeface="Verdana"/>
                <a:sym typeface="Verdana"/>
              </a:rPr>
              <a:t>Your Turn</a:t>
            </a:r>
            <a:endParaRPr sz="5100" b="1">
              <a:solidFill>
                <a:srgbClr val="E24E5F"/>
              </a:solidFill>
              <a:latin typeface="Verdana"/>
              <a:ea typeface="Verdana"/>
              <a:cs typeface="Verdana"/>
              <a:sym typeface="Verdana"/>
            </a:endParaRPr>
          </a:p>
        </p:txBody>
      </p:sp>
      <p:pic>
        <p:nvPicPr>
          <p:cNvPr id="428" name="Google Shape;428;p30"/>
          <p:cNvPicPr preferRelativeResize="0"/>
          <p:nvPr/>
        </p:nvPicPr>
        <p:blipFill rotWithShape="1">
          <a:blip r:embed="rId3">
            <a:alphaModFix/>
          </a:blip>
          <a:srcRect/>
          <a:stretch/>
        </p:blipFill>
        <p:spPr>
          <a:xfrm>
            <a:off x="4412728" y="2897929"/>
            <a:ext cx="1122440" cy="1062143"/>
          </a:xfrm>
          <a:prstGeom prst="rect">
            <a:avLst/>
          </a:prstGeom>
          <a:noFill/>
          <a:ln>
            <a:noFill/>
          </a:ln>
          <a:effectLst>
            <a:outerShdw blurRad="50800" dist="38100" dir="2700000" algn="tl" rotWithShape="0">
              <a:srgbClr val="000000">
                <a:alpha val="40000"/>
              </a:srgbClr>
            </a:outerShdw>
          </a:effectLst>
        </p:spPr>
      </p:pic>
      <p:sp>
        <p:nvSpPr>
          <p:cNvPr id="7" name="Google Shape;155;g104476d1465_1_39">
            <a:extLst>
              <a:ext uri="{FF2B5EF4-FFF2-40B4-BE49-F238E27FC236}">
                <a16:creationId xmlns:a16="http://schemas.microsoft.com/office/drawing/2014/main" id="{C069AD59-0173-43E0-BEAE-835048EC27A8}"/>
              </a:ext>
            </a:extLst>
          </p:cNvPr>
          <p:cNvSpPr/>
          <p:nvPr/>
        </p:nvSpPr>
        <p:spPr>
          <a:xfrm>
            <a:off x="0" y="-8101"/>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8"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10</a:t>
            </a:r>
            <a:endParaRPr i="1" dirty="0">
              <a:latin typeface="Calibri"/>
              <a:ea typeface="Calibri"/>
              <a:cs typeface="Calibri"/>
              <a:sym typeface="Calibri"/>
            </a:endParaRPr>
          </a:p>
        </p:txBody>
      </p:sp>
      <p:pic>
        <p:nvPicPr>
          <p:cNvPr id="9"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sp>
        <p:nvSpPr>
          <p:cNvPr id="436" name="Google Shape;436;p31"/>
          <p:cNvSpPr txBox="1"/>
          <p:nvPr/>
        </p:nvSpPr>
        <p:spPr>
          <a:xfrm>
            <a:off x="1326050" y="142652"/>
            <a:ext cx="8019300" cy="747300"/>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4300" b="1" dirty="0">
                <a:solidFill>
                  <a:srgbClr val="E24E5F"/>
                </a:solidFill>
                <a:latin typeface="Verdana"/>
                <a:ea typeface="Verdana"/>
                <a:cs typeface="Verdana"/>
                <a:sym typeface="Verdana"/>
              </a:rPr>
              <a:t>8.1.5 Your Turn!</a:t>
            </a:r>
            <a:endParaRPr dirty="0"/>
          </a:p>
        </p:txBody>
      </p:sp>
      <p:pic>
        <p:nvPicPr>
          <p:cNvPr id="437" name="Google Shape;437;p31"/>
          <p:cNvPicPr preferRelativeResize="0"/>
          <p:nvPr/>
        </p:nvPicPr>
        <p:blipFill rotWithShape="1">
          <a:blip r:embed="rId3">
            <a:alphaModFix/>
          </a:blip>
          <a:srcRect/>
          <a:stretch/>
        </p:blipFill>
        <p:spPr>
          <a:xfrm>
            <a:off x="578750" y="142652"/>
            <a:ext cx="747300" cy="747300"/>
          </a:xfrm>
          <a:prstGeom prst="rect">
            <a:avLst/>
          </a:prstGeom>
          <a:noFill/>
          <a:ln>
            <a:noFill/>
          </a:ln>
        </p:spPr>
      </p:pic>
      <mc:AlternateContent xmlns:mc="http://schemas.openxmlformats.org/markup-compatibility/2006" xmlns:a14="http://schemas.microsoft.com/office/drawing/2010/main">
        <mc:Choice Requires="a14">
          <p:sp>
            <p:nvSpPr>
              <p:cNvPr id="439" name="Google Shape;439;p31"/>
              <p:cNvSpPr txBox="1"/>
              <p:nvPr/>
            </p:nvSpPr>
            <p:spPr>
              <a:xfrm>
                <a:off x="1104900" y="1386025"/>
                <a:ext cx="5793988" cy="4745682"/>
              </a:xfrm>
              <a:prstGeom prst="rect">
                <a:avLst/>
              </a:prstGeom>
              <a:noFill/>
              <a:ln>
                <a:noFill/>
              </a:ln>
            </p:spPr>
            <p:txBody>
              <a:bodyPr spcFirstLastPara="1" wrap="square" lIns="91425" tIns="45700" rIns="91425" bIns="45700" anchor="t" anchorCtr="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A rectangular prism with one cube inside is shown.</a:t>
                </a:r>
              </a:p>
              <a:p>
                <a:r>
                  <a:rPr lang="en-US" sz="2000" i="1" dirty="0">
                    <a:latin typeface="Verdana" panose="020B0604030504040204" pitchFamily="34" charset="0"/>
                    <a:ea typeface="Verdana" panose="020B0604030504040204" pitchFamily="34" charset="0"/>
                    <a:cs typeface="Verdana" panose="020B0604030504040204" pitchFamily="34"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a:p>
                <a:pPr marL="915988" indent="-5080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How many cubes will it take to fill the rectangular prism?</a:t>
                </a:r>
              </a:p>
              <a:p>
                <a:pPr marL="915988" indent="-5080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5988" indent="-5080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5988" indent="-452438">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The rectangular prism has a length of </a:t>
                </a:r>
                <a14:m>
                  <m:oMath xmlns:m="http://schemas.openxmlformats.org/officeDocument/2006/math">
                    <m:f>
                      <m:fPr>
                        <m:ctrlPr>
                          <a:rPr lang="en-US" sz="2000" i="1">
                            <a:latin typeface="Cambria Math" panose="02040503050406030204" pitchFamily="18" charset="0"/>
                          </a:rPr>
                        </m:ctrlPr>
                      </m:fPr>
                      <m:num>
                        <m:r>
                          <a:rPr lang="en-US" sz="2000">
                            <a:latin typeface="Cambria Math" panose="02040503050406030204" pitchFamily="18" charset="0"/>
                          </a:rPr>
                          <m:t>16</m:t>
                        </m:r>
                      </m:num>
                      <m:den>
                        <m:r>
                          <a:rPr lang="en-US" sz="2000">
                            <a:latin typeface="Cambria Math" panose="02040503050406030204" pitchFamily="18" charset="0"/>
                          </a:rPr>
                          <m:t>3</m:t>
                        </m:r>
                      </m:den>
                    </m:f>
                  </m:oMath>
                </a14:m>
                <a:r>
                  <a:rPr lang="en-US" sz="2000" dirty="0">
                    <a:latin typeface="Verdana" panose="020B0604030504040204" pitchFamily="34" charset="0"/>
                    <a:ea typeface="Verdana" panose="020B0604030504040204" pitchFamily="34" charset="0"/>
                    <a:cs typeface="Verdana" panose="020B0604030504040204" pitchFamily="34" charset="0"/>
                  </a:rPr>
                  <a:t> centimeters (cm), width of </a:t>
                </a:r>
                <a14:m>
                  <m:oMath xmlns:m="http://schemas.openxmlformats.org/officeDocument/2006/math">
                    <m:f>
                      <m:fPr>
                        <m:ctrlPr>
                          <a:rPr lang="en-US" sz="2000" i="1">
                            <a:latin typeface="Cambria Math" panose="02040503050406030204" pitchFamily="18" charset="0"/>
                          </a:rPr>
                        </m:ctrlPr>
                      </m:fPr>
                      <m:num>
                        <m:r>
                          <a:rPr lang="en-US" sz="2000">
                            <a:latin typeface="Cambria Math" panose="02040503050406030204" pitchFamily="18" charset="0"/>
                          </a:rPr>
                          <m:t>16</m:t>
                        </m:r>
                      </m:num>
                      <m:den>
                        <m:r>
                          <a:rPr lang="en-US" sz="2000">
                            <a:latin typeface="Cambria Math" panose="02040503050406030204" pitchFamily="18" charset="0"/>
                          </a:rPr>
                          <m:t>3</m:t>
                        </m:r>
                      </m:den>
                    </m:f>
                  </m:oMath>
                </a14:m>
                <a:r>
                  <a:rPr lang="en-US" sz="2000" dirty="0">
                    <a:latin typeface="Verdana" panose="020B0604030504040204" pitchFamily="34" charset="0"/>
                    <a:ea typeface="Verdana" panose="020B0604030504040204" pitchFamily="34" charset="0"/>
                    <a:cs typeface="Verdana" panose="020B0604030504040204" pitchFamily="34" charset="0"/>
                  </a:rPr>
                  <a:t> cm, and height of </a:t>
                </a:r>
                <a14:m>
                  <m:oMath xmlns:m="http://schemas.openxmlformats.org/officeDocument/2006/math">
                    <m:r>
                      <a:rPr lang="en-US" sz="2000">
                        <a:latin typeface="Cambria Math" panose="02040503050406030204" pitchFamily="18" charset="0"/>
                      </a:rPr>
                      <m:t>8</m:t>
                    </m:r>
                  </m:oMath>
                </a14:m>
                <a:r>
                  <a:rPr lang="en-US" sz="2000" dirty="0">
                    <a:latin typeface="Verdana" panose="020B0604030504040204" pitchFamily="34" charset="0"/>
                    <a:ea typeface="Verdana" panose="020B0604030504040204" pitchFamily="34" charset="0"/>
                    <a:cs typeface="Verdana" panose="020B0604030504040204" pitchFamily="34" charset="0"/>
                  </a:rPr>
                  <a:t> cm as shown. </a:t>
                </a:r>
              </a:p>
              <a:p>
                <a:pPr marL="915988"/>
                <a:r>
                  <a:rPr lang="en-US" sz="2000" dirty="0">
                    <a:latin typeface="Verdana" panose="020B0604030504040204" pitchFamily="34" charset="0"/>
                    <a:ea typeface="Verdana" panose="020B0604030504040204" pitchFamily="34" charset="0"/>
                    <a:cs typeface="Verdana" panose="020B0604030504040204" pitchFamily="34" charset="0"/>
                  </a:rPr>
                  <a:t>Use the number of cubes in each dimension to determine the dimensions of the fractional unit cube. </a:t>
                </a:r>
              </a:p>
              <a:p>
                <a:pPr lvl="0"/>
                <a:endParaRPr lang="en-US" dirty="0"/>
              </a:p>
            </p:txBody>
          </p:sp>
        </mc:Choice>
        <mc:Fallback xmlns="">
          <p:sp>
            <p:nvSpPr>
              <p:cNvPr id="439" name="Google Shape;439;p31"/>
              <p:cNvSpPr txBox="1">
                <a:spLocks noRot="1" noChangeAspect="1" noMove="1" noResize="1" noEditPoints="1" noAdjustHandles="1" noChangeArrowheads="1" noChangeShapeType="1" noTextEdit="1"/>
              </p:cNvSpPr>
              <p:nvPr/>
            </p:nvSpPr>
            <p:spPr>
              <a:xfrm>
                <a:off x="1104900" y="1386025"/>
                <a:ext cx="5793988" cy="4745682"/>
              </a:xfrm>
              <a:prstGeom prst="rect">
                <a:avLst/>
              </a:prstGeom>
              <a:blipFill rotWithShape="0">
                <a:blip r:embed="rId4"/>
                <a:stretch>
                  <a:fillRect l="-1157" t="-770"/>
                </a:stretch>
              </a:blipFill>
              <a:ln>
                <a:noFill/>
              </a:ln>
            </p:spPr>
            <p:txBody>
              <a:bodyPr/>
              <a:lstStyle/>
              <a:p>
                <a:r>
                  <a:rPr lang="en-US">
                    <a:noFill/>
                  </a:rPr>
                  <a:t> </a:t>
                </a:r>
              </a:p>
            </p:txBody>
          </p:sp>
        </mc:Fallback>
      </mc:AlternateContent>
      <p:pic>
        <p:nvPicPr>
          <p:cNvPr id="8" name="Picture 7" descr="Shape, rectangle&#10;&#10;Description automatically generated">
            <a:extLst>
              <a:ext uri="{FF2B5EF4-FFF2-40B4-BE49-F238E27FC236}">
                <a16:creationId xmlns:a16="http://schemas.microsoft.com/office/drawing/2014/main" id="{0B7EC7ED-3E06-3647-A2C9-623B2FE6C3F4}"/>
              </a:ext>
            </a:extLst>
          </p:cNvPr>
          <p:cNvPicPr>
            <a:picLocks noChangeAspect="1"/>
          </p:cNvPicPr>
          <p:nvPr/>
        </p:nvPicPr>
        <p:blipFill rotWithShape="1">
          <a:blip r:embed="rId5">
            <a:extLst>
              <a:ext uri="{28A0092B-C50C-407E-A947-70E740481C1C}">
                <a14:useLocalDpi xmlns:a14="http://schemas.microsoft.com/office/drawing/2010/main"/>
              </a:ext>
            </a:extLst>
          </a:blip>
          <a:srcRect l="8130" t="9677"/>
          <a:stretch/>
        </p:blipFill>
        <p:spPr bwMode="auto">
          <a:xfrm>
            <a:off x="7464701" y="1386025"/>
            <a:ext cx="2870200" cy="3556000"/>
          </a:xfrm>
          <a:prstGeom prst="rect">
            <a:avLst/>
          </a:prstGeom>
          <a:ln>
            <a:noFill/>
          </a:ln>
          <a:extLst>
            <a:ext uri="{53640926-AAD7-44d8-BBD7-CCE9431645EC}">
              <a14:shadowObscured xmlns:lc="http://schemas.openxmlformats.org/drawingml/2006/lockedCanvas" xmlns:a14="http://schemas.microsoft.com/office/drawing/2010/main" xmlns:w="http://schemas.openxmlformats.org/wordprocessingml/2006/main" xmlns:w10="urn:schemas-microsoft-com:office:word" xmlns:v="urn:schemas-microsoft-com:vml" xmlns:o="urn:schemas-microsoft-com:office:office" xmlns:mv="urn:schemas-microsoft-com:mac:vml" xmlns:mo="http://schemas.microsoft.com/office/mac/office/2008/main" xmlns="" xmlns:pic="http://schemas.openxmlformats.org/drawingml/2006/picture"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6sdtdh="http://schemas.microsoft.com/office/word/2020/wordml/sdtdatahash" xmlns:w16="http://schemas.microsoft.com/office/word/2018/wordml" xmlns:w16cid="http://schemas.microsoft.com/office/word/2016/wordml/cid" xmlns:w16cex="http://schemas.microsoft.com/office/word/2018/wordml/cex" xmlns:w15="http://schemas.microsoft.com/office/word/2012/wordml" xmlns:w14="http://schemas.microsoft.com/office/word/2010/wordml" xmlns:wp="http://schemas.openxmlformats.org/drawingml/2006/wordprocessingDrawing" xmlns:wp14="http://schemas.microsoft.com/office/word/2010/wordprocessingDrawing" xmlns:m="http://schemas.openxmlformats.org/officeDocument/2006/math" xmlns:am3d="http://schemas.microsoft.com/office/drawing/2017/model3d" xmlns:aink="http://schemas.microsoft.com/office/drawing/2016/ink" xmlns:mc="http://schemas.openxmlformats.org/markup-compatibility/2006"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cx1="http://schemas.microsoft.com/office/drawing/2015/9/8/chartex" xmlns:cx="http://schemas.microsoft.com/office/drawing/2014/chartex" xmlns:wpc="http://schemas.microsoft.com/office/word/2010/wordprocessingCanvas"/>
            </a:ext>
          </a:extLst>
        </p:spPr>
      </p:pic>
      <p:pic>
        <p:nvPicPr>
          <p:cNvPr id="9" name="Picture 8" descr="Shape, rectangle&#10;&#10;Description automatically generated">
            <a:extLst>
              <a:ext uri="{FF2B5EF4-FFF2-40B4-BE49-F238E27FC236}">
                <a16:creationId xmlns:a16="http://schemas.microsoft.com/office/drawing/2014/main" id="{65AD2684-83FA-9946-BCCB-604976AE2A5A}"/>
              </a:ext>
            </a:extLst>
          </p:cNvPr>
          <p:cNvPicPr>
            <a:picLocks noChangeAspect="1"/>
          </p:cNvPicPr>
          <p:nvPr/>
        </p:nvPicPr>
        <p:blipFill rotWithShape="1">
          <a:blip r:embed="rId5">
            <a:extLst>
              <a:ext uri="{28A0092B-C50C-407E-A947-70E740481C1C}">
                <a14:useLocalDpi xmlns:a14="http://schemas.microsoft.com/office/drawing/2010/main"/>
              </a:ext>
            </a:extLst>
          </a:blip>
          <a:srcRect l="8130" t="9677"/>
          <a:stretch/>
        </p:blipFill>
        <p:spPr bwMode="auto">
          <a:xfrm>
            <a:off x="7014740" y="1009213"/>
            <a:ext cx="3602087" cy="4462763"/>
          </a:xfrm>
          <a:prstGeom prst="rect">
            <a:avLst/>
          </a:prstGeom>
          <a:ln>
            <a:noFill/>
          </a:ln>
          <a:extLst>
            <a:ext uri="{53640926-AAD7-44d8-BBD7-CCE9431645EC}">
              <a14:shadowObscured xmlns:lc="http://schemas.openxmlformats.org/drawingml/2006/lockedCanvas" xmlns:a14="http://schemas.microsoft.com/office/drawing/2010/main" xmlns:w="http://schemas.openxmlformats.org/wordprocessingml/2006/main" xmlns:w10="urn:schemas-microsoft-com:office:word" xmlns:v="urn:schemas-microsoft-com:vml" xmlns:o="urn:schemas-microsoft-com:office:office" xmlns:mv="urn:schemas-microsoft-com:mac:vml" xmlns:mo="http://schemas.microsoft.com/office/mac/office/2008/main" xmlns="" xmlns:pic="http://schemas.openxmlformats.org/drawingml/2006/picture"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6sdtdh="http://schemas.microsoft.com/office/word/2020/wordml/sdtdatahash" xmlns:w16="http://schemas.microsoft.com/office/word/2018/wordml" xmlns:w16cid="http://schemas.microsoft.com/office/word/2016/wordml/cid" xmlns:w16cex="http://schemas.microsoft.com/office/word/2018/wordml/cex" xmlns:w15="http://schemas.microsoft.com/office/word/2012/wordml" xmlns:w14="http://schemas.microsoft.com/office/word/2010/wordml" xmlns:wp="http://schemas.openxmlformats.org/drawingml/2006/wordprocessingDrawing" xmlns:wp14="http://schemas.microsoft.com/office/word/2010/wordprocessingDrawing" xmlns:m="http://schemas.openxmlformats.org/officeDocument/2006/math" xmlns:am3d="http://schemas.microsoft.com/office/drawing/2017/model3d" xmlns:aink="http://schemas.microsoft.com/office/drawing/2016/ink" xmlns:mc="http://schemas.openxmlformats.org/markup-compatibility/2006"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cx1="http://schemas.microsoft.com/office/drawing/2015/9/8/chartex" xmlns:cx="http://schemas.microsoft.com/office/drawing/2014/chartex" xmlns:wpc="http://schemas.microsoft.com/office/word/2010/wordprocessingCanvas"/>
            </a:ext>
          </a:extLst>
        </p:spPr>
      </p:pic>
      <p:sp>
        <p:nvSpPr>
          <p:cNvPr id="11" name="Google Shape;122;g104476d1465_1_17">
            <a:extLst>
              <a:ext uri="{FF2B5EF4-FFF2-40B4-BE49-F238E27FC236}">
                <a16:creationId xmlns:a16="http://schemas.microsoft.com/office/drawing/2014/main" id="{9EFF1AE0-CD00-473D-96E8-0E875CF62BA1}"/>
              </a:ext>
            </a:extLst>
          </p:cNvPr>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12"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10</a:t>
            </a:r>
            <a:endParaRPr i="1" dirty="0">
              <a:latin typeface="Calibri"/>
              <a:ea typeface="Calibri"/>
              <a:cs typeface="Calibri"/>
              <a:sym typeface="Calibri"/>
            </a:endParaRPr>
          </a:p>
        </p:txBody>
      </p:sp>
      <p:pic>
        <p:nvPicPr>
          <p:cNvPr id="13" name="Google Shape;126;g104476d1465_1_17"/>
          <p:cNvPicPr preferRelativeResize="0"/>
          <p:nvPr/>
        </p:nvPicPr>
        <p:blipFill rotWithShape="1">
          <a:blip r:embed="rId6"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48" name="Google Shape;448;p32"/>
              <p:cNvSpPr txBox="1"/>
              <p:nvPr/>
            </p:nvSpPr>
            <p:spPr>
              <a:xfrm>
                <a:off x="889000" y="398473"/>
                <a:ext cx="6009105" cy="4375325"/>
              </a:xfrm>
              <a:prstGeom prst="rect">
                <a:avLst/>
              </a:prstGeom>
              <a:noFill/>
              <a:ln>
                <a:noFill/>
              </a:ln>
            </p:spPr>
            <p:txBody>
              <a:bodyPr spcFirstLastPara="1" wrap="square" lIns="91425" tIns="45700" rIns="91425" bIns="45700" anchor="t" anchorCtr="0">
                <a:spAutoFit/>
              </a:bodyPr>
              <a:lstStyle/>
              <a:p>
                <a:pPr marL="860425" indent="-452438">
                  <a:buFont typeface="+mj-lt"/>
                  <a:buAutoNum type="alphaLcPeriod" startAt="3"/>
                </a:pPr>
                <a:r>
                  <a:rPr lang="en-US" sz="2000" dirty="0">
                    <a:latin typeface="Verdana" panose="020B0604030504040204" pitchFamily="34" charset="0"/>
                    <a:ea typeface="Verdana" panose="020B0604030504040204" pitchFamily="34" charset="0"/>
                    <a:cs typeface="Verdana" panose="020B0604030504040204" pitchFamily="34" charset="0"/>
                  </a:rPr>
                  <a:t>Complete the statement.</a:t>
                </a:r>
              </a:p>
              <a:p>
                <a:pPr marL="860425" indent="-452438">
                  <a:buFont typeface="+mj-lt"/>
                  <a:buAutoNum type="alphaLcPeriod" startAt="3"/>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860425"/>
                <a:r>
                  <a:rPr lang="en-US" sz="2000" dirty="0">
                    <a:latin typeface="Verdana" panose="020B0604030504040204" pitchFamily="34" charset="0"/>
                    <a:ea typeface="Verdana" panose="020B0604030504040204" pitchFamily="34" charset="0"/>
                    <a:cs typeface="Verdana" panose="020B0604030504040204" pitchFamily="34" charset="0"/>
                  </a:rPr>
                  <a:t>The unit cube shown has dimensions of </a:t>
                </a:r>
                <a14:m>
                  <m:oMath xmlns:m="http://schemas.openxmlformats.org/officeDocument/2006/math">
                    <m:f>
                      <m:fPr>
                        <m:ctrlPr>
                          <a:rPr lang="en-US" sz="2000" i="1">
                            <a:latin typeface="Cambria Math" panose="02040503050406030204" pitchFamily="18" charset="0"/>
                          </a:rPr>
                        </m:ctrlPr>
                      </m:fPr>
                      <m:num>
                        <m:r>
                          <a:rPr lang="en-US" sz="2000" i="1">
                            <a:latin typeface="Cambria Math" panose="02040503050406030204" pitchFamily="18" charset="0"/>
                          </a:rPr>
                          <m:t>                </m:t>
                        </m:r>
                      </m:num>
                      <m:den>
                        <m:r>
                          <a:rPr lang="en-US" sz="2000" i="1">
                            <a:latin typeface="Cambria Math" panose="02040503050406030204" pitchFamily="18" charset="0"/>
                          </a:rPr>
                          <m:t>3</m:t>
                        </m:r>
                      </m:den>
                    </m:f>
                  </m:oMath>
                </a14:m>
                <a:r>
                  <a:rPr lang="en-US" sz="2000" dirty="0">
                    <a:latin typeface="Verdana" panose="020B0604030504040204" pitchFamily="34" charset="0"/>
                    <a:ea typeface="Verdana" panose="020B0604030504040204" pitchFamily="34" charset="0"/>
                    <a:cs typeface="Verdana" panose="020B0604030504040204" pitchFamily="34" charset="0"/>
                  </a:rPr>
                  <a:t> cm. It will take _____ of these unit cubes to fill the rectangular prism.</a:t>
                </a: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860425" indent="-452438">
                  <a:buFont typeface="+mj-lt"/>
                  <a:buAutoNum type="alphaLcPeriod" startAt="4"/>
                </a:pPr>
                <a:r>
                  <a:rPr lang="en-US" sz="2000" dirty="0">
                    <a:latin typeface="Verdana" panose="020B0604030504040204" pitchFamily="34" charset="0"/>
                    <a:ea typeface="Verdana" panose="020B0604030504040204" pitchFamily="34" charset="0"/>
                    <a:cs typeface="Verdana" panose="020B0604030504040204" pitchFamily="34" charset="0"/>
                  </a:rPr>
                  <a:t>Explain how to find the volume of the rectangular prism using the information from Part C.</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lvl="0"/>
                <a:endParaRPr lang="en-US" dirty="0"/>
              </a:p>
            </p:txBody>
          </p:sp>
        </mc:Choice>
        <mc:Fallback xmlns="">
          <p:sp>
            <p:nvSpPr>
              <p:cNvPr id="448" name="Google Shape;448;p32"/>
              <p:cNvSpPr txBox="1">
                <a:spLocks noRot="1" noChangeAspect="1" noMove="1" noResize="1" noEditPoints="1" noAdjustHandles="1" noChangeArrowheads="1" noChangeShapeType="1" noTextEdit="1"/>
              </p:cNvSpPr>
              <p:nvPr/>
            </p:nvSpPr>
            <p:spPr>
              <a:xfrm>
                <a:off x="889000" y="398473"/>
                <a:ext cx="6009105" cy="4375325"/>
              </a:xfrm>
              <a:prstGeom prst="rect">
                <a:avLst/>
              </a:prstGeom>
              <a:blipFill rotWithShape="0">
                <a:blip r:embed="rId3"/>
                <a:stretch>
                  <a:fillRect t="-836" r="-811"/>
                </a:stretch>
              </a:blipFill>
              <a:ln>
                <a:noFill/>
              </a:ln>
            </p:spPr>
            <p:txBody>
              <a:bodyPr/>
              <a:lstStyle/>
              <a:p>
                <a:r>
                  <a:rPr lang="en-US">
                    <a:noFill/>
                  </a:rPr>
                  <a:t> </a:t>
                </a:r>
              </a:p>
            </p:txBody>
          </p:sp>
        </mc:Fallback>
      </mc:AlternateContent>
      <p:pic>
        <p:nvPicPr>
          <p:cNvPr id="12" name="Picture 11" descr="Shape, rectangle&#10;&#10;Description automatically generated">
            <a:extLst>
              <a:ext uri="{FF2B5EF4-FFF2-40B4-BE49-F238E27FC236}">
                <a16:creationId xmlns:a16="http://schemas.microsoft.com/office/drawing/2014/main" id="{8F6CF79A-0FC5-B44F-B92C-7DCD94BEF287}"/>
              </a:ext>
            </a:extLst>
          </p:cNvPr>
          <p:cNvPicPr>
            <a:picLocks noChangeAspect="1"/>
          </p:cNvPicPr>
          <p:nvPr/>
        </p:nvPicPr>
        <p:blipFill rotWithShape="1">
          <a:blip r:embed="rId4">
            <a:extLst>
              <a:ext uri="{28A0092B-C50C-407E-A947-70E740481C1C}">
                <a14:useLocalDpi xmlns:a14="http://schemas.microsoft.com/office/drawing/2010/main"/>
              </a:ext>
            </a:extLst>
          </a:blip>
          <a:srcRect l="8130" t="9677"/>
          <a:stretch/>
        </p:blipFill>
        <p:spPr bwMode="auto">
          <a:xfrm>
            <a:off x="7014740" y="1009213"/>
            <a:ext cx="3602087" cy="4462763"/>
          </a:xfrm>
          <a:prstGeom prst="rect">
            <a:avLst/>
          </a:prstGeom>
          <a:ln>
            <a:noFill/>
          </a:ln>
          <a:extLst>
            <a:ext uri="{53640926-AAD7-44d8-BBD7-CCE9431645EC}">
              <a14:shadowObscured xmlns:lc="http://schemas.openxmlformats.org/drawingml/2006/lockedCanvas" xmlns:a14="http://schemas.microsoft.com/office/drawing/2010/main" xmlns:w="http://schemas.openxmlformats.org/wordprocessingml/2006/main" xmlns:w10="urn:schemas-microsoft-com:office:word" xmlns:v="urn:schemas-microsoft-com:vml" xmlns:o="urn:schemas-microsoft-com:office:office" xmlns:mv="urn:schemas-microsoft-com:mac:vml" xmlns:mo="http://schemas.microsoft.com/office/mac/office/2008/main" xmlns="" xmlns:pic="http://schemas.openxmlformats.org/drawingml/2006/picture"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6sdtdh="http://schemas.microsoft.com/office/word/2020/wordml/sdtdatahash" xmlns:w16="http://schemas.microsoft.com/office/word/2018/wordml" xmlns:w16cid="http://schemas.microsoft.com/office/word/2016/wordml/cid" xmlns:w16cex="http://schemas.microsoft.com/office/word/2018/wordml/cex" xmlns:w15="http://schemas.microsoft.com/office/word/2012/wordml" xmlns:w14="http://schemas.microsoft.com/office/word/2010/wordml" xmlns:wp="http://schemas.openxmlformats.org/drawingml/2006/wordprocessingDrawing" xmlns:wp14="http://schemas.microsoft.com/office/word/2010/wordprocessingDrawing" xmlns:m="http://schemas.openxmlformats.org/officeDocument/2006/math" xmlns:am3d="http://schemas.microsoft.com/office/drawing/2017/model3d" xmlns:aink="http://schemas.microsoft.com/office/drawing/2016/ink" xmlns:mc="http://schemas.openxmlformats.org/markup-compatibility/2006"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cx1="http://schemas.microsoft.com/office/drawing/2015/9/8/chartex" xmlns:cx="http://schemas.microsoft.com/office/drawing/2014/chartex" xmlns:wpc="http://schemas.microsoft.com/office/word/2010/wordprocessingCanvas"/>
            </a:ext>
          </a:extLst>
        </p:spPr>
      </p:pic>
      <p:sp>
        <p:nvSpPr>
          <p:cNvPr id="8" name="Google Shape;122;g104476d1465_1_17">
            <a:extLst>
              <a:ext uri="{FF2B5EF4-FFF2-40B4-BE49-F238E27FC236}">
                <a16:creationId xmlns:a16="http://schemas.microsoft.com/office/drawing/2014/main" id="{AD12D43A-A05B-414F-BE4B-73DF01F431A8}"/>
              </a:ext>
            </a:extLst>
          </p:cNvPr>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9"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10</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8" name="Google Shape;458;p33"/>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a:solidFill>
                  <a:srgbClr val="3F2A67"/>
                </a:solidFill>
                <a:latin typeface="Verdana"/>
                <a:ea typeface="Verdana"/>
                <a:cs typeface="Verdana"/>
                <a:sym typeface="Verdana"/>
              </a:rPr>
              <a:t>Wrap-Up</a:t>
            </a:r>
            <a:endParaRPr sz="5100" b="1">
              <a:solidFill>
                <a:srgbClr val="3F2A67"/>
              </a:solidFill>
              <a:latin typeface="Verdana"/>
              <a:ea typeface="Verdana"/>
              <a:cs typeface="Verdana"/>
              <a:sym typeface="Verdana"/>
            </a:endParaRPr>
          </a:p>
        </p:txBody>
      </p:sp>
      <p:pic>
        <p:nvPicPr>
          <p:cNvPr id="459" name="Google Shape;459;p33"/>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srgbClr val="000000">
                <a:alpha val="40000"/>
              </a:srgbClr>
            </a:outerShdw>
          </a:effectLst>
        </p:spPr>
      </p:pic>
      <p:sp>
        <p:nvSpPr>
          <p:cNvPr id="8" name="Google Shape;155;g104476d1465_1_39">
            <a:extLst>
              <a:ext uri="{FF2B5EF4-FFF2-40B4-BE49-F238E27FC236}">
                <a16:creationId xmlns:a16="http://schemas.microsoft.com/office/drawing/2014/main" id="{9BD04980-D0F1-4CDF-9D54-5CADE2B4E79A}"/>
              </a:ext>
            </a:extLst>
          </p:cNvPr>
          <p:cNvSpPr/>
          <p:nvPr/>
        </p:nvSpPr>
        <p:spPr>
          <a:xfrm>
            <a:off x="0" y="-16500"/>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a:buSzPts val="1400"/>
            </a:pPr>
            <a:endParaRPr/>
          </a:p>
        </p:txBody>
      </p:sp>
      <p:sp>
        <p:nvSpPr>
          <p:cNvPr id="9"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10</a:t>
            </a:r>
            <a:endParaRPr i="1" dirty="0">
              <a:latin typeface="Calibri"/>
              <a:ea typeface="Calibri"/>
              <a:cs typeface="Calibri"/>
              <a:sym typeface="Calibri"/>
            </a:endParaRPr>
          </a:p>
        </p:txBody>
      </p:sp>
      <p:pic>
        <p:nvPicPr>
          <p:cNvPr id="10" name="Google Shape;126;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7" name="Google Shape;467;p34"/>
          <p:cNvSpPr txBox="1"/>
          <p:nvPr/>
        </p:nvSpPr>
        <p:spPr>
          <a:xfrm>
            <a:off x="1357400" y="62029"/>
            <a:ext cx="8019300" cy="1060471"/>
          </a:xfrm>
          <a:prstGeom prst="rect">
            <a:avLst/>
          </a:prstGeom>
          <a:noFill/>
          <a:ln>
            <a:noFill/>
          </a:ln>
        </p:spPr>
        <p:txBody>
          <a:bodyPr spcFirstLastPara="1" wrap="square" lIns="91425" tIns="45700" rIns="91425" bIns="45700" anchor="ctr" anchorCtr="0">
            <a:noAutofit/>
          </a:bodyPr>
          <a:lstStyle/>
          <a:p>
            <a:pPr>
              <a:lnSpc>
                <a:spcPct val="90000"/>
              </a:lnSpc>
              <a:buClr>
                <a:schemeClr val="dk1"/>
              </a:buClr>
              <a:buSzPts val="5400"/>
            </a:pPr>
            <a:r>
              <a:rPr lang="en-US" sz="2800" b="1" dirty="0">
                <a:solidFill>
                  <a:srgbClr val="3F2A67"/>
                </a:solidFill>
                <a:latin typeface="Verdana"/>
                <a:ea typeface="Verdana"/>
                <a:cs typeface="Verdana"/>
                <a:sym typeface="Verdana"/>
              </a:rPr>
              <a:t>8.1.6 Wrap-Up: Ticket Out the Door</a:t>
            </a:r>
            <a:endParaRPr sz="1100" dirty="0"/>
          </a:p>
        </p:txBody>
      </p:sp>
      <p:pic>
        <p:nvPicPr>
          <p:cNvPr id="468" name="Google Shape;468;p34"/>
          <p:cNvPicPr preferRelativeResize="0"/>
          <p:nvPr/>
        </p:nvPicPr>
        <p:blipFill rotWithShape="1">
          <a:blip r:embed="rId3">
            <a:alphaModFix/>
          </a:blip>
          <a:srcRect/>
          <a:stretch/>
        </p:blipFill>
        <p:spPr>
          <a:xfrm>
            <a:off x="527950" y="204925"/>
            <a:ext cx="747300" cy="747300"/>
          </a:xfrm>
          <a:prstGeom prst="rect">
            <a:avLst/>
          </a:prstGeom>
          <a:noFill/>
          <a:ln>
            <a:noFill/>
          </a:ln>
          <a:effectLst>
            <a:outerShdw blurRad="50800" dist="38100" dir="2700000" algn="tl" rotWithShape="0">
              <a:srgbClr val="000000">
                <a:alpha val="40000"/>
              </a:srgbClr>
            </a:outerShdw>
          </a:effectLst>
        </p:spPr>
      </p:pic>
      <p:sp>
        <p:nvSpPr>
          <p:cNvPr id="469" name="Google Shape;469;p34"/>
          <p:cNvSpPr txBox="1"/>
          <p:nvPr/>
        </p:nvSpPr>
        <p:spPr>
          <a:xfrm>
            <a:off x="1580000" y="952225"/>
            <a:ext cx="8893336" cy="707846"/>
          </a:xfrm>
          <a:prstGeom prst="rect">
            <a:avLst/>
          </a:prstGeom>
          <a:noFill/>
          <a:ln>
            <a:noFill/>
          </a:ln>
        </p:spPr>
        <p:txBody>
          <a:bodyPr spcFirstLastPara="1" wrap="square" lIns="91425" tIns="45700" rIns="91425" bIns="45700" anchor="t" anchorCtr="0">
            <a:spAutoFit/>
          </a:bodyPr>
          <a:lstStyle/>
          <a:p>
            <a:pPr marL="342900" indent="-3429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Match each image with its corresponding dimensions and volume. Use the table below to record your answers.</a:t>
            </a:r>
          </a:p>
        </p:txBody>
      </p:sp>
      <p:pic>
        <p:nvPicPr>
          <p:cNvPr id="8" name="Picture 7" descr="Diagram&#10;&#10;Description automatically generated">
            <a:extLst>
              <a:ext uri="{FF2B5EF4-FFF2-40B4-BE49-F238E27FC236}">
                <a16:creationId xmlns:a16="http://schemas.microsoft.com/office/drawing/2014/main" id="{9FFA2830-65FA-0D4F-A0B1-F14913F4989B}"/>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1357400" y="1660071"/>
            <a:ext cx="4505836" cy="4591011"/>
          </a:xfrm>
          <a:prstGeom prst="rect">
            <a:avLst/>
          </a:prstGeom>
        </p:spPr>
      </p:pic>
      <p:graphicFrame>
        <p:nvGraphicFramePr>
          <p:cNvPr id="9" name="Table 8">
            <a:extLst>
              <a:ext uri="{FF2B5EF4-FFF2-40B4-BE49-F238E27FC236}">
                <a16:creationId xmlns:a16="http://schemas.microsoft.com/office/drawing/2014/main" id="{F321729F-33D5-D042-9050-E16E255399C0}"/>
              </a:ext>
            </a:extLst>
          </p:cNvPr>
          <p:cNvGraphicFramePr>
            <a:graphicFrameLocks noGrp="1"/>
          </p:cNvGraphicFramePr>
          <p:nvPr>
            <p:extLst>
              <p:ext uri="{D42A27DB-BD31-4B8C-83A1-F6EECF244321}">
                <p14:modId xmlns:p14="http://schemas.microsoft.com/office/powerpoint/2010/main" val="4224999657"/>
              </p:ext>
            </p:extLst>
          </p:nvPr>
        </p:nvGraphicFramePr>
        <p:xfrm>
          <a:off x="5863236" y="3070278"/>
          <a:ext cx="4610100" cy="1463040"/>
        </p:xfrm>
        <a:graphic>
          <a:graphicData uri="http://schemas.openxmlformats.org/drawingml/2006/table">
            <a:tbl>
              <a:tblPr/>
              <a:tblGrid>
                <a:gridCol w="1308099">
                  <a:extLst>
                    <a:ext uri="{9D8B030D-6E8A-4147-A177-3AD203B41FA5}">
                      <a16:colId xmlns:a16="http://schemas.microsoft.com/office/drawing/2014/main" val="3937444212"/>
                    </a:ext>
                  </a:extLst>
                </a:gridCol>
                <a:gridCol w="1765301">
                  <a:extLst>
                    <a:ext uri="{9D8B030D-6E8A-4147-A177-3AD203B41FA5}">
                      <a16:colId xmlns:a16="http://schemas.microsoft.com/office/drawing/2014/main" val="1354789351"/>
                    </a:ext>
                  </a:extLst>
                </a:gridCol>
                <a:gridCol w="1536700">
                  <a:extLst>
                    <a:ext uri="{9D8B030D-6E8A-4147-A177-3AD203B41FA5}">
                      <a16:colId xmlns:a16="http://schemas.microsoft.com/office/drawing/2014/main" val="2822895114"/>
                    </a:ext>
                  </a:extLst>
                </a:gridCol>
              </a:tblGrid>
              <a:tr h="272449">
                <a:tc>
                  <a:txBody>
                    <a:bodyPr/>
                    <a:lstStyle/>
                    <a:p>
                      <a:pPr algn="ctr" rtl="0" fontAlgn="ctr">
                        <a:spcBef>
                          <a:spcPts val="0"/>
                        </a:spcBef>
                        <a:spcAft>
                          <a:spcPts val="0"/>
                        </a:spcAft>
                      </a:pPr>
                      <a:r>
                        <a:rPr lang="en-US" sz="1800" b="1" i="0" u="none" strike="noStrike">
                          <a:solidFill>
                            <a:srgbClr val="000000"/>
                          </a:solidFill>
                          <a:effectLst/>
                          <a:latin typeface="Verdana" panose="020B0604030504040204" pitchFamily="34" charset="0"/>
                        </a:rPr>
                        <a:t>Image</a:t>
                      </a:r>
                      <a:endParaRPr lang="en-US">
                        <a:effectLst/>
                      </a:endParaRPr>
                    </a:p>
                  </a:txBody>
                  <a:tcPr marL="68580" marR="6858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ctr">
                        <a:spcBef>
                          <a:spcPts val="0"/>
                        </a:spcBef>
                        <a:spcAft>
                          <a:spcPts val="0"/>
                        </a:spcAft>
                      </a:pPr>
                      <a:r>
                        <a:rPr lang="en-US" sz="1800" b="1" i="0" u="none" strike="noStrike">
                          <a:solidFill>
                            <a:srgbClr val="000000"/>
                          </a:solidFill>
                          <a:effectLst/>
                          <a:latin typeface="Verdana" panose="020B0604030504040204" pitchFamily="34" charset="0"/>
                        </a:rPr>
                        <a:t>Dimensions</a:t>
                      </a:r>
                      <a:endParaRPr lang="en-US">
                        <a:effectLst/>
                      </a:endParaRPr>
                    </a:p>
                  </a:txBody>
                  <a:tcPr marL="68580" marR="6858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tc>
                  <a:txBody>
                    <a:bodyPr/>
                    <a:lstStyle/>
                    <a:p>
                      <a:pPr algn="ctr" rtl="0" fontAlgn="ctr">
                        <a:spcBef>
                          <a:spcPts val="0"/>
                        </a:spcBef>
                        <a:spcAft>
                          <a:spcPts val="0"/>
                        </a:spcAft>
                      </a:pPr>
                      <a:r>
                        <a:rPr lang="en-US" sz="1800" b="1" i="0" u="none" strike="noStrike" dirty="0">
                          <a:solidFill>
                            <a:srgbClr val="000000"/>
                          </a:solidFill>
                          <a:effectLst/>
                          <a:latin typeface="Verdana" panose="020B0604030504040204" pitchFamily="34" charset="0"/>
                        </a:rPr>
                        <a:t>Volume</a:t>
                      </a:r>
                      <a:endParaRPr lang="en-US" dirty="0">
                        <a:effectLst/>
                      </a:endParaRPr>
                    </a:p>
                  </a:txBody>
                  <a:tcPr marL="68580" marR="6858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4177061894"/>
                  </a:ext>
                </a:extLst>
              </a:tr>
              <a:tr h="272449">
                <a:tc>
                  <a:txBody>
                    <a:bodyPr/>
                    <a:lstStyle/>
                    <a:p>
                      <a:pPr algn="ctr" rtl="0" fontAlgn="ctr">
                        <a:spcBef>
                          <a:spcPts val="0"/>
                        </a:spcBef>
                        <a:spcAft>
                          <a:spcPts val="0"/>
                        </a:spcAft>
                      </a:pPr>
                      <a:r>
                        <a:rPr lang="en-US" sz="1800" b="0" i="0" u="none" strike="noStrike" dirty="0">
                          <a:solidFill>
                            <a:srgbClr val="000000"/>
                          </a:solidFill>
                          <a:effectLst/>
                          <a:latin typeface="Verdana" panose="020B0604030504040204" pitchFamily="34" charset="0"/>
                        </a:rPr>
                        <a:t>A</a:t>
                      </a:r>
                      <a:endParaRPr lang="en-US" dirty="0">
                        <a:effectLst/>
                      </a:endParaRPr>
                    </a:p>
                  </a:txBody>
                  <a:tcPr marL="68580" marR="6858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fontAlgn="ctr"/>
                      <a:endParaRPr lang="en-US" dirty="0">
                        <a:effectLst/>
                      </a:endParaRPr>
                    </a:p>
                  </a:txBody>
                  <a:tcPr marL="68580" marR="6858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fontAlgn="ctr"/>
                      <a:endParaRPr lang="en-US" dirty="0">
                        <a:effectLst/>
                      </a:endParaRPr>
                    </a:p>
                  </a:txBody>
                  <a:tcPr marL="68580" marR="6858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99759046"/>
                  </a:ext>
                </a:extLst>
              </a:tr>
              <a:tr h="309550">
                <a:tc>
                  <a:txBody>
                    <a:bodyPr/>
                    <a:lstStyle/>
                    <a:p>
                      <a:pPr algn="ctr" rtl="0" fontAlgn="ctr">
                        <a:spcBef>
                          <a:spcPts val="0"/>
                        </a:spcBef>
                        <a:spcAft>
                          <a:spcPts val="0"/>
                        </a:spcAft>
                      </a:pPr>
                      <a:r>
                        <a:rPr lang="en-US" sz="1800" b="0" i="0" u="none" strike="noStrike">
                          <a:solidFill>
                            <a:srgbClr val="000000"/>
                          </a:solidFill>
                          <a:effectLst/>
                          <a:latin typeface="Verdana" panose="020B0604030504040204" pitchFamily="34" charset="0"/>
                        </a:rPr>
                        <a:t>B</a:t>
                      </a:r>
                      <a:endParaRPr lang="en-US">
                        <a:effectLst/>
                      </a:endParaRPr>
                    </a:p>
                  </a:txBody>
                  <a:tcPr marL="68580" marR="6858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fontAlgn="ctr"/>
                      <a:endParaRPr lang="en-US" dirty="0">
                        <a:effectLst/>
                      </a:endParaRPr>
                    </a:p>
                  </a:txBody>
                  <a:tcPr marL="68580" marR="6858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fontAlgn="ctr"/>
                      <a:endParaRPr lang="en-US" dirty="0">
                        <a:effectLst/>
                      </a:endParaRPr>
                    </a:p>
                  </a:txBody>
                  <a:tcPr marL="68580" marR="6858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75482294"/>
                  </a:ext>
                </a:extLst>
              </a:tr>
              <a:tr h="309550">
                <a:tc>
                  <a:txBody>
                    <a:bodyPr/>
                    <a:lstStyle/>
                    <a:p>
                      <a:pPr algn="ctr" rtl="0" fontAlgn="ctr">
                        <a:spcBef>
                          <a:spcPts val="0"/>
                        </a:spcBef>
                        <a:spcAft>
                          <a:spcPts val="0"/>
                        </a:spcAft>
                      </a:pPr>
                      <a:r>
                        <a:rPr lang="en-US" sz="1800" b="0" i="0" u="none" strike="noStrike">
                          <a:solidFill>
                            <a:srgbClr val="000000"/>
                          </a:solidFill>
                          <a:effectLst/>
                          <a:latin typeface="Verdana" panose="020B0604030504040204" pitchFamily="34" charset="0"/>
                        </a:rPr>
                        <a:t>C</a:t>
                      </a:r>
                      <a:endParaRPr lang="en-US">
                        <a:effectLst/>
                      </a:endParaRPr>
                    </a:p>
                  </a:txBody>
                  <a:tcPr marL="68580" marR="6858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fontAlgn="ctr"/>
                      <a:endParaRPr lang="en-US" dirty="0">
                        <a:effectLst/>
                      </a:endParaRPr>
                    </a:p>
                  </a:txBody>
                  <a:tcPr marL="68580" marR="6858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fontAlgn="ctr"/>
                      <a:endParaRPr lang="en-US" dirty="0">
                        <a:effectLst/>
                      </a:endParaRPr>
                    </a:p>
                  </a:txBody>
                  <a:tcPr marL="68580" marR="6858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33438833"/>
                  </a:ext>
                </a:extLst>
              </a:tr>
            </a:tbl>
          </a:graphicData>
        </a:graphic>
      </p:graphicFrame>
      <p:sp>
        <p:nvSpPr>
          <p:cNvPr id="10" name="Google Shape;122;g104476d1465_1_17">
            <a:extLst>
              <a:ext uri="{FF2B5EF4-FFF2-40B4-BE49-F238E27FC236}">
                <a16:creationId xmlns:a16="http://schemas.microsoft.com/office/drawing/2014/main" id="{749E8424-74DE-46D6-8237-EB8E1DA51E2D}"/>
              </a:ext>
            </a:extLst>
          </p:cNvPr>
          <p:cNvSpPr/>
          <p:nvPr/>
        </p:nvSpPr>
        <p:spPr>
          <a:xfrm>
            <a:off x="0" y="-8101"/>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a:buSzPts val="1400"/>
            </a:pPr>
            <a:endParaRPr/>
          </a:p>
        </p:txBody>
      </p:sp>
      <p:sp>
        <p:nvSpPr>
          <p:cNvPr id="12" name="Google Shape;125;g104476d1465_1_17"/>
          <p:cNvSpPr txBox="1"/>
          <p:nvPr/>
        </p:nvSpPr>
        <p:spPr>
          <a:xfrm>
            <a:off x="8711750" y="6457799"/>
            <a:ext cx="2634000" cy="400200"/>
          </a:xfrm>
          <a:prstGeom prst="rect">
            <a:avLst/>
          </a:prstGeom>
          <a:noFill/>
          <a:ln>
            <a:noFill/>
          </a:ln>
        </p:spPr>
        <p:txBody>
          <a:bodyPr spcFirstLastPara="1" wrap="square" lIns="91425" tIns="91425" rIns="91425" bIns="91425" anchor="t" anchorCtr="0">
            <a:spAutoFit/>
          </a:bodyPr>
          <a:lstStyle/>
          <a:p>
            <a:pPr algn="r">
              <a:buSzPts val="1400"/>
            </a:pPr>
            <a:r>
              <a:rPr lang="en-US" i="1" dirty="0">
                <a:latin typeface="Calibri"/>
                <a:ea typeface="Calibri"/>
                <a:cs typeface="Calibri"/>
                <a:sym typeface="Calibri"/>
              </a:rPr>
              <a:t>volume 2, pg</a:t>
            </a:r>
            <a:r>
              <a:rPr lang="en-US" i="1">
                <a:latin typeface="Calibri"/>
                <a:ea typeface="Calibri"/>
                <a:cs typeface="Calibri"/>
                <a:sym typeface="Calibri"/>
              </a:rPr>
              <a:t>. </a:t>
            </a:r>
            <a:r>
              <a:rPr lang="en-US" i="1" dirty="0">
                <a:latin typeface="Calibri"/>
                <a:ea typeface="Calibri"/>
                <a:cs typeface="Calibri"/>
                <a:sym typeface="Calibri"/>
              </a:rPr>
              <a:t>10</a:t>
            </a:r>
            <a:endParaRPr i="1" dirty="0">
              <a:latin typeface="Calibri"/>
              <a:ea typeface="Calibri"/>
              <a:cs typeface="Calibri"/>
              <a:sym typeface="Calibri"/>
            </a:endParaRPr>
          </a:p>
        </p:txBody>
      </p:sp>
      <p:pic>
        <p:nvPicPr>
          <p:cNvPr id="13" name="Google Shape;126;g104476d1465_1_17"/>
          <p:cNvPicPr preferRelativeResize="0"/>
          <p:nvPr/>
        </p:nvPicPr>
        <p:blipFill rotWithShape="1">
          <a:blip r:embed="rId5" cstate="screen">
            <a:alphaModFix/>
            <a:extLst>
              <a:ext uri="{28A0092B-C50C-407E-A947-70E740481C1C}">
                <a14:useLocalDpi xmlns:a14="http://schemas.microsoft.com/office/drawing/2010/main"/>
              </a:ext>
            </a:extLst>
          </a:blip>
          <a:srcRect/>
          <a:stretch/>
        </p:blipFill>
        <p:spPr>
          <a:xfrm>
            <a:off x="11449976" y="6200724"/>
            <a:ext cx="563850" cy="657276"/>
          </a:xfrm>
          <a:prstGeom prst="rect">
            <a:avLst/>
          </a:prstGeom>
          <a:noFill/>
          <a:ln>
            <a:noFill/>
          </a:ln>
          <a:effectLst>
            <a:outerShdw blurRad="57150" dist="19050" dir="5400000" algn="bl" rotWithShape="0">
              <a:srgbClr val="000000">
                <a:alpha val="49803"/>
              </a:srgbClr>
            </a:outerShdw>
          </a:effectLst>
        </p:spPr>
      </p:pic>
    </p:spTree>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841</TotalTime>
  <Words>1816</Words>
  <Application>Microsoft Office PowerPoint</Application>
  <PresentationFormat>Widescreen</PresentationFormat>
  <Paragraphs>376</Paragraphs>
  <Slides>39</Slides>
  <Notes>39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39</vt:i4>
      </vt:variant>
    </vt:vector>
  </HeadingPairs>
  <TitlesOfParts>
    <vt:vector size="47" baseType="lpstr">
      <vt:lpstr>Arial</vt:lpstr>
      <vt:lpstr>Arial Black</vt:lpstr>
      <vt:lpstr>Calibri</vt:lpstr>
      <vt:lpstr>Cambria</vt:lpstr>
      <vt:lpstr>Cambria Math</vt:lpstr>
      <vt:lpstr>Verdana</vt:lpstr>
      <vt:lpstr>Wingdings</vt:lpstr>
      <vt:lpstr>1_Office Theme</vt:lpstr>
      <vt:lpstr>6th Grade Accelerated Math   Unit 8, Lesson 1  Volume of Right Rectangular Prisms  Volume 2, pg. 3  </vt:lpstr>
      <vt:lpstr>Benchmark</vt:lpstr>
      <vt:lpstr>PowerPoint Presentation</vt:lpstr>
      <vt:lpstr>PowerPoint Presentation</vt:lpstr>
      <vt:lpstr>Warm-Up</vt:lpstr>
      <vt:lpstr>PowerPoint Presentation</vt:lpstr>
      <vt:lpstr>PowerPoint Presentation</vt:lpstr>
      <vt:lpstr>Exploration</vt:lpstr>
      <vt:lpstr>PowerPoint Presentation</vt:lpstr>
      <vt:lpstr>PowerPoint Presentation</vt:lpstr>
      <vt:lpstr>PowerPoint Presentation</vt:lpstr>
      <vt:lpstr>Exploration</vt:lpstr>
      <vt:lpstr>PowerPoint Presentation</vt:lpstr>
      <vt:lpstr>PowerPoint Presentation</vt:lpstr>
      <vt:lpstr>PowerPoint Presentation</vt:lpstr>
      <vt:lpstr>PowerPoint Presentation</vt:lpstr>
      <vt:lpstr>PowerPoint Presentation</vt:lpstr>
      <vt:lpstr>PowerPoint Presentation</vt:lpstr>
      <vt:lpstr>Guided Instruction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Your Turn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6th Grade Accelerated Math  Unit 8, Lesson 1  Volume of Right Rectangular Prisms  Volume #, pg. #  </dc:title>
  <dc:creator>Karen McKenzie</dc:creator>
  <cp:lastModifiedBy>Cassie O'Connor</cp:lastModifiedBy>
  <cp:revision>24</cp:revision>
  <dcterms:created xsi:type="dcterms:W3CDTF">2015-03-17T18:51:18Z</dcterms:created>
  <dcterms:modified xsi:type="dcterms:W3CDTF">2022-08-01T03:13:58Z</dcterms:modified>
</cp:coreProperties>
</file>