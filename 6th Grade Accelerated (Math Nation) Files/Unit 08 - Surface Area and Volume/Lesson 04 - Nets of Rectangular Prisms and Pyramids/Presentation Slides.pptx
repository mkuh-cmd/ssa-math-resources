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81" r:id="rId8"/>
    <p:sldId id="282" r:id="rId9"/>
    <p:sldId id="283" r:id="rId10"/>
    <p:sldId id="266" r:id="rId11"/>
    <p:sldId id="267" r:id="rId12"/>
    <p:sldId id="268" r:id="rId13"/>
    <p:sldId id="293" r:id="rId14"/>
    <p:sldId id="263" r:id="rId15"/>
    <p:sldId id="264" r:id="rId16"/>
    <p:sldId id="290" r:id="rId17"/>
    <p:sldId id="291"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JAlmViUFYPExNdDTLT7VrFLNg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695"/>
  </p:normalViewPr>
  <p:slideViewPr>
    <p:cSldViewPr snapToGrid="0">
      <p:cViewPr varScale="1">
        <p:scale>
          <a:sx n="108" d="100"/>
          <a:sy n="108" d="100"/>
        </p:scale>
        <p:origin x="678"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51" Type="http://schemas.openxmlformats.org/officeDocument/2006/relationships/theme" Target="theme/theme1.xml"/><Relationship Id="rId3" Type="http://schemas.openxmlformats.org/officeDocument/2006/relationships/slide" Target="slides/slide2.xml"/><Relationship Id="rId50" Type="http://schemas.openxmlformats.org/officeDocument/2006/relationships/viewProps" Target="viewProps.xml"/><Relationship Id="rId55"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3"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3956100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extLst>
      <p:ext uri="{BB962C8B-B14F-4D97-AF65-F5344CB8AC3E}">
        <p14:creationId xmlns:p14="http://schemas.microsoft.com/office/powerpoint/2010/main" val="294675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extLst>
      <p:ext uri="{BB962C8B-B14F-4D97-AF65-F5344CB8AC3E}">
        <p14:creationId xmlns:p14="http://schemas.microsoft.com/office/powerpoint/2010/main" val="2410614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extLst>
      <p:ext uri="{BB962C8B-B14F-4D97-AF65-F5344CB8AC3E}">
        <p14:creationId xmlns:p14="http://schemas.microsoft.com/office/powerpoint/2010/main" val="1255706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959494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1397572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2982045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2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220687"/>
            <a:ext cx="5077649" cy="302804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Nets of Rectangular Prisms and Pyramids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20</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810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185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6"/>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60950" y="1238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37450" y="3596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20</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384750" y="1609531"/>
            <a:ext cx="94225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8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MA.6.GR.2.4</a:t>
            </a:r>
            <a:endParaRPr sz="28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pPr marL="457200">
              <a:lnSpc>
                <a:spcPct val="90000"/>
              </a:lnSpc>
              <a:spcBef>
                <a:spcPts val="750"/>
              </a:spcBef>
              <a:buClr>
                <a:schemeClr val="dk1"/>
              </a:buClr>
              <a:buSzPts val="2100"/>
            </a:pPr>
            <a:r>
              <a:rPr lang="en-US" sz="2800" dirty="0">
                <a:latin typeface="Verdana" panose="020B0604030504040204" pitchFamily="34" charset="0"/>
                <a:ea typeface="Verdana" panose="020B0604030504040204" pitchFamily="34" charset="0"/>
                <a:cs typeface="Verdana" panose="020B0604030504040204" pitchFamily="34" charset="0"/>
              </a:rPr>
              <a:t>Given a mathematical or real-world context, find the surface area of right rectangular prisms and right rectangular pyramids using the figure’s net.</a:t>
            </a:r>
            <a:endParaRPr sz="1800" dirty="0">
              <a:solidFill>
                <a:schemeClr val="dk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8226"/>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671100" y="334200"/>
            <a:ext cx="747300" cy="747300"/>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495750" y="915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1663700" y="1596390"/>
            <a:ext cx="8547100"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a:ea typeface="Verdana"/>
                <a:cs typeface="Verdana"/>
                <a:sym typeface="Verdana"/>
              </a:rPr>
              <a:t>MA.K12.MTR.1.1 Actively participate in effortful learning both individually and collectively.</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MA.K12.MTR.2.1 Demonstrate understanding by representing problems in multiple ways.</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MA.K12.MTR.4.1 Engage in discussions that reflect on the mathematical thinking of self and others.</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MA.K12.MTR.5.1 Use patterns and structure to help understand and connect mathematical concepts.</a:t>
            </a:r>
            <a:endParaRPr sz="2000" dirty="0"/>
          </a:p>
          <a:p>
            <a:endParaRPr sz="1800" dirty="0">
              <a:solidFill>
                <a:schemeClr val="dk1"/>
              </a:solidFill>
              <a:latin typeface="Verdana"/>
              <a:ea typeface="Verdana"/>
              <a:cs typeface="Verdana"/>
              <a:sym typeface="Verdana"/>
            </a:endParaRPr>
          </a:p>
        </p:txBody>
      </p:sp>
      <p:sp>
        <p:nvSpPr>
          <p:cNvPr id="9"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226"/>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374075"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7" name="Google Shape;147;p2"/>
          <p:cNvPicPr preferRelativeResize="0"/>
          <p:nvPr/>
        </p:nvPicPr>
        <p:blipFill rotWithShape="1">
          <a:blip r:embed="rId3">
            <a:alphaModFix/>
          </a:blip>
          <a:srcRect/>
          <a:stretch/>
        </p:blipFill>
        <p:spPr>
          <a:xfrm>
            <a:off x="591913" y="289200"/>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374075" y="1600200"/>
            <a:ext cx="8836725"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2800" dirty="0">
                <a:latin typeface="Verdana" panose="020B0604030504040204" pitchFamily="34" charset="0"/>
                <a:ea typeface="Verdana" panose="020B0604030504040204" pitchFamily="34" charset="0"/>
                <a:cs typeface="Verdana" panose="020B0604030504040204" pitchFamily="34" charset="0"/>
              </a:rPr>
              <a:t>I can draw the net of a rectangular prism or rectangular pyramid. </a:t>
            </a:r>
          </a:p>
          <a:p>
            <a:pPr marL="457200" indent="-450850">
              <a:buClr>
                <a:srgbClr val="434343"/>
              </a:buClr>
              <a:buSzPts val="3500"/>
              <a:buFont typeface="Verdana"/>
              <a:buChar char="❏"/>
            </a:pPr>
            <a:r>
              <a:rPr lang="en-US" sz="2800" dirty="0">
                <a:latin typeface="Verdana" panose="020B0604030504040204" pitchFamily="34" charset="0"/>
                <a:ea typeface="Verdana" panose="020B0604030504040204" pitchFamily="34" charset="0"/>
                <a:cs typeface="Verdana" panose="020B0604030504040204" pitchFamily="34" charset="0"/>
              </a:rPr>
              <a:t>I can relate a net to its three-dimensional shape. </a:t>
            </a:r>
          </a:p>
          <a:p>
            <a:pPr marL="457200" indent="-450850">
              <a:buClr>
                <a:srgbClr val="434343"/>
              </a:buClr>
              <a:buSzPts val="3500"/>
              <a:buFont typeface="Verdana"/>
              <a:buChar char="❏"/>
            </a:pPr>
            <a:r>
              <a:rPr lang="en-US" sz="2800" dirty="0">
                <a:latin typeface="Verdana" panose="020B0604030504040204" pitchFamily="34" charset="0"/>
                <a:ea typeface="Verdana" panose="020B0604030504040204" pitchFamily="34" charset="0"/>
                <a:cs typeface="Verdana" panose="020B0604030504040204" pitchFamily="34" charset="0"/>
              </a:rPr>
              <a:t>I can relate a rectangular prism or rectangular pyramid to its net. </a:t>
            </a:r>
            <a:endParaRPr sz="11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226"/>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226"/>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618150"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8.4.1 Warm-Up: Bell Work</a:t>
            </a:r>
            <a:endParaRPr dirty="0"/>
          </a:p>
        </p:txBody>
      </p:sp>
      <p:pic>
        <p:nvPicPr>
          <p:cNvPr id="168" name="Google Shape;168;p4"/>
          <p:cNvPicPr preferRelativeResize="0"/>
          <p:nvPr/>
        </p:nvPicPr>
        <p:blipFill rotWithShape="1">
          <a:blip r:embed="rId3">
            <a:alphaModFix/>
          </a:blip>
          <a:srcRect/>
          <a:stretch/>
        </p:blipFill>
        <p:spPr>
          <a:xfrm>
            <a:off x="785098" y="349525"/>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70" name="Google Shape;170;p4"/>
              <p:cNvSpPr txBox="1"/>
              <p:nvPr/>
            </p:nvSpPr>
            <p:spPr>
              <a:xfrm>
                <a:off x="1532398" y="1386025"/>
                <a:ext cx="8855186" cy="130608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rectangular ball pit has a volume of </a:t>
                </a:r>
                <a:r>
                  <a:rPr lang="en-US" sz="2000" dirty="0">
                    <a:latin typeface="Cambria Math" panose="02040503050406030204" pitchFamily="18" charset="0"/>
                    <a:ea typeface="Cambria Math" panose="02040503050406030204" pitchFamily="18" charset="0"/>
                    <a:cs typeface="Verdana" panose="020B0604030504040204" pitchFamily="34" charset="0"/>
                  </a:rPr>
                  <a:t>28</a:t>
                </a:r>
                <a:r>
                  <a:rPr lang="en-US" sz="2000" dirty="0">
                    <a:latin typeface="Verdana" panose="020B0604030504040204" pitchFamily="34" charset="0"/>
                    <a:ea typeface="Verdana" panose="020B0604030504040204" pitchFamily="34" charset="0"/>
                    <a:cs typeface="Verdana" panose="020B0604030504040204" pitchFamily="34" charset="0"/>
                  </a:rPr>
                  <a:t> cubic meters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m:t>
                        </m:r>
                        <m:r>
                          <m:rPr>
                            <m:sty m:val="p"/>
                          </m:rPr>
                          <a:rPr lang="en-US" sz="2000">
                            <a:latin typeface="Cambria Math" panose="02040503050406030204" pitchFamily="18" charset="0"/>
                            <a:ea typeface="Verdana" panose="020B0604030504040204" pitchFamily="34" charset="0"/>
                            <a:cs typeface="Verdana" panose="020B0604030504040204" pitchFamily="34" charset="0"/>
                          </a:rPr>
                          <m:t>m</m:t>
                        </m:r>
                        <m:r>
                          <a:rPr lang="en-US" sz="2000" i="1">
                            <a:latin typeface="Cambria Math" panose="02040503050406030204" pitchFamily="18" charset="0"/>
                            <a:ea typeface="Verdana" panose="020B0604030504040204" pitchFamily="34" charset="0"/>
                            <a:cs typeface="Verdana" panose="020B0604030504040204" pitchFamily="34" charset="0"/>
                          </a:rPr>
                          <m:t>)</m:t>
                        </m:r>
                      </m:e>
                      <m:sup>
                        <m:r>
                          <a:rPr lang="en-US" sz="2000" i="1">
                            <a:latin typeface="Cambria Math" panose="02040503050406030204" pitchFamily="18" charset="0"/>
                            <a:ea typeface="Verdana" panose="020B0604030504040204" pitchFamily="34" charset="0"/>
                            <a:cs typeface="Verdana" panose="020B0604030504040204" pitchFamily="34"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Find the width of the ball pit if the length is </a:t>
                </a:r>
                <a14:m>
                  <m:oMath xmlns:m="http://schemas.openxmlformats.org/officeDocument/2006/math">
                    <m:r>
                      <a:rPr lang="en-US" sz="2000">
                        <a:latin typeface="Cambria Math" panose="02040503050406030204" pitchFamily="18" charset="0"/>
                        <a:ea typeface="Verdana" panose="020B0604030504040204" pitchFamily="34" charset="0"/>
                        <a:cs typeface="Verdana" panose="020B0604030504040204" pitchFamily="34" charset="0"/>
                      </a:rPr>
                      <m:t>5</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5</m:t>
                        </m:r>
                      </m:num>
                      <m:den>
                        <m:r>
                          <a:rPr lang="en-US" sz="2000" i="1">
                            <a:latin typeface="Cambria Math" panose="02040503050406030204" pitchFamily="18" charset="0"/>
                            <a:ea typeface="Verdana" panose="020B0604030504040204" pitchFamily="34" charset="0"/>
                            <a:cs typeface="Verdana" panose="020B0604030504040204" pitchFamily="34" charset="0"/>
                          </a:rPr>
                          <m:t>6</m:t>
                        </m:r>
                      </m:den>
                    </m:f>
                    <m:r>
                      <a:rPr lang="en-US" sz="2000" i="1">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Cambria Math" panose="02040503050406030204" pitchFamily="18" charset="0"/>
                    <a:ea typeface="Cambria Math" panose="02040503050406030204" pitchFamily="18" charset="0"/>
                    <a:cs typeface="Verdana" panose="020B0604030504040204" pitchFamily="34" charset="0"/>
                  </a:rPr>
                  <a:t>m</a:t>
                </a:r>
                <a:r>
                  <a:rPr lang="en-US" sz="2000" dirty="0">
                    <a:latin typeface="Verdana" panose="020B0604030504040204" pitchFamily="34" charset="0"/>
                    <a:ea typeface="Verdana" panose="020B0604030504040204" pitchFamily="34" charset="0"/>
                    <a:cs typeface="Verdana" panose="020B0604030504040204" pitchFamily="34" charset="0"/>
                  </a:rPr>
                  <a:t> and the depth is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3</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r>
                      <a:rPr lang="en-US" sz="2000" i="1">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Cambria Math" panose="02040503050406030204" pitchFamily="18" charset="0"/>
                    <a:ea typeface="Cambria Math" panose="02040503050406030204" pitchFamily="18" charset="0"/>
                    <a:cs typeface="Verdana" panose="020B0604030504040204" pitchFamily="34" charset="0"/>
                  </a:rPr>
                  <a:t>m</a:t>
                </a:r>
                <a:r>
                  <a:rPr lang="en-US" sz="2000" dirty="0">
                    <a:latin typeface="Verdana" panose="020B0604030504040204" pitchFamily="34" charset="0"/>
                    <a:ea typeface="Verdana" panose="020B0604030504040204" pitchFamily="34" charset="0"/>
                    <a:cs typeface="Verdana" panose="020B0604030504040204" pitchFamily="34" charset="0"/>
                  </a:rPr>
                  <a:t>.</a:t>
                </a: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70" name="Google Shape;170;p4"/>
              <p:cNvSpPr txBox="1">
                <a:spLocks noRot="1" noChangeAspect="1" noMove="1" noResize="1" noEditPoints="1" noAdjustHandles="1" noChangeArrowheads="1" noChangeShapeType="1" noTextEdit="1"/>
              </p:cNvSpPr>
              <p:nvPr/>
            </p:nvSpPr>
            <p:spPr>
              <a:xfrm>
                <a:off x="1532398" y="1386025"/>
                <a:ext cx="8855186" cy="1306086"/>
              </a:xfrm>
              <a:prstGeom prst="rect">
                <a:avLst/>
              </a:prstGeom>
              <a:blipFill rotWithShape="0">
                <a:blip r:embed="rId4"/>
                <a:stretch>
                  <a:fillRect l="-757" t="-2791" r="-619" b="-30233"/>
                </a:stretch>
              </a:blipFill>
              <a:ln>
                <a:noFill/>
              </a:ln>
            </p:spPr>
            <p:txBody>
              <a:bodyPr/>
              <a:lstStyle/>
              <a:p>
                <a:r>
                  <a:rPr lang="en-US">
                    <a:noFill/>
                  </a:rPr>
                  <a:t> </a:t>
                </a:r>
              </a:p>
            </p:txBody>
          </p:sp>
        </mc:Fallback>
      </mc:AlternateContent>
      <p:sp>
        <p:nvSpPr>
          <p:cNvPr id="9"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4"/>
          <p:cNvSpPr/>
          <p:nvPr/>
        </p:nvSpPr>
        <p:spPr>
          <a:xfrm>
            <a:off x="0" y="-8226"/>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67" name="Google Shape;367;p24"/>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54B5D1"/>
                </a:solidFill>
                <a:latin typeface="Verdana"/>
                <a:ea typeface="Verdana"/>
                <a:cs typeface="Verdana"/>
                <a:sym typeface="Verdana"/>
              </a:rPr>
              <a:t>Refresher</a:t>
            </a:r>
            <a:endParaRPr sz="5100" b="1">
              <a:solidFill>
                <a:srgbClr val="54B5D1"/>
              </a:solidFill>
              <a:latin typeface="Verdana"/>
              <a:ea typeface="Verdana"/>
              <a:cs typeface="Verdana"/>
              <a:sym typeface="Verdana"/>
            </a:endParaRPr>
          </a:p>
        </p:txBody>
      </p:sp>
      <p:pic>
        <p:nvPicPr>
          <p:cNvPr id="369" name="Google Shape;369;p24" descr="Icon&#10;&#10;Description automatically generated"/>
          <p:cNvPicPr preferRelativeResize="0"/>
          <p:nvPr/>
        </p:nvPicPr>
        <p:blipFill rotWithShape="1">
          <a:blip r:embed="rId3">
            <a:alphaModFix/>
          </a:blip>
          <a:srcRect/>
          <a:stretch/>
        </p:blipFill>
        <p:spPr>
          <a:xfrm>
            <a:off x="4492434" y="279196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381628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5"/>
          <p:cNvSpPr/>
          <p:nvPr/>
        </p:nvSpPr>
        <p:spPr>
          <a:xfrm>
            <a:off x="0" y="-8226"/>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77" name="Google Shape;377;p25"/>
          <p:cNvSpPr txBox="1"/>
          <p:nvPr/>
        </p:nvSpPr>
        <p:spPr>
          <a:xfrm>
            <a:off x="1552901"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8.4.2 Refresher: Area of Composite Figures</a:t>
            </a:r>
            <a:endParaRPr dirty="0"/>
          </a:p>
        </p:txBody>
      </p:sp>
      <p:pic>
        <p:nvPicPr>
          <p:cNvPr id="379" name="Google Shape;379;p25"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63272" y="275120"/>
            <a:ext cx="749808" cy="749808"/>
          </a:xfrm>
          <a:prstGeom prst="rect">
            <a:avLst/>
          </a:prstGeom>
          <a:noFill/>
          <a:ln>
            <a:noFill/>
          </a:ln>
          <a:effectLst>
            <a:outerShdw blurRad="50800" dist="38100" dir="2700000" algn="tl" rotWithShape="0">
              <a:srgbClr val="000000">
                <a:alpha val="40000"/>
              </a:srgbClr>
            </a:outerShdw>
          </a:effectLst>
        </p:spPr>
      </p:pic>
      <p:sp>
        <p:nvSpPr>
          <p:cNvPr id="380" name="Google Shape;380;p25"/>
          <p:cNvSpPr txBox="1"/>
          <p:nvPr/>
        </p:nvSpPr>
        <p:spPr>
          <a:xfrm>
            <a:off x="1513081" y="1386026"/>
            <a:ext cx="4311952" cy="1631175"/>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find the area of each composite figure. All measurements are in meters (m). </a:t>
            </a:r>
            <a:endParaRPr sz="20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a:extLst>
              <a:ext uri="{FF2B5EF4-FFF2-40B4-BE49-F238E27FC236}">
                <a16:creationId xmlns:a16="http://schemas.microsoft.com/office/drawing/2014/main" id="{43E0501C-3EF5-914E-AC3A-9BD5D37D0A54}"/>
              </a:ext>
            </a:extLst>
          </p:cNvPr>
          <p:cNvPicPr>
            <a:picLocks noChangeAspect="1"/>
          </p:cNvPicPr>
          <p:nvPr/>
        </p:nvPicPr>
        <p:blipFill>
          <a:blip r:embed="rId4"/>
          <a:srcRect/>
          <a:stretch/>
        </p:blipFill>
        <p:spPr>
          <a:xfrm>
            <a:off x="6010056" y="1190334"/>
            <a:ext cx="3857897" cy="5322038"/>
          </a:xfrm>
          <a:prstGeom prst="rect">
            <a:avLst/>
          </a:prstGeom>
        </p:spPr>
      </p:pic>
      <p:sp>
        <p:nvSpPr>
          <p:cNvPr id="9"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524293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6"/>
          <p:cNvSpPr/>
          <p:nvPr/>
        </p:nvSpPr>
        <p:spPr>
          <a:xfrm>
            <a:off x="0" y="-8226"/>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Chart, radar chart&#10;&#10;Description automatically generated">
            <a:extLst>
              <a:ext uri="{FF2B5EF4-FFF2-40B4-BE49-F238E27FC236}">
                <a16:creationId xmlns:a16="http://schemas.microsoft.com/office/drawing/2014/main" id="{34D2FC6D-4A64-1B43-BCF2-97051D8F4C78}"/>
              </a:ext>
            </a:extLst>
          </p:cNvPr>
          <p:cNvPicPr>
            <a:picLocks noChangeAspect="1"/>
          </p:cNvPicPr>
          <p:nvPr/>
        </p:nvPicPr>
        <p:blipFill>
          <a:blip r:embed="rId3"/>
          <a:stretch>
            <a:fillRect/>
          </a:stretch>
        </p:blipFill>
        <p:spPr>
          <a:xfrm>
            <a:off x="3919489" y="77468"/>
            <a:ext cx="4353022" cy="6694714"/>
          </a:xfrm>
          <a:prstGeom prst="rect">
            <a:avLst/>
          </a:prstGeom>
        </p:spPr>
      </p:pic>
      <p:sp>
        <p:nvSpPr>
          <p:cNvPr id="6"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80621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8226"/>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62575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0"/>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27" name="Google Shape;227;p10"/>
          <p:cNvSpPr txBox="1"/>
          <p:nvPr/>
        </p:nvSpPr>
        <p:spPr>
          <a:xfrm>
            <a:off x="1459183" y="136234"/>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8.4.3 Exploration: Creating Three-Dimensional Figures</a:t>
            </a:r>
            <a:endParaRPr dirty="0"/>
          </a:p>
        </p:txBody>
      </p:sp>
      <p:pic>
        <p:nvPicPr>
          <p:cNvPr id="229" name="Google Shape;229;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02885" y="384359"/>
            <a:ext cx="752254" cy="752254"/>
          </a:xfrm>
          <a:prstGeom prst="rect">
            <a:avLst/>
          </a:prstGeom>
          <a:noFill/>
          <a:ln>
            <a:noFill/>
          </a:ln>
          <a:effectLst>
            <a:outerShdw blurRad="50800" dist="38100" dir="2700000" algn="tl" rotWithShape="0">
              <a:srgbClr val="000000">
                <a:alpha val="40000"/>
              </a:srgbClr>
            </a:outerShdw>
          </a:effectLst>
        </p:spPr>
      </p:pic>
      <p:sp>
        <p:nvSpPr>
          <p:cNvPr id="230" name="Google Shape;230;p10"/>
          <p:cNvSpPr txBox="1"/>
          <p:nvPr/>
        </p:nvSpPr>
        <p:spPr>
          <a:xfrm>
            <a:off x="1455139" y="1386026"/>
            <a:ext cx="9537754" cy="1015622"/>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Both composite figures in the previous component are nets. A net is formed when the faces of a three-dimensional figure are positioned by arranging the faces to create a two-dimensional composite figure.</a:t>
            </a:r>
            <a:endParaRPr sz="2000" dirty="0">
              <a:latin typeface="Verdana" panose="020B0604030504040204" pitchFamily="34" charset="0"/>
              <a:ea typeface="Verdana" panose="020B0604030504040204" pitchFamily="34" charset="0"/>
              <a:cs typeface="Verdana" panose="020B0604030504040204" pitchFamily="34" charset="0"/>
            </a:endParaRPr>
          </a:p>
        </p:txBody>
      </p:sp>
      <p:pic>
        <p:nvPicPr>
          <p:cNvPr id="4" name="Picture 3" descr="Graphical user interface, text, chat or text message&#10;&#10;Description automatically generated">
            <a:extLst>
              <a:ext uri="{FF2B5EF4-FFF2-40B4-BE49-F238E27FC236}">
                <a16:creationId xmlns:a16="http://schemas.microsoft.com/office/drawing/2014/main" id="{F6107058-E33C-CD4D-8AC2-8FB9ECDA3DED}"/>
              </a:ext>
            </a:extLst>
          </p:cNvPr>
          <p:cNvPicPr>
            <a:picLocks noChangeAspect="1"/>
          </p:cNvPicPr>
          <p:nvPr/>
        </p:nvPicPr>
        <p:blipFill>
          <a:blip r:embed="rId4"/>
          <a:stretch>
            <a:fillRect/>
          </a:stretch>
        </p:blipFill>
        <p:spPr>
          <a:xfrm>
            <a:off x="1931598" y="3053573"/>
            <a:ext cx="8607552" cy="1111014"/>
          </a:xfrm>
          <a:prstGeom prst="rect">
            <a:avLst/>
          </a:prstGeom>
          <a:effectLst>
            <a:outerShdw blurRad="50800" dist="50800" dir="5400000" sx="102000" sy="102000" algn="ctr" rotWithShape="0">
              <a:srgbClr val="000000">
                <a:alpha val="31875"/>
              </a:srgbClr>
            </a:outerShdw>
            <a:softEdge rad="55987"/>
          </a:effectLst>
        </p:spPr>
      </p:pic>
      <p:sp>
        <p:nvSpPr>
          <p:cNvPr id="9"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97548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1"/>
          <p:cNvSpPr/>
          <p:nvPr/>
        </p:nvSpPr>
        <p:spPr>
          <a:xfrm>
            <a:off x="0" y="-8226"/>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39" name="Google Shape;239;p11"/>
          <p:cNvSpPr txBox="1"/>
          <p:nvPr/>
        </p:nvSpPr>
        <p:spPr>
          <a:xfrm>
            <a:off x="1066800" y="520394"/>
            <a:ext cx="10209066" cy="1938952"/>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Your teacher will provide you with copies of some nets. Cut the nets along the solid line. Fold the nets along the dotted line and use the tabs to glue the figure together. </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 to describe the three-dimensional figure formed.</a:t>
            </a:r>
            <a:endParaRPr sz="20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Diagram, shape&#10;&#10;Description automatically generated">
            <a:extLst>
              <a:ext uri="{FF2B5EF4-FFF2-40B4-BE49-F238E27FC236}">
                <a16:creationId xmlns:a16="http://schemas.microsoft.com/office/drawing/2014/main" id="{5D25307A-1545-E84F-B22D-425BD58E7802}"/>
              </a:ext>
            </a:extLst>
          </p:cNvPr>
          <p:cNvPicPr>
            <a:picLocks noChangeAspect="1"/>
          </p:cNvPicPr>
          <p:nvPr/>
        </p:nvPicPr>
        <p:blipFill>
          <a:blip r:embed="rId3"/>
          <a:stretch>
            <a:fillRect/>
          </a:stretch>
        </p:blipFill>
        <p:spPr>
          <a:xfrm>
            <a:off x="4284722" y="2767123"/>
            <a:ext cx="4347029" cy="3780691"/>
          </a:xfrm>
          <a:prstGeom prst="rect">
            <a:avLst/>
          </a:prstGeom>
        </p:spPr>
      </p:pic>
      <p:sp>
        <p:nvSpPr>
          <p:cNvPr id="7"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34509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 name="TextBox 1">
            <a:extLst>
              <a:ext uri="{FF2B5EF4-FFF2-40B4-BE49-F238E27FC236}">
                <a16:creationId xmlns:a16="http://schemas.microsoft.com/office/drawing/2014/main" id="{CC81C077-439A-374D-BEE6-CF7062A13CA7}"/>
              </a:ext>
            </a:extLst>
          </p:cNvPr>
          <p:cNvSpPr txBox="1"/>
          <p:nvPr/>
        </p:nvSpPr>
        <p:spPr>
          <a:xfrm>
            <a:off x="1117600" y="664029"/>
            <a:ext cx="10207172" cy="3477875"/>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Look back at the two composite figures from the refresher. Predict what three-dimensional figure is made from cutting out and folding up the sides of those figures. </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With your partner, discuss how the area of a two-dimensional composite figure is related to the area of the faces of the three-dimensional figure. Summarize your discussion. </a:t>
            </a:r>
          </a:p>
        </p:txBody>
      </p:sp>
      <p:sp>
        <p:nvSpPr>
          <p:cNvPr id="6"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819352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7" name="Google Shape;197;p7"/>
          <p:cNvSpPr txBox="1"/>
          <p:nvPr/>
        </p:nvSpPr>
        <p:spPr>
          <a:xfrm>
            <a:off x="1458384"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8.4.4 Collaboration: Determining Nets</a:t>
            </a:r>
            <a:endParaRPr dirty="0"/>
          </a:p>
        </p:txBody>
      </p:sp>
      <p:pic>
        <p:nvPicPr>
          <p:cNvPr id="199" name="Google Shape;19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08576" y="348271"/>
            <a:ext cx="749808" cy="749808"/>
          </a:xfrm>
          <a:prstGeom prst="rect">
            <a:avLst/>
          </a:prstGeom>
          <a:noFill/>
          <a:ln>
            <a:noFill/>
          </a:ln>
          <a:effectLst>
            <a:outerShdw blurRad="50800" dist="38100" dir="2700000" algn="tl" rotWithShape="0">
              <a:srgbClr val="000000">
                <a:alpha val="40000"/>
              </a:srgbClr>
            </a:outerShdw>
          </a:effectLst>
        </p:spPr>
      </p:pic>
      <p:sp>
        <p:nvSpPr>
          <p:cNvPr id="200" name="Google Shape;200;p7"/>
          <p:cNvSpPr txBox="1"/>
          <p:nvPr/>
        </p:nvSpPr>
        <p:spPr>
          <a:xfrm>
            <a:off x="1295400" y="1386026"/>
            <a:ext cx="4350684" cy="2246729"/>
          </a:xfrm>
          <a:prstGeom prst="rect">
            <a:avLst/>
          </a:prstGeom>
          <a:noFill/>
          <a:ln>
            <a:noFill/>
          </a:ln>
        </p:spPr>
        <p:txBody>
          <a:bodyPr spcFirstLastPara="1" wrap="square" lIns="91425" tIns="45700" rIns="91425" bIns="45700" anchor="t" anchorCtr="0">
            <a:spAutoFit/>
          </a:bodyPr>
          <a:lstStyle/>
          <a:p>
            <a:pPr marL="350838" lvl="0" indent="-350838"/>
            <a:r>
              <a:rPr lang="en-US" sz="2000" dirty="0">
                <a:latin typeface="Verdana" panose="020B0604030504040204" pitchFamily="34" charset="0"/>
                <a:ea typeface="Verdana" panose="020B0604030504040204" pitchFamily="34" charset="0"/>
                <a:cs typeface="Verdana" panose="020B0604030504040204" pitchFamily="34" charset="0"/>
              </a:rPr>
              <a:t>1. With your partner, sketch the net or sketch the individual faces of the three-dimensional figure. Label each side of the net with the appropriate measurement in yards (yd). </a:t>
            </a:r>
            <a:endParaRPr sz="20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Shape, polygon&#10;&#10;Description automatically generated">
            <a:extLst>
              <a:ext uri="{FF2B5EF4-FFF2-40B4-BE49-F238E27FC236}">
                <a16:creationId xmlns:a16="http://schemas.microsoft.com/office/drawing/2014/main" id="{BA6E5B28-F469-3640-977D-E9F0368C3CA5}"/>
              </a:ext>
            </a:extLst>
          </p:cNvPr>
          <p:cNvPicPr>
            <a:picLocks noChangeAspect="1"/>
          </p:cNvPicPr>
          <p:nvPr/>
        </p:nvPicPr>
        <p:blipFill>
          <a:blip r:embed="rId4"/>
          <a:stretch>
            <a:fillRect/>
          </a:stretch>
        </p:blipFill>
        <p:spPr>
          <a:xfrm>
            <a:off x="5728088" y="1386025"/>
            <a:ext cx="4242884" cy="5071650"/>
          </a:xfrm>
          <a:prstGeom prst="rect">
            <a:avLst/>
          </a:prstGeom>
        </p:spPr>
      </p:pic>
      <p:sp>
        <p:nvSpPr>
          <p:cNvPr id="9"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23</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226"/>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4"/>
          <p:cNvSpPr/>
          <p:nvPr/>
        </p:nvSpPr>
        <p:spPr>
          <a:xfrm>
            <a:off x="-15287"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68" name="Google Shape;468;p34"/>
          <p:cNvSpPr txBox="1"/>
          <p:nvPr/>
        </p:nvSpPr>
        <p:spPr>
          <a:xfrm>
            <a:off x="1516550" y="-56377"/>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8.4.5 Wrap-Up: Reflection</a:t>
            </a:r>
            <a:endParaRPr dirty="0"/>
          </a:p>
        </p:txBody>
      </p:sp>
      <p:pic>
        <p:nvPicPr>
          <p:cNvPr id="469" name="Google Shape;469;p34"/>
          <p:cNvPicPr preferRelativeResize="0"/>
          <p:nvPr/>
        </p:nvPicPr>
        <p:blipFill rotWithShape="1">
          <a:blip r:embed="rId3">
            <a:alphaModFix/>
          </a:blip>
          <a:srcRect/>
          <a:stretch/>
        </p:blipFill>
        <p:spPr>
          <a:xfrm>
            <a:off x="769250" y="203221"/>
            <a:ext cx="747300" cy="747300"/>
          </a:xfrm>
          <a:prstGeom prst="rect">
            <a:avLst/>
          </a:prstGeom>
          <a:noFill/>
          <a:ln>
            <a:noFill/>
          </a:ln>
          <a:effectLst>
            <a:outerShdw blurRad="50800" dist="38100" dir="2700000" algn="tl" rotWithShape="0">
              <a:srgbClr val="000000">
                <a:alpha val="40000"/>
              </a:srgbClr>
            </a:outerShdw>
          </a:effectLst>
        </p:spPr>
      </p:pic>
      <p:sp>
        <p:nvSpPr>
          <p:cNvPr id="470" name="Google Shape;470;p34"/>
          <p:cNvSpPr txBox="1"/>
          <p:nvPr/>
        </p:nvSpPr>
        <p:spPr>
          <a:xfrm>
            <a:off x="1516550" y="1386025"/>
            <a:ext cx="9414932" cy="707846"/>
          </a:xfrm>
          <a:prstGeom prst="rect">
            <a:avLst/>
          </a:prstGeom>
          <a:noFill/>
          <a:ln>
            <a:noFill/>
          </a:ln>
        </p:spPr>
        <p:txBody>
          <a:bodyPr spcFirstLastPara="1" wrap="square" lIns="91425" tIns="45700" rIns="91425" bIns="45700" anchor="t" anchorCtr="0">
            <a:spAutoFit/>
          </a:bodyPr>
          <a:lstStyle/>
          <a:p>
            <a:pPr marL="350838" lvl="0" indent="-350838"/>
            <a:r>
              <a:rPr lang="en-US" sz="2000" dirty="0">
                <a:latin typeface="Verdana" panose="020B0604030504040204" pitchFamily="34" charset="0"/>
                <a:ea typeface="Verdana" panose="020B0604030504040204" pitchFamily="34" charset="0"/>
                <a:cs typeface="Verdana" panose="020B0604030504040204" pitchFamily="34" charset="0"/>
              </a:rPr>
              <a:t>1. What was the </a:t>
            </a:r>
            <a:r>
              <a:rPr lang="en-US" sz="2000" b="1" i="1" dirty="0">
                <a:latin typeface="Verdana" panose="020B0604030504040204" pitchFamily="34" charset="0"/>
                <a:ea typeface="Verdana" panose="020B0604030504040204" pitchFamily="34" charset="0"/>
                <a:cs typeface="Verdana" panose="020B0604030504040204" pitchFamily="34" charset="0"/>
              </a:rPr>
              <a:t>muddiest</a:t>
            </a:r>
            <a:r>
              <a:rPr lang="en-US" sz="2000" dirty="0">
                <a:latin typeface="Verdana" panose="020B0604030504040204" pitchFamily="34" charset="0"/>
                <a:ea typeface="Verdana" panose="020B0604030504040204" pitchFamily="34" charset="0"/>
                <a:cs typeface="Verdana" panose="020B0604030504040204" pitchFamily="34" charset="0"/>
              </a:rPr>
              <a:t> (most difficult or confusing) point in today’s lesson on nets? </a:t>
            </a:r>
            <a:endParaRPr sz="20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A picture containing fabric&#10;&#10;Description automatically generated">
            <a:extLst>
              <a:ext uri="{FF2B5EF4-FFF2-40B4-BE49-F238E27FC236}">
                <a16:creationId xmlns:a16="http://schemas.microsoft.com/office/drawing/2014/main" id="{00FD1B5F-A355-634E-9430-F18AAA5DD44F}"/>
              </a:ext>
            </a:extLst>
          </p:cNvPr>
          <p:cNvPicPr>
            <a:picLocks noChangeAspect="1"/>
          </p:cNvPicPr>
          <p:nvPr/>
        </p:nvPicPr>
        <p:blipFill>
          <a:blip r:embed="rId4"/>
          <a:stretch>
            <a:fillRect/>
          </a:stretch>
        </p:blipFill>
        <p:spPr>
          <a:xfrm>
            <a:off x="4879522" y="2093871"/>
            <a:ext cx="2432957" cy="1997794"/>
          </a:xfrm>
          <a:prstGeom prst="rect">
            <a:avLst/>
          </a:prstGeom>
        </p:spPr>
      </p:pic>
      <p:sp>
        <p:nvSpPr>
          <p:cNvPr id="9" name="Google Shape;125;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24</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06308B9D-497B-4BBF-BC32-710D8C1F9DE7}"/>
</file>

<file path=customXml/itemProps2.xml><?xml version="1.0" encoding="utf-8"?>
<ds:datastoreItem xmlns:ds="http://schemas.openxmlformats.org/officeDocument/2006/customXml" ds:itemID="{0968416B-A8E3-4D9E-B8D3-C96546D21BF2}"/>
</file>

<file path=customXml/itemProps3.xml><?xml version="1.0" encoding="utf-8"?>
<ds:datastoreItem xmlns:ds="http://schemas.openxmlformats.org/officeDocument/2006/customXml" ds:itemID="{782ECD94-BE8C-4DAD-BC9A-3596B57E0C23}"/>
</file>

<file path=docProps/app.xml><?xml version="1.0" encoding="utf-8"?>
<Properties xmlns="http://schemas.openxmlformats.org/officeDocument/2006/extended-properties" xmlns:vt="http://schemas.openxmlformats.org/officeDocument/2006/docPropsVTypes">
  <TotalTime>48</TotalTime>
  <Words>566</Words>
  <Application>Microsoft Office PowerPoint</Application>
  <PresentationFormat>Widescreen</PresentationFormat>
  <Paragraphs>75</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Black</vt:lpstr>
      <vt:lpstr>Calibri</vt:lpstr>
      <vt:lpstr>Cambria Math</vt:lpstr>
      <vt:lpstr>Verdana</vt:lpstr>
      <vt:lpstr>1_Office Theme</vt:lpstr>
      <vt:lpstr>6th Grade Accelerated Math  Unit 8, Lesson 4  Nets of Rectangular Prisms and Pyramids  Volume 2, pg. 20  </vt:lpstr>
      <vt:lpstr>Benchmark</vt:lpstr>
      <vt:lpstr>PowerPoint Presentation</vt:lpstr>
      <vt:lpstr>PowerPoint Presentation</vt:lpstr>
      <vt:lpstr>Warm-Up</vt:lpstr>
      <vt:lpstr>PowerPoint Presentation</vt:lpstr>
      <vt:lpstr>Refresher</vt:lpstr>
      <vt:lpstr>PowerPoint Presentation</vt:lpstr>
      <vt:lpstr>PowerPoint Presentation</vt:lpstr>
      <vt:lpstr>Exploration</vt:lpstr>
      <vt:lpstr>PowerPoint Presentation</vt:lpstr>
      <vt:lpstr>PowerPoint Presentation</vt:lpstr>
      <vt:lpstr>PowerPoint Presentation</vt:lpstr>
      <vt:lpstr>Collaboration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8, Lesson 4  Nets of Rectangular Prisms and Pyramids  Volume 2, pg. 20  </dc:title>
  <dc:creator>Karen McKenzie</dc:creator>
  <cp:lastModifiedBy>Heather  Rideout</cp:lastModifiedBy>
  <cp:revision>6</cp:revision>
  <dcterms:created xsi:type="dcterms:W3CDTF">2015-03-17T18:51:18Z</dcterms:created>
  <dcterms:modified xsi:type="dcterms:W3CDTF">2023-01-13T20:55:18Z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ies>
</file>